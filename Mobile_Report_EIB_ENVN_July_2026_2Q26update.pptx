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362" r:id="rId2"/>
    <p:sldId id="427" r:id="rId3"/>
    <p:sldId id="364" r:id="rId4"/>
    <p:sldId id="381" r:id="rId5"/>
    <p:sldId id="289" r:id="rId6"/>
    <p:sldId id="375" r:id="rId7"/>
    <p:sldId id="441" r:id="rId8"/>
    <p:sldId id="444" r:id="rId9"/>
    <p:sldId id="445" r:id="rId10"/>
    <p:sldId id="378" r:id="rId11"/>
  </p:sldIdLst>
  <p:sldSz cx="10287000" cy="13716000"/>
  <p:notesSz cx="6858000" cy="9144000"/>
  <p:custDataLst>
    <p:tags r:id="rId1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 STB" id="{947F27A8-BCCF-472A-AE92-129A7DFEA83E}">
          <p14:sldIdLst>
            <p14:sldId id="362"/>
            <p14:sldId id="427"/>
            <p14:sldId id="364"/>
            <p14:sldId id="381"/>
            <p14:sldId id="289"/>
          </p14:sldIdLst>
        </p14:section>
        <p14:section name="VN - EIB" id="{81E5BC43-F459-4D08-B07D-E0B1FCC722E8}">
          <p14:sldIdLst>
            <p14:sldId id="375"/>
            <p14:sldId id="441"/>
            <p14:sldId id="444"/>
            <p14:sldId id="445"/>
            <p14:sldId id="3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8120"/>
    <a:srgbClr val="00427A"/>
    <a:srgbClr val="01437C"/>
    <a:srgbClr val="FFE6AB"/>
    <a:srgbClr val="F38120"/>
    <a:srgbClr val="FE6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889" autoAdjust="0"/>
  </p:normalViewPr>
  <p:slideViewPr>
    <p:cSldViewPr snapToGrid="0">
      <p:cViewPr varScale="1">
        <p:scale>
          <a:sx n="54" d="100"/>
          <a:sy n="54" d="100"/>
        </p:scale>
        <p:origin x="3348"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10.0.16.23\mas\Department\Reseach\Qu&#226;n\Financial%20Models\FinModel_EIB%204Q25%205%20May%20202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10.0.16.23\mas\Department\Reseach\Qu&#226;n\Financial%20Models\FinModel_EIB%204Q25%205%20May%202026.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10.0.16.23\mas\Department\Reseach\Qu&#226;n\Financial%20Models\FinModel_EIB%204Q25%205%20May%202026.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10.0.16.23\mas\Department\Reseach\Qu&#226;n\Financial%20Models\FinModel_EIB%204Q25%205%20May%202026.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r>
              <a:rPr lang="en-US" sz="2000" dirty="0"/>
              <a:t>(VNDbn)</a:t>
            </a:r>
          </a:p>
        </c:rich>
      </c:tx>
      <c:layout>
        <c:manualLayout>
          <c:xMode val="edge"/>
          <c:yMode val="edge"/>
          <c:x val="6.8134270851746999E-4"/>
          <c:y val="2.8619531275175893E-3"/>
        </c:manualLayout>
      </c:layout>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title>
    <c:autoTitleDeleted val="0"/>
    <c:plotArea>
      <c:layout>
        <c:manualLayout>
          <c:layoutTarget val="inner"/>
          <c:xMode val="edge"/>
          <c:yMode val="edge"/>
          <c:x val="0.16110817665377428"/>
          <c:y val="0.10860990835481139"/>
          <c:w val="0.82058613427322802"/>
          <c:h val="0.66662198893912861"/>
        </c:manualLayout>
      </c:layout>
      <c:areaChart>
        <c:grouping val="standard"/>
        <c:varyColors val="0"/>
        <c:ser>
          <c:idx val="17"/>
          <c:order val="17"/>
          <c:tx>
            <c:v>OPEX</c:v>
          </c:tx>
          <c:spPr>
            <a:solidFill>
              <a:schemeClr val="accent2">
                <a:lumMod val="20000"/>
                <a:lumOff val="80000"/>
              </a:schemeClr>
            </a:solidFill>
            <a:ln>
              <a:noFill/>
            </a:ln>
            <a:effectLst/>
          </c:spPr>
          <c:cat>
            <c:strRef>
              <c:f>Model!$AA$117:$AF$117</c:f>
              <c:strCache>
                <c:ptCount val="6"/>
                <c:pt idx="0">
                  <c:v>2023</c:v>
                </c:pt>
                <c:pt idx="1">
                  <c:v>2024</c:v>
                </c:pt>
                <c:pt idx="2">
                  <c:v>2025</c:v>
                </c:pt>
                <c:pt idx="3">
                  <c:v>2026F</c:v>
                </c:pt>
                <c:pt idx="4">
                  <c:v>2027F</c:v>
                </c:pt>
                <c:pt idx="5">
                  <c:v>2028F</c:v>
                </c:pt>
              </c:strCache>
            </c:strRef>
          </c:cat>
          <c:val>
            <c:numRef>
              <c:f>Model!$AA$135:$AF$135</c:f>
              <c:numCache>
                <c:formatCode>#,##0_);[Red]\(#,##0\)</c:formatCode>
                <c:ptCount val="6"/>
                <c:pt idx="0">
                  <c:v>3140.808</c:v>
                </c:pt>
                <c:pt idx="1">
                  <c:v>3400.1460000000002</c:v>
                </c:pt>
                <c:pt idx="2">
                  <c:v>4253.3620000000001</c:v>
                </c:pt>
                <c:pt idx="3">
                  <c:v>4325.0010449297743</c:v>
                </c:pt>
                <c:pt idx="4">
                  <c:v>5430.5143509393265</c:v>
                </c:pt>
                <c:pt idx="5">
                  <c:v>5955.8297822078175</c:v>
                </c:pt>
              </c:numCache>
            </c:numRef>
          </c:val>
          <c:extLst>
            <c:ext xmlns:c16="http://schemas.microsoft.com/office/drawing/2014/chart" uri="{C3380CC4-5D6E-409C-BE32-E72D297353CC}">
              <c16:uniqueId val="{00000000-D02F-4288-A10C-0C32CD9271A1}"/>
            </c:ext>
          </c:extLst>
        </c:ser>
        <c:ser>
          <c:idx val="19"/>
          <c:order val="19"/>
          <c:tx>
            <c:v>Provisioning</c:v>
          </c:tx>
          <c:spPr>
            <a:solidFill>
              <a:schemeClr val="accent2">
                <a:lumMod val="80000"/>
              </a:schemeClr>
            </a:solidFill>
            <a:ln>
              <a:noFill/>
            </a:ln>
            <a:effectLst/>
          </c:spPr>
          <c:cat>
            <c:strRef>
              <c:f>Model!$AA$117:$AF$117</c:f>
              <c:strCache>
                <c:ptCount val="6"/>
                <c:pt idx="0">
                  <c:v>2023</c:v>
                </c:pt>
                <c:pt idx="1">
                  <c:v>2024</c:v>
                </c:pt>
                <c:pt idx="2">
                  <c:v>2025</c:v>
                </c:pt>
                <c:pt idx="3">
                  <c:v>2026F</c:v>
                </c:pt>
                <c:pt idx="4">
                  <c:v>2027F</c:v>
                </c:pt>
                <c:pt idx="5">
                  <c:v>2028F</c:v>
                </c:pt>
              </c:strCache>
            </c:strRef>
          </c:cat>
          <c:val>
            <c:numRef>
              <c:f>Model!$AA$137:$AF$137</c:f>
              <c:numCache>
                <c:formatCode>#,##0_);[Red]\(#,##0\)</c:formatCode>
                <c:ptCount val="6"/>
                <c:pt idx="0">
                  <c:v>694.399</c:v>
                </c:pt>
                <c:pt idx="1">
                  <c:v>969.072</c:v>
                </c:pt>
                <c:pt idx="2">
                  <c:v>1526.402</c:v>
                </c:pt>
                <c:pt idx="3">
                  <c:v>2104.5531464332298</c:v>
                </c:pt>
                <c:pt idx="4">
                  <c:v>1886.5478446352786</c:v>
                </c:pt>
                <c:pt idx="5">
                  <c:v>2297.2388142342743</c:v>
                </c:pt>
              </c:numCache>
            </c:numRef>
          </c:val>
          <c:extLst>
            <c:ext xmlns:c16="http://schemas.microsoft.com/office/drawing/2014/chart" uri="{C3380CC4-5D6E-409C-BE32-E72D297353CC}">
              <c16:uniqueId val="{00000001-D02F-4288-A10C-0C32CD9271A1}"/>
            </c:ext>
          </c:extLst>
        </c:ser>
        <c:dLbls>
          <c:showLegendKey val="0"/>
          <c:showVal val="0"/>
          <c:showCatName val="0"/>
          <c:showSerName val="0"/>
          <c:showPercent val="0"/>
          <c:showBubbleSize val="0"/>
        </c:dLbls>
        <c:axId val="1931490719"/>
        <c:axId val="1931491199"/>
      </c:areaChart>
      <c:barChart>
        <c:barDir val="col"/>
        <c:grouping val="stacked"/>
        <c:varyColors val="0"/>
        <c:ser>
          <c:idx val="3"/>
          <c:order val="2"/>
          <c:tx>
            <c:v>NII</c:v>
          </c:tx>
          <c:spPr>
            <a:solidFill>
              <a:schemeClr val="accent4"/>
            </a:solidFill>
            <a:ln>
              <a:noFill/>
            </a:ln>
            <a:effectLst/>
          </c:spPr>
          <c:invertIfNegative val="0"/>
          <c:dPt>
            <c:idx val="3"/>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3-D02F-4288-A10C-0C32CD9271A1}"/>
              </c:ext>
            </c:extLst>
          </c:dPt>
          <c:dPt>
            <c:idx val="4"/>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5-D02F-4288-A10C-0C32CD9271A1}"/>
              </c:ext>
            </c:extLst>
          </c:dPt>
          <c:dPt>
            <c:idx val="5"/>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7-D02F-4288-A10C-0C32CD9271A1}"/>
              </c:ext>
            </c:extLst>
          </c:dPt>
          <c:cat>
            <c:strRef>
              <c:f>Model!$C$117:$AF$117</c:f>
              <c:strCache>
                <c:ptCount val="6"/>
                <c:pt idx="0">
                  <c:v>2023</c:v>
                </c:pt>
                <c:pt idx="1">
                  <c:v>2024</c:v>
                </c:pt>
                <c:pt idx="2">
                  <c:v>2025</c:v>
                </c:pt>
                <c:pt idx="3">
                  <c:v>2026F</c:v>
                </c:pt>
                <c:pt idx="4">
                  <c:v>2027F</c:v>
                </c:pt>
                <c:pt idx="5">
                  <c:v>2028F</c:v>
                </c:pt>
              </c:strCache>
            </c:strRef>
          </c:cat>
          <c:val>
            <c:numRef>
              <c:f>Model!$AA$120:$AF$120</c:f>
              <c:numCache>
                <c:formatCode>#,##0_);[Red]\(#,##0\)</c:formatCode>
                <c:ptCount val="6"/>
                <c:pt idx="0">
                  <c:v>4597.1040000000003</c:v>
                </c:pt>
                <c:pt idx="1">
                  <c:v>5923.5249999999996</c:v>
                </c:pt>
                <c:pt idx="2">
                  <c:v>5979.6850000000004</c:v>
                </c:pt>
                <c:pt idx="3">
                  <c:v>6955.8283533546401</c:v>
                </c:pt>
                <c:pt idx="4">
                  <c:v>8948.4787012779016</c:v>
                </c:pt>
                <c:pt idx="5">
                  <c:v>10682.477643296139</c:v>
                </c:pt>
              </c:numCache>
            </c:numRef>
          </c:val>
          <c:extLst>
            <c:ext xmlns:c16="http://schemas.microsoft.com/office/drawing/2014/chart" uri="{C3380CC4-5D6E-409C-BE32-E72D297353CC}">
              <c16:uniqueId val="{00000008-D02F-4288-A10C-0C32CD9271A1}"/>
            </c:ext>
          </c:extLst>
        </c:ser>
        <c:ser>
          <c:idx val="1"/>
          <c:order val="5"/>
          <c:tx>
            <c:v>NFI</c:v>
          </c:tx>
          <c:spPr>
            <a:solidFill>
              <a:schemeClr val="accent2"/>
            </a:solidFill>
            <a:ln>
              <a:noFill/>
            </a:ln>
            <a:effectLst/>
          </c:spPr>
          <c:invertIfNegative val="0"/>
          <c:cat>
            <c:strRef>
              <c:f>Model!$C$117:$AF$117</c:f>
              <c:strCache>
                <c:ptCount val="6"/>
                <c:pt idx="0">
                  <c:v>2023</c:v>
                </c:pt>
                <c:pt idx="1">
                  <c:v>2024</c:v>
                </c:pt>
                <c:pt idx="2">
                  <c:v>2025</c:v>
                </c:pt>
                <c:pt idx="3">
                  <c:v>2026F</c:v>
                </c:pt>
                <c:pt idx="4">
                  <c:v>2027F</c:v>
                </c:pt>
                <c:pt idx="5">
                  <c:v>2028F</c:v>
                </c:pt>
              </c:strCache>
            </c:strRef>
          </c:cat>
          <c:val>
            <c:numRef>
              <c:f>Model!$AA$123:$AF$123</c:f>
              <c:numCache>
                <c:formatCode>#,##0_);[Red]\(#,##0\)</c:formatCode>
                <c:ptCount val="6"/>
                <c:pt idx="0">
                  <c:v>514.30000000000007</c:v>
                </c:pt>
                <c:pt idx="1">
                  <c:v>1080.3000000000002</c:v>
                </c:pt>
                <c:pt idx="2">
                  <c:v>240.5</c:v>
                </c:pt>
                <c:pt idx="3">
                  <c:v>633.066057</c:v>
                </c:pt>
                <c:pt idx="4">
                  <c:v>914.42874900000015</c:v>
                </c:pt>
                <c:pt idx="5">
                  <c:v>1188.7573737000002</c:v>
                </c:pt>
              </c:numCache>
            </c:numRef>
          </c:val>
          <c:extLst>
            <c:ext xmlns:c16="http://schemas.microsoft.com/office/drawing/2014/chart" uri="{C3380CC4-5D6E-409C-BE32-E72D297353CC}">
              <c16:uniqueId val="{00000009-D02F-4288-A10C-0C32CD9271A1}"/>
            </c:ext>
          </c:extLst>
        </c:ser>
        <c:ser>
          <c:idx val="12"/>
          <c:order val="12"/>
          <c:tx>
            <c:v>NOII</c:v>
          </c:tx>
          <c:spPr>
            <a:solidFill>
              <a:schemeClr val="accent5"/>
            </a:solidFill>
            <a:ln>
              <a:noFill/>
            </a:ln>
            <a:effectLst/>
          </c:spPr>
          <c:invertIfNegative val="0"/>
          <c:cat>
            <c:strRef>
              <c:f>Model!$C$117:$AF$117</c:f>
              <c:strCache>
                <c:ptCount val="6"/>
                <c:pt idx="0">
                  <c:v>2023</c:v>
                </c:pt>
                <c:pt idx="1">
                  <c:v>2024</c:v>
                </c:pt>
                <c:pt idx="2">
                  <c:v>2025</c:v>
                </c:pt>
                <c:pt idx="3">
                  <c:v>2026F</c:v>
                </c:pt>
                <c:pt idx="4">
                  <c:v>2027F</c:v>
                </c:pt>
                <c:pt idx="5">
                  <c:v>2028F</c:v>
                </c:pt>
              </c:strCache>
            </c:strRef>
          </c:cat>
          <c:val>
            <c:numRef>
              <c:f>Model!$AA$130:$AF$130</c:f>
              <c:numCache>
                <c:formatCode>#,##0_);[Red]\(#,##0\)</c:formatCode>
                <c:ptCount val="6"/>
                <c:pt idx="0">
                  <c:v>1443.4290000000001</c:v>
                </c:pt>
                <c:pt idx="1">
                  <c:v>1553.81</c:v>
                </c:pt>
                <c:pt idx="2">
                  <c:v>1071.3710000000001</c:v>
                </c:pt>
                <c:pt idx="3">
                  <c:v>1237.6383344000001</c:v>
                </c:pt>
                <c:pt idx="4">
                  <c:v>1450.6641141790276</c:v>
                </c:pt>
                <c:pt idx="5">
                  <c:v>1076.221031281724</c:v>
                </c:pt>
              </c:numCache>
            </c:numRef>
          </c:val>
          <c:extLst>
            <c:ext xmlns:c16="http://schemas.microsoft.com/office/drawing/2014/chart" uri="{C3380CC4-5D6E-409C-BE32-E72D297353CC}">
              <c16:uniqueId val="{0000000A-D02F-4288-A10C-0C32CD9271A1}"/>
            </c:ext>
          </c:extLst>
        </c:ser>
        <c:dLbls>
          <c:showLegendKey val="0"/>
          <c:showVal val="0"/>
          <c:showCatName val="0"/>
          <c:showSerName val="0"/>
          <c:showPercent val="0"/>
          <c:showBubbleSize val="0"/>
        </c:dLbls>
        <c:gapWidth val="150"/>
        <c:overlap val="100"/>
        <c:axId val="1931490719"/>
        <c:axId val="1931491199"/>
        <c:extLst>
          <c:ext xmlns:c15="http://schemas.microsoft.com/office/drawing/2012/chart" uri="{02D57815-91ED-43cb-92C2-25804820EDAC}">
            <c15:filteredBarSeries>
              <c15:ser>
                <c:idx val="0"/>
                <c:order val="0"/>
                <c:tx>
                  <c:strRef>
                    <c:extLst>
                      <c:ext uri="{02D57815-91ED-43cb-92C2-25804820EDAC}">
                        <c15:formulaRef>
                          <c15:sqref>Model!$B$118</c15:sqref>
                        </c15:formulaRef>
                      </c:ext>
                    </c:extLst>
                    <c:strCache>
                      <c:ptCount val="1"/>
                      <c:pt idx="0">
                        <c:v>Interest income</c:v>
                      </c:pt>
                    </c:strCache>
                  </c:strRef>
                </c:tx>
                <c:spPr>
                  <a:solidFill>
                    <a:schemeClr val="accent1"/>
                  </a:solidFill>
                  <a:ln>
                    <a:noFill/>
                  </a:ln>
                  <a:effectLst/>
                </c:spPr>
                <c:invertIfNegative val="0"/>
                <c:cat>
                  <c:strRef>
                    <c:extLst>
                      <c:ex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c:ext uri="{02D57815-91ED-43cb-92C2-25804820EDAC}">
                        <c15:formulaRef>
                          <c15:sqref>Model!$C$118:$AD$118</c15:sqref>
                        </c15:formulaRef>
                      </c:ext>
                    </c:extLst>
                    <c:numCache>
                      <c:formatCode>#,##0_);[Red]\(#,##0\)</c:formatCode>
                      <c:ptCount val="4"/>
                      <c:pt idx="0">
                        <c:v>14699.191999999999</c:v>
                      </c:pt>
                      <c:pt idx="1">
                        <c:v>13234.075000000001</c:v>
                      </c:pt>
                      <c:pt idx="2">
                        <c:v>15521.993</c:v>
                      </c:pt>
                      <c:pt idx="3">
                        <c:v>17334.760898176202</c:v>
                      </c:pt>
                    </c:numCache>
                  </c:numRef>
                </c:val>
                <c:extLst>
                  <c:ext xmlns:c16="http://schemas.microsoft.com/office/drawing/2014/chart" uri="{C3380CC4-5D6E-409C-BE32-E72D297353CC}">
                    <c16:uniqueId val="{0000000B-D02F-4288-A10C-0C32CD9271A1}"/>
                  </c:ext>
                </c:extLst>
              </c15:ser>
            </c15:filteredBarSeries>
            <c15:filteredBarSeries>
              <c15:ser>
                <c:idx val="2"/>
                <c:order val="1"/>
                <c:tx>
                  <c:strRef>
                    <c:extLst xmlns:c15="http://schemas.microsoft.com/office/drawing/2012/chart">
                      <c:ext xmlns:c15="http://schemas.microsoft.com/office/drawing/2012/chart" uri="{02D57815-91ED-43cb-92C2-25804820EDAC}">
                        <c15:formulaRef>
                          <c15:sqref>Model!$B$119</c15:sqref>
                        </c15:formulaRef>
                      </c:ext>
                    </c:extLst>
                    <c:strCache>
                      <c:ptCount val="1"/>
                      <c:pt idx="0">
                        <c:v>Interest expense</c:v>
                      </c:pt>
                    </c:strCache>
                  </c:strRef>
                </c:tx>
                <c:spPr>
                  <a:solidFill>
                    <a:schemeClr val="accent3"/>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Model!$C$119:$AD$119</c15:sqref>
                        </c15:formulaRef>
                      </c:ext>
                    </c:extLst>
                    <c:numCache>
                      <c:formatCode>#,##0_);[Red]\(#,##0\)</c:formatCode>
                      <c:ptCount val="4"/>
                      <c:pt idx="0">
                        <c:v>10102.088</c:v>
                      </c:pt>
                      <c:pt idx="1">
                        <c:v>7310.55</c:v>
                      </c:pt>
                      <c:pt idx="2">
                        <c:v>9542.3080000000009</c:v>
                      </c:pt>
                      <c:pt idx="3">
                        <c:v>10378.932544821562</c:v>
                      </c:pt>
                    </c:numCache>
                  </c:numRef>
                </c:val>
                <c:extLst xmlns:c15="http://schemas.microsoft.com/office/drawing/2012/chart">
                  <c:ext xmlns:c16="http://schemas.microsoft.com/office/drawing/2014/chart" uri="{C3380CC4-5D6E-409C-BE32-E72D297353CC}">
                    <c16:uniqueId val="{0000000C-D02F-4288-A10C-0C32CD9271A1}"/>
                  </c:ext>
                </c:extLst>
              </c15:ser>
            </c15:filteredBarSeries>
            <c15:filteredBarSeries>
              <c15:ser>
                <c:idx val="4"/>
                <c:order val="3"/>
                <c:tx>
                  <c:strRef>
                    <c:extLst xmlns:c15="http://schemas.microsoft.com/office/drawing/2012/chart">
                      <c:ext xmlns:c15="http://schemas.microsoft.com/office/drawing/2012/chart" uri="{02D57815-91ED-43cb-92C2-25804820EDAC}">
                        <c15:formulaRef>
                          <c15:sqref>Model!$B$121</c15:sqref>
                        </c15:formulaRef>
                      </c:ext>
                    </c:extLst>
                    <c:strCache>
                      <c:ptCount val="1"/>
                      <c:pt idx="0">
                        <c:v>Fee &amp; commision income</c:v>
                      </c:pt>
                    </c:strCache>
                  </c:strRef>
                </c:tx>
                <c:spPr>
                  <a:solidFill>
                    <a:schemeClr val="accent5"/>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Model!$C$121:$AD$121</c15:sqref>
                        </c15:formulaRef>
                      </c:ext>
                    </c:extLst>
                    <c:numCache>
                      <c:formatCode>#,##0_);[Red]\(#,##0\)</c:formatCode>
                      <c:ptCount val="4"/>
                      <c:pt idx="0">
                        <c:v>1393.614</c:v>
                      </c:pt>
                      <c:pt idx="1">
                        <c:v>2165.8670000000002</c:v>
                      </c:pt>
                      <c:pt idx="2">
                        <c:v>1803.607</c:v>
                      </c:pt>
                      <c:pt idx="3">
                        <c:v>2344.6891000000001</c:v>
                      </c:pt>
                    </c:numCache>
                  </c:numRef>
                </c:val>
                <c:extLst xmlns:c15="http://schemas.microsoft.com/office/drawing/2012/chart">
                  <c:ext xmlns:c16="http://schemas.microsoft.com/office/drawing/2014/chart" uri="{C3380CC4-5D6E-409C-BE32-E72D297353CC}">
                    <c16:uniqueId val="{0000000D-D02F-4288-A10C-0C32CD9271A1}"/>
                  </c:ext>
                </c:extLst>
              </c15:ser>
            </c15:filteredBarSeries>
            <c15:filteredBarSeries>
              <c15:ser>
                <c:idx val="5"/>
                <c:order val="4"/>
                <c:tx>
                  <c:strRef>
                    <c:extLst xmlns:c15="http://schemas.microsoft.com/office/drawing/2012/chart">
                      <c:ext xmlns:c15="http://schemas.microsoft.com/office/drawing/2012/chart" uri="{02D57815-91ED-43cb-92C2-25804820EDAC}">
                        <c15:formulaRef>
                          <c15:sqref>Model!$B$122</c15:sqref>
                        </c15:formulaRef>
                      </c:ext>
                    </c:extLst>
                    <c:strCache>
                      <c:ptCount val="1"/>
                      <c:pt idx="0">
                        <c:v>Fee &amp; commision expenses</c:v>
                      </c:pt>
                    </c:strCache>
                  </c:strRef>
                </c:tx>
                <c:spPr>
                  <a:solidFill>
                    <a:schemeClr val="accent6"/>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Model!$C$122:$AD$122</c15:sqref>
                        </c15:formulaRef>
                      </c:ext>
                    </c:extLst>
                    <c:numCache>
                      <c:formatCode>#,##0_);[Red]\(#,##0\)</c:formatCode>
                      <c:ptCount val="4"/>
                      <c:pt idx="0">
                        <c:v>879.31399999999996</c:v>
                      </c:pt>
                      <c:pt idx="1">
                        <c:v>1085.567</c:v>
                      </c:pt>
                      <c:pt idx="2">
                        <c:v>1563.107</c:v>
                      </c:pt>
                      <c:pt idx="3">
                        <c:v>1711.6230430000001</c:v>
                      </c:pt>
                    </c:numCache>
                  </c:numRef>
                </c:val>
                <c:extLst xmlns:c15="http://schemas.microsoft.com/office/drawing/2012/chart">
                  <c:ext xmlns:c16="http://schemas.microsoft.com/office/drawing/2014/chart" uri="{C3380CC4-5D6E-409C-BE32-E72D297353CC}">
                    <c16:uniqueId val="{0000000E-D02F-4288-A10C-0C32CD9271A1}"/>
                  </c:ext>
                </c:extLst>
              </c15:ser>
            </c15:filteredBarSeries>
            <c15:filteredBarSeries>
              <c15:ser>
                <c:idx val="6"/>
                <c:order val="6"/>
                <c:tx>
                  <c:strRef>
                    <c:extLst xmlns:c15="http://schemas.microsoft.com/office/drawing/2012/chart">
                      <c:ext xmlns:c15="http://schemas.microsoft.com/office/drawing/2012/chart" uri="{02D57815-91ED-43cb-92C2-25804820EDAC}">
                        <c15:formulaRef>
                          <c15:sqref>Model!$B$124</c15:sqref>
                        </c15:formulaRef>
                      </c:ext>
                    </c:extLst>
                    <c:strCache>
                      <c:ptCount val="1"/>
                      <c:pt idx="0">
                        <c:v>Net gain from FX &amp; gold</c:v>
                      </c:pt>
                    </c:strCache>
                  </c:strRef>
                </c:tx>
                <c:spPr>
                  <a:solidFill>
                    <a:schemeClr val="accent1">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Model!$C$124:$AD$124</c15:sqref>
                        </c15:formulaRef>
                      </c:ext>
                    </c:extLst>
                    <c:numCache>
                      <c:formatCode>#,##0_);[Red]\(#,##0\)</c:formatCode>
                      <c:ptCount val="4"/>
                      <c:pt idx="0">
                        <c:v>485.92</c:v>
                      </c:pt>
                      <c:pt idx="1">
                        <c:v>673.79600000000005</c:v>
                      </c:pt>
                      <c:pt idx="2">
                        <c:v>580.096</c:v>
                      </c:pt>
                      <c:pt idx="3">
                        <c:v>609.10080000000005</c:v>
                      </c:pt>
                    </c:numCache>
                  </c:numRef>
                </c:val>
                <c:extLst xmlns:c15="http://schemas.microsoft.com/office/drawing/2012/chart">
                  <c:ext xmlns:c16="http://schemas.microsoft.com/office/drawing/2014/chart" uri="{C3380CC4-5D6E-409C-BE32-E72D297353CC}">
                    <c16:uniqueId val="{0000000F-D02F-4288-A10C-0C32CD9271A1}"/>
                  </c:ext>
                </c:extLst>
              </c15:ser>
            </c15:filteredBarSeries>
            <c15:filteredBarSeries>
              <c15:ser>
                <c:idx val="7"/>
                <c:order val="7"/>
                <c:tx>
                  <c:strRef>
                    <c:extLst xmlns:c15="http://schemas.microsoft.com/office/drawing/2012/chart">
                      <c:ext xmlns:c15="http://schemas.microsoft.com/office/drawing/2012/chart" uri="{02D57815-91ED-43cb-92C2-25804820EDAC}">
                        <c15:formulaRef>
                          <c15:sqref>Model!$B$125</c15:sqref>
                        </c15:formulaRef>
                      </c:ext>
                    </c:extLst>
                    <c:strCache>
                      <c:ptCount val="1"/>
                      <c:pt idx="0">
                        <c:v>Net gain from trading securities</c:v>
                      </c:pt>
                    </c:strCache>
                  </c:strRef>
                </c:tx>
                <c:spPr>
                  <a:solidFill>
                    <a:schemeClr val="accent2">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Model!$C$125:$AD$125</c15:sqref>
                        </c15:formulaRef>
                      </c:ext>
                    </c:extLst>
                    <c:numCache>
                      <c:formatCode>#,##0_);[Red]\(#,##0\)</c:formatCode>
                      <c:ptCount val="4"/>
                      <c:pt idx="0">
                        <c:v>0</c:v>
                      </c:pt>
                      <c:pt idx="1">
                        <c:v>0</c:v>
                      </c:pt>
                      <c:pt idx="2">
                        <c:v>31.940999999999999</c:v>
                      </c:pt>
                      <c:pt idx="3">
                        <c:v>0</c:v>
                      </c:pt>
                    </c:numCache>
                  </c:numRef>
                </c:val>
                <c:extLst xmlns:c15="http://schemas.microsoft.com/office/drawing/2012/chart">
                  <c:ext xmlns:c16="http://schemas.microsoft.com/office/drawing/2014/chart" uri="{C3380CC4-5D6E-409C-BE32-E72D297353CC}">
                    <c16:uniqueId val="{00000010-D02F-4288-A10C-0C32CD9271A1}"/>
                  </c:ext>
                </c:extLst>
              </c15:ser>
            </c15:filteredBarSeries>
            <c15:filteredBarSeries>
              <c15:ser>
                <c:idx val="8"/>
                <c:order val="8"/>
                <c:tx>
                  <c:strRef>
                    <c:extLst xmlns:c15="http://schemas.microsoft.com/office/drawing/2012/chart">
                      <c:ext xmlns:c15="http://schemas.microsoft.com/office/drawing/2012/chart" uri="{02D57815-91ED-43cb-92C2-25804820EDAC}">
                        <c15:formulaRef>
                          <c15:sqref>Model!$B$126</c15:sqref>
                        </c15:formulaRef>
                      </c:ext>
                    </c:extLst>
                    <c:strCache>
                      <c:ptCount val="1"/>
                      <c:pt idx="0">
                        <c:v>Net gain from investment securities</c:v>
                      </c:pt>
                    </c:strCache>
                  </c:strRef>
                </c:tx>
                <c:spPr>
                  <a:solidFill>
                    <a:schemeClr val="accent3">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Model!$C$126:$AD$126</c15:sqref>
                        </c15:formulaRef>
                      </c:ext>
                    </c:extLst>
                    <c:numCache>
                      <c:formatCode>#,##0_);[Red]\(#,##0\)</c:formatCode>
                      <c:ptCount val="4"/>
                      <c:pt idx="0">
                        <c:v>121.282</c:v>
                      </c:pt>
                      <c:pt idx="1">
                        <c:v>-68.478999999999999</c:v>
                      </c:pt>
                      <c:pt idx="2">
                        <c:v>-27.003</c:v>
                      </c:pt>
                      <c:pt idx="3">
                        <c:v>352.3247624</c:v>
                      </c:pt>
                    </c:numCache>
                  </c:numRef>
                </c:val>
                <c:extLst xmlns:c15="http://schemas.microsoft.com/office/drawing/2012/chart">
                  <c:ext xmlns:c16="http://schemas.microsoft.com/office/drawing/2014/chart" uri="{C3380CC4-5D6E-409C-BE32-E72D297353CC}">
                    <c16:uniqueId val="{00000011-D02F-4288-A10C-0C32CD9271A1}"/>
                  </c:ext>
                </c:extLst>
              </c15:ser>
            </c15:filteredBarSeries>
            <c15:filteredBarSeries>
              <c15:ser>
                <c:idx val="9"/>
                <c:order val="9"/>
                <c:tx>
                  <c:strRef>
                    <c:extLst xmlns:c15="http://schemas.microsoft.com/office/drawing/2012/chart">
                      <c:ext xmlns:c15="http://schemas.microsoft.com/office/drawing/2012/chart" uri="{02D57815-91ED-43cb-92C2-25804820EDAC}">
                        <c15:formulaRef>
                          <c15:sqref>Model!$B$127</c15:sqref>
                        </c15:formulaRef>
                      </c:ext>
                    </c:extLst>
                    <c:strCache>
                      <c:ptCount val="1"/>
                      <c:pt idx="0">
                        <c:v>Net gain/(loss) from associates</c:v>
                      </c:pt>
                    </c:strCache>
                  </c:strRef>
                </c:tx>
                <c:spPr>
                  <a:solidFill>
                    <a:schemeClr val="accent4">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Model!$C$127:$AD$127</c15:sqref>
                        </c15:formulaRef>
                      </c:ext>
                    </c:extLst>
                    <c:numCache>
                      <c:formatCode>#,##0_);[Red]\(#,##0\)</c:formatCode>
                      <c:ptCount val="4"/>
                      <c:pt idx="0">
                        <c:v>1.1479999999999999</c:v>
                      </c:pt>
                      <c:pt idx="1">
                        <c:v>1.385</c:v>
                      </c:pt>
                      <c:pt idx="2">
                        <c:v>1.635</c:v>
                      </c:pt>
                      <c:pt idx="3">
                        <c:v>1.635</c:v>
                      </c:pt>
                    </c:numCache>
                  </c:numRef>
                </c:val>
                <c:extLst xmlns:c15="http://schemas.microsoft.com/office/drawing/2012/chart">
                  <c:ext xmlns:c16="http://schemas.microsoft.com/office/drawing/2014/chart" uri="{C3380CC4-5D6E-409C-BE32-E72D297353CC}">
                    <c16:uniqueId val="{00000012-D02F-4288-A10C-0C32CD9271A1}"/>
                  </c:ext>
                </c:extLst>
              </c15:ser>
            </c15:filteredBarSeries>
            <c15:filteredBarSeries>
              <c15:ser>
                <c:idx val="10"/>
                <c:order val="10"/>
                <c:tx>
                  <c:strRef>
                    <c:extLst xmlns:c15="http://schemas.microsoft.com/office/drawing/2012/chart">
                      <c:ext xmlns:c15="http://schemas.microsoft.com/office/drawing/2012/chart" uri="{02D57815-91ED-43cb-92C2-25804820EDAC}">
                        <c15:formulaRef>
                          <c15:sqref>Model!$B$128</c15:sqref>
                        </c15:formulaRef>
                      </c:ext>
                    </c:extLst>
                    <c:strCache>
                      <c:ptCount val="1"/>
                      <c:pt idx="0">
                        <c:v>Net other income</c:v>
                      </c:pt>
                    </c:strCache>
                  </c:strRef>
                </c:tx>
                <c:spPr>
                  <a:solidFill>
                    <a:schemeClr val="accent5">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Model!$C$128:$AD$128</c15:sqref>
                        </c15:formulaRef>
                      </c:ext>
                    </c:extLst>
                    <c:numCache>
                      <c:formatCode>#,##0_);[Red]\(#,##0\)</c:formatCode>
                      <c:ptCount val="4"/>
                      <c:pt idx="0">
                        <c:v>835.07899999999995</c:v>
                      </c:pt>
                      <c:pt idx="1">
                        <c:v>947.10799999999995</c:v>
                      </c:pt>
                      <c:pt idx="2">
                        <c:v>484.702</c:v>
                      </c:pt>
                      <c:pt idx="3">
                        <c:v>274.57777199999998</c:v>
                      </c:pt>
                    </c:numCache>
                  </c:numRef>
                </c:val>
                <c:extLst xmlns:c15="http://schemas.microsoft.com/office/drawing/2012/chart">
                  <c:ext xmlns:c16="http://schemas.microsoft.com/office/drawing/2014/chart" uri="{C3380CC4-5D6E-409C-BE32-E72D297353CC}">
                    <c16:uniqueId val="{00000013-D02F-4288-A10C-0C32CD9271A1}"/>
                  </c:ext>
                </c:extLst>
              </c15:ser>
            </c15:filteredBarSeries>
            <c15:filteredBarSeries>
              <c15:ser>
                <c:idx val="11"/>
                <c:order val="11"/>
                <c:tx>
                  <c:strRef>
                    <c:extLst xmlns:c15="http://schemas.microsoft.com/office/drawing/2012/chart">
                      <c:ext xmlns:c15="http://schemas.microsoft.com/office/drawing/2012/chart" uri="{02D57815-91ED-43cb-92C2-25804820EDAC}">
                        <c15:formulaRef>
                          <c15:sqref>Model!$B$129</c15:sqref>
                        </c15:formulaRef>
                      </c:ext>
                    </c:extLst>
                    <c:strCache>
                      <c:ptCount val="1"/>
                      <c:pt idx="0">
                        <c:v>  Recovery of bad debts</c:v>
                      </c:pt>
                    </c:strCache>
                  </c:strRef>
                </c:tx>
                <c:spPr>
                  <a:solidFill>
                    <a:schemeClr val="accent6">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Model!$C$129:$AD$129</c15:sqref>
                        </c15:formulaRef>
                      </c:ext>
                    </c:extLst>
                    <c:numCache>
                      <c:formatCode>#,##0_);[Red]\(#,##0\)</c:formatCode>
                      <c:ptCount val="4"/>
                      <c:pt idx="0">
                        <c:v>203</c:v>
                      </c:pt>
                      <c:pt idx="1">
                        <c:v>204</c:v>
                      </c:pt>
                      <c:pt idx="2">
                        <c:v>205</c:v>
                      </c:pt>
                      <c:pt idx="3">
                        <c:v>1161.3</c:v>
                      </c:pt>
                    </c:numCache>
                  </c:numRef>
                </c:val>
                <c:extLst xmlns:c15="http://schemas.microsoft.com/office/drawing/2012/chart">
                  <c:ext xmlns:c16="http://schemas.microsoft.com/office/drawing/2014/chart" uri="{C3380CC4-5D6E-409C-BE32-E72D297353CC}">
                    <c16:uniqueId val="{00000014-D02F-4288-A10C-0C32CD9271A1}"/>
                  </c:ext>
                </c:extLst>
              </c15:ser>
            </c15:filteredBarSeries>
            <c15:filteredBarSeries>
              <c15:ser>
                <c:idx val="13"/>
                <c:order val="13"/>
                <c:tx>
                  <c:strRef>
                    <c:extLst xmlns:c15="http://schemas.microsoft.com/office/drawing/2012/chart">
                      <c:ext xmlns:c15="http://schemas.microsoft.com/office/drawing/2012/chart" uri="{02D57815-91ED-43cb-92C2-25804820EDAC}">
                        <c15:formulaRef>
                          <c15:sqref>Model!$B$131</c15:sqref>
                        </c15:formulaRef>
                      </c:ext>
                    </c:extLst>
                    <c:strCache>
                      <c:ptCount val="1"/>
                      <c:pt idx="0">
                        <c:v>Salary and related expenses ''33''</c:v>
                      </c:pt>
                    </c:strCache>
                  </c:strRef>
                </c:tx>
                <c:spPr>
                  <a:solidFill>
                    <a:schemeClr val="accent2">
                      <a:lumMod val="80000"/>
                      <a:lumOff val="2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Model!$C$131:$AD$131</c15:sqref>
                        </c15:formulaRef>
                      </c:ext>
                    </c:extLst>
                    <c:numCache>
                      <c:formatCode>#,##0_);[Red]\(#,##0\)</c:formatCode>
                      <c:ptCount val="4"/>
                      <c:pt idx="0">
                        <c:v>1731.432</c:v>
                      </c:pt>
                      <c:pt idx="1">
                        <c:v>1866.829</c:v>
                      </c:pt>
                      <c:pt idx="2">
                        <c:v>2350.1680000000001</c:v>
                      </c:pt>
                      <c:pt idx="3">
                        <c:v>2467.6764000000003</c:v>
                      </c:pt>
                    </c:numCache>
                  </c:numRef>
                </c:val>
                <c:extLst xmlns:c15="http://schemas.microsoft.com/office/drawing/2012/chart">
                  <c:ext xmlns:c16="http://schemas.microsoft.com/office/drawing/2014/chart" uri="{C3380CC4-5D6E-409C-BE32-E72D297353CC}">
                    <c16:uniqueId val="{00000015-D02F-4288-A10C-0C32CD9271A1}"/>
                  </c:ext>
                </c:extLst>
              </c15:ser>
            </c15:filteredBarSeries>
            <c15:filteredBarSeries>
              <c15:ser>
                <c:idx val="14"/>
                <c:order val="14"/>
                <c:tx>
                  <c:strRef>
                    <c:extLst xmlns:c15="http://schemas.microsoft.com/office/drawing/2012/chart">
                      <c:ext xmlns:c15="http://schemas.microsoft.com/office/drawing/2012/chart" uri="{02D57815-91ED-43cb-92C2-25804820EDAC}">
                        <c15:formulaRef>
                          <c15:sqref>Model!$B$132</c15:sqref>
                        </c15:formulaRef>
                      </c:ext>
                    </c:extLst>
                    <c:strCache>
                      <c:ptCount val="1"/>
                      <c:pt idx="0">
                        <c:v> Depreciation and amortization </c:v>
                      </c:pt>
                    </c:strCache>
                  </c:strRef>
                </c:tx>
                <c:spPr>
                  <a:solidFill>
                    <a:schemeClr val="accent3">
                      <a:lumMod val="80000"/>
                      <a:lumOff val="2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Model!$C$132:$AD$132</c15:sqref>
                        </c15:formulaRef>
                      </c:ext>
                    </c:extLst>
                    <c:numCache>
                      <c:formatCode>_(* #,##0_);_(* \(#,##0\);_(* "-"??_);_(@_)</c:formatCode>
                      <c:ptCount val="4"/>
                      <c:pt idx="0">
                        <c:v>0</c:v>
                      </c:pt>
                      <c:pt idx="1">
                        <c:v>-1.8939999999999999</c:v>
                      </c:pt>
                      <c:pt idx="2">
                        <c:v>0</c:v>
                      </c:pt>
                      <c:pt idx="3">
                        <c:v>0</c:v>
                      </c:pt>
                    </c:numCache>
                  </c:numRef>
                </c:val>
                <c:extLst xmlns:c15="http://schemas.microsoft.com/office/drawing/2012/chart">
                  <c:ext xmlns:c16="http://schemas.microsoft.com/office/drawing/2014/chart" uri="{C3380CC4-5D6E-409C-BE32-E72D297353CC}">
                    <c16:uniqueId val="{00000016-D02F-4288-A10C-0C32CD9271A1}"/>
                  </c:ext>
                </c:extLst>
              </c15:ser>
            </c15:filteredBarSeries>
            <c15:filteredBarSeries>
              <c15:ser>
                <c:idx val="15"/>
                <c:order val="15"/>
                <c:tx>
                  <c:strRef>
                    <c:extLst xmlns:c15="http://schemas.microsoft.com/office/drawing/2012/chart">
                      <c:ext xmlns:c15="http://schemas.microsoft.com/office/drawing/2012/chart" uri="{02D57815-91ED-43cb-92C2-25804820EDAC}">
                        <c15:formulaRef>
                          <c15:sqref>Model!$B$133</c15:sqref>
                        </c15:formulaRef>
                      </c:ext>
                    </c:extLst>
                    <c:strCache>
                      <c:ptCount val="1"/>
                      <c:pt idx="0">
                        <c:v> Other operating expenses </c:v>
                      </c:pt>
                    </c:strCache>
                  </c:strRef>
                </c:tx>
                <c:spPr>
                  <a:solidFill>
                    <a:schemeClr val="accent4">
                      <a:lumMod val="80000"/>
                      <a:lumOff val="2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Model!$C$133:$AD$133</c15:sqref>
                        </c15:formulaRef>
                      </c:ext>
                    </c:extLst>
                    <c:numCache>
                      <c:formatCode>_(* #,##0_);_(* \(#,##0\);_(* "-"??_);_(@_)</c:formatCode>
                      <c:ptCount val="4"/>
                      <c:pt idx="0">
                        <c:v>4833.4120000000003</c:v>
                      </c:pt>
                      <c:pt idx="1">
                        <c:v>5248.95</c:v>
                      </c:pt>
                      <c:pt idx="2">
                        <c:v>6590.0929999999989</c:v>
                      </c:pt>
                      <c:pt idx="3">
                        <c:v>6919.5976499999988</c:v>
                      </c:pt>
                    </c:numCache>
                  </c:numRef>
                </c:val>
                <c:extLst xmlns:c15="http://schemas.microsoft.com/office/drawing/2012/chart">
                  <c:ext xmlns:c16="http://schemas.microsoft.com/office/drawing/2014/chart" uri="{C3380CC4-5D6E-409C-BE32-E72D297353CC}">
                    <c16:uniqueId val="{00000017-D02F-4288-A10C-0C32CD9271A1}"/>
                  </c:ext>
                </c:extLst>
              </c15:ser>
            </c15:filteredBarSeries>
            <c15:filteredBarSeries>
              <c15:ser>
                <c:idx val="16"/>
                <c:order val="16"/>
                <c:tx>
                  <c:strRef>
                    <c:extLst xmlns:c15="http://schemas.microsoft.com/office/drawing/2012/chart">
                      <c:ext xmlns:c15="http://schemas.microsoft.com/office/drawing/2012/chart" uri="{02D57815-91ED-43cb-92C2-25804820EDAC}">
                        <c15:formulaRef>
                          <c15:sqref>Model!$B$134</c15:sqref>
                        </c15:formulaRef>
                      </c:ext>
                    </c:extLst>
                    <c:strCache>
                      <c:ptCount val="1"/>
                      <c:pt idx="0">
                        <c:v> Total Operating Income </c:v>
                      </c:pt>
                    </c:strCache>
                  </c:strRef>
                </c:tx>
                <c:spPr>
                  <a:solidFill>
                    <a:schemeClr val="accent5">
                      <a:lumMod val="80000"/>
                      <a:lumOff val="2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Model!$C$134:$AD$134</c15:sqref>
                        </c15:formulaRef>
                      </c:ext>
                    </c:extLst>
                    <c:numCache>
                      <c:formatCode>_(* #,##0_);_(* \(#,##0\);_(* "-"??_);_(@_)</c:formatCode>
                      <c:ptCount val="4"/>
                      <c:pt idx="0">
                        <c:v>6554.8329999999996</c:v>
                      </c:pt>
                      <c:pt idx="1">
                        <c:v>8557.6350000000002</c:v>
                      </c:pt>
                      <c:pt idx="2">
                        <c:v>7291.5559999999996</c:v>
                      </c:pt>
                      <c:pt idx="3">
                        <c:v>8826.5327447546406</c:v>
                      </c:pt>
                    </c:numCache>
                  </c:numRef>
                </c:val>
                <c:extLst xmlns:c15="http://schemas.microsoft.com/office/drawing/2012/chart">
                  <c:ext xmlns:c16="http://schemas.microsoft.com/office/drawing/2014/chart" uri="{C3380CC4-5D6E-409C-BE32-E72D297353CC}">
                    <c16:uniqueId val="{00000018-D02F-4288-A10C-0C32CD9271A1}"/>
                  </c:ext>
                </c:extLst>
              </c15:ser>
            </c15:filteredBarSeries>
            <c15:filteredBarSeries>
              <c15:ser>
                <c:idx val="18"/>
                <c:order val="18"/>
                <c:tx>
                  <c:strRef>
                    <c:extLst xmlns:c15="http://schemas.microsoft.com/office/drawing/2012/chart">
                      <c:ext xmlns:c15="http://schemas.microsoft.com/office/drawing/2012/chart" uri="{02D57815-91ED-43cb-92C2-25804820EDAC}">
                        <c15:formulaRef>
                          <c15:sqref>Model!$B$136</c15:sqref>
                        </c15:formulaRef>
                      </c:ext>
                    </c:extLst>
                    <c:strCache>
                      <c:ptCount val="1"/>
                      <c:pt idx="0">
                        <c:v>Pre-provision profit (PPOP)</c:v>
                      </c:pt>
                    </c:strCache>
                  </c:strRef>
                </c:tx>
                <c:spPr>
                  <a:solidFill>
                    <a:schemeClr val="accent1">
                      <a:lumMod val="8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Model!$C$136:$AD$136</c15:sqref>
                        </c15:formulaRef>
                      </c:ext>
                    </c:extLst>
                    <c:numCache>
                      <c:formatCode>#,##0_);[Red]\(#,##0\)</c:formatCode>
                      <c:ptCount val="4"/>
                      <c:pt idx="0">
                        <c:v>3414.0250000000001</c:v>
                      </c:pt>
                      <c:pt idx="1">
                        <c:v>5157.4889999999996</c:v>
                      </c:pt>
                      <c:pt idx="2">
                        <c:v>3038.194</c:v>
                      </c:pt>
                      <c:pt idx="3">
                        <c:v>4501.5316998248663</c:v>
                      </c:pt>
                    </c:numCache>
                  </c:numRef>
                </c:val>
                <c:extLst xmlns:c15="http://schemas.microsoft.com/office/drawing/2012/chart">
                  <c:ext xmlns:c16="http://schemas.microsoft.com/office/drawing/2014/chart" uri="{C3380CC4-5D6E-409C-BE32-E72D297353CC}">
                    <c16:uniqueId val="{00000019-D02F-4288-A10C-0C32CD9271A1}"/>
                  </c:ext>
                </c:extLst>
              </c15:ser>
            </c15:filteredBarSeries>
          </c:ext>
        </c:extLst>
      </c:barChart>
      <c:catAx>
        <c:axId val="19314907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crossAx val="1931491199"/>
        <c:crosses val="autoZero"/>
        <c:auto val="1"/>
        <c:lblAlgn val="ctr"/>
        <c:lblOffset val="100"/>
        <c:noMultiLvlLbl val="0"/>
      </c:catAx>
      <c:valAx>
        <c:axId val="1931491199"/>
        <c:scaling>
          <c:orientation val="minMax"/>
        </c:scaling>
        <c:delete val="0"/>
        <c:axPos val="l"/>
        <c:numFmt formatCode="#,##0_);[Red]\(#,##0\)"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crossAx val="1931490719"/>
        <c:crosses val="autoZero"/>
        <c:crossBetween val="between"/>
      </c:valAx>
      <c:spPr>
        <a:noFill/>
        <a:ln>
          <a:noFill/>
        </a:ln>
        <a:effectLst/>
      </c:spPr>
    </c:plotArea>
    <c:legend>
      <c:legendPos val="b"/>
      <c:layout>
        <c:manualLayout>
          <c:xMode val="edge"/>
          <c:yMode val="edge"/>
          <c:x val="0"/>
          <c:y val="0.89482851830376786"/>
          <c:w val="1"/>
          <c:h val="7.0482973719230957E-2"/>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2000">
          <a:latin typeface="SVN-Gilroy" panose="00000500000000000000" pitchFamily="50" charset="0"/>
          <a:ea typeface="Noto Sans" panose="020B0502040504020204" pitchFamily="34" charset="0"/>
          <a:cs typeface="Noto Sans" panose="020B0502040504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94485076717189"/>
          <c:y val="3.7427174280518172E-2"/>
          <c:w val="0.77739559384921064"/>
          <c:h val="0.74824284482116876"/>
        </c:manualLayout>
      </c:layout>
      <c:barChart>
        <c:barDir val="col"/>
        <c:grouping val="clustered"/>
        <c:varyColors val="0"/>
        <c:ser>
          <c:idx val="0"/>
          <c:order val="0"/>
          <c:tx>
            <c:strRef>
              <c:f>Model!$B$218</c:f>
              <c:strCache>
                <c:ptCount val="1"/>
                <c:pt idx="0">
                  <c:v>NPL Ratio (%)</c:v>
                </c:pt>
              </c:strCache>
            </c:strRef>
          </c:tx>
          <c:spPr>
            <a:solidFill>
              <a:schemeClr val="accent1"/>
            </a:solidFill>
            <a:ln>
              <a:noFill/>
            </a:ln>
            <a:effectLst/>
          </c:spPr>
          <c:invertIfNegative val="0"/>
          <c:cat>
            <c:strRef>
              <c:f>Model!$AA$214:$AF$214</c:f>
              <c:strCache>
                <c:ptCount val="6"/>
                <c:pt idx="0">
                  <c:v>2023</c:v>
                </c:pt>
                <c:pt idx="1">
                  <c:v>2024</c:v>
                </c:pt>
                <c:pt idx="2">
                  <c:v>2025</c:v>
                </c:pt>
                <c:pt idx="3">
                  <c:v>2026F</c:v>
                </c:pt>
                <c:pt idx="4">
                  <c:v>2027F</c:v>
                </c:pt>
                <c:pt idx="5">
                  <c:v>2028F</c:v>
                </c:pt>
              </c:strCache>
            </c:strRef>
          </c:cat>
          <c:val>
            <c:numRef>
              <c:f>Model!$AA$218:$AF$218</c:f>
              <c:numCache>
                <c:formatCode>#,##0.00</c:formatCode>
                <c:ptCount val="6"/>
                <c:pt idx="0">
                  <c:v>2.6535340349065262</c:v>
                </c:pt>
                <c:pt idx="1">
                  <c:v>2.531447190451761</c:v>
                </c:pt>
                <c:pt idx="2">
                  <c:v>2.8622687070114043</c:v>
                </c:pt>
                <c:pt idx="3">
                  <c:v>2.5000000000000022</c:v>
                </c:pt>
                <c:pt idx="4">
                  <c:v>2.0000000000000027</c:v>
                </c:pt>
                <c:pt idx="5">
                  <c:v>1.8000000000000023</c:v>
                </c:pt>
              </c:numCache>
            </c:numRef>
          </c:val>
          <c:extLst>
            <c:ext xmlns:c16="http://schemas.microsoft.com/office/drawing/2014/chart" uri="{C3380CC4-5D6E-409C-BE32-E72D297353CC}">
              <c16:uniqueId val="{00000000-D916-4B5D-832F-C85E8E55F88B}"/>
            </c:ext>
          </c:extLst>
        </c:ser>
        <c:ser>
          <c:idx val="1"/>
          <c:order val="1"/>
          <c:tx>
            <c:strRef>
              <c:f>Model!$B$219</c:f>
              <c:strCache>
                <c:ptCount val="1"/>
                <c:pt idx="0">
                  <c:v>Broad NPL ratio (%)</c:v>
                </c:pt>
              </c:strCache>
            </c:strRef>
          </c:tx>
          <c:spPr>
            <a:solidFill>
              <a:schemeClr val="accent2"/>
            </a:solidFill>
            <a:ln>
              <a:noFill/>
            </a:ln>
            <a:effectLst/>
          </c:spPr>
          <c:invertIfNegative val="0"/>
          <c:cat>
            <c:strRef>
              <c:f>Model!$AA$214:$AF$214</c:f>
              <c:strCache>
                <c:ptCount val="6"/>
                <c:pt idx="0">
                  <c:v>2023</c:v>
                </c:pt>
                <c:pt idx="1">
                  <c:v>2024</c:v>
                </c:pt>
                <c:pt idx="2">
                  <c:v>2025</c:v>
                </c:pt>
                <c:pt idx="3">
                  <c:v>2026F</c:v>
                </c:pt>
                <c:pt idx="4">
                  <c:v>2027F</c:v>
                </c:pt>
                <c:pt idx="5">
                  <c:v>2028F</c:v>
                </c:pt>
              </c:strCache>
            </c:strRef>
          </c:cat>
          <c:val>
            <c:numRef>
              <c:f>Model!$AA$219:$AF$219</c:f>
              <c:numCache>
                <c:formatCode>#,##0.00</c:formatCode>
                <c:ptCount val="6"/>
                <c:pt idx="0">
                  <c:v>3.9629459888208194</c:v>
                </c:pt>
                <c:pt idx="1">
                  <c:v>3.5435443370474204</c:v>
                </c:pt>
                <c:pt idx="2">
                  <c:v>4.0519632123103326</c:v>
                </c:pt>
                <c:pt idx="3">
                  <c:v>3.5000000000000022</c:v>
                </c:pt>
                <c:pt idx="4">
                  <c:v>3.6000000000000023</c:v>
                </c:pt>
                <c:pt idx="5">
                  <c:v>3.200000000000002</c:v>
                </c:pt>
              </c:numCache>
            </c:numRef>
          </c:val>
          <c:extLst>
            <c:ext xmlns:c16="http://schemas.microsoft.com/office/drawing/2014/chart" uri="{C3380CC4-5D6E-409C-BE32-E72D297353CC}">
              <c16:uniqueId val="{00000001-D916-4B5D-832F-C85E8E55F88B}"/>
            </c:ext>
          </c:extLst>
        </c:ser>
        <c:dLbls>
          <c:showLegendKey val="0"/>
          <c:showVal val="0"/>
          <c:showCatName val="0"/>
          <c:showSerName val="0"/>
          <c:showPercent val="0"/>
          <c:showBubbleSize val="0"/>
        </c:dLbls>
        <c:gapWidth val="219"/>
        <c:axId val="123180607"/>
        <c:axId val="123181087"/>
      </c:barChart>
      <c:lineChart>
        <c:grouping val="standard"/>
        <c:varyColors val="0"/>
        <c:ser>
          <c:idx val="2"/>
          <c:order val="2"/>
          <c:tx>
            <c:strRef>
              <c:f>Model!$B$220</c:f>
              <c:strCache>
                <c:ptCount val="1"/>
                <c:pt idx="0">
                  <c:v>NPL coverage ratio</c:v>
                </c:pt>
              </c:strCache>
            </c:strRef>
          </c:tx>
          <c:spPr>
            <a:ln w="28575" cap="rnd">
              <a:solidFill>
                <a:schemeClr val="accent3"/>
              </a:solidFill>
              <a:round/>
            </a:ln>
            <a:effectLst/>
          </c:spPr>
          <c:marker>
            <c:symbol val="none"/>
          </c:marker>
          <c:cat>
            <c:strRef>
              <c:f>Model!$AA$214:$AF$214</c:f>
              <c:strCache>
                <c:ptCount val="6"/>
                <c:pt idx="0">
                  <c:v>2023</c:v>
                </c:pt>
                <c:pt idx="1">
                  <c:v>2024</c:v>
                </c:pt>
                <c:pt idx="2">
                  <c:v>2025</c:v>
                </c:pt>
                <c:pt idx="3">
                  <c:v>2026F</c:v>
                </c:pt>
                <c:pt idx="4">
                  <c:v>2027F</c:v>
                </c:pt>
                <c:pt idx="5">
                  <c:v>2028F</c:v>
                </c:pt>
              </c:strCache>
            </c:strRef>
          </c:cat>
          <c:val>
            <c:numRef>
              <c:f>Model!$AA$220:$AF$220</c:f>
              <c:numCache>
                <c:formatCode>#,##0.0</c:formatCode>
                <c:ptCount val="6"/>
                <c:pt idx="0">
                  <c:v>41.208255743440844</c:v>
                </c:pt>
                <c:pt idx="1">
                  <c:v>42.316044574148208</c:v>
                </c:pt>
                <c:pt idx="2">
                  <c:v>43.887358273751872</c:v>
                </c:pt>
                <c:pt idx="3">
                  <c:v>53.264962555357542</c:v>
                </c:pt>
                <c:pt idx="4">
                  <c:v>62.202258579694714</c:v>
                </c:pt>
                <c:pt idx="5">
                  <c:v>65.295467559077068</c:v>
                </c:pt>
              </c:numCache>
            </c:numRef>
          </c:val>
          <c:smooth val="0"/>
          <c:extLst>
            <c:ext xmlns:c16="http://schemas.microsoft.com/office/drawing/2014/chart" uri="{C3380CC4-5D6E-409C-BE32-E72D297353CC}">
              <c16:uniqueId val="{00000002-D916-4B5D-832F-C85E8E55F88B}"/>
            </c:ext>
          </c:extLst>
        </c:ser>
        <c:dLbls>
          <c:showLegendKey val="0"/>
          <c:showVal val="0"/>
          <c:showCatName val="0"/>
          <c:showSerName val="0"/>
          <c:showPercent val="0"/>
          <c:showBubbleSize val="0"/>
        </c:dLbls>
        <c:marker val="1"/>
        <c:smooth val="0"/>
        <c:axId val="123203647"/>
        <c:axId val="123211327"/>
      </c:lineChart>
      <c:catAx>
        <c:axId val="1231806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crossAx val="123181087"/>
        <c:crosses val="autoZero"/>
        <c:auto val="1"/>
        <c:lblAlgn val="ctr"/>
        <c:lblOffset val="100"/>
        <c:noMultiLvlLbl val="0"/>
      </c:catAx>
      <c:valAx>
        <c:axId val="123181087"/>
        <c:scaling>
          <c:orientation val="minMax"/>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crossAx val="123180607"/>
        <c:crosses val="autoZero"/>
        <c:crossBetween val="between"/>
      </c:valAx>
      <c:valAx>
        <c:axId val="123211327"/>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crossAx val="123203647"/>
        <c:crosses val="max"/>
        <c:crossBetween val="between"/>
      </c:valAx>
      <c:catAx>
        <c:axId val="123203647"/>
        <c:scaling>
          <c:orientation val="minMax"/>
        </c:scaling>
        <c:delete val="1"/>
        <c:axPos val="b"/>
        <c:numFmt formatCode="General" sourceLinked="1"/>
        <c:majorTickMark val="out"/>
        <c:minorTickMark val="none"/>
        <c:tickLblPos val="nextTo"/>
        <c:crossAx val="123211327"/>
        <c:crosses val="autoZero"/>
        <c:auto val="1"/>
        <c:lblAlgn val="ctr"/>
        <c:lblOffset val="100"/>
        <c:noMultiLvlLbl val="0"/>
      </c:catAx>
      <c:spPr>
        <a:noFill/>
        <a:ln>
          <a:noFill/>
        </a:ln>
        <a:effectLst/>
      </c:spPr>
    </c:plotArea>
    <c:legend>
      <c:legendPos val="b"/>
      <c:layout>
        <c:manualLayout>
          <c:xMode val="edge"/>
          <c:yMode val="edge"/>
          <c:x val="2.1958656143124148E-2"/>
          <c:y val="0.81995596450025665"/>
          <c:w val="0.97804128238910848"/>
          <c:h val="0.17622346987007298"/>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1800">
          <a:latin typeface="SVN-Gilroy" panose="00000500000000000000" pitchFamily="50" charset="0"/>
          <a:ea typeface="Noto Sans" panose="020B0502040504020204" pitchFamily="34" charset="0"/>
          <a:cs typeface="Noto Sans" panose="020B0502040504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r>
              <a:rPr lang="en-US" sz="2000" dirty="0"/>
              <a:t>(VNDbn)</a:t>
            </a:r>
          </a:p>
        </c:rich>
      </c:tx>
      <c:layout>
        <c:manualLayout>
          <c:xMode val="edge"/>
          <c:yMode val="edge"/>
          <c:x val="6.8134270851746999E-4"/>
          <c:y val="2.8619531275175893E-3"/>
        </c:manualLayout>
      </c:layout>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title>
    <c:autoTitleDeleted val="0"/>
    <c:plotArea>
      <c:layout>
        <c:manualLayout>
          <c:layoutTarget val="inner"/>
          <c:xMode val="edge"/>
          <c:yMode val="edge"/>
          <c:x val="0.16110817665377428"/>
          <c:y val="0.10860990835481139"/>
          <c:w val="0.82058613427322802"/>
          <c:h val="0.66662198893912861"/>
        </c:manualLayout>
      </c:layout>
      <c:areaChart>
        <c:grouping val="standard"/>
        <c:varyColors val="0"/>
        <c:ser>
          <c:idx val="17"/>
          <c:order val="17"/>
          <c:tx>
            <c:v>OPEX</c:v>
          </c:tx>
          <c:spPr>
            <a:solidFill>
              <a:schemeClr val="accent2">
                <a:lumMod val="20000"/>
                <a:lumOff val="80000"/>
              </a:schemeClr>
            </a:solidFill>
            <a:ln>
              <a:noFill/>
            </a:ln>
            <a:effectLst/>
          </c:spPr>
          <c:cat>
            <c:strRef>
              <c:f>Model!$AA$117:$AF$117</c:f>
              <c:strCache>
                <c:ptCount val="6"/>
                <c:pt idx="0">
                  <c:v>2023</c:v>
                </c:pt>
                <c:pt idx="1">
                  <c:v>2024</c:v>
                </c:pt>
                <c:pt idx="2">
                  <c:v>2025</c:v>
                </c:pt>
                <c:pt idx="3">
                  <c:v>2026F</c:v>
                </c:pt>
                <c:pt idx="4">
                  <c:v>2027F</c:v>
                </c:pt>
                <c:pt idx="5">
                  <c:v>2028F</c:v>
                </c:pt>
              </c:strCache>
            </c:strRef>
          </c:cat>
          <c:val>
            <c:numRef>
              <c:f>Model!$AA$135:$AF$135</c:f>
              <c:numCache>
                <c:formatCode>#,##0_);[Red]\(#,##0\)</c:formatCode>
                <c:ptCount val="6"/>
                <c:pt idx="0">
                  <c:v>3140.808</c:v>
                </c:pt>
                <c:pt idx="1">
                  <c:v>3400.1460000000002</c:v>
                </c:pt>
                <c:pt idx="2">
                  <c:v>4253.3620000000001</c:v>
                </c:pt>
                <c:pt idx="3">
                  <c:v>4325.0010449297743</c:v>
                </c:pt>
                <c:pt idx="4">
                  <c:v>5430.5143509393265</c:v>
                </c:pt>
                <c:pt idx="5">
                  <c:v>5955.8297822078175</c:v>
                </c:pt>
              </c:numCache>
            </c:numRef>
          </c:val>
          <c:extLst>
            <c:ext xmlns:c16="http://schemas.microsoft.com/office/drawing/2014/chart" uri="{C3380CC4-5D6E-409C-BE32-E72D297353CC}">
              <c16:uniqueId val="{00000000-FF22-413E-BD55-7F0207247544}"/>
            </c:ext>
          </c:extLst>
        </c:ser>
        <c:ser>
          <c:idx val="19"/>
          <c:order val="19"/>
          <c:tx>
            <c:v>Provisioning</c:v>
          </c:tx>
          <c:spPr>
            <a:solidFill>
              <a:schemeClr val="accent2">
                <a:lumMod val="80000"/>
              </a:schemeClr>
            </a:solidFill>
            <a:ln>
              <a:noFill/>
            </a:ln>
            <a:effectLst/>
          </c:spPr>
          <c:cat>
            <c:strRef>
              <c:f>Model!$AA$117:$AF$117</c:f>
              <c:strCache>
                <c:ptCount val="6"/>
                <c:pt idx="0">
                  <c:v>2023</c:v>
                </c:pt>
                <c:pt idx="1">
                  <c:v>2024</c:v>
                </c:pt>
                <c:pt idx="2">
                  <c:v>2025</c:v>
                </c:pt>
                <c:pt idx="3">
                  <c:v>2026F</c:v>
                </c:pt>
                <c:pt idx="4">
                  <c:v>2027F</c:v>
                </c:pt>
                <c:pt idx="5">
                  <c:v>2028F</c:v>
                </c:pt>
              </c:strCache>
            </c:strRef>
          </c:cat>
          <c:val>
            <c:numRef>
              <c:f>Model!$AA$137:$AF$137</c:f>
              <c:numCache>
                <c:formatCode>#,##0_);[Red]\(#,##0\)</c:formatCode>
                <c:ptCount val="6"/>
                <c:pt idx="0">
                  <c:v>694.399</c:v>
                </c:pt>
                <c:pt idx="1">
                  <c:v>969.072</c:v>
                </c:pt>
                <c:pt idx="2">
                  <c:v>1526.402</c:v>
                </c:pt>
                <c:pt idx="3">
                  <c:v>2104.5531464332298</c:v>
                </c:pt>
                <c:pt idx="4">
                  <c:v>1886.5478446352786</c:v>
                </c:pt>
                <c:pt idx="5">
                  <c:v>2297.2388142342743</c:v>
                </c:pt>
              </c:numCache>
            </c:numRef>
          </c:val>
          <c:extLst>
            <c:ext xmlns:c16="http://schemas.microsoft.com/office/drawing/2014/chart" uri="{C3380CC4-5D6E-409C-BE32-E72D297353CC}">
              <c16:uniqueId val="{00000001-FF22-413E-BD55-7F0207247544}"/>
            </c:ext>
          </c:extLst>
        </c:ser>
        <c:dLbls>
          <c:showLegendKey val="0"/>
          <c:showVal val="0"/>
          <c:showCatName val="0"/>
          <c:showSerName val="0"/>
          <c:showPercent val="0"/>
          <c:showBubbleSize val="0"/>
        </c:dLbls>
        <c:axId val="1931490719"/>
        <c:axId val="1931491199"/>
      </c:areaChart>
      <c:barChart>
        <c:barDir val="col"/>
        <c:grouping val="stacked"/>
        <c:varyColors val="0"/>
        <c:ser>
          <c:idx val="3"/>
          <c:order val="2"/>
          <c:tx>
            <c:v>NII</c:v>
          </c:tx>
          <c:spPr>
            <a:solidFill>
              <a:schemeClr val="accent4"/>
            </a:solidFill>
            <a:ln>
              <a:noFill/>
            </a:ln>
            <a:effectLst/>
          </c:spPr>
          <c:invertIfNegative val="0"/>
          <c:dPt>
            <c:idx val="3"/>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3-FF22-413E-BD55-7F0207247544}"/>
              </c:ext>
            </c:extLst>
          </c:dPt>
          <c:dPt>
            <c:idx val="4"/>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5-FF22-413E-BD55-7F0207247544}"/>
              </c:ext>
            </c:extLst>
          </c:dPt>
          <c:dPt>
            <c:idx val="5"/>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7-FF22-413E-BD55-7F0207247544}"/>
              </c:ext>
            </c:extLst>
          </c:dPt>
          <c:cat>
            <c:strRef>
              <c:f>Model!$C$117:$AF$117</c:f>
              <c:strCache>
                <c:ptCount val="6"/>
                <c:pt idx="0">
                  <c:v>2023</c:v>
                </c:pt>
                <c:pt idx="1">
                  <c:v>2024</c:v>
                </c:pt>
                <c:pt idx="2">
                  <c:v>2025</c:v>
                </c:pt>
                <c:pt idx="3">
                  <c:v>2026F</c:v>
                </c:pt>
                <c:pt idx="4">
                  <c:v>2027F</c:v>
                </c:pt>
                <c:pt idx="5">
                  <c:v>2028F</c:v>
                </c:pt>
              </c:strCache>
            </c:strRef>
          </c:cat>
          <c:val>
            <c:numRef>
              <c:f>Model!$AA$120:$AF$120</c:f>
              <c:numCache>
                <c:formatCode>#,##0_);[Red]\(#,##0\)</c:formatCode>
                <c:ptCount val="6"/>
                <c:pt idx="0">
                  <c:v>4597.1040000000003</c:v>
                </c:pt>
                <c:pt idx="1">
                  <c:v>5923.5249999999996</c:v>
                </c:pt>
                <c:pt idx="2">
                  <c:v>5979.6850000000004</c:v>
                </c:pt>
                <c:pt idx="3">
                  <c:v>6955.8283533546401</c:v>
                </c:pt>
                <c:pt idx="4">
                  <c:v>8948.4787012779016</c:v>
                </c:pt>
                <c:pt idx="5">
                  <c:v>10682.477643296139</c:v>
                </c:pt>
              </c:numCache>
            </c:numRef>
          </c:val>
          <c:extLst>
            <c:ext xmlns:c16="http://schemas.microsoft.com/office/drawing/2014/chart" uri="{C3380CC4-5D6E-409C-BE32-E72D297353CC}">
              <c16:uniqueId val="{00000008-FF22-413E-BD55-7F0207247544}"/>
            </c:ext>
          </c:extLst>
        </c:ser>
        <c:ser>
          <c:idx val="1"/>
          <c:order val="5"/>
          <c:tx>
            <c:v>NFI</c:v>
          </c:tx>
          <c:spPr>
            <a:solidFill>
              <a:schemeClr val="accent2"/>
            </a:solidFill>
            <a:ln>
              <a:noFill/>
            </a:ln>
            <a:effectLst/>
          </c:spPr>
          <c:invertIfNegative val="0"/>
          <c:cat>
            <c:strRef>
              <c:f>Model!$C$117:$AF$117</c:f>
              <c:strCache>
                <c:ptCount val="6"/>
                <c:pt idx="0">
                  <c:v>2023</c:v>
                </c:pt>
                <c:pt idx="1">
                  <c:v>2024</c:v>
                </c:pt>
                <c:pt idx="2">
                  <c:v>2025</c:v>
                </c:pt>
                <c:pt idx="3">
                  <c:v>2026F</c:v>
                </c:pt>
                <c:pt idx="4">
                  <c:v>2027F</c:v>
                </c:pt>
                <c:pt idx="5">
                  <c:v>2028F</c:v>
                </c:pt>
              </c:strCache>
            </c:strRef>
          </c:cat>
          <c:val>
            <c:numRef>
              <c:f>Model!$AA$123:$AF$123</c:f>
              <c:numCache>
                <c:formatCode>#,##0_);[Red]\(#,##0\)</c:formatCode>
                <c:ptCount val="6"/>
                <c:pt idx="0">
                  <c:v>514.30000000000007</c:v>
                </c:pt>
                <c:pt idx="1">
                  <c:v>1080.3000000000002</c:v>
                </c:pt>
                <c:pt idx="2">
                  <c:v>240.5</c:v>
                </c:pt>
                <c:pt idx="3">
                  <c:v>633.066057</c:v>
                </c:pt>
                <c:pt idx="4">
                  <c:v>914.42874900000015</c:v>
                </c:pt>
                <c:pt idx="5">
                  <c:v>1188.7573737000002</c:v>
                </c:pt>
              </c:numCache>
            </c:numRef>
          </c:val>
          <c:extLst>
            <c:ext xmlns:c16="http://schemas.microsoft.com/office/drawing/2014/chart" uri="{C3380CC4-5D6E-409C-BE32-E72D297353CC}">
              <c16:uniqueId val="{00000009-FF22-413E-BD55-7F0207247544}"/>
            </c:ext>
          </c:extLst>
        </c:ser>
        <c:ser>
          <c:idx val="12"/>
          <c:order val="12"/>
          <c:tx>
            <c:v>NOII</c:v>
          </c:tx>
          <c:spPr>
            <a:solidFill>
              <a:schemeClr val="accent5"/>
            </a:solidFill>
            <a:ln>
              <a:noFill/>
            </a:ln>
            <a:effectLst/>
          </c:spPr>
          <c:invertIfNegative val="0"/>
          <c:cat>
            <c:strRef>
              <c:f>Model!$C$117:$AF$117</c:f>
              <c:strCache>
                <c:ptCount val="6"/>
                <c:pt idx="0">
                  <c:v>2023</c:v>
                </c:pt>
                <c:pt idx="1">
                  <c:v>2024</c:v>
                </c:pt>
                <c:pt idx="2">
                  <c:v>2025</c:v>
                </c:pt>
                <c:pt idx="3">
                  <c:v>2026F</c:v>
                </c:pt>
                <c:pt idx="4">
                  <c:v>2027F</c:v>
                </c:pt>
                <c:pt idx="5">
                  <c:v>2028F</c:v>
                </c:pt>
              </c:strCache>
            </c:strRef>
          </c:cat>
          <c:val>
            <c:numRef>
              <c:f>Model!$AA$130:$AF$130</c:f>
              <c:numCache>
                <c:formatCode>#,##0_);[Red]\(#,##0\)</c:formatCode>
                <c:ptCount val="6"/>
                <c:pt idx="0">
                  <c:v>1443.4290000000001</c:v>
                </c:pt>
                <c:pt idx="1">
                  <c:v>1553.81</c:v>
                </c:pt>
                <c:pt idx="2">
                  <c:v>1071.3710000000001</c:v>
                </c:pt>
                <c:pt idx="3">
                  <c:v>1237.6383344000001</c:v>
                </c:pt>
                <c:pt idx="4">
                  <c:v>1450.6641141790276</c:v>
                </c:pt>
                <c:pt idx="5">
                  <c:v>1076.221031281724</c:v>
                </c:pt>
              </c:numCache>
            </c:numRef>
          </c:val>
          <c:extLst>
            <c:ext xmlns:c16="http://schemas.microsoft.com/office/drawing/2014/chart" uri="{C3380CC4-5D6E-409C-BE32-E72D297353CC}">
              <c16:uniqueId val="{0000000A-FF22-413E-BD55-7F0207247544}"/>
            </c:ext>
          </c:extLst>
        </c:ser>
        <c:dLbls>
          <c:showLegendKey val="0"/>
          <c:showVal val="0"/>
          <c:showCatName val="0"/>
          <c:showSerName val="0"/>
          <c:showPercent val="0"/>
          <c:showBubbleSize val="0"/>
        </c:dLbls>
        <c:gapWidth val="150"/>
        <c:overlap val="100"/>
        <c:axId val="1931490719"/>
        <c:axId val="1931491199"/>
        <c:extLst>
          <c:ext xmlns:c15="http://schemas.microsoft.com/office/drawing/2012/chart" uri="{02D57815-91ED-43cb-92C2-25804820EDAC}">
            <c15:filteredBarSeries>
              <c15:ser>
                <c:idx val="0"/>
                <c:order val="0"/>
                <c:tx>
                  <c:strRef>
                    <c:extLst>
                      <c:ext uri="{02D57815-91ED-43cb-92C2-25804820EDAC}">
                        <c15:formulaRef>
                          <c15:sqref>Model!$B$118</c15:sqref>
                        </c15:formulaRef>
                      </c:ext>
                    </c:extLst>
                    <c:strCache>
                      <c:ptCount val="1"/>
                      <c:pt idx="0">
                        <c:v>Interest income</c:v>
                      </c:pt>
                    </c:strCache>
                  </c:strRef>
                </c:tx>
                <c:spPr>
                  <a:solidFill>
                    <a:schemeClr val="accent1"/>
                  </a:solidFill>
                  <a:ln>
                    <a:noFill/>
                  </a:ln>
                  <a:effectLst/>
                </c:spPr>
                <c:invertIfNegative val="0"/>
                <c:cat>
                  <c:strRef>
                    <c:extLst>
                      <c:ex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c:ext uri="{02D57815-91ED-43cb-92C2-25804820EDAC}">
                        <c15:formulaRef>
                          <c15:sqref>Model!$C$118:$AD$118</c15:sqref>
                        </c15:formulaRef>
                      </c:ext>
                    </c:extLst>
                    <c:numCache>
                      <c:formatCode>#,##0_);[Red]\(#,##0\)</c:formatCode>
                      <c:ptCount val="4"/>
                      <c:pt idx="0">
                        <c:v>14699.191999999999</c:v>
                      </c:pt>
                      <c:pt idx="1">
                        <c:v>13234.075000000001</c:v>
                      </c:pt>
                      <c:pt idx="2">
                        <c:v>15521.993</c:v>
                      </c:pt>
                      <c:pt idx="3">
                        <c:v>17334.760898176202</c:v>
                      </c:pt>
                    </c:numCache>
                  </c:numRef>
                </c:val>
                <c:extLst>
                  <c:ext xmlns:c16="http://schemas.microsoft.com/office/drawing/2014/chart" uri="{C3380CC4-5D6E-409C-BE32-E72D297353CC}">
                    <c16:uniqueId val="{0000000B-FF22-413E-BD55-7F0207247544}"/>
                  </c:ext>
                </c:extLst>
              </c15:ser>
            </c15:filteredBarSeries>
            <c15:filteredBarSeries>
              <c15:ser>
                <c:idx val="2"/>
                <c:order val="1"/>
                <c:tx>
                  <c:strRef>
                    <c:extLst xmlns:c15="http://schemas.microsoft.com/office/drawing/2012/chart">
                      <c:ext xmlns:c15="http://schemas.microsoft.com/office/drawing/2012/chart" uri="{02D57815-91ED-43cb-92C2-25804820EDAC}">
                        <c15:formulaRef>
                          <c15:sqref>Model!$B$119</c15:sqref>
                        </c15:formulaRef>
                      </c:ext>
                    </c:extLst>
                    <c:strCache>
                      <c:ptCount val="1"/>
                      <c:pt idx="0">
                        <c:v>Interest expense</c:v>
                      </c:pt>
                    </c:strCache>
                  </c:strRef>
                </c:tx>
                <c:spPr>
                  <a:solidFill>
                    <a:schemeClr val="accent3"/>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Model!$C$119:$AD$119</c15:sqref>
                        </c15:formulaRef>
                      </c:ext>
                    </c:extLst>
                    <c:numCache>
                      <c:formatCode>#,##0_);[Red]\(#,##0\)</c:formatCode>
                      <c:ptCount val="4"/>
                      <c:pt idx="0">
                        <c:v>10102.088</c:v>
                      </c:pt>
                      <c:pt idx="1">
                        <c:v>7310.55</c:v>
                      </c:pt>
                      <c:pt idx="2">
                        <c:v>9542.3080000000009</c:v>
                      </c:pt>
                      <c:pt idx="3">
                        <c:v>10378.932544821562</c:v>
                      </c:pt>
                    </c:numCache>
                  </c:numRef>
                </c:val>
                <c:extLst xmlns:c15="http://schemas.microsoft.com/office/drawing/2012/chart">
                  <c:ext xmlns:c16="http://schemas.microsoft.com/office/drawing/2014/chart" uri="{C3380CC4-5D6E-409C-BE32-E72D297353CC}">
                    <c16:uniqueId val="{0000000C-FF22-413E-BD55-7F0207247544}"/>
                  </c:ext>
                </c:extLst>
              </c15:ser>
            </c15:filteredBarSeries>
            <c15:filteredBarSeries>
              <c15:ser>
                <c:idx val="4"/>
                <c:order val="3"/>
                <c:tx>
                  <c:strRef>
                    <c:extLst xmlns:c15="http://schemas.microsoft.com/office/drawing/2012/chart">
                      <c:ext xmlns:c15="http://schemas.microsoft.com/office/drawing/2012/chart" uri="{02D57815-91ED-43cb-92C2-25804820EDAC}">
                        <c15:formulaRef>
                          <c15:sqref>Model!$B$121</c15:sqref>
                        </c15:formulaRef>
                      </c:ext>
                    </c:extLst>
                    <c:strCache>
                      <c:ptCount val="1"/>
                      <c:pt idx="0">
                        <c:v>Fee &amp; commision income</c:v>
                      </c:pt>
                    </c:strCache>
                  </c:strRef>
                </c:tx>
                <c:spPr>
                  <a:solidFill>
                    <a:schemeClr val="accent5"/>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Model!$C$121:$AD$121</c15:sqref>
                        </c15:formulaRef>
                      </c:ext>
                    </c:extLst>
                    <c:numCache>
                      <c:formatCode>#,##0_);[Red]\(#,##0\)</c:formatCode>
                      <c:ptCount val="4"/>
                      <c:pt idx="0">
                        <c:v>1393.614</c:v>
                      </c:pt>
                      <c:pt idx="1">
                        <c:v>2165.8670000000002</c:v>
                      </c:pt>
                      <c:pt idx="2">
                        <c:v>1803.607</c:v>
                      </c:pt>
                      <c:pt idx="3">
                        <c:v>2344.6891000000001</c:v>
                      </c:pt>
                    </c:numCache>
                  </c:numRef>
                </c:val>
                <c:extLst xmlns:c15="http://schemas.microsoft.com/office/drawing/2012/chart">
                  <c:ext xmlns:c16="http://schemas.microsoft.com/office/drawing/2014/chart" uri="{C3380CC4-5D6E-409C-BE32-E72D297353CC}">
                    <c16:uniqueId val="{0000000D-FF22-413E-BD55-7F0207247544}"/>
                  </c:ext>
                </c:extLst>
              </c15:ser>
            </c15:filteredBarSeries>
            <c15:filteredBarSeries>
              <c15:ser>
                <c:idx val="5"/>
                <c:order val="4"/>
                <c:tx>
                  <c:strRef>
                    <c:extLst xmlns:c15="http://schemas.microsoft.com/office/drawing/2012/chart">
                      <c:ext xmlns:c15="http://schemas.microsoft.com/office/drawing/2012/chart" uri="{02D57815-91ED-43cb-92C2-25804820EDAC}">
                        <c15:formulaRef>
                          <c15:sqref>Model!$B$122</c15:sqref>
                        </c15:formulaRef>
                      </c:ext>
                    </c:extLst>
                    <c:strCache>
                      <c:ptCount val="1"/>
                      <c:pt idx="0">
                        <c:v>Fee &amp; commision expenses</c:v>
                      </c:pt>
                    </c:strCache>
                  </c:strRef>
                </c:tx>
                <c:spPr>
                  <a:solidFill>
                    <a:schemeClr val="accent6"/>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Model!$C$122:$AD$122</c15:sqref>
                        </c15:formulaRef>
                      </c:ext>
                    </c:extLst>
                    <c:numCache>
                      <c:formatCode>#,##0_);[Red]\(#,##0\)</c:formatCode>
                      <c:ptCount val="4"/>
                      <c:pt idx="0">
                        <c:v>879.31399999999996</c:v>
                      </c:pt>
                      <c:pt idx="1">
                        <c:v>1085.567</c:v>
                      </c:pt>
                      <c:pt idx="2">
                        <c:v>1563.107</c:v>
                      </c:pt>
                      <c:pt idx="3">
                        <c:v>1711.6230430000001</c:v>
                      </c:pt>
                    </c:numCache>
                  </c:numRef>
                </c:val>
                <c:extLst xmlns:c15="http://schemas.microsoft.com/office/drawing/2012/chart">
                  <c:ext xmlns:c16="http://schemas.microsoft.com/office/drawing/2014/chart" uri="{C3380CC4-5D6E-409C-BE32-E72D297353CC}">
                    <c16:uniqueId val="{0000000E-FF22-413E-BD55-7F0207247544}"/>
                  </c:ext>
                </c:extLst>
              </c15:ser>
            </c15:filteredBarSeries>
            <c15:filteredBarSeries>
              <c15:ser>
                <c:idx val="6"/>
                <c:order val="6"/>
                <c:tx>
                  <c:strRef>
                    <c:extLst xmlns:c15="http://schemas.microsoft.com/office/drawing/2012/chart">
                      <c:ext xmlns:c15="http://schemas.microsoft.com/office/drawing/2012/chart" uri="{02D57815-91ED-43cb-92C2-25804820EDAC}">
                        <c15:formulaRef>
                          <c15:sqref>Model!$B$124</c15:sqref>
                        </c15:formulaRef>
                      </c:ext>
                    </c:extLst>
                    <c:strCache>
                      <c:ptCount val="1"/>
                      <c:pt idx="0">
                        <c:v>Net gain from FX &amp; gold</c:v>
                      </c:pt>
                    </c:strCache>
                  </c:strRef>
                </c:tx>
                <c:spPr>
                  <a:solidFill>
                    <a:schemeClr val="accent1">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Model!$C$124:$AD$124</c15:sqref>
                        </c15:formulaRef>
                      </c:ext>
                    </c:extLst>
                    <c:numCache>
                      <c:formatCode>#,##0_);[Red]\(#,##0\)</c:formatCode>
                      <c:ptCount val="4"/>
                      <c:pt idx="0">
                        <c:v>485.92</c:v>
                      </c:pt>
                      <c:pt idx="1">
                        <c:v>673.79600000000005</c:v>
                      </c:pt>
                      <c:pt idx="2">
                        <c:v>580.096</c:v>
                      </c:pt>
                      <c:pt idx="3">
                        <c:v>609.10080000000005</c:v>
                      </c:pt>
                    </c:numCache>
                  </c:numRef>
                </c:val>
                <c:extLst xmlns:c15="http://schemas.microsoft.com/office/drawing/2012/chart">
                  <c:ext xmlns:c16="http://schemas.microsoft.com/office/drawing/2014/chart" uri="{C3380CC4-5D6E-409C-BE32-E72D297353CC}">
                    <c16:uniqueId val="{0000000F-FF22-413E-BD55-7F0207247544}"/>
                  </c:ext>
                </c:extLst>
              </c15:ser>
            </c15:filteredBarSeries>
            <c15:filteredBarSeries>
              <c15:ser>
                <c:idx val="7"/>
                <c:order val="7"/>
                <c:tx>
                  <c:strRef>
                    <c:extLst xmlns:c15="http://schemas.microsoft.com/office/drawing/2012/chart">
                      <c:ext xmlns:c15="http://schemas.microsoft.com/office/drawing/2012/chart" uri="{02D57815-91ED-43cb-92C2-25804820EDAC}">
                        <c15:formulaRef>
                          <c15:sqref>Model!$B$125</c15:sqref>
                        </c15:formulaRef>
                      </c:ext>
                    </c:extLst>
                    <c:strCache>
                      <c:ptCount val="1"/>
                      <c:pt idx="0">
                        <c:v>Net gain from trading securities</c:v>
                      </c:pt>
                    </c:strCache>
                  </c:strRef>
                </c:tx>
                <c:spPr>
                  <a:solidFill>
                    <a:schemeClr val="accent2">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Model!$C$125:$AD$125</c15:sqref>
                        </c15:formulaRef>
                      </c:ext>
                    </c:extLst>
                    <c:numCache>
                      <c:formatCode>#,##0_);[Red]\(#,##0\)</c:formatCode>
                      <c:ptCount val="4"/>
                      <c:pt idx="0">
                        <c:v>0</c:v>
                      </c:pt>
                      <c:pt idx="1">
                        <c:v>0</c:v>
                      </c:pt>
                      <c:pt idx="2">
                        <c:v>31.940999999999999</c:v>
                      </c:pt>
                      <c:pt idx="3">
                        <c:v>0</c:v>
                      </c:pt>
                    </c:numCache>
                  </c:numRef>
                </c:val>
                <c:extLst xmlns:c15="http://schemas.microsoft.com/office/drawing/2012/chart">
                  <c:ext xmlns:c16="http://schemas.microsoft.com/office/drawing/2014/chart" uri="{C3380CC4-5D6E-409C-BE32-E72D297353CC}">
                    <c16:uniqueId val="{00000010-FF22-413E-BD55-7F0207247544}"/>
                  </c:ext>
                </c:extLst>
              </c15:ser>
            </c15:filteredBarSeries>
            <c15:filteredBarSeries>
              <c15:ser>
                <c:idx val="8"/>
                <c:order val="8"/>
                <c:tx>
                  <c:strRef>
                    <c:extLst xmlns:c15="http://schemas.microsoft.com/office/drawing/2012/chart">
                      <c:ext xmlns:c15="http://schemas.microsoft.com/office/drawing/2012/chart" uri="{02D57815-91ED-43cb-92C2-25804820EDAC}">
                        <c15:formulaRef>
                          <c15:sqref>Model!$B$126</c15:sqref>
                        </c15:formulaRef>
                      </c:ext>
                    </c:extLst>
                    <c:strCache>
                      <c:ptCount val="1"/>
                      <c:pt idx="0">
                        <c:v>Net gain from investment securities</c:v>
                      </c:pt>
                    </c:strCache>
                  </c:strRef>
                </c:tx>
                <c:spPr>
                  <a:solidFill>
                    <a:schemeClr val="accent3">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Model!$C$126:$AD$126</c15:sqref>
                        </c15:formulaRef>
                      </c:ext>
                    </c:extLst>
                    <c:numCache>
                      <c:formatCode>#,##0_);[Red]\(#,##0\)</c:formatCode>
                      <c:ptCount val="4"/>
                      <c:pt idx="0">
                        <c:v>121.282</c:v>
                      </c:pt>
                      <c:pt idx="1">
                        <c:v>-68.478999999999999</c:v>
                      </c:pt>
                      <c:pt idx="2">
                        <c:v>-27.003</c:v>
                      </c:pt>
                      <c:pt idx="3">
                        <c:v>352.3247624</c:v>
                      </c:pt>
                    </c:numCache>
                  </c:numRef>
                </c:val>
                <c:extLst xmlns:c15="http://schemas.microsoft.com/office/drawing/2012/chart">
                  <c:ext xmlns:c16="http://schemas.microsoft.com/office/drawing/2014/chart" uri="{C3380CC4-5D6E-409C-BE32-E72D297353CC}">
                    <c16:uniqueId val="{00000011-FF22-413E-BD55-7F0207247544}"/>
                  </c:ext>
                </c:extLst>
              </c15:ser>
            </c15:filteredBarSeries>
            <c15:filteredBarSeries>
              <c15:ser>
                <c:idx val="9"/>
                <c:order val="9"/>
                <c:tx>
                  <c:strRef>
                    <c:extLst xmlns:c15="http://schemas.microsoft.com/office/drawing/2012/chart">
                      <c:ext xmlns:c15="http://schemas.microsoft.com/office/drawing/2012/chart" uri="{02D57815-91ED-43cb-92C2-25804820EDAC}">
                        <c15:formulaRef>
                          <c15:sqref>Model!$B$127</c15:sqref>
                        </c15:formulaRef>
                      </c:ext>
                    </c:extLst>
                    <c:strCache>
                      <c:ptCount val="1"/>
                      <c:pt idx="0">
                        <c:v>Net gain/(loss) from associates</c:v>
                      </c:pt>
                    </c:strCache>
                  </c:strRef>
                </c:tx>
                <c:spPr>
                  <a:solidFill>
                    <a:schemeClr val="accent4">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Model!$C$127:$AD$127</c15:sqref>
                        </c15:formulaRef>
                      </c:ext>
                    </c:extLst>
                    <c:numCache>
                      <c:formatCode>#,##0_);[Red]\(#,##0\)</c:formatCode>
                      <c:ptCount val="4"/>
                      <c:pt idx="0">
                        <c:v>1.1479999999999999</c:v>
                      </c:pt>
                      <c:pt idx="1">
                        <c:v>1.385</c:v>
                      </c:pt>
                      <c:pt idx="2">
                        <c:v>1.635</c:v>
                      </c:pt>
                      <c:pt idx="3">
                        <c:v>1.635</c:v>
                      </c:pt>
                    </c:numCache>
                  </c:numRef>
                </c:val>
                <c:extLst xmlns:c15="http://schemas.microsoft.com/office/drawing/2012/chart">
                  <c:ext xmlns:c16="http://schemas.microsoft.com/office/drawing/2014/chart" uri="{C3380CC4-5D6E-409C-BE32-E72D297353CC}">
                    <c16:uniqueId val="{00000012-FF22-413E-BD55-7F0207247544}"/>
                  </c:ext>
                </c:extLst>
              </c15:ser>
            </c15:filteredBarSeries>
            <c15:filteredBarSeries>
              <c15:ser>
                <c:idx val="10"/>
                <c:order val="10"/>
                <c:tx>
                  <c:strRef>
                    <c:extLst xmlns:c15="http://schemas.microsoft.com/office/drawing/2012/chart">
                      <c:ext xmlns:c15="http://schemas.microsoft.com/office/drawing/2012/chart" uri="{02D57815-91ED-43cb-92C2-25804820EDAC}">
                        <c15:formulaRef>
                          <c15:sqref>Model!$B$128</c15:sqref>
                        </c15:formulaRef>
                      </c:ext>
                    </c:extLst>
                    <c:strCache>
                      <c:ptCount val="1"/>
                      <c:pt idx="0">
                        <c:v>Net other income</c:v>
                      </c:pt>
                    </c:strCache>
                  </c:strRef>
                </c:tx>
                <c:spPr>
                  <a:solidFill>
                    <a:schemeClr val="accent5">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Model!$C$128:$AD$128</c15:sqref>
                        </c15:formulaRef>
                      </c:ext>
                    </c:extLst>
                    <c:numCache>
                      <c:formatCode>#,##0_);[Red]\(#,##0\)</c:formatCode>
                      <c:ptCount val="4"/>
                      <c:pt idx="0">
                        <c:v>835.07899999999995</c:v>
                      </c:pt>
                      <c:pt idx="1">
                        <c:v>947.10799999999995</c:v>
                      </c:pt>
                      <c:pt idx="2">
                        <c:v>484.702</c:v>
                      </c:pt>
                      <c:pt idx="3">
                        <c:v>274.57777199999998</c:v>
                      </c:pt>
                    </c:numCache>
                  </c:numRef>
                </c:val>
                <c:extLst xmlns:c15="http://schemas.microsoft.com/office/drawing/2012/chart">
                  <c:ext xmlns:c16="http://schemas.microsoft.com/office/drawing/2014/chart" uri="{C3380CC4-5D6E-409C-BE32-E72D297353CC}">
                    <c16:uniqueId val="{00000013-FF22-413E-BD55-7F0207247544}"/>
                  </c:ext>
                </c:extLst>
              </c15:ser>
            </c15:filteredBarSeries>
            <c15:filteredBarSeries>
              <c15:ser>
                <c:idx val="11"/>
                <c:order val="11"/>
                <c:tx>
                  <c:strRef>
                    <c:extLst xmlns:c15="http://schemas.microsoft.com/office/drawing/2012/chart">
                      <c:ext xmlns:c15="http://schemas.microsoft.com/office/drawing/2012/chart" uri="{02D57815-91ED-43cb-92C2-25804820EDAC}">
                        <c15:formulaRef>
                          <c15:sqref>Model!$B$129</c15:sqref>
                        </c15:formulaRef>
                      </c:ext>
                    </c:extLst>
                    <c:strCache>
                      <c:ptCount val="1"/>
                      <c:pt idx="0">
                        <c:v>  Recovery of bad debts</c:v>
                      </c:pt>
                    </c:strCache>
                  </c:strRef>
                </c:tx>
                <c:spPr>
                  <a:solidFill>
                    <a:schemeClr val="accent6">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Model!$C$129:$AD$129</c15:sqref>
                        </c15:formulaRef>
                      </c:ext>
                    </c:extLst>
                    <c:numCache>
                      <c:formatCode>#,##0_);[Red]\(#,##0\)</c:formatCode>
                      <c:ptCount val="4"/>
                      <c:pt idx="0">
                        <c:v>203</c:v>
                      </c:pt>
                      <c:pt idx="1">
                        <c:v>204</c:v>
                      </c:pt>
                      <c:pt idx="2">
                        <c:v>205</c:v>
                      </c:pt>
                      <c:pt idx="3">
                        <c:v>1161.3</c:v>
                      </c:pt>
                    </c:numCache>
                  </c:numRef>
                </c:val>
                <c:extLst xmlns:c15="http://schemas.microsoft.com/office/drawing/2012/chart">
                  <c:ext xmlns:c16="http://schemas.microsoft.com/office/drawing/2014/chart" uri="{C3380CC4-5D6E-409C-BE32-E72D297353CC}">
                    <c16:uniqueId val="{00000014-FF22-413E-BD55-7F0207247544}"/>
                  </c:ext>
                </c:extLst>
              </c15:ser>
            </c15:filteredBarSeries>
            <c15:filteredBarSeries>
              <c15:ser>
                <c:idx val="13"/>
                <c:order val="13"/>
                <c:tx>
                  <c:strRef>
                    <c:extLst xmlns:c15="http://schemas.microsoft.com/office/drawing/2012/chart">
                      <c:ext xmlns:c15="http://schemas.microsoft.com/office/drawing/2012/chart" uri="{02D57815-91ED-43cb-92C2-25804820EDAC}">
                        <c15:formulaRef>
                          <c15:sqref>Model!$B$131</c15:sqref>
                        </c15:formulaRef>
                      </c:ext>
                    </c:extLst>
                    <c:strCache>
                      <c:ptCount val="1"/>
                      <c:pt idx="0">
                        <c:v>Salary and related expenses ''33''</c:v>
                      </c:pt>
                    </c:strCache>
                  </c:strRef>
                </c:tx>
                <c:spPr>
                  <a:solidFill>
                    <a:schemeClr val="accent2">
                      <a:lumMod val="80000"/>
                      <a:lumOff val="2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Model!$C$131:$AD$131</c15:sqref>
                        </c15:formulaRef>
                      </c:ext>
                    </c:extLst>
                    <c:numCache>
                      <c:formatCode>#,##0_);[Red]\(#,##0\)</c:formatCode>
                      <c:ptCount val="4"/>
                      <c:pt idx="0">
                        <c:v>1731.432</c:v>
                      </c:pt>
                      <c:pt idx="1">
                        <c:v>1866.829</c:v>
                      </c:pt>
                      <c:pt idx="2">
                        <c:v>2350.1680000000001</c:v>
                      </c:pt>
                      <c:pt idx="3">
                        <c:v>2467.6764000000003</c:v>
                      </c:pt>
                    </c:numCache>
                  </c:numRef>
                </c:val>
                <c:extLst xmlns:c15="http://schemas.microsoft.com/office/drawing/2012/chart">
                  <c:ext xmlns:c16="http://schemas.microsoft.com/office/drawing/2014/chart" uri="{C3380CC4-5D6E-409C-BE32-E72D297353CC}">
                    <c16:uniqueId val="{00000015-FF22-413E-BD55-7F0207247544}"/>
                  </c:ext>
                </c:extLst>
              </c15:ser>
            </c15:filteredBarSeries>
            <c15:filteredBarSeries>
              <c15:ser>
                <c:idx val="14"/>
                <c:order val="14"/>
                <c:tx>
                  <c:strRef>
                    <c:extLst xmlns:c15="http://schemas.microsoft.com/office/drawing/2012/chart">
                      <c:ext xmlns:c15="http://schemas.microsoft.com/office/drawing/2012/chart" uri="{02D57815-91ED-43cb-92C2-25804820EDAC}">
                        <c15:formulaRef>
                          <c15:sqref>Model!$B$132</c15:sqref>
                        </c15:formulaRef>
                      </c:ext>
                    </c:extLst>
                    <c:strCache>
                      <c:ptCount val="1"/>
                      <c:pt idx="0">
                        <c:v> Depreciation and amortization </c:v>
                      </c:pt>
                    </c:strCache>
                  </c:strRef>
                </c:tx>
                <c:spPr>
                  <a:solidFill>
                    <a:schemeClr val="accent3">
                      <a:lumMod val="80000"/>
                      <a:lumOff val="2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Model!$C$132:$AD$132</c15:sqref>
                        </c15:formulaRef>
                      </c:ext>
                    </c:extLst>
                    <c:numCache>
                      <c:formatCode>_(* #,##0_);_(* \(#,##0\);_(* "-"??_);_(@_)</c:formatCode>
                      <c:ptCount val="4"/>
                      <c:pt idx="0">
                        <c:v>0</c:v>
                      </c:pt>
                      <c:pt idx="1">
                        <c:v>-1.8939999999999999</c:v>
                      </c:pt>
                      <c:pt idx="2">
                        <c:v>0</c:v>
                      </c:pt>
                      <c:pt idx="3">
                        <c:v>0</c:v>
                      </c:pt>
                    </c:numCache>
                  </c:numRef>
                </c:val>
                <c:extLst xmlns:c15="http://schemas.microsoft.com/office/drawing/2012/chart">
                  <c:ext xmlns:c16="http://schemas.microsoft.com/office/drawing/2014/chart" uri="{C3380CC4-5D6E-409C-BE32-E72D297353CC}">
                    <c16:uniqueId val="{00000016-FF22-413E-BD55-7F0207247544}"/>
                  </c:ext>
                </c:extLst>
              </c15:ser>
            </c15:filteredBarSeries>
            <c15:filteredBarSeries>
              <c15:ser>
                <c:idx val="15"/>
                <c:order val="15"/>
                <c:tx>
                  <c:strRef>
                    <c:extLst xmlns:c15="http://schemas.microsoft.com/office/drawing/2012/chart">
                      <c:ext xmlns:c15="http://schemas.microsoft.com/office/drawing/2012/chart" uri="{02D57815-91ED-43cb-92C2-25804820EDAC}">
                        <c15:formulaRef>
                          <c15:sqref>Model!$B$133</c15:sqref>
                        </c15:formulaRef>
                      </c:ext>
                    </c:extLst>
                    <c:strCache>
                      <c:ptCount val="1"/>
                      <c:pt idx="0">
                        <c:v> Other operating expenses </c:v>
                      </c:pt>
                    </c:strCache>
                  </c:strRef>
                </c:tx>
                <c:spPr>
                  <a:solidFill>
                    <a:schemeClr val="accent4">
                      <a:lumMod val="80000"/>
                      <a:lumOff val="2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Model!$C$133:$AD$133</c15:sqref>
                        </c15:formulaRef>
                      </c:ext>
                    </c:extLst>
                    <c:numCache>
                      <c:formatCode>_(* #,##0_);_(* \(#,##0\);_(* "-"??_);_(@_)</c:formatCode>
                      <c:ptCount val="4"/>
                      <c:pt idx="0">
                        <c:v>4833.4120000000003</c:v>
                      </c:pt>
                      <c:pt idx="1">
                        <c:v>5248.95</c:v>
                      </c:pt>
                      <c:pt idx="2">
                        <c:v>6590.0929999999989</c:v>
                      </c:pt>
                      <c:pt idx="3">
                        <c:v>6919.5976499999988</c:v>
                      </c:pt>
                    </c:numCache>
                  </c:numRef>
                </c:val>
                <c:extLst xmlns:c15="http://schemas.microsoft.com/office/drawing/2012/chart">
                  <c:ext xmlns:c16="http://schemas.microsoft.com/office/drawing/2014/chart" uri="{C3380CC4-5D6E-409C-BE32-E72D297353CC}">
                    <c16:uniqueId val="{00000017-FF22-413E-BD55-7F0207247544}"/>
                  </c:ext>
                </c:extLst>
              </c15:ser>
            </c15:filteredBarSeries>
            <c15:filteredBarSeries>
              <c15:ser>
                <c:idx val="16"/>
                <c:order val="16"/>
                <c:tx>
                  <c:strRef>
                    <c:extLst xmlns:c15="http://schemas.microsoft.com/office/drawing/2012/chart">
                      <c:ext xmlns:c15="http://schemas.microsoft.com/office/drawing/2012/chart" uri="{02D57815-91ED-43cb-92C2-25804820EDAC}">
                        <c15:formulaRef>
                          <c15:sqref>Model!$B$134</c15:sqref>
                        </c15:formulaRef>
                      </c:ext>
                    </c:extLst>
                    <c:strCache>
                      <c:ptCount val="1"/>
                      <c:pt idx="0">
                        <c:v> Total Operating Income </c:v>
                      </c:pt>
                    </c:strCache>
                  </c:strRef>
                </c:tx>
                <c:spPr>
                  <a:solidFill>
                    <a:schemeClr val="accent5">
                      <a:lumMod val="80000"/>
                      <a:lumOff val="2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Model!$C$134:$AD$134</c15:sqref>
                        </c15:formulaRef>
                      </c:ext>
                    </c:extLst>
                    <c:numCache>
                      <c:formatCode>_(* #,##0_);_(* \(#,##0\);_(* "-"??_);_(@_)</c:formatCode>
                      <c:ptCount val="4"/>
                      <c:pt idx="0">
                        <c:v>6554.8329999999996</c:v>
                      </c:pt>
                      <c:pt idx="1">
                        <c:v>8557.6350000000002</c:v>
                      </c:pt>
                      <c:pt idx="2">
                        <c:v>7291.5559999999996</c:v>
                      </c:pt>
                      <c:pt idx="3">
                        <c:v>8826.5327447546406</c:v>
                      </c:pt>
                    </c:numCache>
                  </c:numRef>
                </c:val>
                <c:extLst xmlns:c15="http://schemas.microsoft.com/office/drawing/2012/chart">
                  <c:ext xmlns:c16="http://schemas.microsoft.com/office/drawing/2014/chart" uri="{C3380CC4-5D6E-409C-BE32-E72D297353CC}">
                    <c16:uniqueId val="{00000018-FF22-413E-BD55-7F0207247544}"/>
                  </c:ext>
                </c:extLst>
              </c15:ser>
            </c15:filteredBarSeries>
            <c15:filteredBarSeries>
              <c15:ser>
                <c:idx val="18"/>
                <c:order val="18"/>
                <c:tx>
                  <c:strRef>
                    <c:extLst xmlns:c15="http://schemas.microsoft.com/office/drawing/2012/chart">
                      <c:ext xmlns:c15="http://schemas.microsoft.com/office/drawing/2012/chart" uri="{02D57815-91ED-43cb-92C2-25804820EDAC}">
                        <c15:formulaRef>
                          <c15:sqref>Model!$B$136</c15:sqref>
                        </c15:formulaRef>
                      </c:ext>
                    </c:extLst>
                    <c:strCache>
                      <c:ptCount val="1"/>
                      <c:pt idx="0">
                        <c:v>Pre-provision profit (PPOP)</c:v>
                      </c:pt>
                    </c:strCache>
                  </c:strRef>
                </c:tx>
                <c:spPr>
                  <a:solidFill>
                    <a:schemeClr val="accent1">
                      <a:lumMod val="80000"/>
                    </a:schemeClr>
                  </a:solidFill>
                  <a:ln>
                    <a:noFill/>
                  </a:ln>
                  <a:effectLst/>
                </c:spPr>
                <c:invertIfNegative val="0"/>
                <c:cat>
                  <c:strRef>
                    <c:extLst xmlns:c15="http://schemas.microsoft.com/office/drawing/2012/chart">
                      <c:ext xmlns:c15="http://schemas.microsoft.com/office/drawing/2012/chart" uri="{02D57815-91ED-43cb-92C2-25804820EDAC}">
                        <c15:formulaRef>
                          <c15:sqref>Model!$C$117:$AF$117</c15:sqref>
                        </c15:formulaRef>
                      </c:ext>
                    </c:extLst>
                    <c:strCache>
                      <c:ptCount val="6"/>
                      <c:pt idx="0">
                        <c:v>2023</c:v>
                      </c:pt>
                      <c:pt idx="1">
                        <c:v>2024</c:v>
                      </c:pt>
                      <c:pt idx="2">
                        <c:v>2025</c:v>
                      </c:pt>
                      <c:pt idx="3">
                        <c:v>2026F</c:v>
                      </c:pt>
                      <c:pt idx="4">
                        <c:v>2027F</c:v>
                      </c:pt>
                      <c:pt idx="5">
                        <c:v>2028F</c:v>
                      </c:pt>
                    </c:strCache>
                  </c:strRef>
                </c:cat>
                <c:val>
                  <c:numRef>
                    <c:extLst xmlns:c15="http://schemas.microsoft.com/office/drawing/2012/chart">
                      <c:ext xmlns:c15="http://schemas.microsoft.com/office/drawing/2012/chart" uri="{02D57815-91ED-43cb-92C2-25804820EDAC}">
                        <c15:formulaRef>
                          <c15:sqref>Model!$C$136:$AD$136</c15:sqref>
                        </c15:formulaRef>
                      </c:ext>
                    </c:extLst>
                    <c:numCache>
                      <c:formatCode>#,##0_);[Red]\(#,##0\)</c:formatCode>
                      <c:ptCount val="4"/>
                      <c:pt idx="0">
                        <c:v>3414.0250000000001</c:v>
                      </c:pt>
                      <c:pt idx="1">
                        <c:v>5157.4889999999996</c:v>
                      </c:pt>
                      <c:pt idx="2">
                        <c:v>3038.194</c:v>
                      </c:pt>
                      <c:pt idx="3">
                        <c:v>4501.5316998248663</c:v>
                      </c:pt>
                    </c:numCache>
                  </c:numRef>
                </c:val>
                <c:extLst xmlns:c15="http://schemas.microsoft.com/office/drawing/2012/chart">
                  <c:ext xmlns:c16="http://schemas.microsoft.com/office/drawing/2014/chart" uri="{C3380CC4-5D6E-409C-BE32-E72D297353CC}">
                    <c16:uniqueId val="{00000019-FF22-413E-BD55-7F0207247544}"/>
                  </c:ext>
                </c:extLst>
              </c15:ser>
            </c15:filteredBarSeries>
          </c:ext>
        </c:extLst>
      </c:barChart>
      <c:catAx>
        <c:axId val="19314907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crossAx val="1931491199"/>
        <c:crosses val="autoZero"/>
        <c:auto val="1"/>
        <c:lblAlgn val="ctr"/>
        <c:lblOffset val="100"/>
        <c:noMultiLvlLbl val="0"/>
      </c:catAx>
      <c:valAx>
        <c:axId val="1931491199"/>
        <c:scaling>
          <c:orientation val="minMax"/>
        </c:scaling>
        <c:delete val="0"/>
        <c:axPos val="l"/>
        <c:numFmt formatCode="#,##0_);[Red]\(#,##0\)"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crossAx val="1931490719"/>
        <c:crosses val="autoZero"/>
        <c:crossBetween val="between"/>
      </c:valAx>
      <c:spPr>
        <a:noFill/>
        <a:ln>
          <a:noFill/>
        </a:ln>
        <a:effectLst/>
      </c:spPr>
    </c:plotArea>
    <c:legend>
      <c:legendPos val="b"/>
      <c:layout>
        <c:manualLayout>
          <c:xMode val="edge"/>
          <c:yMode val="edge"/>
          <c:x val="0"/>
          <c:y val="0.89482851830376786"/>
          <c:w val="1"/>
          <c:h val="7.0482973719230957E-2"/>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2000">
          <a:latin typeface="SVN-Gilroy" panose="00000500000000000000" pitchFamily="50" charset="0"/>
          <a:ea typeface="Noto Sans" panose="020B0502040504020204" pitchFamily="34" charset="0"/>
          <a:cs typeface="Noto Sans" panose="020B0502040504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94485076717189"/>
          <c:y val="3.7427174280518172E-2"/>
          <c:w val="0.77739559384921064"/>
          <c:h val="0.74824284482116876"/>
        </c:manualLayout>
      </c:layout>
      <c:barChart>
        <c:barDir val="col"/>
        <c:grouping val="clustered"/>
        <c:varyColors val="0"/>
        <c:ser>
          <c:idx val="0"/>
          <c:order val="0"/>
          <c:tx>
            <c:strRef>
              <c:f>Model!$B$218</c:f>
              <c:strCache>
                <c:ptCount val="1"/>
                <c:pt idx="0">
                  <c:v>NPL Ratio (%)</c:v>
                </c:pt>
              </c:strCache>
            </c:strRef>
          </c:tx>
          <c:spPr>
            <a:solidFill>
              <a:schemeClr val="accent1"/>
            </a:solidFill>
            <a:ln>
              <a:noFill/>
            </a:ln>
            <a:effectLst/>
          </c:spPr>
          <c:invertIfNegative val="0"/>
          <c:cat>
            <c:strRef>
              <c:f>Model!$AA$214:$AF$214</c:f>
              <c:strCache>
                <c:ptCount val="6"/>
                <c:pt idx="0">
                  <c:v>2023</c:v>
                </c:pt>
                <c:pt idx="1">
                  <c:v>2024</c:v>
                </c:pt>
                <c:pt idx="2">
                  <c:v>2025</c:v>
                </c:pt>
                <c:pt idx="3">
                  <c:v>2026F</c:v>
                </c:pt>
                <c:pt idx="4">
                  <c:v>2027F</c:v>
                </c:pt>
                <c:pt idx="5">
                  <c:v>2028F</c:v>
                </c:pt>
              </c:strCache>
            </c:strRef>
          </c:cat>
          <c:val>
            <c:numRef>
              <c:f>Model!$AA$218:$AF$218</c:f>
              <c:numCache>
                <c:formatCode>#,##0.00</c:formatCode>
                <c:ptCount val="6"/>
                <c:pt idx="0">
                  <c:v>2.6535340349065262</c:v>
                </c:pt>
                <c:pt idx="1">
                  <c:v>2.531447190451761</c:v>
                </c:pt>
                <c:pt idx="2">
                  <c:v>2.8622687070114043</c:v>
                </c:pt>
                <c:pt idx="3">
                  <c:v>2.5000000000000022</c:v>
                </c:pt>
                <c:pt idx="4">
                  <c:v>2.0000000000000027</c:v>
                </c:pt>
                <c:pt idx="5">
                  <c:v>1.8000000000000023</c:v>
                </c:pt>
              </c:numCache>
            </c:numRef>
          </c:val>
          <c:extLst>
            <c:ext xmlns:c16="http://schemas.microsoft.com/office/drawing/2014/chart" uri="{C3380CC4-5D6E-409C-BE32-E72D297353CC}">
              <c16:uniqueId val="{00000000-7D80-46A9-82AD-963F81AE6644}"/>
            </c:ext>
          </c:extLst>
        </c:ser>
        <c:ser>
          <c:idx val="1"/>
          <c:order val="1"/>
          <c:tx>
            <c:strRef>
              <c:f>Model!$B$219</c:f>
              <c:strCache>
                <c:ptCount val="1"/>
                <c:pt idx="0">
                  <c:v>Broad NPL ratio (%)</c:v>
                </c:pt>
              </c:strCache>
            </c:strRef>
          </c:tx>
          <c:spPr>
            <a:solidFill>
              <a:schemeClr val="accent2"/>
            </a:solidFill>
            <a:ln>
              <a:noFill/>
            </a:ln>
            <a:effectLst/>
          </c:spPr>
          <c:invertIfNegative val="0"/>
          <c:cat>
            <c:strRef>
              <c:f>Model!$AA$214:$AF$214</c:f>
              <c:strCache>
                <c:ptCount val="6"/>
                <c:pt idx="0">
                  <c:v>2023</c:v>
                </c:pt>
                <c:pt idx="1">
                  <c:v>2024</c:v>
                </c:pt>
                <c:pt idx="2">
                  <c:v>2025</c:v>
                </c:pt>
                <c:pt idx="3">
                  <c:v>2026F</c:v>
                </c:pt>
                <c:pt idx="4">
                  <c:v>2027F</c:v>
                </c:pt>
                <c:pt idx="5">
                  <c:v>2028F</c:v>
                </c:pt>
              </c:strCache>
            </c:strRef>
          </c:cat>
          <c:val>
            <c:numRef>
              <c:f>Model!$AA$219:$AF$219</c:f>
              <c:numCache>
                <c:formatCode>#,##0.00</c:formatCode>
                <c:ptCount val="6"/>
                <c:pt idx="0">
                  <c:v>3.9629459888208194</c:v>
                </c:pt>
                <c:pt idx="1">
                  <c:v>3.5435443370474204</c:v>
                </c:pt>
                <c:pt idx="2">
                  <c:v>4.0519632123103326</c:v>
                </c:pt>
                <c:pt idx="3">
                  <c:v>3.5000000000000022</c:v>
                </c:pt>
                <c:pt idx="4">
                  <c:v>3.6000000000000023</c:v>
                </c:pt>
                <c:pt idx="5">
                  <c:v>3.200000000000002</c:v>
                </c:pt>
              </c:numCache>
            </c:numRef>
          </c:val>
          <c:extLst>
            <c:ext xmlns:c16="http://schemas.microsoft.com/office/drawing/2014/chart" uri="{C3380CC4-5D6E-409C-BE32-E72D297353CC}">
              <c16:uniqueId val="{00000001-7D80-46A9-82AD-963F81AE6644}"/>
            </c:ext>
          </c:extLst>
        </c:ser>
        <c:dLbls>
          <c:showLegendKey val="0"/>
          <c:showVal val="0"/>
          <c:showCatName val="0"/>
          <c:showSerName val="0"/>
          <c:showPercent val="0"/>
          <c:showBubbleSize val="0"/>
        </c:dLbls>
        <c:gapWidth val="219"/>
        <c:axId val="123180607"/>
        <c:axId val="123181087"/>
      </c:barChart>
      <c:lineChart>
        <c:grouping val="standard"/>
        <c:varyColors val="0"/>
        <c:ser>
          <c:idx val="2"/>
          <c:order val="2"/>
          <c:tx>
            <c:strRef>
              <c:f>Model!$B$220</c:f>
              <c:strCache>
                <c:ptCount val="1"/>
                <c:pt idx="0">
                  <c:v>NPL coverage ratio</c:v>
                </c:pt>
              </c:strCache>
            </c:strRef>
          </c:tx>
          <c:spPr>
            <a:ln w="28575" cap="rnd">
              <a:solidFill>
                <a:schemeClr val="accent3"/>
              </a:solidFill>
              <a:round/>
            </a:ln>
            <a:effectLst/>
          </c:spPr>
          <c:marker>
            <c:symbol val="none"/>
          </c:marker>
          <c:cat>
            <c:strRef>
              <c:f>Model!$AA$214:$AF$214</c:f>
              <c:strCache>
                <c:ptCount val="6"/>
                <c:pt idx="0">
                  <c:v>2023</c:v>
                </c:pt>
                <c:pt idx="1">
                  <c:v>2024</c:v>
                </c:pt>
                <c:pt idx="2">
                  <c:v>2025</c:v>
                </c:pt>
                <c:pt idx="3">
                  <c:v>2026F</c:v>
                </c:pt>
                <c:pt idx="4">
                  <c:v>2027F</c:v>
                </c:pt>
                <c:pt idx="5">
                  <c:v>2028F</c:v>
                </c:pt>
              </c:strCache>
            </c:strRef>
          </c:cat>
          <c:val>
            <c:numRef>
              <c:f>Model!$AA$220:$AF$220</c:f>
              <c:numCache>
                <c:formatCode>#,##0.0</c:formatCode>
                <c:ptCount val="6"/>
                <c:pt idx="0">
                  <c:v>41.208255743440844</c:v>
                </c:pt>
                <c:pt idx="1">
                  <c:v>42.316044574148208</c:v>
                </c:pt>
                <c:pt idx="2">
                  <c:v>43.887358273751872</c:v>
                </c:pt>
                <c:pt idx="3">
                  <c:v>53.264962555357542</c:v>
                </c:pt>
                <c:pt idx="4">
                  <c:v>62.202258579694714</c:v>
                </c:pt>
                <c:pt idx="5">
                  <c:v>65.295467559077068</c:v>
                </c:pt>
              </c:numCache>
            </c:numRef>
          </c:val>
          <c:smooth val="0"/>
          <c:extLst>
            <c:ext xmlns:c16="http://schemas.microsoft.com/office/drawing/2014/chart" uri="{C3380CC4-5D6E-409C-BE32-E72D297353CC}">
              <c16:uniqueId val="{00000002-7D80-46A9-82AD-963F81AE6644}"/>
            </c:ext>
          </c:extLst>
        </c:ser>
        <c:dLbls>
          <c:showLegendKey val="0"/>
          <c:showVal val="0"/>
          <c:showCatName val="0"/>
          <c:showSerName val="0"/>
          <c:showPercent val="0"/>
          <c:showBubbleSize val="0"/>
        </c:dLbls>
        <c:marker val="1"/>
        <c:smooth val="0"/>
        <c:axId val="123203647"/>
        <c:axId val="123211327"/>
      </c:lineChart>
      <c:catAx>
        <c:axId val="1231806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crossAx val="123181087"/>
        <c:crosses val="autoZero"/>
        <c:auto val="1"/>
        <c:lblAlgn val="ctr"/>
        <c:lblOffset val="100"/>
        <c:noMultiLvlLbl val="0"/>
      </c:catAx>
      <c:valAx>
        <c:axId val="123181087"/>
        <c:scaling>
          <c:orientation val="minMax"/>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crossAx val="123180607"/>
        <c:crosses val="autoZero"/>
        <c:crossBetween val="between"/>
      </c:valAx>
      <c:valAx>
        <c:axId val="123211327"/>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crossAx val="123203647"/>
        <c:crosses val="max"/>
        <c:crossBetween val="between"/>
      </c:valAx>
      <c:catAx>
        <c:axId val="123203647"/>
        <c:scaling>
          <c:orientation val="minMax"/>
        </c:scaling>
        <c:delete val="1"/>
        <c:axPos val="b"/>
        <c:numFmt formatCode="General" sourceLinked="1"/>
        <c:majorTickMark val="out"/>
        <c:minorTickMark val="none"/>
        <c:tickLblPos val="nextTo"/>
        <c:crossAx val="123211327"/>
        <c:crosses val="autoZero"/>
        <c:auto val="1"/>
        <c:lblAlgn val="ctr"/>
        <c:lblOffset val="100"/>
        <c:noMultiLvlLbl val="0"/>
      </c:catAx>
      <c:spPr>
        <a:noFill/>
        <a:ln>
          <a:noFill/>
        </a:ln>
        <a:effectLst/>
      </c:spPr>
    </c:plotArea>
    <c:legend>
      <c:legendPos val="b"/>
      <c:layout>
        <c:manualLayout>
          <c:xMode val="edge"/>
          <c:yMode val="edge"/>
          <c:x val="2.1958684655725182E-2"/>
          <c:y val="0.81995592716479049"/>
          <c:w val="0.97804128238910848"/>
          <c:h val="0.17622346987007298"/>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SVN-Gilroy" panose="00000500000000000000" pitchFamily="50" charset="0"/>
              <a:ea typeface="Noto Sans" panose="020B0502040504020204" pitchFamily="34" charset="0"/>
              <a:cs typeface="Noto Sans" panose="020B0502040504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1800">
          <a:latin typeface="SVN-Gilroy" panose="00000500000000000000" pitchFamily="50" charset="0"/>
          <a:ea typeface="Noto Sans" panose="020B0502040504020204" pitchFamily="34" charset="0"/>
          <a:cs typeface="Noto Sans" panose="020B0502040504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70CA04-D3AC-4836-B672-BD10C381E938}"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F043EA2E-4196-402C-9BC9-C3EA5C5CC5B0}">
      <dgm:prSet phldrT="[Text]" custT="1"/>
      <dgm:spPr/>
      <dgm:t>
        <a:bodyPr vert="vert270"/>
        <a:lstStyle/>
        <a:p>
          <a:pPr algn="r"/>
          <a:r>
            <a:rPr lang="en-US" sz="3200" b="1" dirty="0">
              <a:solidFill>
                <a:srgbClr val="F48120"/>
              </a:solidFill>
              <a:latin typeface="SVN-Gilroy" panose="00000500000000000000" pitchFamily="50" charset="0"/>
            </a:rPr>
            <a:t>1H26 financials</a:t>
          </a:r>
        </a:p>
      </dgm:t>
    </dgm:pt>
    <dgm:pt modelId="{418974FA-C7D1-46D3-8208-6B99BFDD87B0}" type="parTrans" cxnId="{93190291-1269-4815-BEF6-F5CF56EB8F41}">
      <dgm:prSet/>
      <dgm:spPr/>
      <dgm:t>
        <a:bodyPr/>
        <a:lstStyle/>
        <a:p>
          <a:endParaRPr lang="en-US" sz="3200">
            <a:solidFill>
              <a:schemeClr val="bg2">
                <a:lumMod val="25000"/>
              </a:schemeClr>
            </a:solidFill>
            <a:latin typeface="SVN-Gilroy" panose="00000500000000000000" pitchFamily="50" charset="0"/>
          </a:endParaRPr>
        </a:p>
      </dgm:t>
    </dgm:pt>
    <dgm:pt modelId="{C2C239A5-2D51-4505-8080-1CA8D13C5DB3}" type="sibTrans" cxnId="{93190291-1269-4815-BEF6-F5CF56EB8F41}">
      <dgm:prSet/>
      <dgm:spPr/>
      <dgm:t>
        <a:bodyPr/>
        <a:lstStyle/>
        <a:p>
          <a:endParaRPr lang="en-US" sz="3200">
            <a:solidFill>
              <a:schemeClr val="bg2">
                <a:lumMod val="25000"/>
              </a:schemeClr>
            </a:solidFill>
            <a:latin typeface="SVN-Gilroy" panose="00000500000000000000" pitchFamily="50" charset="0"/>
          </a:endParaRPr>
        </a:p>
      </dgm:t>
    </dgm:pt>
    <dgm:pt modelId="{B7118F00-7FEB-4E8C-A6F9-B6514EFDA034}">
      <dgm:prSet phldrT="[Text]" custT="1"/>
      <dgm:spPr/>
      <dgm:t>
        <a:bodyPr/>
        <a:lstStyle/>
        <a:p>
          <a:pPr>
            <a:buFont typeface="Arial" panose="020B0604020202020204" pitchFamily="34" charset="0"/>
            <a:buChar char="•"/>
          </a:pPr>
          <a:r>
            <a:rPr lang="en-US" sz="2900" b="0" dirty="0">
              <a:latin typeface="SVN-Gilroy" panose="00000500000000000000" pitchFamily="50" charset="0"/>
            </a:rPr>
            <a:t>- PBT VND730bn (−51% YoY), 41% of FY plan; 2Q26 ~VND392bn</a:t>
          </a:r>
        </a:p>
        <a:p>
          <a:pPr>
            <a:buFont typeface="Arial" panose="020B0604020202020204" pitchFamily="34" charset="0"/>
            <a:buChar char="•"/>
          </a:pPr>
          <a:r>
            <a:rPr lang="en-US" sz="2900" b="0" dirty="0">
              <a:latin typeface="SVN-Gilroy" panose="00000500000000000000" pitchFamily="50" charset="0"/>
            </a:rPr>
            <a:t>- Total assets VND266.5tn (−VND6tn YTD); loans &gt;VND200tn</a:t>
          </a:r>
        </a:p>
        <a:p>
          <a:pPr>
            <a:buFont typeface="Arial" panose="020B0604020202020204" pitchFamily="34" charset="0"/>
            <a:buChar char="•"/>
          </a:pPr>
          <a:r>
            <a:rPr lang="en-US" sz="2900" b="0" dirty="0">
              <a:latin typeface="SVN-Gilroy" panose="00000500000000000000" pitchFamily="50" charset="0"/>
            </a:rPr>
            <a:t>- NPL 2.88% (&lt;3%); CAR 12.5%; LDR ~83%</a:t>
          </a:r>
        </a:p>
      </dgm:t>
    </dgm:pt>
    <dgm:pt modelId="{E7E99523-35F4-4B8A-8522-ED3D34CD219D}" type="parTrans" cxnId="{9C53D35C-BC8C-44A8-B269-22DB2A360D5F}">
      <dgm:prSet/>
      <dgm:spPr/>
      <dgm:t>
        <a:bodyPr/>
        <a:lstStyle/>
        <a:p>
          <a:endParaRPr lang="en-US" sz="3200">
            <a:solidFill>
              <a:schemeClr val="bg2">
                <a:lumMod val="25000"/>
              </a:schemeClr>
            </a:solidFill>
            <a:latin typeface="SVN-Gilroy" panose="00000500000000000000" pitchFamily="50" charset="0"/>
          </a:endParaRPr>
        </a:p>
      </dgm:t>
    </dgm:pt>
    <dgm:pt modelId="{BE2211A5-733F-4AFC-81A6-F3EFEADBA076}" type="sibTrans" cxnId="{9C53D35C-BC8C-44A8-B269-22DB2A360D5F}">
      <dgm:prSet/>
      <dgm:spPr/>
      <dgm:t>
        <a:bodyPr/>
        <a:lstStyle/>
        <a:p>
          <a:endParaRPr lang="en-US" sz="3200">
            <a:solidFill>
              <a:schemeClr val="bg2">
                <a:lumMod val="25000"/>
              </a:schemeClr>
            </a:solidFill>
            <a:latin typeface="SVN-Gilroy" panose="00000500000000000000" pitchFamily="50" charset="0"/>
          </a:endParaRPr>
        </a:p>
      </dgm:t>
    </dgm:pt>
    <dgm:pt modelId="{9394690C-4DA7-4E12-A375-C402BFB51A8A}">
      <dgm:prSet phldrT="[Text]" custT="1"/>
      <dgm:spPr/>
      <dgm:t>
        <a:bodyPr vert="vert270"/>
        <a:lstStyle/>
        <a:p>
          <a:pPr algn="r"/>
          <a:r>
            <a:rPr lang="en-US" sz="3200" b="1" dirty="0">
              <a:solidFill>
                <a:srgbClr val="F48120"/>
              </a:solidFill>
              <a:latin typeface="SVN-Gilroy" panose="00000500000000000000" pitchFamily="50" charset="0"/>
            </a:rPr>
            <a:t>2026 catalyst</a:t>
          </a:r>
        </a:p>
      </dgm:t>
    </dgm:pt>
    <dgm:pt modelId="{B8AD241D-B6D8-4F56-A8AB-5DDE1EAF3EC0}" type="parTrans" cxnId="{0800F74F-7F7C-44C6-9EB0-165422B289D4}">
      <dgm:prSet/>
      <dgm:spPr/>
      <dgm:t>
        <a:bodyPr/>
        <a:lstStyle/>
        <a:p>
          <a:endParaRPr lang="en-US" sz="3200">
            <a:solidFill>
              <a:schemeClr val="bg2">
                <a:lumMod val="25000"/>
              </a:schemeClr>
            </a:solidFill>
            <a:latin typeface="SVN-Gilroy" panose="00000500000000000000" pitchFamily="50" charset="0"/>
          </a:endParaRPr>
        </a:p>
      </dgm:t>
    </dgm:pt>
    <dgm:pt modelId="{915B3AF5-FE0B-4065-999C-B6A69CCF7CFD}" type="sibTrans" cxnId="{0800F74F-7F7C-44C6-9EB0-165422B289D4}">
      <dgm:prSet/>
      <dgm:spPr/>
      <dgm:t>
        <a:bodyPr/>
        <a:lstStyle/>
        <a:p>
          <a:endParaRPr lang="en-US" sz="3200">
            <a:solidFill>
              <a:schemeClr val="bg2">
                <a:lumMod val="25000"/>
              </a:schemeClr>
            </a:solidFill>
            <a:latin typeface="SVN-Gilroy" panose="00000500000000000000" pitchFamily="50" charset="0"/>
          </a:endParaRPr>
        </a:p>
      </dgm:t>
    </dgm:pt>
    <dgm:pt modelId="{7B83FE9A-4336-4300-A36D-1E2EF76EDF36}">
      <dgm:prSet phldrT="[Text]" custT="1"/>
      <dgm:spPr/>
      <dgm:t>
        <a:bodyPr/>
        <a:lstStyle/>
        <a:p>
          <a:pPr algn="l"/>
          <a:r>
            <a:rPr lang="en-US" sz="2900" b="0" dirty="0">
              <a:solidFill>
                <a:schemeClr val="tx1"/>
              </a:solidFill>
              <a:latin typeface="SVN-Gilroy" panose="00000500000000000000"/>
            </a:rPr>
            <a:t>PBT: VND2,403bn (+59% YoY)</a:t>
          </a:r>
        </a:p>
        <a:p>
          <a:pPr algn="l"/>
          <a:r>
            <a:rPr lang="en-US" sz="2900" b="0" dirty="0">
              <a:solidFill>
                <a:schemeClr val="tx1"/>
              </a:solidFill>
              <a:latin typeface="SVN-Gilroy" panose="00000500000000000000"/>
            </a:rPr>
            <a:t>+ Stronger loans growth (+14.5%)</a:t>
          </a:r>
        </a:p>
        <a:p>
          <a:pPr algn="l"/>
          <a:r>
            <a:rPr lang="en-US" sz="2900" b="0" dirty="0">
              <a:solidFill>
                <a:schemeClr val="tx1"/>
              </a:solidFill>
              <a:latin typeface="SVN-Gilroy" panose="00000500000000000000"/>
            </a:rPr>
            <a:t>+ Fee recovery (+163% YoY)</a:t>
          </a:r>
        </a:p>
        <a:p>
          <a:pPr algn="l"/>
          <a:r>
            <a:rPr lang="en-US" sz="2900" b="0" dirty="0">
              <a:solidFill>
                <a:schemeClr val="tx1"/>
              </a:solidFill>
              <a:latin typeface="SVN-Gilroy" panose="00000500000000000000"/>
            </a:rPr>
            <a:t>+ Lower CIR (~49%, -9%p YoY) </a:t>
          </a:r>
        </a:p>
      </dgm:t>
    </dgm:pt>
    <dgm:pt modelId="{D4C5D6EC-16EC-4982-BA91-C9C9CD058C20}" type="parTrans" cxnId="{5E31326A-77FF-4662-981A-85912943EDA8}">
      <dgm:prSet/>
      <dgm:spPr/>
      <dgm:t>
        <a:bodyPr/>
        <a:lstStyle/>
        <a:p>
          <a:endParaRPr lang="en-US" sz="3200">
            <a:solidFill>
              <a:schemeClr val="bg2">
                <a:lumMod val="25000"/>
              </a:schemeClr>
            </a:solidFill>
            <a:latin typeface="SVN-Gilroy" panose="00000500000000000000" pitchFamily="50" charset="0"/>
          </a:endParaRPr>
        </a:p>
      </dgm:t>
    </dgm:pt>
    <dgm:pt modelId="{2CEA675D-DFB2-48DD-B6E7-9ABD72084365}" type="sibTrans" cxnId="{5E31326A-77FF-4662-981A-85912943EDA8}">
      <dgm:prSet/>
      <dgm:spPr/>
      <dgm:t>
        <a:bodyPr/>
        <a:lstStyle/>
        <a:p>
          <a:endParaRPr lang="en-US" sz="3200">
            <a:solidFill>
              <a:schemeClr val="bg2">
                <a:lumMod val="25000"/>
              </a:schemeClr>
            </a:solidFill>
            <a:latin typeface="SVN-Gilroy" panose="00000500000000000000" pitchFamily="50" charset="0"/>
          </a:endParaRPr>
        </a:p>
      </dgm:t>
    </dgm:pt>
    <dgm:pt modelId="{EC0346FF-A004-4169-BFD8-F5F84A6E5BF8}">
      <dgm:prSet phldrT="[Text]" custT="1"/>
      <dgm:spPr/>
      <dgm:t>
        <a:bodyPr vert="vert270"/>
        <a:lstStyle/>
        <a:p>
          <a:pPr algn="r"/>
          <a:r>
            <a:rPr lang="en-US" sz="3200" b="1" dirty="0">
              <a:solidFill>
                <a:srgbClr val="F48120"/>
              </a:solidFill>
              <a:latin typeface="SVN-Gilroy" panose="00000500000000000000" pitchFamily="50" charset="0"/>
            </a:rPr>
            <a:t>2026 Target</a:t>
          </a:r>
        </a:p>
      </dgm:t>
    </dgm:pt>
    <dgm:pt modelId="{0F46AD0D-CC96-4ADE-A664-43D0A08B0DEC}" type="sibTrans" cxnId="{F9D77452-0DFF-4C95-B95D-76D26C3A319C}">
      <dgm:prSet/>
      <dgm:spPr/>
      <dgm:t>
        <a:bodyPr/>
        <a:lstStyle/>
        <a:p>
          <a:endParaRPr lang="en-US" sz="3200">
            <a:solidFill>
              <a:schemeClr val="bg2">
                <a:lumMod val="25000"/>
              </a:schemeClr>
            </a:solidFill>
            <a:latin typeface="SVN-Gilroy" panose="00000500000000000000" pitchFamily="50" charset="0"/>
          </a:endParaRPr>
        </a:p>
      </dgm:t>
    </dgm:pt>
    <dgm:pt modelId="{40254663-3182-4150-8563-CE48A854047E}" type="parTrans" cxnId="{F9D77452-0DFF-4C95-B95D-76D26C3A319C}">
      <dgm:prSet/>
      <dgm:spPr/>
      <dgm:t>
        <a:bodyPr/>
        <a:lstStyle/>
        <a:p>
          <a:endParaRPr lang="en-US" sz="3200">
            <a:solidFill>
              <a:schemeClr val="bg2">
                <a:lumMod val="25000"/>
              </a:schemeClr>
            </a:solidFill>
            <a:latin typeface="SVN-Gilroy" panose="00000500000000000000" pitchFamily="50" charset="0"/>
          </a:endParaRPr>
        </a:p>
      </dgm:t>
    </dgm:pt>
    <dgm:pt modelId="{F81811C9-FA20-4D45-B8AF-EBDE53D82F5E}">
      <dgm:prSet custT="1"/>
      <dgm:spPr/>
      <dgm:t>
        <a:bodyPr/>
        <a:lstStyle/>
        <a:p>
          <a:r>
            <a:rPr lang="en-US" sz="2900" b="0" dirty="0" err="1">
              <a:latin typeface="SVN-Gilroy" panose="00000500000000000000"/>
            </a:rPr>
            <a:t>Eximbank</a:t>
          </a:r>
          <a:r>
            <a:rPr lang="en-US" sz="2900" b="0" dirty="0">
              <a:latin typeface="SVN-Gilroy" panose="00000500000000000000"/>
            </a:rPr>
            <a:t> has sharply revised down its FY2026 pre-tax profit target to VND1,515bn (down over 60% from the previous plan)</a:t>
          </a:r>
        </a:p>
      </dgm:t>
    </dgm:pt>
    <dgm:pt modelId="{99AF29C3-8602-4616-9666-4986D725BBE6}" type="parTrans" cxnId="{02DDB73E-FA92-470B-8C74-1A278BC728FD}">
      <dgm:prSet/>
      <dgm:spPr/>
      <dgm:t>
        <a:bodyPr/>
        <a:lstStyle/>
        <a:p>
          <a:endParaRPr lang="en-US"/>
        </a:p>
      </dgm:t>
    </dgm:pt>
    <dgm:pt modelId="{13422DB2-DB45-4A4F-B04E-B4CBBA477BAF}" type="sibTrans" cxnId="{02DDB73E-FA92-470B-8C74-1A278BC728FD}">
      <dgm:prSet/>
      <dgm:spPr/>
      <dgm:t>
        <a:bodyPr/>
        <a:lstStyle/>
        <a:p>
          <a:endParaRPr lang="en-US"/>
        </a:p>
      </dgm:t>
    </dgm:pt>
    <dgm:pt modelId="{6511B27F-EEA1-4D85-ADA3-BB8A1C4A521F}" type="pres">
      <dgm:prSet presAssocID="{A270CA04-D3AC-4836-B672-BD10C381E938}" presName="vert0" presStyleCnt="0">
        <dgm:presLayoutVars>
          <dgm:dir/>
          <dgm:animOne val="branch"/>
          <dgm:animLvl val="lvl"/>
        </dgm:presLayoutVars>
      </dgm:prSet>
      <dgm:spPr/>
    </dgm:pt>
    <dgm:pt modelId="{E077197D-4B0C-4DCD-95A6-A131DE9108F9}" type="pres">
      <dgm:prSet presAssocID="{F043EA2E-4196-402C-9BC9-C3EA5C5CC5B0}" presName="thickLine" presStyleLbl="alignNode1" presStyleIdx="0" presStyleCnt="3"/>
      <dgm:spPr/>
    </dgm:pt>
    <dgm:pt modelId="{0445D92D-7E05-4267-8384-8CE229F72B43}" type="pres">
      <dgm:prSet presAssocID="{F043EA2E-4196-402C-9BC9-C3EA5C5CC5B0}" presName="horz1" presStyleCnt="0"/>
      <dgm:spPr/>
    </dgm:pt>
    <dgm:pt modelId="{E17A2724-0B5A-462E-B77B-58652340526B}" type="pres">
      <dgm:prSet presAssocID="{F043EA2E-4196-402C-9BC9-C3EA5C5CC5B0}" presName="tx1" presStyleLbl="revTx" presStyleIdx="0" presStyleCnt="6"/>
      <dgm:spPr/>
    </dgm:pt>
    <dgm:pt modelId="{984964C0-C857-4360-9C5A-82DD00195D7A}" type="pres">
      <dgm:prSet presAssocID="{F043EA2E-4196-402C-9BC9-C3EA5C5CC5B0}" presName="vert1" presStyleCnt="0"/>
      <dgm:spPr/>
    </dgm:pt>
    <dgm:pt modelId="{9FDEC3F5-3A19-4B1A-9069-7BCFA3642B50}" type="pres">
      <dgm:prSet presAssocID="{B7118F00-7FEB-4E8C-A6F9-B6514EFDA034}" presName="vertSpace2a" presStyleCnt="0"/>
      <dgm:spPr/>
    </dgm:pt>
    <dgm:pt modelId="{6E4C71E2-A522-46B2-8AED-0F9C40D9BCBC}" type="pres">
      <dgm:prSet presAssocID="{B7118F00-7FEB-4E8C-A6F9-B6514EFDA034}" presName="horz2" presStyleCnt="0"/>
      <dgm:spPr/>
    </dgm:pt>
    <dgm:pt modelId="{DB0CC87B-120A-4351-B2FC-71DB6ACEEAED}" type="pres">
      <dgm:prSet presAssocID="{B7118F00-7FEB-4E8C-A6F9-B6514EFDA034}" presName="horzSpace2" presStyleCnt="0"/>
      <dgm:spPr/>
    </dgm:pt>
    <dgm:pt modelId="{51A4165D-A36D-4DEC-9AE1-1258F91F63AF}" type="pres">
      <dgm:prSet presAssocID="{B7118F00-7FEB-4E8C-A6F9-B6514EFDA034}" presName="tx2" presStyleLbl="revTx" presStyleIdx="1" presStyleCnt="6"/>
      <dgm:spPr/>
    </dgm:pt>
    <dgm:pt modelId="{CB80B963-C887-438D-8979-8B355F0D9FF7}" type="pres">
      <dgm:prSet presAssocID="{B7118F00-7FEB-4E8C-A6F9-B6514EFDA034}" presName="vert2" presStyleCnt="0"/>
      <dgm:spPr/>
    </dgm:pt>
    <dgm:pt modelId="{7E155229-CA86-45BB-A8D5-F7883D161019}" type="pres">
      <dgm:prSet presAssocID="{B7118F00-7FEB-4E8C-A6F9-B6514EFDA034}" presName="thinLine2b" presStyleLbl="callout" presStyleIdx="0" presStyleCnt="3"/>
      <dgm:spPr/>
    </dgm:pt>
    <dgm:pt modelId="{389E8BA4-90B0-422C-BBCA-77C473774F59}" type="pres">
      <dgm:prSet presAssocID="{B7118F00-7FEB-4E8C-A6F9-B6514EFDA034}" presName="vertSpace2b" presStyleCnt="0"/>
      <dgm:spPr/>
    </dgm:pt>
    <dgm:pt modelId="{0D165F9C-C58D-47FA-82E9-EB9399B91F93}" type="pres">
      <dgm:prSet presAssocID="{EC0346FF-A004-4169-BFD8-F5F84A6E5BF8}" presName="thickLine" presStyleLbl="alignNode1" presStyleIdx="1" presStyleCnt="3"/>
      <dgm:spPr/>
    </dgm:pt>
    <dgm:pt modelId="{D7BC3CAF-3A0A-42D0-ABB6-BA45E18E859B}" type="pres">
      <dgm:prSet presAssocID="{EC0346FF-A004-4169-BFD8-F5F84A6E5BF8}" presName="horz1" presStyleCnt="0"/>
      <dgm:spPr/>
    </dgm:pt>
    <dgm:pt modelId="{80312583-44D2-4B9B-92DB-40EC84CD5BAB}" type="pres">
      <dgm:prSet presAssocID="{EC0346FF-A004-4169-BFD8-F5F84A6E5BF8}" presName="tx1" presStyleLbl="revTx" presStyleIdx="2" presStyleCnt="6"/>
      <dgm:spPr/>
    </dgm:pt>
    <dgm:pt modelId="{430BEB21-C986-4D1F-9243-FF631773F051}" type="pres">
      <dgm:prSet presAssocID="{EC0346FF-A004-4169-BFD8-F5F84A6E5BF8}" presName="vert1" presStyleCnt="0"/>
      <dgm:spPr/>
    </dgm:pt>
    <dgm:pt modelId="{B3F47804-E5B9-4CA3-B552-FC18EF89C360}" type="pres">
      <dgm:prSet presAssocID="{F81811C9-FA20-4D45-B8AF-EBDE53D82F5E}" presName="vertSpace2a" presStyleCnt="0"/>
      <dgm:spPr/>
    </dgm:pt>
    <dgm:pt modelId="{49FDA3A9-1888-4988-B8D1-8B7E371CA2D7}" type="pres">
      <dgm:prSet presAssocID="{F81811C9-FA20-4D45-B8AF-EBDE53D82F5E}" presName="horz2" presStyleCnt="0"/>
      <dgm:spPr/>
    </dgm:pt>
    <dgm:pt modelId="{33C9A926-70CD-48F2-87CC-130C9AD40C50}" type="pres">
      <dgm:prSet presAssocID="{F81811C9-FA20-4D45-B8AF-EBDE53D82F5E}" presName="horzSpace2" presStyleCnt="0"/>
      <dgm:spPr/>
    </dgm:pt>
    <dgm:pt modelId="{9E1D8196-0D28-4775-86F5-83D56A2A7A47}" type="pres">
      <dgm:prSet presAssocID="{F81811C9-FA20-4D45-B8AF-EBDE53D82F5E}" presName="tx2" presStyleLbl="revTx" presStyleIdx="3" presStyleCnt="6"/>
      <dgm:spPr/>
    </dgm:pt>
    <dgm:pt modelId="{69FF3A77-52CB-4E16-811A-C370524175C4}" type="pres">
      <dgm:prSet presAssocID="{F81811C9-FA20-4D45-B8AF-EBDE53D82F5E}" presName="vert2" presStyleCnt="0"/>
      <dgm:spPr/>
    </dgm:pt>
    <dgm:pt modelId="{FE381216-8BFF-4319-BE04-5AEAD29E7AC5}" type="pres">
      <dgm:prSet presAssocID="{F81811C9-FA20-4D45-B8AF-EBDE53D82F5E}" presName="thinLine2b" presStyleLbl="callout" presStyleIdx="1" presStyleCnt="3"/>
      <dgm:spPr/>
    </dgm:pt>
    <dgm:pt modelId="{26E966DC-94AF-44A2-A9AC-EE44225F30EB}" type="pres">
      <dgm:prSet presAssocID="{F81811C9-FA20-4D45-B8AF-EBDE53D82F5E}" presName="vertSpace2b" presStyleCnt="0"/>
      <dgm:spPr/>
    </dgm:pt>
    <dgm:pt modelId="{3E26720F-3CA2-4523-A55E-954B7C927416}" type="pres">
      <dgm:prSet presAssocID="{9394690C-4DA7-4E12-A375-C402BFB51A8A}" presName="thickLine" presStyleLbl="alignNode1" presStyleIdx="2" presStyleCnt="3"/>
      <dgm:spPr/>
    </dgm:pt>
    <dgm:pt modelId="{083B224C-33EF-4D34-8730-AC8033C0D9C4}" type="pres">
      <dgm:prSet presAssocID="{9394690C-4DA7-4E12-A375-C402BFB51A8A}" presName="horz1" presStyleCnt="0"/>
      <dgm:spPr/>
    </dgm:pt>
    <dgm:pt modelId="{2BFFF2C3-AEAF-4446-8495-D72F8576438F}" type="pres">
      <dgm:prSet presAssocID="{9394690C-4DA7-4E12-A375-C402BFB51A8A}" presName="tx1" presStyleLbl="revTx" presStyleIdx="4" presStyleCnt="6"/>
      <dgm:spPr/>
    </dgm:pt>
    <dgm:pt modelId="{69167CC8-01A7-4B0F-AAF0-CCB5D4F00296}" type="pres">
      <dgm:prSet presAssocID="{9394690C-4DA7-4E12-A375-C402BFB51A8A}" presName="vert1" presStyleCnt="0"/>
      <dgm:spPr/>
    </dgm:pt>
    <dgm:pt modelId="{E882B6A8-042D-4F53-A439-D971639C247E}" type="pres">
      <dgm:prSet presAssocID="{7B83FE9A-4336-4300-A36D-1E2EF76EDF36}" presName="vertSpace2a" presStyleCnt="0"/>
      <dgm:spPr/>
    </dgm:pt>
    <dgm:pt modelId="{EB407710-B73F-4B3B-8B81-1F0285AD3FDC}" type="pres">
      <dgm:prSet presAssocID="{7B83FE9A-4336-4300-A36D-1E2EF76EDF36}" presName="horz2" presStyleCnt="0"/>
      <dgm:spPr/>
    </dgm:pt>
    <dgm:pt modelId="{619C9760-3B32-4B80-8FA2-64DC768517C2}" type="pres">
      <dgm:prSet presAssocID="{7B83FE9A-4336-4300-A36D-1E2EF76EDF36}" presName="horzSpace2" presStyleCnt="0"/>
      <dgm:spPr/>
    </dgm:pt>
    <dgm:pt modelId="{3421DB87-7763-4E9E-80AB-3A4244DA1062}" type="pres">
      <dgm:prSet presAssocID="{7B83FE9A-4336-4300-A36D-1E2EF76EDF36}" presName="tx2" presStyleLbl="revTx" presStyleIdx="5" presStyleCnt="6"/>
      <dgm:spPr/>
    </dgm:pt>
    <dgm:pt modelId="{7E4E7C3A-4E97-440E-860E-650021CFBD33}" type="pres">
      <dgm:prSet presAssocID="{7B83FE9A-4336-4300-A36D-1E2EF76EDF36}" presName="vert2" presStyleCnt="0"/>
      <dgm:spPr/>
    </dgm:pt>
    <dgm:pt modelId="{8A374915-E3F2-4D55-80CD-735D6CFC31F4}" type="pres">
      <dgm:prSet presAssocID="{7B83FE9A-4336-4300-A36D-1E2EF76EDF36}" presName="thinLine2b" presStyleLbl="callout" presStyleIdx="2" presStyleCnt="3"/>
      <dgm:spPr/>
    </dgm:pt>
    <dgm:pt modelId="{ECB70442-5E5B-4625-99D5-7C35EDA0EE43}" type="pres">
      <dgm:prSet presAssocID="{7B83FE9A-4336-4300-A36D-1E2EF76EDF36}" presName="vertSpace2b" presStyleCnt="0"/>
      <dgm:spPr/>
    </dgm:pt>
  </dgm:ptLst>
  <dgm:cxnLst>
    <dgm:cxn modelId="{CB581B08-44B9-43C9-9E33-EFE21A6BC254}" type="presOf" srcId="{A270CA04-D3AC-4836-B672-BD10C381E938}" destId="{6511B27F-EEA1-4D85-ADA3-BB8A1C4A521F}" srcOrd="0" destOrd="0" presId="urn:microsoft.com/office/officeart/2008/layout/LinedList"/>
    <dgm:cxn modelId="{02DDB73E-FA92-470B-8C74-1A278BC728FD}" srcId="{EC0346FF-A004-4169-BFD8-F5F84A6E5BF8}" destId="{F81811C9-FA20-4D45-B8AF-EBDE53D82F5E}" srcOrd="0" destOrd="0" parTransId="{99AF29C3-8602-4616-9666-4986D725BBE6}" sibTransId="{13422DB2-DB45-4A4F-B04E-B4CBBA477BAF}"/>
    <dgm:cxn modelId="{9C53D35C-BC8C-44A8-B269-22DB2A360D5F}" srcId="{F043EA2E-4196-402C-9BC9-C3EA5C5CC5B0}" destId="{B7118F00-7FEB-4E8C-A6F9-B6514EFDA034}" srcOrd="0" destOrd="0" parTransId="{E7E99523-35F4-4B8A-8522-ED3D34CD219D}" sibTransId="{BE2211A5-733F-4AFC-81A6-F3EFEADBA076}"/>
    <dgm:cxn modelId="{5E31326A-77FF-4662-981A-85912943EDA8}" srcId="{9394690C-4DA7-4E12-A375-C402BFB51A8A}" destId="{7B83FE9A-4336-4300-A36D-1E2EF76EDF36}" srcOrd="0" destOrd="0" parTransId="{D4C5D6EC-16EC-4982-BA91-C9C9CD058C20}" sibTransId="{2CEA675D-DFB2-48DD-B6E7-9ABD72084365}"/>
    <dgm:cxn modelId="{0800F74F-7F7C-44C6-9EB0-165422B289D4}" srcId="{A270CA04-D3AC-4836-B672-BD10C381E938}" destId="{9394690C-4DA7-4E12-A375-C402BFB51A8A}" srcOrd="2" destOrd="0" parTransId="{B8AD241D-B6D8-4F56-A8AB-5DDE1EAF3EC0}" sibTransId="{915B3AF5-FE0B-4065-999C-B6A69CCF7CFD}"/>
    <dgm:cxn modelId="{F9D77452-0DFF-4C95-B95D-76D26C3A319C}" srcId="{A270CA04-D3AC-4836-B672-BD10C381E938}" destId="{EC0346FF-A004-4169-BFD8-F5F84A6E5BF8}" srcOrd="1" destOrd="0" parTransId="{40254663-3182-4150-8563-CE48A854047E}" sibTransId="{0F46AD0D-CC96-4ADE-A664-43D0A08B0DEC}"/>
    <dgm:cxn modelId="{93190291-1269-4815-BEF6-F5CF56EB8F41}" srcId="{A270CA04-D3AC-4836-B672-BD10C381E938}" destId="{F043EA2E-4196-402C-9BC9-C3EA5C5CC5B0}" srcOrd="0" destOrd="0" parTransId="{418974FA-C7D1-46D3-8208-6B99BFDD87B0}" sibTransId="{C2C239A5-2D51-4505-8080-1CA8D13C5DB3}"/>
    <dgm:cxn modelId="{9B41BD92-2161-48D2-9BCC-502E1AC4663D}" type="presOf" srcId="{B7118F00-7FEB-4E8C-A6F9-B6514EFDA034}" destId="{51A4165D-A36D-4DEC-9AE1-1258F91F63AF}" srcOrd="0" destOrd="0" presId="urn:microsoft.com/office/officeart/2008/layout/LinedList"/>
    <dgm:cxn modelId="{3FB3559B-9C51-4D6C-B644-243DE5BCD990}" type="presOf" srcId="{F81811C9-FA20-4D45-B8AF-EBDE53D82F5E}" destId="{9E1D8196-0D28-4775-86F5-83D56A2A7A47}" srcOrd="0" destOrd="0" presId="urn:microsoft.com/office/officeart/2008/layout/LinedList"/>
    <dgm:cxn modelId="{36B9BCC8-271C-4F59-9EB8-4C7DB1E37E9D}" type="presOf" srcId="{7B83FE9A-4336-4300-A36D-1E2EF76EDF36}" destId="{3421DB87-7763-4E9E-80AB-3A4244DA1062}" srcOrd="0" destOrd="0" presId="urn:microsoft.com/office/officeart/2008/layout/LinedList"/>
    <dgm:cxn modelId="{0F9A33E3-872E-435A-BE93-F28C636D87E7}" type="presOf" srcId="{F043EA2E-4196-402C-9BC9-C3EA5C5CC5B0}" destId="{E17A2724-0B5A-462E-B77B-58652340526B}" srcOrd="0" destOrd="0" presId="urn:microsoft.com/office/officeart/2008/layout/LinedList"/>
    <dgm:cxn modelId="{6A757AF5-41F1-4237-8F18-30C0168A6A3B}" type="presOf" srcId="{9394690C-4DA7-4E12-A375-C402BFB51A8A}" destId="{2BFFF2C3-AEAF-4446-8495-D72F8576438F}" srcOrd="0" destOrd="0" presId="urn:microsoft.com/office/officeart/2008/layout/LinedList"/>
    <dgm:cxn modelId="{AFE46EF8-C1B1-488F-A4EA-1DD6C4B31446}" type="presOf" srcId="{EC0346FF-A004-4169-BFD8-F5F84A6E5BF8}" destId="{80312583-44D2-4B9B-92DB-40EC84CD5BAB}" srcOrd="0" destOrd="0" presId="urn:microsoft.com/office/officeart/2008/layout/LinedList"/>
    <dgm:cxn modelId="{FAEC4F8A-D765-4F70-AEB9-ADB7773C3032}" type="presParOf" srcId="{6511B27F-EEA1-4D85-ADA3-BB8A1C4A521F}" destId="{E077197D-4B0C-4DCD-95A6-A131DE9108F9}" srcOrd="0" destOrd="0" presId="urn:microsoft.com/office/officeart/2008/layout/LinedList"/>
    <dgm:cxn modelId="{3E7441A1-4BB2-4D6C-B128-94DB3150F5EE}" type="presParOf" srcId="{6511B27F-EEA1-4D85-ADA3-BB8A1C4A521F}" destId="{0445D92D-7E05-4267-8384-8CE229F72B43}" srcOrd="1" destOrd="0" presId="urn:microsoft.com/office/officeart/2008/layout/LinedList"/>
    <dgm:cxn modelId="{5DF8CDF7-9543-45DA-A076-3EE3B7B0CB98}" type="presParOf" srcId="{0445D92D-7E05-4267-8384-8CE229F72B43}" destId="{E17A2724-0B5A-462E-B77B-58652340526B}" srcOrd="0" destOrd="0" presId="urn:microsoft.com/office/officeart/2008/layout/LinedList"/>
    <dgm:cxn modelId="{F33C25A9-CECC-4E0D-92EC-4770FB2EAED5}" type="presParOf" srcId="{0445D92D-7E05-4267-8384-8CE229F72B43}" destId="{984964C0-C857-4360-9C5A-82DD00195D7A}" srcOrd="1" destOrd="0" presId="urn:microsoft.com/office/officeart/2008/layout/LinedList"/>
    <dgm:cxn modelId="{775A5E6C-34C3-48D2-BB80-9DFB867C0181}" type="presParOf" srcId="{984964C0-C857-4360-9C5A-82DD00195D7A}" destId="{9FDEC3F5-3A19-4B1A-9069-7BCFA3642B50}" srcOrd="0" destOrd="0" presId="urn:microsoft.com/office/officeart/2008/layout/LinedList"/>
    <dgm:cxn modelId="{31AE8D67-1866-4106-965C-647C924EAB2F}" type="presParOf" srcId="{984964C0-C857-4360-9C5A-82DD00195D7A}" destId="{6E4C71E2-A522-46B2-8AED-0F9C40D9BCBC}" srcOrd="1" destOrd="0" presId="urn:microsoft.com/office/officeart/2008/layout/LinedList"/>
    <dgm:cxn modelId="{CC7F0A69-6C35-4238-993A-FB5565867851}" type="presParOf" srcId="{6E4C71E2-A522-46B2-8AED-0F9C40D9BCBC}" destId="{DB0CC87B-120A-4351-B2FC-71DB6ACEEAED}" srcOrd="0" destOrd="0" presId="urn:microsoft.com/office/officeart/2008/layout/LinedList"/>
    <dgm:cxn modelId="{5A5A4573-952E-4D86-B15C-50B09BBC6F8C}" type="presParOf" srcId="{6E4C71E2-A522-46B2-8AED-0F9C40D9BCBC}" destId="{51A4165D-A36D-4DEC-9AE1-1258F91F63AF}" srcOrd="1" destOrd="0" presId="urn:microsoft.com/office/officeart/2008/layout/LinedList"/>
    <dgm:cxn modelId="{04F1B9AE-5741-4D3F-A2FE-8D74DB2C929C}" type="presParOf" srcId="{6E4C71E2-A522-46B2-8AED-0F9C40D9BCBC}" destId="{CB80B963-C887-438D-8979-8B355F0D9FF7}" srcOrd="2" destOrd="0" presId="urn:microsoft.com/office/officeart/2008/layout/LinedList"/>
    <dgm:cxn modelId="{3570C4FC-559E-4B1E-8BD4-CA625981A04F}" type="presParOf" srcId="{984964C0-C857-4360-9C5A-82DD00195D7A}" destId="{7E155229-CA86-45BB-A8D5-F7883D161019}" srcOrd="2" destOrd="0" presId="urn:microsoft.com/office/officeart/2008/layout/LinedList"/>
    <dgm:cxn modelId="{300C297D-B86B-4FEE-B948-23AA162F162C}" type="presParOf" srcId="{984964C0-C857-4360-9C5A-82DD00195D7A}" destId="{389E8BA4-90B0-422C-BBCA-77C473774F59}" srcOrd="3" destOrd="0" presId="urn:microsoft.com/office/officeart/2008/layout/LinedList"/>
    <dgm:cxn modelId="{38F4A8EA-A4C5-448E-8C13-2DFBC774BD37}" type="presParOf" srcId="{6511B27F-EEA1-4D85-ADA3-BB8A1C4A521F}" destId="{0D165F9C-C58D-47FA-82E9-EB9399B91F93}" srcOrd="2" destOrd="0" presId="urn:microsoft.com/office/officeart/2008/layout/LinedList"/>
    <dgm:cxn modelId="{E6971411-B1D2-459F-A1D1-3201FA284C3F}" type="presParOf" srcId="{6511B27F-EEA1-4D85-ADA3-BB8A1C4A521F}" destId="{D7BC3CAF-3A0A-42D0-ABB6-BA45E18E859B}" srcOrd="3" destOrd="0" presId="urn:microsoft.com/office/officeart/2008/layout/LinedList"/>
    <dgm:cxn modelId="{97034E6B-4DD4-4C72-BE09-9C43F6A7C4EA}" type="presParOf" srcId="{D7BC3CAF-3A0A-42D0-ABB6-BA45E18E859B}" destId="{80312583-44D2-4B9B-92DB-40EC84CD5BAB}" srcOrd="0" destOrd="0" presId="urn:microsoft.com/office/officeart/2008/layout/LinedList"/>
    <dgm:cxn modelId="{573AD96F-C3CC-4E50-B08A-9E65DADD7CFA}" type="presParOf" srcId="{D7BC3CAF-3A0A-42D0-ABB6-BA45E18E859B}" destId="{430BEB21-C986-4D1F-9243-FF631773F051}" srcOrd="1" destOrd="0" presId="urn:microsoft.com/office/officeart/2008/layout/LinedList"/>
    <dgm:cxn modelId="{4F14E2DF-9543-4DA6-B4A1-1FEC76067EA8}" type="presParOf" srcId="{430BEB21-C986-4D1F-9243-FF631773F051}" destId="{B3F47804-E5B9-4CA3-B552-FC18EF89C360}" srcOrd="0" destOrd="0" presId="urn:microsoft.com/office/officeart/2008/layout/LinedList"/>
    <dgm:cxn modelId="{72985CC0-8E1E-412E-A8D8-474EFB4400E9}" type="presParOf" srcId="{430BEB21-C986-4D1F-9243-FF631773F051}" destId="{49FDA3A9-1888-4988-B8D1-8B7E371CA2D7}" srcOrd="1" destOrd="0" presId="urn:microsoft.com/office/officeart/2008/layout/LinedList"/>
    <dgm:cxn modelId="{D9695CC1-8767-429A-8B1F-A1B2C8C2DC09}" type="presParOf" srcId="{49FDA3A9-1888-4988-B8D1-8B7E371CA2D7}" destId="{33C9A926-70CD-48F2-87CC-130C9AD40C50}" srcOrd="0" destOrd="0" presId="urn:microsoft.com/office/officeart/2008/layout/LinedList"/>
    <dgm:cxn modelId="{22C770C7-B771-4E66-8D56-E0F4069347B8}" type="presParOf" srcId="{49FDA3A9-1888-4988-B8D1-8B7E371CA2D7}" destId="{9E1D8196-0D28-4775-86F5-83D56A2A7A47}" srcOrd="1" destOrd="0" presId="urn:microsoft.com/office/officeart/2008/layout/LinedList"/>
    <dgm:cxn modelId="{48BE56A9-2348-4723-AF45-97EB687A6806}" type="presParOf" srcId="{49FDA3A9-1888-4988-B8D1-8B7E371CA2D7}" destId="{69FF3A77-52CB-4E16-811A-C370524175C4}" srcOrd="2" destOrd="0" presId="urn:microsoft.com/office/officeart/2008/layout/LinedList"/>
    <dgm:cxn modelId="{D83B17BC-92E7-4B68-A866-B23F5D0C3155}" type="presParOf" srcId="{430BEB21-C986-4D1F-9243-FF631773F051}" destId="{FE381216-8BFF-4319-BE04-5AEAD29E7AC5}" srcOrd="2" destOrd="0" presId="urn:microsoft.com/office/officeart/2008/layout/LinedList"/>
    <dgm:cxn modelId="{BDAA1A7D-08F1-43D8-96BE-31203BEE91CA}" type="presParOf" srcId="{430BEB21-C986-4D1F-9243-FF631773F051}" destId="{26E966DC-94AF-44A2-A9AC-EE44225F30EB}" srcOrd="3" destOrd="0" presId="urn:microsoft.com/office/officeart/2008/layout/LinedList"/>
    <dgm:cxn modelId="{9A859151-C16C-4679-A1AB-05C1F0E91942}" type="presParOf" srcId="{6511B27F-EEA1-4D85-ADA3-BB8A1C4A521F}" destId="{3E26720F-3CA2-4523-A55E-954B7C927416}" srcOrd="4" destOrd="0" presId="urn:microsoft.com/office/officeart/2008/layout/LinedList"/>
    <dgm:cxn modelId="{1AD6003D-01A7-4542-B4AE-F04459B65168}" type="presParOf" srcId="{6511B27F-EEA1-4D85-ADA3-BB8A1C4A521F}" destId="{083B224C-33EF-4D34-8730-AC8033C0D9C4}" srcOrd="5" destOrd="0" presId="urn:microsoft.com/office/officeart/2008/layout/LinedList"/>
    <dgm:cxn modelId="{0292C224-91DF-416F-ADCD-92682945AC33}" type="presParOf" srcId="{083B224C-33EF-4D34-8730-AC8033C0D9C4}" destId="{2BFFF2C3-AEAF-4446-8495-D72F8576438F}" srcOrd="0" destOrd="0" presId="urn:microsoft.com/office/officeart/2008/layout/LinedList"/>
    <dgm:cxn modelId="{E1960CB9-1C4C-4183-8149-F186CA623B5F}" type="presParOf" srcId="{083B224C-33EF-4D34-8730-AC8033C0D9C4}" destId="{69167CC8-01A7-4B0F-AAF0-CCB5D4F00296}" srcOrd="1" destOrd="0" presId="urn:microsoft.com/office/officeart/2008/layout/LinedList"/>
    <dgm:cxn modelId="{DF2D22AE-91B2-48EE-8353-2A141A03D1E7}" type="presParOf" srcId="{69167CC8-01A7-4B0F-AAF0-CCB5D4F00296}" destId="{E882B6A8-042D-4F53-A439-D971639C247E}" srcOrd="0" destOrd="0" presId="urn:microsoft.com/office/officeart/2008/layout/LinedList"/>
    <dgm:cxn modelId="{1A30AD1C-713F-44D1-A2F5-C1D11E915880}" type="presParOf" srcId="{69167CC8-01A7-4B0F-AAF0-CCB5D4F00296}" destId="{EB407710-B73F-4B3B-8B81-1F0285AD3FDC}" srcOrd="1" destOrd="0" presId="urn:microsoft.com/office/officeart/2008/layout/LinedList"/>
    <dgm:cxn modelId="{0309ECE3-6196-4F29-AA5B-70EDA7CD1377}" type="presParOf" srcId="{EB407710-B73F-4B3B-8B81-1F0285AD3FDC}" destId="{619C9760-3B32-4B80-8FA2-64DC768517C2}" srcOrd="0" destOrd="0" presId="urn:microsoft.com/office/officeart/2008/layout/LinedList"/>
    <dgm:cxn modelId="{31D4E23F-C9B3-4A6E-A5AA-23747C7F07A7}" type="presParOf" srcId="{EB407710-B73F-4B3B-8B81-1F0285AD3FDC}" destId="{3421DB87-7763-4E9E-80AB-3A4244DA1062}" srcOrd="1" destOrd="0" presId="urn:microsoft.com/office/officeart/2008/layout/LinedList"/>
    <dgm:cxn modelId="{C3663FA0-4969-44A4-94B0-ACECAC195AEB}" type="presParOf" srcId="{EB407710-B73F-4B3B-8B81-1F0285AD3FDC}" destId="{7E4E7C3A-4E97-440E-860E-650021CFBD33}" srcOrd="2" destOrd="0" presId="urn:microsoft.com/office/officeart/2008/layout/LinedList"/>
    <dgm:cxn modelId="{7B1B8A06-2343-4538-96CD-4C08608D3773}" type="presParOf" srcId="{69167CC8-01A7-4B0F-AAF0-CCB5D4F00296}" destId="{8A374915-E3F2-4D55-80CD-735D6CFC31F4}" srcOrd="2" destOrd="0" presId="urn:microsoft.com/office/officeart/2008/layout/LinedList"/>
    <dgm:cxn modelId="{69CD1207-35B3-4C18-9160-101387AA2E6F}" type="presParOf" srcId="{69167CC8-01A7-4B0F-AAF0-CCB5D4F00296}" destId="{ECB70442-5E5B-4625-99D5-7C35EDA0EE43}"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70CA04-D3AC-4836-B672-BD10C381E938}"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F043EA2E-4196-402C-9BC9-C3EA5C5CC5B0}">
      <dgm:prSet phldrT="[Text]" custT="1"/>
      <dgm:spPr/>
      <dgm:t>
        <a:bodyPr vert="vert270"/>
        <a:lstStyle/>
        <a:p>
          <a:pPr algn="r"/>
          <a:r>
            <a:rPr lang="en-US" sz="3200" b="1" dirty="0">
              <a:solidFill>
                <a:srgbClr val="F48120"/>
              </a:solidFill>
              <a:latin typeface="SVN-Gilroy" panose="00000500000000000000" pitchFamily="50" charset="0"/>
            </a:rPr>
            <a:t>KQKD 1H26</a:t>
          </a:r>
        </a:p>
      </dgm:t>
    </dgm:pt>
    <dgm:pt modelId="{418974FA-C7D1-46D3-8208-6B99BFDD87B0}" type="parTrans" cxnId="{93190291-1269-4815-BEF6-F5CF56EB8F41}">
      <dgm:prSet/>
      <dgm:spPr/>
      <dgm:t>
        <a:bodyPr/>
        <a:lstStyle/>
        <a:p>
          <a:endParaRPr lang="en-US" sz="3200">
            <a:solidFill>
              <a:schemeClr val="bg2">
                <a:lumMod val="25000"/>
              </a:schemeClr>
            </a:solidFill>
            <a:latin typeface="SVN-Gilroy" panose="00000500000000000000" pitchFamily="50" charset="0"/>
          </a:endParaRPr>
        </a:p>
      </dgm:t>
    </dgm:pt>
    <dgm:pt modelId="{C2C239A5-2D51-4505-8080-1CA8D13C5DB3}" type="sibTrans" cxnId="{93190291-1269-4815-BEF6-F5CF56EB8F41}">
      <dgm:prSet/>
      <dgm:spPr/>
      <dgm:t>
        <a:bodyPr/>
        <a:lstStyle/>
        <a:p>
          <a:endParaRPr lang="en-US" sz="3200">
            <a:solidFill>
              <a:schemeClr val="bg2">
                <a:lumMod val="25000"/>
              </a:schemeClr>
            </a:solidFill>
            <a:latin typeface="SVN-Gilroy" panose="00000500000000000000" pitchFamily="50" charset="0"/>
          </a:endParaRPr>
        </a:p>
      </dgm:t>
    </dgm:pt>
    <dgm:pt modelId="{B7118F00-7FEB-4E8C-A6F9-B6514EFDA034}">
      <dgm:prSet phldrT="[Text]" custT="1"/>
      <dgm:spPr/>
      <dgm:t>
        <a:bodyPr/>
        <a:lstStyle/>
        <a:p>
          <a:r>
            <a:rPr lang="en-US" sz="2900" dirty="0">
              <a:latin typeface="SVN-Gilroy" panose="00000500000000000000" pitchFamily="50" charset="0"/>
            </a:rPr>
            <a:t>LNTT 1H26: 730 tỷ (−51% CK), 41% KH năm; Q2/26 ~392 tỷ</a:t>
          </a:r>
        </a:p>
        <a:p>
          <a:r>
            <a:rPr lang="en-US" sz="2900" dirty="0">
              <a:latin typeface="SVN-Gilroy" panose="00000500000000000000" pitchFamily="50" charset="0"/>
            </a:rPr>
            <a:t>- Tổng TS 266.5 nghìn tỷ (−6 nghìn tỷ YTD); dư nợ &gt;200 nghìn tỷ</a:t>
          </a:r>
        </a:p>
        <a:p>
          <a:r>
            <a:rPr lang="en-US" sz="2900" dirty="0">
              <a:latin typeface="SVN-Gilroy" panose="00000500000000000000" pitchFamily="50" charset="0"/>
            </a:rPr>
            <a:t>- Nợ xấu 2.88% (dưới 3%); CAR 12.5%; LDR ~83%</a:t>
          </a:r>
          <a:endParaRPr lang="en-US" sz="2900" dirty="0">
            <a:latin typeface="SVN-Gilroy" panose="00000500000000000000" pitchFamily="50" charset="0"/>
          </a:endParaRPr>
        </a:p>
        <a:p>
          <a:endParaRPr lang="en-US" sz="2900" b="1" dirty="0">
            <a:latin typeface="SVN-Gilroy" panose="00000500000000000000" pitchFamily="50" charset="0"/>
          </a:endParaRPr>
        </a:p>
      </dgm:t>
    </dgm:pt>
    <dgm:pt modelId="{E7E99523-35F4-4B8A-8522-ED3D34CD219D}" type="parTrans" cxnId="{9C53D35C-BC8C-44A8-B269-22DB2A360D5F}">
      <dgm:prSet/>
      <dgm:spPr/>
      <dgm:t>
        <a:bodyPr/>
        <a:lstStyle/>
        <a:p>
          <a:endParaRPr lang="en-US" sz="3200">
            <a:solidFill>
              <a:schemeClr val="bg2">
                <a:lumMod val="25000"/>
              </a:schemeClr>
            </a:solidFill>
            <a:latin typeface="SVN-Gilroy" panose="00000500000000000000" pitchFamily="50" charset="0"/>
          </a:endParaRPr>
        </a:p>
      </dgm:t>
    </dgm:pt>
    <dgm:pt modelId="{BE2211A5-733F-4AFC-81A6-F3EFEADBA076}" type="sibTrans" cxnId="{9C53D35C-BC8C-44A8-B269-22DB2A360D5F}">
      <dgm:prSet/>
      <dgm:spPr/>
      <dgm:t>
        <a:bodyPr/>
        <a:lstStyle/>
        <a:p>
          <a:endParaRPr lang="en-US" sz="3200">
            <a:solidFill>
              <a:schemeClr val="bg2">
                <a:lumMod val="25000"/>
              </a:schemeClr>
            </a:solidFill>
            <a:latin typeface="SVN-Gilroy" panose="00000500000000000000" pitchFamily="50" charset="0"/>
          </a:endParaRPr>
        </a:p>
      </dgm:t>
    </dgm:pt>
    <dgm:pt modelId="{9394690C-4DA7-4E12-A375-C402BFB51A8A}">
      <dgm:prSet phldrT="[Text]" custT="1"/>
      <dgm:spPr/>
      <dgm:t>
        <a:bodyPr vert="vert270"/>
        <a:lstStyle/>
        <a:p>
          <a:pPr algn="r"/>
          <a:r>
            <a:rPr lang="en-US" sz="3200" b="1" dirty="0" err="1">
              <a:solidFill>
                <a:srgbClr val="F48120"/>
              </a:solidFill>
              <a:latin typeface="SVN-Gilroy" panose="00000500000000000000" pitchFamily="50" charset="0"/>
            </a:rPr>
            <a:t>Dự</a:t>
          </a:r>
          <a:r>
            <a:rPr lang="en-US" sz="3200" b="1" dirty="0">
              <a:solidFill>
                <a:srgbClr val="F48120"/>
              </a:solidFill>
              <a:latin typeface="SVN-Gilroy" panose="00000500000000000000" pitchFamily="50" charset="0"/>
            </a:rPr>
            <a:t> </a:t>
          </a:r>
          <a:r>
            <a:rPr lang="en-US" sz="3200" b="1" dirty="0" err="1">
              <a:solidFill>
                <a:srgbClr val="F48120"/>
              </a:solidFill>
              <a:latin typeface="SVN-Gilroy" panose="00000500000000000000" pitchFamily="50" charset="0"/>
            </a:rPr>
            <a:t>phóng</a:t>
          </a:r>
          <a:r>
            <a:rPr lang="en-US" sz="3200" b="1" dirty="0">
              <a:solidFill>
                <a:srgbClr val="F48120"/>
              </a:solidFill>
              <a:latin typeface="SVN-Gilroy" panose="00000500000000000000" pitchFamily="50" charset="0"/>
            </a:rPr>
            <a:t> 2026</a:t>
          </a:r>
        </a:p>
      </dgm:t>
    </dgm:pt>
    <dgm:pt modelId="{B8AD241D-B6D8-4F56-A8AB-5DDE1EAF3EC0}" type="parTrans" cxnId="{0800F74F-7F7C-44C6-9EB0-165422B289D4}">
      <dgm:prSet/>
      <dgm:spPr/>
      <dgm:t>
        <a:bodyPr/>
        <a:lstStyle/>
        <a:p>
          <a:endParaRPr lang="en-US" sz="3200">
            <a:solidFill>
              <a:schemeClr val="bg2">
                <a:lumMod val="25000"/>
              </a:schemeClr>
            </a:solidFill>
            <a:latin typeface="SVN-Gilroy" panose="00000500000000000000" pitchFamily="50" charset="0"/>
          </a:endParaRPr>
        </a:p>
      </dgm:t>
    </dgm:pt>
    <dgm:pt modelId="{915B3AF5-FE0B-4065-999C-B6A69CCF7CFD}" type="sibTrans" cxnId="{0800F74F-7F7C-44C6-9EB0-165422B289D4}">
      <dgm:prSet/>
      <dgm:spPr/>
      <dgm:t>
        <a:bodyPr/>
        <a:lstStyle/>
        <a:p>
          <a:endParaRPr lang="en-US" sz="3200">
            <a:solidFill>
              <a:schemeClr val="bg2">
                <a:lumMod val="25000"/>
              </a:schemeClr>
            </a:solidFill>
            <a:latin typeface="SVN-Gilroy" panose="00000500000000000000" pitchFamily="50" charset="0"/>
          </a:endParaRPr>
        </a:p>
      </dgm:t>
    </dgm:pt>
    <dgm:pt modelId="{7B83FE9A-4336-4300-A36D-1E2EF76EDF36}">
      <dgm:prSet phldrT="[Text]" custT="1"/>
      <dgm:spPr/>
      <dgm:t>
        <a:bodyPr/>
        <a:lstStyle/>
        <a:p>
          <a:pPr algn="l"/>
          <a:r>
            <a:rPr lang="en-US" sz="2900" b="0" dirty="0">
              <a:solidFill>
                <a:schemeClr val="tx1"/>
              </a:solidFill>
              <a:latin typeface="SVN-Gilroy" panose="00000500000000000000" pitchFamily="50" charset="0"/>
            </a:rPr>
            <a:t>LNTT: 2,403 </a:t>
          </a:r>
          <a:r>
            <a:rPr lang="en-US" sz="2900" b="0" dirty="0" err="1">
              <a:solidFill>
                <a:schemeClr val="tx1"/>
              </a:solidFill>
              <a:latin typeface="SVN-Gilroy" panose="00000500000000000000" pitchFamily="50" charset="0"/>
            </a:rPr>
            <a:t>tỷ</a:t>
          </a:r>
          <a:r>
            <a:rPr lang="en-US" sz="2900" b="0" dirty="0">
              <a:solidFill>
                <a:schemeClr val="tx1"/>
              </a:solidFill>
              <a:latin typeface="SVN-Gilroy" panose="00000500000000000000" pitchFamily="50" charset="0"/>
            </a:rPr>
            <a:t> (+59% CK) </a:t>
          </a:r>
        </a:p>
        <a:p>
          <a:pPr algn="l"/>
          <a:r>
            <a:rPr lang="en-US" sz="2900" b="0" dirty="0">
              <a:solidFill>
                <a:schemeClr val="tx1"/>
              </a:solidFill>
              <a:latin typeface="SVN-Gilroy" panose="00000500000000000000" pitchFamily="50" charset="0"/>
            </a:rPr>
            <a:t>+ </a:t>
          </a:r>
          <a:r>
            <a:rPr lang="en-US" sz="2900" b="0" dirty="0" err="1">
              <a:solidFill>
                <a:schemeClr val="tx1"/>
              </a:solidFill>
              <a:latin typeface="SVN-Gilroy" panose="00000500000000000000" pitchFamily="50" charset="0"/>
            </a:rPr>
            <a:t>Tăng</a:t>
          </a:r>
          <a:r>
            <a:rPr lang="en-US" sz="2900" b="0" dirty="0">
              <a:solidFill>
                <a:schemeClr val="tx1"/>
              </a:solidFill>
              <a:latin typeface="SVN-Gilroy" panose="00000500000000000000" pitchFamily="50" charset="0"/>
            </a:rPr>
            <a:t> </a:t>
          </a:r>
          <a:r>
            <a:rPr lang="en-US" sz="2900" b="0" dirty="0" err="1">
              <a:solidFill>
                <a:schemeClr val="tx1"/>
              </a:solidFill>
              <a:latin typeface="SVN-Gilroy" panose="00000500000000000000" pitchFamily="50" charset="0"/>
            </a:rPr>
            <a:t>trưởng</a:t>
          </a:r>
          <a:r>
            <a:rPr lang="en-US" sz="2900" b="0" dirty="0">
              <a:solidFill>
                <a:schemeClr val="tx1"/>
              </a:solidFill>
              <a:latin typeface="SVN-Gilroy" panose="00000500000000000000" pitchFamily="50" charset="0"/>
            </a:rPr>
            <a:t> </a:t>
          </a:r>
          <a:r>
            <a:rPr lang="en-US" sz="2900" b="0" dirty="0" err="1">
              <a:solidFill>
                <a:schemeClr val="tx1"/>
              </a:solidFill>
              <a:latin typeface="SVN-Gilroy" panose="00000500000000000000" pitchFamily="50" charset="0"/>
            </a:rPr>
            <a:t>cho</a:t>
          </a:r>
          <a:r>
            <a:rPr lang="en-US" sz="2900" b="0" dirty="0">
              <a:solidFill>
                <a:schemeClr val="tx1"/>
              </a:solidFill>
              <a:latin typeface="SVN-Gilroy" panose="00000500000000000000" pitchFamily="50" charset="0"/>
            </a:rPr>
            <a:t> </a:t>
          </a:r>
          <a:r>
            <a:rPr lang="en-US" sz="2900" b="0" dirty="0" err="1">
              <a:solidFill>
                <a:schemeClr val="tx1"/>
              </a:solidFill>
              <a:latin typeface="SVN-Gilroy" panose="00000500000000000000" pitchFamily="50" charset="0"/>
            </a:rPr>
            <a:t>vay</a:t>
          </a:r>
          <a:r>
            <a:rPr lang="en-US" sz="2900" b="0" dirty="0">
              <a:solidFill>
                <a:schemeClr val="tx1"/>
              </a:solidFill>
              <a:latin typeface="SVN-Gilroy" panose="00000500000000000000" pitchFamily="50" charset="0"/>
            </a:rPr>
            <a:t> 14.5% CK</a:t>
          </a:r>
        </a:p>
        <a:p>
          <a:pPr algn="l"/>
          <a:r>
            <a:rPr lang="en-US" sz="2900" b="0" dirty="0">
              <a:solidFill>
                <a:schemeClr val="tx1"/>
              </a:solidFill>
              <a:latin typeface="SVN-Gilroy" panose="00000500000000000000" pitchFamily="50" charset="0"/>
            </a:rPr>
            <a:t>+ Thu nhập </a:t>
          </a:r>
          <a:r>
            <a:rPr lang="en-US" sz="2900" b="0" dirty="0" err="1">
              <a:solidFill>
                <a:schemeClr val="tx1"/>
              </a:solidFill>
              <a:latin typeface="SVN-Gilroy" panose="00000500000000000000" pitchFamily="50" charset="0"/>
            </a:rPr>
            <a:t>phí</a:t>
          </a:r>
          <a:r>
            <a:rPr lang="en-US" sz="2900" b="0" dirty="0">
              <a:solidFill>
                <a:schemeClr val="tx1"/>
              </a:solidFill>
              <a:latin typeface="SVN-Gilroy" panose="00000500000000000000" pitchFamily="50" charset="0"/>
            </a:rPr>
            <a:t> </a:t>
          </a:r>
          <a:r>
            <a:rPr lang="en-US" sz="2900" b="0" dirty="0" err="1">
              <a:solidFill>
                <a:schemeClr val="tx1"/>
              </a:solidFill>
              <a:latin typeface="SVN-Gilroy" panose="00000500000000000000" pitchFamily="50" charset="0"/>
            </a:rPr>
            <a:t>cải</a:t>
          </a:r>
          <a:r>
            <a:rPr lang="en-US" sz="2900" b="0" dirty="0">
              <a:solidFill>
                <a:schemeClr val="tx1"/>
              </a:solidFill>
              <a:latin typeface="SVN-Gilroy" panose="00000500000000000000" pitchFamily="50" charset="0"/>
            </a:rPr>
            <a:t> </a:t>
          </a:r>
          <a:r>
            <a:rPr lang="en-US" sz="2900" b="0" dirty="0" err="1">
              <a:solidFill>
                <a:schemeClr val="tx1"/>
              </a:solidFill>
              <a:latin typeface="SVN-Gilroy" panose="00000500000000000000" pitchFamily="50" charset="0"/>
            </a:rPr>
            <a:t>thiện</a:t>
          </a:r>
          <a:r>
            <a:rPr lang="en-US" sz="2900" b="0" dirty="0">
              <a:solidFill>
                <a:schemeClr val="tx1"/>
              </a:solidFill>
              <a:latin typeface="SVN-Gilroy" panose="00000500000000000000" pitchFamily="50" charset="0"/>
            </a:rPr>
            <a:t> 163% CK</a:t>
          </a:r>
        </a:p>
        <a:p>
          <a:pPr algn="l"/>
          <a:r>
            <a:rPr lang="en-US" sz="2900" b="0" dirty="0">
              <a:solidFill>
                <a:schemeClr val="tx1"/>
              </a:solidFill>
              <a:latin typeface="SVN-Gilroy" panose="00000500000000000000" pitchFamily="50" charset="0"/>
            </a:rPr>
            <a:t>+ CIR </a:t>
          </a:r>
          <a:r>
            <a:rPr lang="en-US" sz="2900" b="0" dirty="0" err="1">
              <a:solidFill>
                <a:schemeClr val="tx1"/>
              </a:solidFill>
              <a:latin typeface="SVN-Gilroy" panose="00000500000000000000" pitchFamily="50" charset="0"/>
            </a:rPr>
            <a:t>giảm</a:t>
          </a:r>
          <a:r>
            <a:rPr lang="en-US" sz="2900" b="0" dirty="0">
              <a:solidFill>
                <a:schemeClr val="tx1"/>
              </a:solidFill>
              <a:latin typeface="SVN-Gilroy" panose="00000500000000000000" pitchFamily="50" charset="0"/>
            </a:rPr>
            <a:t> </a:t>
          </a:r>
          <a:r>
            <a:rPr lang="en-US" sz="2900" b="0" dirty="0" err="1">
              <a:solidFill>
                <a:schemeClr val="tx1"/>
              </a:solidFill>
              <a:latin typeface="SVN-Gilroy" panose="00000500000000000000" pitchFamily="50" charset="0"/>
            </a:rPr>
            <a:t>về</a:t>
          </a:r>
          <a:r>
            <a:rPr lang="en-US" sz="2900" b="0" dirty="0">
              <a:solidFill>
                <a:schemeClr val="tx1"/>
              </a:solidFill>
              <a:latin typeface="SVN-Gilroy" panose="00000500000000000000" pitchFamily="50" charset="0"/>
            </a:rPr>
            <a:t> </a:t>
          </a:r>
          <a:r>
            <a:rPr lang="en-US" sz="2900" b="0" dirty="0" err="1">
              <a:solidFill>
                <a:schemeClr val="tx1"/>
              </a:solidFill>
              <a:latin typeface="SVN-Gilroy" panose="00000500000000000000" pitchFamily="50" charset="0"/>
            </a:rPr>
            <a:t>mức</a:t>
          </a:r>
          <a:r>
            <a:rPr lang="en-US" sz="2900" b="0" dirty="0">
              <a:solidFill>
                <a:schemeClr val="tx1"/>
              </a:solidFill>
              <a:latin typeface="SVN-Gilroy" panose="00000500000000000000" pitchFamily="50" charset="0"/>
            </a:rPr>
            <a:t> 49%, -9%p CK</a:t>
          </a:r>
        </a:p>
      </dgm:t>
    </dgm:pt>
    <dgm:pt modelId="{D4C5D6EC-16EC-4982-BA91-C9C9CD058C20}" type="parTrans" cxnId="{5E31326A-77FF-4662-981A-85912943EDA8}">
      <dgm:prSet/>
      <dgm:spPr/>
      <dgm:t>
        <a:bodyPr/>
        <a:lstStyle/>
        <a:p>
          <a:endParaRPr lang="en-US" sz="3200">
            <a:solidFill>
              <a:schemeClr val="bg2">
                <a:lumMod val="25000"/>
              </a:schemeClr>
            </a:solidFill>
            <a:latin typeface="SVN-Gilroy" panose="00000500000000000000" pitchFamily="50" charset="0"/>
          </a:endParaRPr>
        </a:p>
      </dgm:t>
    </dgm:pt>
    <dgm:pt modelId="{2CEA675D-DFB2-48DD-B6E7-9ABD72084365}" type="sibTrans" cxnId="{5E31326A-77FF-4662-981A-85912943EDA8}">
      <dgm:prSet/>
      <dgm:spPr/>
      <dgm:t>
        <a:bodyPr/>
        <a:lstStyle/>
        <a:p>
          <a:endParaRPr lang="en-US" sz="3200">
            <a:solidFill>
              <a:schemeClr val="bg2">
                <a:lumMod val="25000"/>
              </a:schemeClr>
            </a:solidFill>
            <a:latin typeface="SVN-Gilroy" panose="00000500000000000000" pitchFamily="50" charset="0"/>
          </a:endParaRPr>
        </a:p>
      </dgm:t>
    </dgm:pt>
    <dgm:pt modelId="{EC0346FF-A004-4169-BFD8-F5F84A6E5BF8}">
      <dgm:prSet phldrT="[Text]" custT="1"/>
      <dgm:spPr/>
      <dgm:t>
        <a:bodyPr vert="vert270"/>
        <a:lstStyle/>
        <a:p>
          <a:pPr algn="r"/>
          <a:r>
            <a:rPr lang="en-US" sz="3200" b="1" dirty="0" err="1">
              <a:solidFill>
                <a:srgbClr val="F48120"/>
              </a:solidFill>
              <a:latin typeface="SVN-Gilroy" panose="00000500000000000000" pitchFamily="50" charset="0"/>
            </a:rPr>
            <a:t>Mục</a:t>
          </a:r>
          <a:r>
            <a:rPr lang="en-US" sz="3200" b="1" dirty="0">
              <a:solidFill>
                <a:srgbClr val="F48120"/>
              </a:solidFill>
              <a:latin typeface="SVN-Gilroy" panose="00000500000000000000" pitchFamily="50" charset="0"/>
            </a:rPr>
            <a:t> </a:t>
          </a:r>
          <a:r>
            <a:rPr lang="en-US" sz="3200" b="1" dirty="0" err="1">
              <a:solidFill>
                <a:srgbClr val="F48120"/>
              </a:solidFill>
              <a:latin typeface="SVN-Gilroy" panose="00000500000000000000" pitchFamily="50" charset="0"/>
            </a:rPr>
            <a:t>tiêu</a:t>
          </a:r>
          <a:r>
            <a:rPr lang="en-US" sz="3200" b="1" dirty="0">
              <a:solidFill>
                <a:srgbClr val="F48120"/>
              </a:solidFill>
              <a:latin typeface="SVN-Gilroy" panose="00000500000000000000" pitchFamily="50" charset="0"/>
            </a:rPr>
            <a:t> 2026</a:t>
          </a:r>
        </a:p>
      </dgm:t>
    </dgm:pt>
    <dgm:pt modelId="{0F46AD0D-CC96-4ADE-A664-43D0A08B0DEC}" type="sibTrans" cxnId="{F9D77452-0DFF-4C95-B95D-76D26C3A319C}">
      <dgm:prSet/>
      <dgm:spPr/>
      <dgm:t>
        <a:bodyPr/>
        <a:lstStyle/>
        <a:p>
          <a:endParaRPr lang="en-US" sz="3200">
            <a:solidFill>
              <a:schemeClr val="bg2">
                <a:lumMod val="25000"/>
              </a:schemeClr>
            </a:solidFill>
            <a:latin typeface="SVN-Gilroy" panose="00000500000000000000" pitchFamily="50" charset="0"/>
          </a:endParaRPr>
        </a:p>
      </dgm:t>
    </dgm:pt>
    <dgm:pt modelId="{40254663-3182-4150-8563-CE48A854047E}" type="parTrans" cxnId="{F9D77452-0DFF-4C95-B95D-76D26C3A319C}">
      <dgm:prSet/>
      <dgm:spPr/>
      <dgm:t>
        <a:bodyPr/>
        <a:lstStyle/>
        <a:p>
          <a:endParaRPr lang="en-US" sz="3200">
            <a:solidFill>
              <a:schemeClr val="bg2">
                <a:lumMod val="25000"/>
              </a:schemeClr>
            </a:solidFill>
            <a:latin typeface="SVN-Gilroy" panose="00000500000000000000" pitchFamily="50" charset="0"/>
          </a:endParaRPr>
        </a:p>
      </dgm:t>
    </dgm:pt>
    <dgm:pt modelId="{F81811C9-FA20-4D45-B8AF-EBDE53D82F5E}">
      <dgm:prSet custT="1"/>
      <dgm:spPr/>
      <dgm:t>
        <a:bodyPr/>
        <a:lstStyle/>
        <a:p>
          <a:r>
            <a:rPr lang="en-US" sz="2900" dirty="0" err="1">
              <a:latin typeface="SVN-Gilroy" panose="00000500000000000000" pitchFamily="50" charset="0"/>
            </a:rPr>
            <a:t>Eximbank</a:t>
          </a:r>
          <a:r>
            <a:rPr lang="en-US" sz="2900" dirty="0">
              <a:latin typeface="SVN-Gilroy" panose="00000500000000000000" pitchFamily="50" charset="0"/>
            </a:rPr>
            <a:t> </a:t>
          </a:r>
          <a:r>
            <a:rPr lang="en-US" sz="2900" dirty="0" err="1">
              <a:latin typeface="SVN-Gilroy" panose="00000500000000000000" pitchFamily="50" charset="0"/>
            </a:rPr>
            <a:t>điều</a:t>
          </a:r>
          <a:r>
            <a:rPr lang="en-US" sz="2900" dirty="0">
              <a:latin typeface="SVN-Gilroy" panose="00000500000000000000" pitchFamily="50" charset="0"/>
            </a:rPr>
            <a:t> </a:t>
          </a:r>
          <a:r>
            <a:rPr lang="en-US" sz="2900" dirty="0" err="1">
              <a:latin typeface="SVN-Gilroy" panose="00000500000000000000" pitchFamily="50" charset="0"/>
            </a:rPr>
            <a:t>chỉnh</a:t>
          </a:r>
          <a:r>
            <a:rPr lang="en-US" sz="2900" dirty="0">
              <a:latin typeface="SVN-Gilroy" panose="00000500000000000000" pitchFamily="50" charset="0"/>
            </a:rPr>
            <a:t> </a:t>
          </a:r>
          <a:r>
            <a:rPr lang="en-US" sz="2900" dirty="0" err="1">
              <a:latin typeface="SVN-Gilroy" panose="00000500000000000000" pitchFamily="50" charset="0"/>
            </a:rPr>
            <a:t>mục</a:t>
          </a:r>
          <a:r>
            <a:rPr lang="en-US" sz="2900" dirty="0">
              <a:latin typeface="SVN-Gilroy" panose="00000500000000000000" pitchFamily="50" charset="0"/>
            </a:rPr>
            <a:t> </a:t>
          </a:r>
          <a:r>
            <a:rPr lang="en-US" sz="2900" dirty="0" err="1">
              <a:latin typeface="SVN-Gilroy" panose="00000500000000000000" pitchFamily="50" charset="0"/>
            </a:rPr>
            <a:t>tiêu</a:t>
          </a:r>
          <a:r>
            <a:rPr lang="en-US" sz="2900" dirty="0">
              <a:latin typeface="SVN-Gilroy" panose="00000500000000000000" pitchFamily="50" charset="0"/>
            </a:rPr>
            <a:t> LNTT 2026 </a:t>
          </a:r>
          <a:r>
            <a:rPr lang="en-US" sz="2900" dirty="0" err="1">
              <a:latin typeface="SVN-Gilroy" panose="00000500000000000000" pitchFamily="50" charset="0"/>
            </a:rPr>
            <a:t>xuống</a:t>
          </a:r>
          <a:r>
            <a:rPr lang="en-US" sz="2900" dirty="0">
              <a:latin typeface="SVN-Gilroy" panose="00000500000000000000" pitchFamily="50" charset="0"/>
            </a:rPr>
            <a:t> 1,515 </a:t>
          </a:r>
          <a:r>
            <a:rPr lang="en-US" sz="2900" dirty="0" err="1">
              <a:latin typeface="SVN-Gilroy" panose="00000500000000000000" pitchFamily="50" charset="0"/>
            </a:rPr>
            <a:t>tỷ</a:t>
          </a:r>
          <a:r>
            <a:rPr lang="en-US" sz="2900" dirty="0">
              <a:latin typeface="SVN-Gilroy" panose="00000500000000000000" pitchFamily="50" charset="0"/>
            </a:rPr>
            <a:t> (-60% so </a:t>
          </a:r>
          <a:r>
            <a:rPr lang="en-US" sz="2900" dirty="0" err="1">
              <a:latin typeface="SVN-Gilroy" panose="00000500000000000000" pitchFamily="50" charset="0"/>
            </a:rPr>
            <a:t>với</a:t>
          </a:r>
          <a:r>
            <a:rPr lang="en-US" sz="2900" dirty="0">
              <a:latin typeface="SVN-Gilroy" panose="00000500000000000000" pitchFamily="50" charset="0"/>
            </a:rPr>
            <a:t> </a:t>
          </a:r>
          <a:r>
            <a:rPr lang="en-US" sz="2900" dirty="0" err="1">
              <a:latin typeface="SVN-Gilroy" panose="00000500000000000000" pitchFamily="50" charset="0"/>
            </a:rPr>
            <a:t>kế</a:t>
          </a:r>
          <a:r>
            <a:rPr lang="en-US" sz="2900" dirty="0">
              <a:latin typeface="SVN-Gilroy" panose="00000500000000000000" pitchFamily="50" charset="0"/>
            </a:rPr>
            <a:t> </a:t>
          </a:r>
          <a:r>
            <a:rPr lang="en-US" sz="2900" dirty="0" err="1">
              <a:latin typeface="SVN-Gilroy" panose="00000500000000000000" pitchFamily="50" charset="0"/>
            </a:rPr>
            <a:t>hoạch</a:t>
          </a:r>
          <a:r>
            <a:rPr lang="en-US" sz="2900" dirty="0">
              <a:latin typeface="SVN-Gilroy" panose="00000500000000000000" pitchFamily="50" charset="0"/>
            </a:rPr>
            <a:t> </a:t>
          </a:r>
          <a:r>
            <a:rPr lang="en-US" sz="2900" dirty="0" err="1">
              <a:latin typeface="SVN-Gilroy" panose="00000500000000000000" pitchFamily="50" charset="0"/>
            </a:rPr>
            <a:t>trước</a:t>
          </a:r>
          <a:r>
            <a:rPr lang="en-US" sz="2900" dirty="0">
              <a:latin typeface="SVN-Gilroy" panose="00000500000000000000" pitchFamily="50" charset="0"/>
            </a:rPr>
            <a:t>) </a:t>
          </a:r>
        </a:p>
      </dgm:t>
    </dgm:pt>
    <dgm:pt modelId="{99AF29C3-8602-4616-9666-4986D725BBE6}" type="parTrans" cxnId="{02DDB73E-FA92-470B-8C74-1A278BC728FD}">
      <dgm:prSet/>
      <dgm:spPr/>
      <dgm:t>
        <a:bodyPr/>
        <a:lstStyle/>
        <a:p>
          <a:endParaRPr lang="en-US"/>
        </a:p>
      </dgm:t>
    </dgm:pt>
    <dgm:pt modelId="{13422DB2-DB45-4A4F-B04E-B4CBBA477BAF}" type="sibTrans" cxnId="{02DDB73E-FA92-470B-8C74-1A278BC728FD}">
      <dgm:prSet/>
      <dgm:spPr/>
      <dgm:t>
        <a:bodyPr/>
        <a:lstStyle/>
        <a:p>
          <a:endParaRPr lang="en-US"/>
        </a:p>
      </dgm:t>
    </dgm:pt>
    <dgm:pt modelId="{6511B27F-EEA1-4D85-ADA3-BB8A1C4A521F}" type="pres">
      <dgm:prSet presAssocID="{A270CA04-D3AC-4836-B672-BD10C381E938}" presName="vert0" presStyleCnt="0">
        <dgm:presLayoutVars>
          <dgm:dir/>
          <dgm:animOne val="branch"/>
          <dgm:animLvl val="lvl"/>
        </dgm:presLayoutVars>
      </dgm:prSet>
      <dgm:spPr/>
    </dgm:pt>
    <dgm:pt modelId="{E077197D-4B0C-4DCD-95A6-A131DE9108F9}" type="pres">
      <dgm:prSet presAssocID="{F043EA2E-4196-402C-9BC9-C3EA5C5CC5B0}" presName="thickLine" presStyleLbl="alignNode1" presStyleIdx="0" presStyleCnt="3"/>
      <dgm:spPr/>
    </dgm:pt>
    <dgm:pt modelId="{0445D92D-7E05-4267-8384-8CE229F72B43}" type="pres">
      <dgm:prSet presAssocID="{F043EA2E-4196-402C-9BC9-C3EA5C5CC5B0}" presName="horz1" presStyleCnt="0"/>
      <dgm:spPr/>
    </dgm:pt>
    <dgm:pt modelId="{E17A2724-0B5A-462E-B77B-58652340526B}" type="pres">
      <dgm:prSet presAssocID="{F043EA2E-4196-402C-9BC9-C3EA5C5CC5B0}" presName="tx1" presStyleLbl="revTx" presStyleIdx="0" presStyleCnt="6"/>
      <dgm:spPr/>
    </dgm:pt>
    <dgm:pt modelId="{984964C0-C857-4360-9C5A-82DD00195D7A}" type="pres">
      <dgm:prSet presAssocID="{F043EA2E-4196-402C-9BC9-C3EA5C5CC5B0}" presName="vert1" presStyleCnt="0"/>
      <dgm:spPr/>
    </dgm:pt>
    <dgm:pt modelId="{9FDEC3F5-3A19-4B1A-9069-7BCFA3642B50}" type="pres">
      <dgm:prSet presAssocID="{B7118F00-7FEB-4E8C-A6F9-B6514EFDA034}" presName="vertSpace2a" presStyleCnt="0"/>
      <dgm:spPr/>
    </dgm:pt>
    <dgm:pt modelId="{6E4C71E2-A522-46B2-8AED-0F9C40D9BCBC}" type="pres">
      <dgm:prSet presAssocID="{B7118F00-7FEB-4E8C-A6F9-B6514EFDA034}" presName="horz2" presStyleCnt="0"/>
      <dgm:spPr/>
    </dgm:pt>
    <dgm:pt modelId="{DB0CC87B-120A-4351-B2FC-71DB6ACEEAED}" type="pres">
      <dgm:prSet presAssocID="{B7118F00-7FEB-4E8C-A6F9-B6514EFDA034}" presName="horzSpace2" presStyleCnt="0"/>
      <dgm:spPr/>
    </dgm:pt>
    <dgm:pt modelId="{51A4165D-A36D-4DEC-9AE1-1258F91F63AF}" type="pres">
      <dgm:prSet presAssocID="{B7118F00-7FEB-4E8C-A6F9-B6514EFDA034}" presName="tx2" presStyleLbl="revTx" presStyleIdx="1" presStyleCnt="6"/>
      <dgm:spPr/>
    </dgm:pt>
    <dgm:pt modelId="{CB80B963-C887-438D-8979-8B355F0D9FF7}" type="pres">
      <dgm:prSet presAssocID="{B7118F00-7FEB-4E8C-A6F9-B6514EFDA034}" presName="vert2" presStyleCnt="0"/>
      <dgm:spPr/>
    </dgm:pt>
    <dgm:pt modelId="{7E155229-CA86-45BB-A8D5-F7883D161019}" type="pres">
      <dgm:prSet presAssocID="{B7118F00-7FEB-4E8C-A6F9-B6514EFDA034}" presName="thinLine2b" presStyleLbl="callout" presStyleIdx="0" presStyleCnt="3"/>
      <dgm:spPr/>
    </dgm:pt>
    <dgm:pt modelId="{389E8BA4-90B0-422C-BBCA-77C473774F59}" type="pres">
      <dgm:prSet presAssocID="{B7118F00-7FEB-4E8C-A6F9-B6514EFDA034}" presName="vertSpace2b" presStyleCnt="0"/>
      <dgm:spPr/>
    </dgm:pt>
    <dgm:pt modelId="{0D165F9C-C58D-47FA-82E9-EB9399B91F93}" type="pres">
      <dgm:prSet presAssocID="{EC0346FF-A004-4169-BFD8-F5F84A6E5BF8}" presName="thickLine" presStyleLbl="alignNode1" presStyleIdx="1" presStyleCnt="3"/>
      <dgm:spPr/>
    </dgm:pt>
    <dgm:pt modelId="{D7BC3CAF-3A0A-42D0-ABB6-BA45E18E859B}" type="pres">
      <dgm:prSet presAssocID="{EC0346FF-A004-4169-BFD8-F5F84A6E5BF8}" presName="horz1" presStyleCnt="0"/>
      <dgm:spPr/>
    </dgm:pt>
    <dgm:pt modelId="{80312583-44D2-4B9B-92DB-40EC84CD5BAB}" type="pres">
      <dgm:prSet presAssocID="{EC0346FF-A004-4169-BFD8-F5F84A6E5BF8}" presName="tx1" presStyleLbl="revTx" presStyleIdx="2" presStyleCnt="6"/>
      <dgm:spPr/>
    </dgm:pt>
    <dgm:pt modelId="{430BEB21-C986-4D1F-9243-FF631773F051}" type="pres">
      <dgm:prSet presAssocID="{EC0346FF-A004-4169-BFD8-F5F84A6E5BF8}" presName="vert1" presStyleCnt="0"/>
      <dgm:spPr/>
    </dgm:pt>
    <dgm:pt modelId="{B3F47804-E5B9-4CA3-B552-FC18EF89C360}" type="pres">
      <dgm:prSet presAssocID="{F81811C9-FA20-4D45-B8AF-EBDE53D82F5E}" presName="vertSpace2a" presStyleCnt="0"/>
      <dgm:spPr/>
    </dgm:pt>
    <dgm:pt modelId="{49FDA3A9-1888-4988-B8D1-8B7E371CA2D7}" type="pres">
      <dgm:prSet presAssocID="{F81811C9-FA20-4D45-B8AF-EBDE53D82F5E}" presName="horz2" presStyleCnt="0"/>
      <dgm:spPr/>
    </dgm:pt>
    <dgm:pt modelId="{33C9A926-70CD-48F2-87CC-130C9AD40C50}" type="pres">
      <dgm:prSet presAssocID="{F81811C9-FA20-4D45-B8AF-EBDE53D82F5E}" presName="horzSpace2" presStyleCnt="0"/>
      <dgm:spPr/>
    </dgm:pt>
    <dgm:pt modelId="{9E1D8196-0D28-4775-86F5-83D56A2A7A47}" type="pres">
      <dgm:prSet presAssocID="{F81811C9-FA20-4D45-B8AF-EBDE53D82F5E}" presName="tx2" presStyleLbl="revTx" presStyleIdx="3" presStyleCnt="6"/>
      <dgm:spPr/>
    </dgm:pt>
    <dgm:pt modelId="{69FF3A77-52CB-4E16-811A-C370524175C4}" type="pres">
      <dgm:prSet presAssocID="{F81811C9-FA20-4D45-B8AF-EBDE53D82F5E}" presName="vert2" presStyleCnt="0"/>
      <dgm:spPr/>
    </dgm:pt>
    <dgm:pt modelId="{FE381216-8BFF-4319-BE04-5AEAD29E7AC5}" type="pres">
      <dgm:prSet presAssocID="{F81811C9-FA20-4D45-B8AF-EBDE53D82F5E}" presName="thinLine2b" presStyleLbl="callout" presStyleIdx="1" presStyleCnt="3"/>
      <dgm:spPr/>
    </dgm:pt>
    <dgm:pt modelId="{26E966DC-94AF-44A2-A9AC-EE44225F30EB}" type="pres">
      <dgm:prSet presAssocID="{F81811C9-FA20-4D45-B8AF-EBDE53D82F5E}" presName="vertSpace2b" presStyleCnt="0"/>
      <dgm:spPr/>
    </dgm:pt>
    <dgm:pt modelId="{3E26720F-3CA2-4523-A55E-954B7C927416}" type="pres">
      <dgm:prSet presAssocID="{9394690C-4DA7-4E12-A375-C402BFB51A8A}" presName="thickLine" presStyleLbl="alignNode1" presStyleIdx="2" presStyleCnt="3"/>
      <dgm:spPr/>
    </dgm:pt>
    <dgm:pt modelId="{083B224C-33EF-4D34-8730-AC8033C0D9C4}" type="pres">
      <dgm:prSet presAssocID="{9394690C-4DA7-4E12-A375-C402BFB51A8A}" presName="horz1" presStyleCnt="0"/>
      <dgm:spPr/>
    </dgm:pt>
    <dgm:pt modelId="{2BFFF2C3-AEAF-4446-8495-D72F8576438F}" type="pres">
      <dgm:prSet presAssocID="{9394690C-4DA7-4E12-A375-C402BFB51A8A}" presName="tx1" presStyleLbl="revTx" presStyleIdx="4" presStyleCnt="6"/>
      <dgm:spPr/>
    </dgm:pt>
    <dgm:pt modelId="{69167CC8-01A7-4B0F-AAF0-CCB5D4F00296}" type="pres">
      <dgm:prSet presAssocID="{9394690C-4DA7-4E12-A375-C402BFB51A8A}" presName="vert1" presStyleCnt="0"/>
      <dgm:spPr/>
    </dgm:pt>
    <dgm:pt modelId="{E882B6A8-042D-4F53-A439-D971639C247E}" type="pres">
      <dgm:prSet presAssocID="{7B83FE9A-4336-4300-A36D-1E2EF76EDF36}" presName="vertSpace2a" presStyleCnt="0"/>
      <dgm:spPr/>
    </dgm:pt>
    <dgm:pt modelId="{EB407710-B73F-4B3B-8B81-1F0285AD3FDC}" type="pres">
      <dgm:prSet presAssocID="{7B83FE9A-4336-4300-A36D-1E2EF76EDF36}" presName="horz2" presStyleCnt="0"/>
      <dgm:spPr/>
    </dgm:pt>
    <dgm:pt modelId="{619C9760-3B32-4B80-8FA2-64DC768517C2}" type="pres">
      <dgm:prSet presAssocID="{7B83FE9A-4336-4300-A36D-1E2EF76EDF36}" presName="horzSpace2" presStyleCnt="0"/>
      <dgm:spPr/>
    </dgm:pt>
    <dgm:pt modelId="{3421DB87-7763-4E9E-80AB-3A4244DA1062}" type="pres">
      <dgm:prSet presAssocID="{7B83FE9A-4336-4300-A36D-1E2EF76EDF36}" presName="tx2" presStyleLbl="revTx" presStyleIdx="5" presStyleCnt="6"/>
      <dgm:spPr/>
    </dgm:pt>
    <dgm:pt modelId="{7E4E7C3A-4E97-440E-860E-650021CFBD33}" type="pres">
      <dgm:prSet presAssocID="{7B83FE9A-4336-4300-A36D-1E2EF76EDF36}" presName="vert2" presStyleCnt="0"/>
      <dgm:spPr/>
    </dgm:pt>
    <dgm:pt modelId="{8A374915-E3F2-4D55-80CD-735D6CFC31F4}" type="pres">
      <dgm:prSet presAssocID="{7B83FE9A-4336-4300-A36D-1E2EF76EDF36}" presName="thinLine2b" presStyleLbl="callout" presStyleIdx="2" presStyleCnt="3"/>
      <dgm:spPr/>
    </dgm:pt>
    <dgm:pt modelId="{ECB70442-5E5B-4625-99D5-7C35EDA0EE43}" type="pres">
      <dgm:prSet presAssocID="{7B83FE9A-4336-4300-A36D-1E2EF76EDF36}" presName="vertSpace2b" presStyleCnt="0"/>
      <dgm:spPr/>
    </dgm:pt>
  </dgm:ptLst>
  <dgm:cxnLst>
    <dgm:cxn modelId="{CB581B08-44B9-43C9-9E33-EFE21A6BC254}" type="presOf" srcId="{A270CA04-D3AC-4836-B672-BD10C381E938}" destId="{6511B27F-EEA1-4D85-ADA3-BB8A1C4A521F}" srcOrd="0" destOrd="0" presId="urn:microsoft.com/office/officeart/2008/layout/LinedList"/>
    <dgm:cxn modelId="{02DDB73E-FA92-470B-8C74-1A278BC728FD}" srcId="{EC0346FF-A004-4169-BFD8-F5F84A6E5BF8}" destId="{F81811C9-FA20-4D45-B8AF-EBDE53D82F5E}" srcOrd="0" destOrd="0" parTransId="{99AF29C3-8602-4616-9666-4986D725BBE6}" sibTransId="{13422DB2-DB45-4A4F-B04E-B4CBBA477BAF}"/>
    <dgm:cxn modelId="{9C53D35C-BC8C-44A8-B269-22DB2A360D5F}" srcId="{F043EA2E-4196-402C-9BC9-C3EA5C5CC5B0}" destId="{B7118F00-7FEB-4E8C-A6F9-B6514EFDA034}" srcOrd="0" destOrd="0" parTransId="{E7E99523-35F4-4B8A-8522-ED3D34CD219D}" sibTransId="{BE2211A5-733F-4AFC-81A6-F3EFEADBA076}"/>
    <dgm:cxn modelId="{5E31326A-77FF-4662-981A-85912943EDA8}" srcId="{9394690C-4DA7-4E12-A375-C402BFB51A8A}" destId="{7B83FE9A-4336-4300-A36D-1E2EF76EDF36}" srcOrd="0" destOrd="0" parTransId="{D4C5D6EC-16EC-4982-BA91-C9C9CD058C20}" sibTransId="{2CEA675D-DFB2-48DD-B6E7-9ABD72084365}"/>
    <dgm:cxn modelId="{0800F74F-7F7C-44C6-9EB0-165422B289D4}" srcId="{A270CA04-D3AC-4836-B672-BD10C381E938}" destId="{9394690C-4DA7-4E12-A375-C402BFB51A8A}" srcOrd="2" destOrd="0" parTransId="{B8AD241D-B6D8-4F56-A8AB-5DDE1EAF3EC0}" sibTransId="{915B3AF5-FE0B-4065-999C-B6A69CCF7CFD}"/>
    <dgm:cxn modelId="{F9D77452-0DFF-4C95-B95D-76D26C3A319C}" srcId="{A270CA04-D3AC-4836-B672-BD10C381E938}" destId="{EC0346FF-A004-4169-BFD8-F5F84A6E5BF8}" srcOrd="1" destOrd="0" parTransId="{40254663-3182-4150-8563-CE48A854047E}" sibTransId="{0F46AD0D-CC96-4ADE-A664-43D0A08B0DEC}"/>
    <dgm:cxn modelId="{93190291-1269-4815-BEF6-F5CF56EB8F41}" srcId="{A270CA04-D3AC-4836-B672-BD10C381E938}" destId="{F043EA2E-4196-402C-9BC9-C3EA5C5CC5B0}" srcOrd="0" destOrd="0" parTransId="{418974FA-C7D1-46D3-8208-6B99BFDD87B0}" sibTransId="{C2C239A5-2D51-4505-8080-1CA8D13C5DB3}"/>
    <dgm:cxn modelId="{9B41BD92-2161-48D2-9BCC-502E1AC4663D}" type="presOf" srcId="{B7118F00-7FEB-4E8C-A6F9-B6514EFDA034}" destId="{51A4165D-A36D-4DEC-9AE1-1258F91F63AF}" srcOrd="0" destOrd="0" presId="urn:microsoft.com/office/officeart/2008/layout/LinedList"/>
    <dgm:cxn modelId="{3FB3559B-9C51-4D6C-B644-243DE5BCD990}" type="presOf" srcId="{F81811C9-FA20-4D45-B8AF-EBDE53D82F5E}" destId="{9E1D8196-0D28-4775-86F5-83D56A2A7A47}" srcOrd="0" destOrd="0" presId="urn:microsoft.com/office/officeart/2008/layout/LinedList"/>
    <dgm:cxn modelId="{36B9BCC8-271C-4F59-9EB8-4C7DB1E37E9D}" type="presOf" srcId="{7B83FE9A-4336-4300-A36D-1E2EF76EDF36}" destId="{3421DB87-7763-4E9E-80AB-3A4244DA1062}" srcOrd="0" destOrd="0" presId="urn:microsoft.com/office/officeart/2008/layout/LinedList"/>
    <dgm:cxn modelId="{0F9A33E3-872E-435A-BE93-F28C636D87E7}" type="presOf" srcId="{F043EA2E-4196-402C-9BC9-C3EA5C5CC5B0}" destId="{E17A2724-0B5A-462E-B77B-58652340526B}" srcOrd="0" destOrd="0" presId="urn:microsoft.com/office/officeart/2008/layout/LinedList"/>
    <dgm:cxn modelId="{6A757AF5-41F1-4237-8F18-30C0168A6A3B}" type="presOf" srcId="{9394690C-4DA7-4E12-A375-C402BFB51A8A}" destId="{2BFFF2C3-AEAF-4446-8495-D72F8576438F}" srcOrd="0" destOrd="0" presId="urn:microsoft.com/office/officeart/2008/layout/LinedList"/>
    <dgm:cxn modelId="{AFE46EF8-C1B1-488F-A4EA-1DD6C4B31446}" type="presOf" srcId="{EC0346FF-A004-4169-BFD8-F5F84A6E5BF8}" destId="{80312583-44D2-4B9B-92DB-40EC84CD5BAB}" srcOrd="0" destOrd="0" presId="urn:microsoft.com/office/officeart/2008/layout/LinedList"/>
    <dgm:cxn modelId="{FAEC4F8A-D765-4F70-AEB9-ADB7773C3032}" type="presParOf" srcId="{6511B27F-EEA1-4D85-ADA3-BB8A1C4A521F}" destId="{E077197D-4B0C-4DCD-95A6-A131DE9108F9}" srcOrd="0" destOrd="0" presId="urn:microsoft.com/office/officeart/2008/layout/LinedList"/>
    <dgm:cxn modelId="{3E7441A1-4BB2-4D6C-B128-94DB3150F5EE}" type="presParOf" srcId="{6511B27F-EEA1-4D85-ADA3-BB8A1C4A521F}" destId="{0445D92D-7E05-4267-8384-8CE229F72B43}" srcOrd="1" destOrd="0" presId="urn:microsoft.com/office/officeart/2008/layout/LinedList"/>
    <dgm:cxn modelId="{5DF8CDF7-9543-45DA-A076-3EE3B7B0CB98}" type="presParOf" srcId="{0445D92D-7E05-4267-8384-8CE229F72B43}" destId="{E17A2724-0B5A-462E-B77B-58652340526B}" srcOrd="0" destOrd="0" presId="urn:microsoft.com/office/officeart/2008/layout/LinedList"/>
    <dgm:cxn modelId="{F33C25A9-CECC-4E0D-92EC-4770FB2EAED5}" type="presParOf" srcId="{0445D92D-7E05-4267-8384-8CE229F72B43}" destId="{984964C0-C857-4360-9C5A-82DD00195D7A}" srcOrd="1" destOrd="0" presId="urn:microsoft.com/office/officeart/2008/layout/LinedList"/>
    <dgm:cxn modelId="{775A5E6C-34C3-48D2-BB80-9DFB867C0181}" type="presParOf" srcId="{984964C0-C857-4360-9C5A-82DD00195D7A}" destId="{9FDEC3F5-3A19-4B1A-9069-7BCFA3642B50}" srcOrd="0" destOrd="0" presId="urn:microsoft.com/office/officeart/2008/layout/LinedList"/>
    <dgm:cxn modelId="{31AE8D67-1866-4106-965C-647C924EAB2F}" type="presParOf" srcId="{984964C0-C857-4360-9C5A-82DD00195D7A}" destId="{6E4C71E2-A522-46B2-8AED-0F9C40D9BCBC}" srcOrd="1" destOrd="0" presId="urn:microsoft.com/office/officeart/2008/layout/LinedList"/>
    <dgm:cxn modelId="{CC7F0A69-6C35-4238-993A-FB5565867851}" type="presParOf" srcId="{6E4C71E2-A522-46B2-8AED-0F9C40D9BCBC}" destId="{DB0CC87B-120A-4351-B2FC-71DB6ACEEAED}" srcOrd="0" destOrd="0" presId="urn:microsoft.com/office/officeart/2008/layout/LinedList"/>
    <dgm:cxn modelId="{5A5A4573-952E-4D86-B15C-50B09BBC6F8C}" type="presParOf" srcId="{6E4C71E2-A522-46B2-8AED-0F9C40D9BCBC}" destId="{51A4165D-A36D-4DEC-9AE1-1258F91F63AF}" srcOrd="1" destOrd="0" presId="urn:microsoft.com/office/officeart/2008/layout/LinedList"/>
    <dgm:cxn modelId="{04F1B9AE-5741-4D3F-A2FE-8D74DB2C929C}" type="presParOf" srcId="{6E4C71E2-A522-46B2-8AED-0F9C40D9BCBC}" destId="{CB80B963-C887-438D-8979-8B355F0D9FF7}" srcOrd="2" destOrd="0" presId="urn:microsoft.com/office/officeart/2008/layout/LinedList"/>
    <dgm:cxn modelId="{3570C4FC-559E-4B1E-8BD4-CA625981A04F}" type="presParOf" srcId="{984964C0-C857-4360-9C5A-82DD00195D7A}" destId="{7E155229-CA86-45BB-A8D5-F7883D161019}" srcOrd="2" destOrd="0" presId="urn:microsoft.com/office/officeart/2008/layout/LinedList"/>
    <dgm:cxn modelId="{300C297D-B86B-4FEE-B948-23AA162F162C}" type="presParOf" srcId="{984964C0-C857-4360-9C5A-82DD00195D7A}" destId="{389E8BA4-90B0-422C-BBCA-77C473774F59}" srcOrd="3" destOrd="0" presId="urn:microsoft.com/office/officeart/2008/layout/LinedList"/>
    <dgm:cxn modelId="{38F4A8EA-A4C5-448E-8C13-2DFBC774BD37}" type="presParOf" srcId="{6511B27F-EEA1-4D85-ADA3-BB8A1C4A521F}" destId="{0D165F9C-C58D-47FA-82E9-EB9399B91F93}" srcOrd="2" destOrd="0" presId="urn:microsoft.com/office/officeart/2008/layout/LinedList"/>
    <dgm:cxn modelId="{E6971411-B1D2-459F-A1D1-3201FA284C3F}" type="presParOf" srcId="{6511B27F-EEA1-4D85-ADA3-BB8A1C4A521F}" destId="{D7BC3CAF-3A0A-42D0-ABB6-BA45E18E859B}" srcOrd="3" destOrd="0" presId="urn:microsoft.com/office/officeart/2008/layout/LinedList"/>
    <dgm:cxn modelId="{97034E6B-4DD4-4C72-BE09-9C43F6A7C4EA}" type="presParOf" srcId="{D7BC3CAF-3A0A-42D0-ABB6-BA45E18E859B}" destId="{80312583-44D2-4B9B-92DB-40EC84CD5BAB}" srcOrd="0" destOrd="0" presId="urn:microsoft.com/office/officeart/2008/layout/LinedList"/>
    <dgm:cxn modelId="{573AD96F-C3CC-4E50-B08A-9E65DADD7CFA}" type="presParOf" srcId="{D7BC3CAF-3A0A-42D0-ABB6-BA45E18E859B}" destId="{430BEB21-C986-4D1F-9243-FF631773F051}" srcOrd="1" destOrd="0" presId="urn:microsoft.com/office/officeart/2008/layout/LinedList"/>
    <dgm:cxn modelId="{4F14E2DF-9543-4DA6-B4A1-1FEC76067EA8}" type="presParOf" srcId="{430BEB21-C986-4D1F-9243-FF631773F051}" destId="{B3F47804-E5B9-4CA3-B552-FC18EF89C360}" srcOrd="0" destOrd="0" presId="urn:microsoft.com/office/officeart/2008/layout/LinedList"/>
    <dgm:cxn modelId="{72985CC0-8E1E-412E-A8D8-474EFB4400E9}" type="presParOf" srcId="{430BEB21-C986-4D1F-9243-FF631773F051}" destId="{49FDA3A9-1888-4988-B8D1-8B7E371CA2D7}" srcOrd="1" destOrd="0" presId="urn:microsoft.com/office/officeart/2008/layout/LinedList"/>
    <dgm:cxn modelId="{D9695CC1-8767-429A-8B1F-A1B2C8C2DC09}" type="presParOf" srcId="{49FDA3A9-1888-4988-B8D1-8B7E371CA2D7}" destId="{33C9A926-70CD-48F2-87CC-130C9AD40C50}" srcOrd="0" destOrd="0" presId="urn:microsoft.com/office/officeart/2008/layout/LinedList"/>
    <dgm:cxn modelId="{22C770C7-B771-4E66-8D56-E0F4069347B8}" type="presParOf" srcId="{49FDA3A9-1888-4988-B8D1-8B7E371CA2D7}" destId="{9E1D8196-0D28-4775-86F5-83D56A2A7A47}" srcOrd="1" destOrd="0" presId="urn:microsoft.com/office/officeart/2008/layout/LinedList"/>
    <dgm:cxn modelId="{48BE56A9-2348-4723-AF45-97EB687A6806}" type="presParOf" srcId="{49FDA3A9-1888-4988-B8D1-8B7E371CA2D7}" destId="{69FF3A77-52CB-4E16-811A-C370524175C4}" srcOrd="2" destOrd="0" presId="urn:microsoft.com/office/officeart/2008/layout/LinedList"/>
    <dgm:cxn modelId="{D83B17BC-92E7-4B68-A866-B23F5D0C3155}" type="presParOf" srcId="{430BEB21-C986-4D1F-9243-FF631773F051}" destId="{FE381216-8BFF-4319-BE04-5AEAD29E7AC5}" srcOrd="2" destOrd="0" presId="urn:microsoft.com/office/officeart/2008/layout/LinedList"/>
    <dgm:cxn modelId="{BDAA1A7D-08F1-43D8-96BE-31203BEE91CA}" type="presParOf" srcId="{430BEB21-C986-4D1F-9243-FF631773F051}" destId="{26E966DC-94AF-44A2-A9AC-EE44225F30EB}" srcOrd="3" destOrd="0" presId="urn:microsoft.com/office/officeart/2008/layout/LinedList"/>
    <dgm:cxn modelId="{9A859151-C16C-4679-A1AB-05C1F0E91942}" type="presParOf" srcId="{6511B27F-EEA1-4D85-ADA3-BB8A1C4A521F}" destId="{3E26720F-3CA2-4523-A55E-954B7C927416}" srcOrd="4" destOrd="0" presId="urn:microsoft.com/office/officeart/2008/layout/LinedList"/>
    <dgm:cxn modelId="{1AD6003D-01A7-4542-B4AE-F04459B65168}" type="presParOf" srcId="{6511B27F-EEA1-4D85-ADA3-BB8A1C4A521F}" destId="{083B224C-33EF-4D34-8730-AC8033C0D9C4}" srcOrd="5" destOrd="0" presId="urn:microsoft.com/office/officeart/2008/layout/LinedList"/>
    <dgm:cxn modelId="{0292C224-91DF-416F-ADCD-92682945AC33}" type="presParOf" srcId="{083B224C-33EF-4D34-8730-AC8033C0D9C4}" destId="{2BFFF2C3-AEAF-4446-8495-D72F8576438F}" srcOrd="0" destOrd="0" presId="urn:microsoft.com/office/officeart/2008/layout/LinedList"/>
    <dgm:cxn modelId="{E1960CB9-1C4C-4183-8149-F186CA623B5F}" type="presParOf" srcId="{083B224C-33EF-4D34-8730-AC8033C0D9C4}" destId="{69167CC8-01A7-4B0F-AAF0-CCB5D4F00296}" srcOrd="1" destOrd="0" presId="urn:microsoft.com/office/officeart/2008/layout/LinedList"/>
    <dgm:cxn modelId="{DF2D22AE-91B2-48EE-8353-2A141A03D1E7}" type="presParOf" srcId="{69167CC8-01A7-4B0F-AAF0-CCB5D4F00296}" destId="{E882B6A8-042D-4F53-A439-D971639C247E}" srcOrd="0" destOrd="0" presId="urn:microsoft.com/office/officeart/2008/layout/LinedList"/>
    <dgm:cxn modelId="{1A30AD1C-713F-44D1-A2F5-C1D11E915880}" type="presParOf" srcId="{69167CC8-01A7-4B0F-AAF0-CCB5D4F00296}" destId="{EB407710-B73F-4B3B-8B81-1F0285AD3FDC}" srcOrd="1" destOrd="0" presId="urn:microsoft.com/office/officeart/2008/layout/LinedList"/>
    <dgm:cxn modelId="{0309ECE3-6196-4F29-AA5B-70EDA7CD1377}" type="presParOf" srcId="{EB407710-B73F-4B3B-8B81-1F0285AD3FDC}" destId="{619C9760-3B32-4B80-8FA2-64DC768517C2}" srcOrd="0" destOrd="0" presId="urn:microsoft.com/office/officeart/2008/layout/LinedList"/>
    <dgm:cxn modelId="{31D4E23F-C9B3-4A6E-A5AA-23747C7F07A7}" type="presParOf" srcId="{EB407710-B73F-4B3B-8B81-1F0285AD3FDC}" destId="{3421DB87-7763-4E9E-80AB-3A4244DA1062}" srcOrd="1" destOrd="0" presId="urn:microsoft.com/office/officeart/2008/layout/LinedList"/>
    <dgm:cxn modelId="{C3663FA0-4969-44A4-94B0-ACECAC195AEB}" type="presParOf" srcId="{EB407710-B73F-4B3B-8B81-1F0285AD3FDC}" destId="{7E4E7C3A-4E97-440E-860E-650021CFBD33}" srcOrd="2" destOrd="0" presId="urn:microsoft.com/office/officeart/2008/layout/LinedList"/>
    <dgm:cxn modelId="{7B1B8A06-2343-4538-96CD-4C08608D3773}" type="presParOf" srcId="{69167CC8-01A7-4B0F-AAF0-CCB5D4F00296}" destId="{8A374915-E3F2-4D55-80CD-735D6CFC31F4}" srcOrd="2" destOrd="0" presId="urn:microsoft.com/office/officeart/2008/layout/LinedList"/>
    <dgm:cxn modelId="{69CD1207-35B3-4C18-9160-101387AA2E6F}" type="presParOf" srcId="{69167CC8-01A7-4B0F-AAF0-CCB5D4F00296}" destId="{ECB70442-5E5B-4625-99D5-7C35EDA0EE43}"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77197D-4B0C-4DCD-95A6-A131DE9108F9}">
      <dsp:nvSpPr>
        <dsp:cNvPr id="0" name=""/>
        <dsp:cNvSpPr/>
      </dsp:nvSpPr>
      <dsp:spPr>
        <a:xfrm>
          <a:off x="0" y="5215"/>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17A2724-0B5A-462E-B77B-58652340526B}">
      <dsp:nvSpPr>
        <dsp:cNvPr id="0" name=""/>
        <dsp:cNvSpPr/>
      </dsp:nvSpPr>
      <dsp:spPr>
        <a:xfrm>
          <a:off x="0" y="5215"/>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1H26 financials</a:t>
          </a:r>
        </a:p>
      </dsp:txBody>
      <dsp:txXfrm>
        <a:off x="0" y="5215"/>
        <a:ext cx="1593243" cy="3556652"/>
      </dsp:txXfrm>
    </dsp:sp>
    <dsp:sp modelId="{51A4165D-A36D-4DEC-9AE1-1258F91F63AF}">
      <dsp:nvSpPr>
        <dsp:cNvPr id="0" name=""/>
        <dsp:cNvSpPr/>
      </dsp:nvSpPr>
      <dsp:spPr>
        <a:xfrm>
          <a:off x="1712736" y="166723"/>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Font typeface="Arial" panose="020B0604020202020204" pitchFamily="34" charset="0"/>
            <a:buNone/>
          </a:pPr>
          <a:r>
            <a:rPr lang="en-US" sz="2900" b="0" kern="1200" dirty="0">
              <a:latin typeface="SVN-Gilroy" panose="00000500000000000000" pitchFamily="50" charset="0"/>
            </a:rPr>
            <a:t>- PBT VND730bn (−51% YoY), 41% of FY plan; 2Q26 ~VND392bn</a:t>
          </a:r>
        </a:p>
        <a:p>
          <a:pPr marL="0" lvl="0" indent="0" algn="l" defTabSz="1289050">
            <a:lnSpc>
              <a:spcPct val="90000"/>
            </a:lnSpc>
            <a:spcBef>
              <a:spcPct val="0"/>
            </a:spcBef>
            <a:spcAft>
              <a:spcPct val="35000"/>
            </a:spcAft>
            <a:buFont typeface="Arial" panose="020B0604020202020204" pitchFamily="34" charset="0"/>
            <a:buNone/>
          </a:pPr>
          <a:r>
            <a:rPr lang="en-US" sz="2900" b="0" kern="1200" dirty="0">
              <a:latin typeface="SVN-Gilroy" panose="00000500000000000000" pitchFamily="50" charset="0"/>
            </a:rPr>
            <a:t>- Total assets VND266.5tn (−VND6tn YTD); loans &gt;VND200tn</a:t>
          </a:r>
        </a:p>
        <a:p>
          <a:pPr marL="0" lvl="0" indent="0" algn="l" defTabSz="1289050">
            <a:lnSpc>
              <a:spcPct val="90000"/>
            </a:lnSpc>
            <a:spcBef>
              <a:spcPct val="0"/>
            </a:spcBef>
            <a:spcAft>
              <a:spcPct val="35000"/>
            </a:spcAft>
            <a:buFont typeface="Arial" panose="020B0604020202020204" pitchFamily="34" charset="0"/>
            <a:buNone/>
          </a:pPr>
          <a:r>
            <a:rPr lang="en-US" sz="2900" b="0" kern="1200" dirty="0">
              <a:latin typeface="SVN-Gilroy" panose="00000500000000000000" pitchFamily="50" charset="0"/>
            </a:rPr>
            <a:t>- NPL 2.88% (&lt;3%); CAR 12.5%; LDR ~83%</a:t>
          </a:r>
        </a:p>
      </dsp:txBody>
      <dsp:txXfrm>
        <a:off x="1712736" y="166723"/>
        <a:ext cx="6253481" cy="3230163"/>
      </dsp:txXfrm>
    </dsp:sp>
    <dsp:sp modelId="{7E155229-CA86-45BB-A8D5-F7883D161019}">
      <dsp:nvSpPr>
        <dsp:cNvPr id="0" name=""/>
        <dsp:cNvSpPr/>
      </dsp:nvSpPr>
      <dsp:spPr>
        <a:xfrm>
          <a:off x="1593243" y="3396886"/>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0D165F9C-C58D-47FA-82E9-EB9399B91F93}">
      <dsp:nvSpPr>
        <dsp:cNvPr id="0" name=""/>
        <dsp:cNvSpPr/>
      </dsp:nvSpPr>
      <dsp:spPr>
        <a:xfrm>
          <a:off x="0" y="3561867"/>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0312583-44D2-4B9B-92DB-40EC84CD5BAB}">
      <dsp:nvSpPr>
        <dsp:cNvPr id="0" name=""/>
        <dsp:cNvSpPr/>
      </dsp:nvSpPr>
      <dsp:spPr>
        <a:xfrm>
          <a:off x="0" y="3561867"/>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2026 Target</a:t>
          </a:r>
        </a:p>
      </dsp:txBody>
      <dsp:txXfrm>
        <a:off x="0" y="3561867"/>
        <a:ext cx="1593243" cy="3556652"/>
      </dsp:txXfrm>
    </dsp:sp>
    <dsp:sp modelId="{9E1D8196-0D28-4775-86F5-83D56A2A7A47}">
      <dsp:nvSpPr>
        <dsp:cNvPr id="0" name=""/>
        <dsp:cNvSpPr/>
      </dsp:nvSpPr>
      <dsp:spPr>
        <a:xfrm>
          <a:off x="1712736" y="3723375"/>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0" kern="1200" dirty="0" err="1">
              <a:latin typeface="SVN-Gilroy" panose="00000500000000000000"/>
            </a:rPr>
            <a:t>Eximbank</a:t>
          </a:r>
          <a:r>
            <a:rPr lang="en-US" sz="2900" b="0" kern="1200" dirty="0">
              <a:latin typeface="SVN-Gilroy" panose="00000500000000000000"/>
            </a:rPr>
            <a:t> has sharply revised down its FY2026 pre-tax profit target to VND1,515bn (down over 60% from the previous plan)</a:t>
          </a:r>
        </a:p>
      </dsp:txBody>
      <dsp:txXfrm>
        <a:off x="1712736" y="3723375"/>
        <a:ext cx="6253481" cy="3230163"/>
      </dsp:txXfrm>
    </dsp:sp>
    <dsp:sp modelId="{FE381216-8BFF-4319-BE04-5AEAD29E7AC5}">
      <dsp:nvSpPr>
        <dsp:cNvPr id="0" name=""/>
        <dsp:cNvSpPr/>
      </dsp:nvSpPr>
      <dsp:spPr>
        <a:xfrm>
          <a:off x="1593243" y="6953538"/>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3E26720F-3CA2-4523-A55E-954B7C927416}">
      <dsp:nvSpPr>
        <dsp:cNvPr id="0" name=""/>
        <dsp:cNvSpPr/>
      </dsp:nvSpPr>
      <dsp:spPr>
        <a:xfrm>
          <a:off x="0" y="7118520"/>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BFFF2C3-AEAF-4446-8495-D72F8576438F}">
      <dsp:nvSpPr>
        <dsp:cNvPr id="0" name=""/>
        <dsp:cNvSpPr/>
      </dsp:nvSpPr>
      <dsp:spPr>
        <a:xfrm>
          <a:off x="0" y="7118520"/>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2026 catalyst</a:t>
          </a:r>
        </a:p>
      </dsp:txBody>
      <dsp:txXfrm>
        <a:off x="0" y="7118520"/>
        <a:ext cx="1593243" cy="3556652"/>
      </dsp:txXfrm>
    </dsp:sp>
    <dsp:sp modelId="{3421DB87-7763-4E9E-80AB-3A4244DA1062}">
      <dsp:nvSpPr>
        <dsp:cNvPr id="0" name=""/>
        <dsp:cNvSpPr/>
      </dsp:nvSpPr>
      <dsp:spPr>
        <a:xfrm>
          <a:off x="1712736" y="7280028"/>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a:rPr>
            <a:t>PBT: VND2,403bn (+59% YoY)</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a:rPr>
            <a:t>+ Stronger loans growth (+14.5%)</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a:rPr>
            <a:t>+ Fee recovery (+163% YoY)</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a:rPr>
            <a:t>+ Lower CIR (~49%, -9%p YoY) </a:t>
          </a:r>
        </a:p>
      </dsp:txBody>
      <dsp:txXfrm>
        <a:off x="1712736" y="7280028"/>
        <a:ext cx="6253481" cy="3230163"/>
      </dsp:txXfrm>
    </dsp:sp>
    <dsp:sp modelId="{8A374915-E3F2-4D55-80CD-735D6CFC31F4}">
      <dsp:nvSpPr>
        <dsp:cNvPr id="0" name=""/>
        <dsp:cNvSpPr/>
      </dsp:nvSpPr>
      <dsp:spPr>
        <a:xfrm>
          <a:off x="1593243" y="10510191"/>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77197D-4B0C-4DCD-95A6-A131DE9108F9}">
      <dsp:nvSpPr>
        <dsp:cNvPr id="0" name=""/>
        <dsp:cNvSpPr/>
      </dsp:nvSpPr>
      <dsp:spPr>
        <a:xfrm>
          <a:off x="0" y="5215"/>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17A2724-0B5A-462E-B77B-58652340526B}">
      <dsp:nvSpPr>
        <dsp:cNvPr id="0" name=""/>
        <dsp:cNvSpPr/>
      </dsp:nvSpPr>
      <dsp:spPr>
        <a:xfrm>
          <a:off x="0" y="5215"/>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KQKD 1H26</a:t>
          </a:r>
        </a:p>
      </dsp:txBody>
      <dsp:txXfrm>
        <a:off x="0" y="5215"/>
        <a:ext cx="1593243" cy="3556652"/>
      </dsp:txXfrm>
    </dsp:sp>
    <dsp:sp modelId="{51A4165D-A36D-4DEC-9AE1-1258F91F63AF}">
      <dsp:nvSpPr>
        <dsp:cNvPr id="0" name=""/>
        <dsp:cNvSpPr/>
      </dsp:nvSpPr>
      <dsp:spPr>
        <a:xfrm>
          <a:off x="1712736" y="166723"/>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latin typeface="SVN-Gilroy" panose="00000500000000000000" pitchFamily="50" charset="0"/>
            </a:rPr>
            <a:t>LNTT 1H26: 730 tỷ (−51% CK), 41% KH năm; Q2/26 ~392 tỷ</a:t>
          </a:r>
        </a:p>
        <a:p>
          <a:pPr marL="0" lvl="0" indent="0" algn="l" defTabSz="1289050">
            <a:lnSpc>
              <a:spcPct val="90000"/>
            </a:lnSpc>
            <a:spcBef>
              <a:spcPct val="0"/>
            </a:spcBef>
            <a:spcAft>
              <a:spcPct val="35000"/>
            </a:spcAft>
            <a:buNone/>
          </a:pPr>
          <a:r>
            <a:rPr lang="en-US" sz="2900" kern="1200" dirty="0">
              <a:latin typeface="SVN-Gilroy" panose="00000500000000000000" pitchFamily="50" charset="0"/>
            </a:rPr>
            <a:t>- Tổng TS 266.5 nghìn tỷ (−6 nghìn tỷ YTD); dư nợ &gt;200 nghìn tỷ</a:t>
          </a:r>
        </a:p>
        <a:p>
          <a:pPr marL="0" lvl="0" indent="0" algn="l" defTabSz="1289050">
            <a:lnSpc>
              <a:spcPct val="90000"/>
            </a:lnSpc>
            <a:spcBef>
              <a:spcPct val="0"/>
            </a:spcBef>
            <a:spcAft>
              <a:spcPct val="35000"/>
            </a:spcAft>
            <a:buNone/>
          </a:pPr>
          <a:r>
            <a:rPr lang="en-US" sz="2900" kern="1200" dirty="0">
              <a:latin typeface="SVN-Gilroy" panose="00000500000000000000" pitchFamily="50" charset="0"/>
            </a:rPr>
            <a:t>- Nợ xấu 2.88% (dưới 3%); CAR 12.5%; LDR ~83%</a:t>
          </a:r>
          <a:endParaRPr lang="en-US" sz="2900" kern="1200" dirty="0">
            <a:latin typeface="SVN-Gilroy" panose="00000500000000000000" pitchFamily="50" charset="0"/>
          </a:endParaRPr>
        </a:p>
        <a:p>
          <a:pPr marL="0" lvl="0" indent="0" algn="l" defTabSz="1289050">
            <a:lnSpc>
              <a:spcPct val="90000"/>
            </a:lnSpc>
            <a:spcBef>
              <a:spcPct val="0"/>
            </a:spcBef>
            <a:spcAft>
              <a:spcPct val="35000"/>
            </a:spcAft>
            <a:buNone/>
          </a:pPr>
          <a:endParaRPr lang="en-US" sz="2900" b="1" kern="1200" dirty="0">
            <a:latin typeface="SVN-Gilroy" panose="00000500000000000000" pitchFamily="50" charset="0"/>
          </a:endParaRPr>
        </a:p>
      </dsp:txBody>
      <dsp:txXfrm>
        <a:off x="1712736" y="166723"/>
        <a:ext cx="6253481" cy="3230163"/>
      </dsp:txXfrm>
    </dsp:sp>
    <dsp:sp modelId="{7E155229-CA86-45BB-A8D5-F7883D161019}">
      <dsp:nvSpPr>
        <dsp:cNvPr id="0" name=""/>
        <dsp:cNvSpPr/>
      </dsp:nvSpPr>
      <dsp:spPr>
        <a:xfrm>
          <a:off x="1593243" y="3396886"/>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0D165F9C-C58D-47FA-82E9-EB9399B91F93}">
      <dsp:nvSpPr>
        <dsp:cNvPr id="0" name=""/>
        <dsp:cNvSpPr/>
      </dsp:nvSpPr>
      <dsp:spPr>
        <a:xfrm>
          <a:off x="0" y="3561867"/>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0312583-44D2-4B9B-92DB-40EC84CD5BAB}">
      <dsp:nvSpPr>
        <dsp:cNvPr id="0" name=""/>
        <dsp:cNvSpPr/>
      </dsp:nvSpPr>
      <dsp:spPr>
        <a:xfrm>
          <a:off x="0" y="3561867"/>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err="1">
              <a:solidFill>
                <a:srgbClr val="F48120"/>
              </a:solidFill>
              <a:latin typeface="SVN-Gilroy" panose="00000500000000000000" pitchFamily="50" charset="0"/>
            </a:rPr>
            <a:t>Mục</a:t>
          </a:r>
          <a:r>
            <a:rPr lang="en-US" sz="3200" b="1" kern="1200" dirty="0">
              <a:solidFill>
                <a:srgbClr val="F48120"/>
              </a:solidFill>
              <a:latin typeface="SVN-Gilroy" panose="00000500000000000000" pitchFamily="50" charset="0"/>
            </a:rPr>
            <a:t> </a:t>
          </a:r>
          <a:r>
            <a:rPr lang="en-US" sz="3200" b="1" kern="1200" dirty="0" err="1">
              <a:solidFill>
                <a:srgbClr val="F48120"/>
              </a:solidFill>
              <a:latin typeface="SVN-Gilroy" panose="00000500000000000000" pitchFamily="50" charset="0"/>
            </a:rPr>
            <a:t>tiêu</a:t>
          </a:r>
          <a:r>
            <a:rPr lang="en-US" sz="3200" b="1" kern="1200" dirty="0">
              <a:solidFill>
                <a:srgbClr val="F48120"/>
              </a:solidFill>
              <a:latin typeface="SVN-Gilroy" panose="00000500000000000000" pitchFamily="50" charset="0"/>
            </a:rPr>
            <a:t> 2026</a:t>
          </a:r>
        </a:p>
      </dsp:txBody>
      <dsp:txXfrm>
        <a:off x="0" y="3561867"/>
        <a:ext cx="1593243" cy="3556652"/>
      </dsp:txXfrm>
    </dsp:sp>
    <dsp:sp modelId="{9E1D8196-0D28-4775-86F5-83D56A2A7A47}">
      <dsp:nvSpPr>
        <dsp:cNvPr id="0" name=""/>
        <dsp:cNvSpPr/>
      </dsp:nvSpPr>
      <dsp:spPr>
        <a:xfrm>
          <a:off x="1712736" y="3723375"/>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err="1">
              <a:latin typeface="SVN-Gilroy" panose="00000500000000000000" pitchFamily="50" charset="0"/>
            </a:rPr>
            <a:t>Eximbank</a:t>
          </a:r>
          <a:r>
            <a:rPr lang="en-US" sz="2900" kern="1200" dirty="0">
              <a:latin typeface="SVN-Gilroy" panose="00000500000000000000" pitchFamily="50" charset="0"/>
            </a:rPr>
            <a:t> </a:t>
          </a:r>
          <a:r>
            <a:rPr lang="en-US" sz="2900" kern="1200" dirty="0" err="1">
              <a:latin typeface="SVN-Gilroy" panose="00000500000000000000" pitchFamily="50" charset="0"/>
            </a:rPr>
            <a:t>điều</a:t>
          </a:r>
          <a:r>
            <a:rPr lang="en-US" sz="2900" kern="1200" dirty="0">
              <a:latin typeface="SVN-Gilroy" panose="00000500000000000000" pitchFamily="50" charset="0"/>
            </a:rPr>
            <a:t> </a:t>
          </a:r>
          <a:r>
            <a:rPr lang="en-US" sz="2900" kern="1200" dirty="0" err="1">
              <a:latin typeface="SVN-Gilroy" panose="00000500000000000000" pitchFamily="50" charset="0"/>
            </a:rPr>
            <a:t>chỉnh</a:t>
          </a:r>
          <a:r>
            <a:rPr lang="en-US" sz="2900" kern="1200" dirty="0">
              <a:latin typeface="SVN-Gilroy" panose="00000500000000000000" pitchFamily="50" charset="0"/>
            </a:rPr>
            <a:t> </a:t>
          </a:r>
          <a:r>
            <a:rPr lang="en-US" sz="2900" kern="1200" dirty="0" err="1">
              <a:latin typeface="SVN-Gilroy" panose="00000500000000000000" pitchFamily="50" charset="0"/>
            </a:rPr>
            <a:t>mục</a:t>
          </a:r>
          <a:r>
            <a:rPr lang="en-US" sz="2900" kern="1200" dirty="0">
              <a:latin typeface="SVN-Gilroy" panose="00000500000000000000" pitchFamily="50" charset="0"/>
            </a:rPr>
            <a:t> </a:t>
          </a:r>
          <a:r>
            <a:rPr lang="en-US" sz="2900" kern="1200" dirty="0" err="1">
              <a:latin typeface="SVN-Gilroy" panose="00000500000000000000" pitchFamily="50" charset="0"/>
            </a:rPr>
            <a:t>tiêu</a:t>
          </a:r>
          <a:r>
            <a:rPr lang="en-US" sz="2900" kern="1200" dirty="0">
              <a:latin typeface="SVN-Gilroy" panose="00000500000000000000" pitchFamily="50" charset="0"/>
            </a:rPr>
            <a:t> LNTT 2026 </a:t>
          </a:r>
          <a:r>
            <a:rPr lang="en-US" sz="2900" kern="1200" dirty="0" err="1">
              <a:latin typeface="SVN-Gilroy" panose="00000500000000000000" pitchFamily="50" charset="0"/>
            </a:rPr>
            <a:t>xuống</a:t>
          </a:r>
          <a:r>
            <a:rPr lang="en-US" sz="2900" kern="1200" dirty="0">
              <a:latin typeface="SVN-Gilroy" panose="00000500000000000000" pitchFamily="50" charset="0"/>
            </a:rPr>
            <a:t> 1,515 </a:t>
          </a:r>
          <a:r>
            <a:rPr lang="en-US" sz="2900" kern="1200" dirty="0" err="1">
              <a:latin typeface="SVN-Gilroy" panose="00000500000000000000" pitchFamily="50" charset="0"/>
            </a:rPr>
            <a:t>tỷ</a:t>
          </a:r>
          <a:r>
            <a:rPr lang="en-US" sz="2900" kern="1200" dirty="0">
              <a:latin typeface="SVN-Gilroy" panose="00000500000000000000" pitchFamily="50" charset="0"/>
            </a:rPr>
            <a:t> (-60% so </a:t>
          </a:r>
          <a:r>
            <a:rPr lang="en-US" sz="2900" kern="1200" dirty="0" err="1">
              <a:latin typeface="SVN-Gilroy" panose="00000500000000000000" pitchFamily="50" charset="0"/>
            </a:rPr>
            <a:t>với</a:t>
          </a:r>
          <a:r>
            <a:rPr lang="en-US" sz="2900" kern="1200" dirty="0">
              <a:latin typeface="SVN-Gilroy" panose="00000500000000000000" pitchFamily="50" charset="0"/>
            </a:rPr>
            <a:t> </a:t>
          </a:r>
          <a:r>
            <a:rPr lang="en-US" sz="2900" kern="1200" dirty="0" err="1">
              <a:latin typeface="SVN-Gilroy" panose="00000500000000000000" pitchFamily="50" charset="0"/>
            </a:rPr>
            <a:t>kế</a:t>
          </a:r>
          <a:r>
            <a:rPr lang="en-US" sz="2900" kern="1200" dirty="0">
              <a:latin typeface="SVN-Gilroy" panose="00000500000000000000" pitchFamily="50" charset="0"/>
            </a:rPr>
            <a:t> </a:t>
          </a:r>
          <a:r>
            <a:rPr lang="en-US" sz="2900" kern="1200" dirty="0" err="1">
              <a:latin typeface="SVN-Gilroy" panose="00000500000000000000" pitchFamily="50" charset="0"/>
            </a:rPr>
            <a:t>hoạch</a:t>
          </a:r>
          <a:r>
            <a:rPr lang="en-US" sz="2900" kern="1200" dirty="0">
              <a:latin typeface="SVN-Gilroy" panose="00000500000000000000" pitchFamily="50" charset="0"/>
            </a:rPr>
            <a:t> </a:t>
          </a:r>
          <a:r>
            <a:rPr lang="en-US" sz="2900" kern="1200" dirty="0" err="1">
              <a:latin typeface="SVN-Gilroy" panose="00000500000000000000" pitchFamily="50" charset="0"/>
            </a:rPr>
            <a:t>trước</a:t>
          </a:r>
          <a:r>
            <a:rPr lang="en-US" sz="2900" kern="1200" dirty="0">
              <a:latin typeface="SVN-Gilroy" panose="00000500000000000000" pitchFamily="50" charset="0"/>
            </a:rPr>
            <a:t>) </a:t>
          </a:r>
        </a:p>
      </dsp:txBody>
      <dsp:txXfrm>
        <a:off x="1712736" y="3723375"/>
        <a:ext cx="6253481" cy="3230163"/>
      </dsp:txXfrm>
    </dsp:sp>
    <dsp:sp modelId="{FE381216-8BFF-4319-BE04-5AEAD29E7AC5}">
      <dsp:nvSpPr>
        <dsp:cNvPr id="0" name=""/>
        <dsp:cNvSpPr/>
      </dsp:nvSpPr>
      <dsp:spPr>
        <a:xfrm>
          <a:off x="1593243" y="6953538"/>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3E26720F-3CA2-4523-A55E-954B7C927416}">
      <dsp:nvSpPr>
        <dsp:cNvPr id="0" name=""/>
        <dsp:cNvSpPr/>
      </dsp:nvSpPr>
      <dsp:spPr>
        <a:xfrm>
          <a:off x="0" y="7118520"/>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BFFF2C3-AEAF-4446-8495-D72F8576438F}">
      <dsp:nvSpPr>
        <dsp:cNvPr id="0" name=""/>
        <dsp:cNvSpPr/>
      </dsp:nvSpPr>
      <dsp:spPr>
        <a:xfrm>
          <a:off x="0" y="7118520"/>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err="1">
              <a:solidFill>
                <a:srgbClr val="F48120"/>
              </a:solidFill>
              <a:latin typeface="SVN-Gilroy" panose="00000500000000000000" pitchFamily="50" charset="0"/>
            </a:rPr>
            <a:t>Dự</a:t>
          </a:r>
          <a:r>
            <a:rPr lang="en-US" sz="3200" b="1" kern="1200" dirty="0">
              <a:solidFill>
                <a:srgbClr val="F48120"/>
              </a:solidFill>
              <a:latin typeface="SVN-Gilroy" panose="00000500000000000000" pitchFamily="50" charset="0"/>
            </a:rPr>
            <a:t> </a:t>
          </a:r>
          <a:r>
            <a:rPr lang="en-US" sz="3200" b="1" kern="1200" dirty="0" err="1">
              <a:solidFill>
                <a:srgbClr val="F48120"/>
              </a:solidFill>
              <a:latin typeface="SVN-Gilroy" panose="00000500000000000000" pitchFamily="50" charset="0"/>
            </a:rPr>
            <a:t>phóng</a:t>
          </a:r>
          <a:r>
            <a:rPr lang="en-US" sz="3200" b="1" kern="1200" dirty="0">
              <a:solidFill>
                <a:srgbClr val="F48120"/>
              </a:solidFill>
              <a:latin typeface="SVN-Gilroy" panose="00000500000000000000" pitchFamily="50" charset="0"/>
            </a:rPr>
            <a:t> 2026</a:t>
          </a:r>
        </a:p>
      </dsp:txBody>
      <dsp:txXfrm>
        <a:off x="0" y="7118520"/>
        <a:ext cx="1593243" cy="3556652"/>
      </dsp:txXfrm>
    </dsp:sp>
    <dsp:sp modelId="{3421DB87-7763-4E9E-80AB-3A4244DA1062}">
      <dsp:nvSpPr>
        <dsp:cNvPr id="0" name=""/>
        <dsp:cNvSpPr/>
      </dsp:nvSpPr>
      <dsp:spPr>
        <a:xfrm>
          <a:off x="1712736" y="7280028"/>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pitchFamily="50" charset="0"/>
            </a:rPr>
            <a:t>LNTT: 2,403 </a:t>
          </a:r>
          <a:r>
            <a:rPr lang="en-US" sz="2900" b="0" kern="1200" dirty="0" err="1">
              <a:solidFill>
                <a:schemeClr val="tx1"/>
              </a:solidFill>
              <a:latin typeface="SVN-Gilroy" panose="00000500000000000000" pitchFamily="50" charset="0"/>
            </a:rPr>
            <a:t>tỷ</a:t>
          </a:r>
          <a:r>
            <a:rPr lang="en-US" sz="2900" b="0" kern="1200" dirty="0">
              <a:solidFill>
                <a:schemeClr val="tx1"/>
              </a:solidFill>
              <a:latin typeface="SVN-Gilroy" panose="00000500000000000000" pitchFamily="50" charset="0"/>
            </a:rPr>
            <a:t> (+59% CK) </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pitchFamily="50" charset="0"/>
            </a:rPr>
            <a:t>+ </a:t>
          </a:r>
          <a:r>
            <a:rPr lang="en-US" sz="2900" b="0" kern="1200" dirty="0" err="1">
              <a:solidFill>
                <a:schemeClr val="tx1"/>
              </a:solidFill>
              <a:latin typeface="SVN-Gilroy" panose="00000500000000000000" pitchFamily="50" charset="0"/>
            </a:rPr>
            <a:t>Tăng</a:t>
          </a:r>
          <a:r>
            <a:rPr lang="en-US" sz="2900" b="0" kern="1200" dirty="0">
              <a:solidFill>
                <a:schemeClr val="tx1"/>
              </a:solidFill>
              <a:latin typeface="SVN-Gilroy" panose="00000500000000000000" pitchFamily="50" charset="0"/>
            </a:rPr>
            <a:t> </a:t>
          </a:r>
          <a:r>
            <a:rPr lang="en-US" sz="2900" b="0" kern="1200" dirty="0" err="1">
              <a:solidFill>
                <a:schemeClr val="tx1"/>
              </a:solidFill>
              <a:latin typeface="SVN-Gilroy" panose="00000500000000000000" pitchFamily="50" charset="0"/>
            </a:rPr>
            <a:t>trưởng</a:t>
          </a:r>
          <a:r>
            <a:rPr lang="en-US" sz="2900" b="0" kern="1200" dirty="0">
              <a:solidFill>
                <a:schemeClr val="tx1"/>
              </a:solidFill>
              <a:latin typeface="SVN-Gilroy" panose="00000500000000000000" pitchFamily="50" charset="0"/>
            </a:rPr>
            <a:t> </a:t>
          </a:r>
          <a:r>
            <a:rPr lang="en-US" sz="2900" b="0" kern="1200" dirty="0" err="1">
              <a:solidFill>
                <a:schemeClr val="tx1"/>
              </a:solidFill>
              <a:latin typeface="SVN-Gilroy" panose="00000500000000000000" pitchFamily="50" charset="0"/>
            </a:rPr>
            <a:t>cho</a:t>
          </a:r>
          <a:r>
            <a:rPr lang="en-US" sz="2900" b="0" kern="1200" dirty="0">
              <a:solidFill>
                <a:schemeClr val="tx1"/>
              </a:solidFill>
              <a:latin typeface="SVN-Gilroy" panose="00000500000000000000" pitchFamily="50" charset="0"/>
            </a:rPr>
            <a:t> </a:t>
          </a:r>
          <a:r>
            <a:rPr lang="en-US" sz="2900" b="0" kern="1200" dirty="0" err="1">
              <a:solidFill>
                <a:schemeClr val="tx1"/>
              </a:solidFill>
              <a:latin typeface="SVN-Gilroy" panose="00000500000000000000" pitchFamily="50" charset="0"/>
            </a:rPr>
            <a:t>vay</a:t>
          </a:r>
          <a:r>
            <a:rPr lang="en-US" sz="2900" b="0" kern="1200" dirty="0">
              <a:solidFill>
                <a:schemeClr val="tx1"/>
              </a:solidFill>
              <a:latin typeface="SVN-Gilroy" panose="00000500000000000000" pitchFamily="50" charset="0"/>
            </a:rPr>
            <a:t> 14.5% CK</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pitchFamily="50" charset="0"/>
            </a:rPr>
            <a:t>+ Thu nhập </a:t>
          </a:r>
          <a:r>
            <a:rPr lang="en-US" sz="2900" b="0" kern="1200" dirty="0" err="1">
              <a:solidFill>
                <a:schemeClr val="tx1"/>
              </a:solidFill>
              <a:latin typeface="SVN-Gilroy" panose="00000500000000000000" pitchFamily="50" charset="0"/>
            </a:rPr>
            <a:t>phí</a:t>
          </a:r>
          <a:r>
            <a:rPr lang="en-US" sz="2900" b="0" kern="1200" dirty="0">
              <a:solidFill>
                <a:schemeClr val="tx1"/>
              </a:solidFill>
              <a:latin typeface="SVN-Gilroy" panose="00000500000000000000" pitchFamily="50" charset="0"/>
            </a:rPr>
            <a:t> </a:t>
          </a:r>
          <a:r>
            <a:rPr lang="en-US" sz="2900" b="0" kern="1200" dirty="0" err="1">
              <a:solidFill>
                <a:schemeClr val="tx1"/>
              </a:solidFill>
              <a:latin typeface="SVN-Gilroy" panose="00000500000000000000" pitchFamily="50" charset="0"/>
            </a:rPr>
            <a:t>cải</a:t>
          </a:r>
          <a:r>
            <a:rPr lang="en-US" sz="2900" b="0" kern="1200" dirty="0">
              <a:solidFill>
                <a:schemeClr val="tx1"/>
              </a:solidFill>
              <a:latin typeface="SVN-Gilroy" panose="00000500000000000000" pitchFamily="50" charset="0"/>
            </a:rPr>
            <a:t> </a:t>
          </a:r>
          <a:r>
            <a:rPr lang="en-US" sz="2900" b="0" kern="1200" dirty="0" err="1">
              <a:solidFill>
                <a:schemeClr val="tx1"/>
              </a:solidFill>
              <a:latin typeface="SVN-Gilroy" panose="00000500000000000000" pitchFamily="50" charset="0"/>
            </a:rPr>
            <a:t>thiện</a:t>
          </a:r>
          <a:r>
            <a:rPr lang="en-US" sz="2900" b="0" kern="1200" dirty="0">
              <a:solidFill>
                <a:schemeClr val="tx1"/>
              </a:solidFill>
              <a:latin typeface="SVN-Gilroy" panose="00000500000000000000" pitchFamily="50" charset="0"/>
            </a:rPr>
            <a:t> 163% CK</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pitchFamily="50" charset="0"/>
            </a:rPr>
            <a:t>+ CIR </a:t>
          </a:r>
          <a:r>
            <a:rPr lang="en-US" sz="2900" b="0" kern="1200" dirty="0" err="1">
              <a:solidFill>
                <a:schemeClr val="tx1"/>
              </a:solidFill>
              <a:latin typeface="SVN-Gilroy" panose="00000500000000000000" pitchFamily="50" charset="0"/>
            </a:rPr>
            <a:t>giảm</a:t>
          </a:r>
          <a:r>
            <a:rPr lang="en-US" sz="2900" b="0" kern="1200" dirty="0">
              <a:solidFill>
                <a:schemeClr val="tx1"/>
              </a:solidFill>
              <a:latin typeface="SVN-Gilroy" panose="00000500000000000000" pitchFamily="50" charset="0"/>
            </a:rPr>
            <a:t> </a:t>
          </a:r>
          <a:r>
            <a:rPr lang="en-US" sz="2900" b="0" kern="1200" dirty="0" err="1">
              <a:solidFill>
                <a:schemeClr val="tx1"/>
              </a:solidFill>
              <a:latin typeface="SVN-Gilroy" panose="00000500000000000000" pitchFamily="50" charset="0"/>
            </a:rPr>
            <a:t>về</a:t>
          </a:r>
          <a:r>
            <a:rPr lang="en-US" sz="2900" b="0" kern="1200" dirty="0">
              <a:solidFill>
                <a:schemeClr val="tx1"/>
              </a:solidFill>
              <a:latin typeface="SVN-Gilroy" panose="00000500000000000000" pitchFamily="50" charset="0"/>
            </a:rPr>
            <a:t> </a:t>
          </a:r>
          <a:r>
            <a:rPr lang="en-US" sz="2900" b="0" kern="1200" dirty="0" err="1">
              <a:solidFill>
                <a:schemeClr val="tx1"/>
              </a:solidFill>
              <a:latin typeface="SVN-Gilroy" panose="00000500000000000000" pitchFamily="50" charset="0"/>
            </a:rPr>
            <a:t>mức</a:t>
          </a:r>
          <a:r>
            <a:rPr lang="en-US" sz="2900" b="0" kern="1200" dirty="0">
              <a:solidFill>
                <a:schemeClr val="tx1"/>
              </a:solidFill>
              <a:latin typeface="SVN-Gilroy" panose="00000500000000000000" pitchFamily="50" charset="0"/>
            </a:rPr>
            <a:t> 49%, -9%p CK</a:t>
          </a:r>
        </a:p>
      </dsp:txBody>
      <dsp:txXfrm>
        <a:off x="1712736" y="7280028"/>
        <a:ext cx="6253481" cy="3230163"/>
      </dsp:txXfrm>
    </dsp:sp>
    <dsp:sp modelId="{8A374915-E3F2-4D55-80CD-735D6CFC31F4}">
      <dsp:nvSpPr>
        <dsp:cNvPr id="0" name=""/>
        <dsp:cNvSpPr/>
      </dsp:nvSpPr>
      <dsp:spPr>
        <a:xfrm>
          <a:off x="1593243" y="10510191"/>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761CF3-D2B1-41E7-B7AD-014CE5A9FC8F}" type="datetimeFigureOut">
              <a:rPr lang="en-US" smtClean="0"/>
              <a:t>6/25/2026</a:t>
            </a:fld>
            <a:endParaRPr lang="en-US"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A3BF73-1B2E-4727-90FE-C4A7E363EF2B}" type="slidenum">
              <a:rPr lang="en-US" smtClean="0"/>
              <a:t>‹#›</a:t>
            </a:fld>
            <a:endParaRPr lang="en-US" dirty="0"/>
          </a:p>
        </p:txBody>
      </p:sp>
    </p:spTree>
    <p:extLst>
      <p:ext uri="{BB962C8B-B14F-4D97-AF65-F5344CB8AC3E}">
        <p14:creationId xmlns:p14="http://schemas.microsoft.com/office/powerpoint/2010/main" val="4245830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2" name="Do not remove" hidden="1">
            <a:extLst>
              <a:ext uri="{FF2B5EF4-FFF2-40B4-BE49-F238E27FC236}">
                <a16:creationId xmlns:a16="http://schemas.microsoft.com/office/drawing/2014/main" id="{AAFD49E6-C5DC-4F15-6507-E24EE866686E}"/>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endParaRPr lang="en-US" dirty="0"/>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916295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F592DA13-A42C-57EE-91EC-244E159F5EA2}"/>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2209676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endParaRPr lang="en-US" dirty="0"/>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4256298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405823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2199026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251174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2586127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42757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dirty="0"/>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1705083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1612048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53171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6/25/2026</a:t>
            </a:fld>
            <a:endParaRPr lang="en-US" dirty="0"/>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dirty="0"/>
          </a:p>
        </p:txBody>
      </p:sp>
    </p:spTree>
    <p:extLst>
      <p:ext uri="{BB962C8B-B14F-4D97-AF65-F5344CB8AC3E}">
        <p14:creationId xmlns:p14="http://schemas.microsoft.com/office/powerpoint/2010/main" val="36762698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080A-1BF5-AFC3-122C-56F736CB63A5}"/>
            </a:ext>
          </a:extLst>
        </p:cNvPr>
        <p:cNvGrpSpPr/>
        <p:nvPr/>
      </p:nvGrpSpPr>
      <p:grpSpPr>
        <a:xfrm>
          <a:off x="0" y="0"/>
          <a:ext cx="0" cy="0"/>
          <a:chOff x="0" y="0"/>
          <a:chExt cx="0" cy="0"/>
        </a:xfrm>
      </p:grpSpPr>
      <p:pic>
        <p:nvPicPr>
          <p:cNvPr id="8" name="Picture 7" descr="A white rectangular object with a pink border&#10;&#10;Description automatically generated">
            <a:extLst>
              <a:ext uri="{FF2B5EF4-FFF2-40B4-BE49-F238E27FC236}">
                <a16:creationId xmlns:a16="http://schemas.microsoft.com/office/drawing/2014/main" id="{77D9D435-ED2C-E0FB-DAAF-33E9371BEAA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6" name="TextBox 5">
            <a:extLst>
              <a:ext uri="{FF2B5EF4-FFF2-40B4-BE49-F238E27FC236}">
                <a16:creationId xmlns:a16="http://schemas.microsoft.com/office/drawing/2014/main" id="{A914B5F8-E1EB-70B1-B389-060E2921B1F7}"/>
              </a:ext>
            </a:extLst>
          </p:cNvPr>
          <p:cNvSpPr txBox="1"/>
          <p:nvPr/>
        </p:nvSpPr>
        <p:spPr>
          <a:xfrm>
            <a:off x="559467" y="399526"/>
            <a:ext cx="6501244" cy="738664"/>
          </a:xfrm>
          <a:prstGeom prst="rect">
            <a:avLst/>
          </a:prstGeom>
          <a:noFill/>
        </p:spPr>
        <p:txBody>
          <a:bodyPr wrap="square" rtlCol="0">
            <a:spAutoFit/>
          </a:bodyPr>
          <a:lstStyle/>
          <a:p>
            <a:r>
              <a:rPr lang="en-US" sz="4200" dirty="0">
                <a:solidFill>
                  <a:srgbClr val="F38120"/>
                </a:solidFill>
                <a:latin typeface="SVN-Gilroy XBold" panose="00000900000000000000" pitchFamily="50" charset="0"/>
              </a:rPr>
              <a:t>Bank</a:t>
            </a:r>
          </a:p>
        </p:txBody>
      </p:sp>
      <p:sp>
        <p:nvSpPr>
          <p:cNvPr id="7" name="TextBox 6">
            <a:extLst>
              <a:ext uri="{FF2B5EF4-FFF2-40B4-BE49-F238E27FC236}">
                <a16:creationId xmlns:a16="http://schemas.microsoft.com/office/drawing/2014/main" id="{6A96A606-D1B5-EE58-A08A-3B9212285C6D}"/>
              </a:ext>
            </a:extLst>
          </p:cNvPr>
          <p:cNvSpPr txBox="1"/>
          <p:nvPr/>
        </p:nvSpPr>
        <p:spPr>
          <a:xfrm>
            <a:off x="559467" y="1016162"/>
            <a:ext cx="4584033" cy="646331"/>
          </a:xfrm>
          <a:prstGeom prst="rect">
            <a:avLst/>
          </a:prstGeom>
          <a:noFill/>
        </p:spPr>
        <p:txBody>
          <a:bodyPr wrap="square" rtlCol="0">
            <a:spAutoFit/>
          </a:bodyPr>
          <a:lstStyle/>
          <a:p>
            <a:r>
              <a:rPr lang="en-US" sz="3600">
                <a:solidFill>
                  <a:srgbClr val="01437C"/>
                </a:solidFill>
                <a:latin typeface="SVN-Gilroy SemiBold" panose="00000700000000000000" pitchFamily="50" charset="0"/>
              </a:rPr>
              <a:t>24.07.2026</a:t>
            </a:r>
            <a:endParaRPr lang="en-US" sz="3600" dirty="0">
              <a:solidFill>
                <a:srgbClr val="01437C"/>
              </a:solidFill>
              <a:latin typeface="SVN-Gilroy SemiBold" panose="00000700000000000000" pitchFamily="50" charset="0"/>
            </a:endParaRPr>
          </a:p>
        </p:txBody>
      </p:sp>
      <p:sp>
        <p:nvSpPr>
          <p:cNvPr id="2" name="TextBox 1">
            <a:extLst>
              <a:ext uri="{FF2B5EF4-FFF2-40B4-BE49-F238E27FC236}">
                <a16:creationId xmlns:a16="http://schemas.microsoft.com/office/drawing/2014/main" id="{D5708BFA-DD95-5F7F-DB97-C61B49917AE0}"/>
              </a:ext>
            </a:extLst>
          </p:cNvPr>
          <p:cNvSpPr txBox="1"/>
          <p:nvPr/>
        </p:nvSpPr>
        <p:spPr>
          <a:xfrm>
            <a:off x="1156713" y="3450088"/>
            <a:ext cx="7973568" cy="3785652"/>
          </a:xfrm>
          <a:prstGeom prst="rect">
            <a:avLst/>
          </a:prstGeom>
          <a:noFill/>
        </p:spPr>
        <p:txBody>
          <a:bodyPr wrap="square" rtlCol="0">
            <a:spAutoFit/>
          </a:bodyPr>
          <a:lstStyle/>
          <a:p>
            <a:pPr algn="ctr"/>
            <a:r>
              <a:rPr lang="en-US" sz="6000" dirty="0">
                <a:solidFill>
                  <a:srgbClr val="F38120"/>
                </a:solidFill>
                <a:latin typeface="SVN-Gilroy XBold" panose="00000900000000000000" pitchFamily="50" charset="0"/>
              </a:rPr>
              <a:t>Vietnam Export Import Commercial Joint Stock Bank (HOSE: EIB)</a:t>
            </a:r>
          </a:p>
        </p:txBody>
      </p:sp>
      <p:sp>
        <p:nvSpPr>
          <p:cNvPr id="4" name="TextBox 3">
            <a:extLst>
              <a:ext uri="{FF2B5EF4-FFF2-40B4-BE49-F238E27FC236}">
                <a16:creationId xmlns:a16="http://schemas.microsoft.com/office/drawing/2014/main" id="{2E1692FE-8D2A-CF6A-866B-0B0422273BDD}"/>
              </a:ext>
            </a:extLst>
          </p:cNvPr>
          <p:cNvSpPr txBox="1"/>
          <p:nvPr/>
        </p:nvSpPr>
        <p:spPr>
          <a:xfrm>
            <a:off x="653000" y="7457433"/>
            <a:ext cx="8980991" cy="661720"/>
          </a:xfrm>
          <a:prstGeom prst="rect">
            <a:avLst/>
          </a:prstGeom>
          <a:noFill/>
        </p:spPr>
        <p:txBody>
          <a:bodyPr wrap="square" rtlCol="0">
            <a:spAutoFit/>
          </a:bodyPr>
          <a:lstStyle/>
          <a:p>
            <a:pPr algn="ctr"/>
            <a:r>
              <a:rPr lang="en-US" sz="3700" b="1" dirty="0">
                <a:solidFill>
                  <a:srgbClr val="01437C"/>
                </a:solidFill>
                <a:latin typeface="SVN-Gilroy" panose="00000500000000000000" pitchFamily="50" charset="0"/>
                <a:ea typeface="Karla" pitchFamily="2" charset="0"/>
                <a:cs typeface="Poppins" panose="00000500000000000000" pitchFamily="2" charset="0"/>
              </a:rPr>
              <a:t>Slow start to the year</a:t>
            </a:r>
          </a:p>
        </p:txBody>
      </p:sp>
      <p:grpSp>
        <p:nvGrpSpPr>
          <p:cNvPr id="13" name="Group 12">
            <a:extLst>
              <a:ext uri="{FF2B5EF4-FFF2-40B4-BE49-F238E27FC236}">
                <a16:creationId xmlns:a16="http://schemas.microsoft.com/office/drawing/2014/main" id="{638356BC-700A-EB7E-38C5-8059B2064F78}"/>
              </a:ext>
            </a:extLst>
          </p:cNvPr>
          <p:cNvGrpSpPr/>
          <p:nvPr/>
        </p:nvGrpSpPr>
        <p:grpSpPr>
          <a:xfrm>
            <a:off x="3336461" y="8625441"/>
            <a:ext cx="4109367" cy="1451113"/>
            <a:chOff x="3336461" y="8784465"/>
            <a:chExt cx="4109367" cy="1451113"/>
          </a:xfrm>
        </p:grpSpPr>
        <p:sp>
          <p:nvSpPr>
            <p:cNvPr id="5" name="Rectangle: Rounded Corners 4">
              <a:extLst>
                <a:ext uri="{FF2B5EF4-FFF2-40B4-BE49-F238E27FC236}">
                  <a16:creationId xmlns:a16="http://schemas.microsoft.com/office/drawing/2014/main" id="{3E669CBE-92BA-A572-7180-B81BDB62D11B}"/>
                </a:ext>
              </a:extLst>
            </p:cNvPr>
            <p:cNvSpPr/>
            <p:nvPr/>
          </p:nvSpPr>
          <p:spPr>
            <a:xfrm>
              <a:off x="3336461" y="8784465"/>
              <a:ext cx="4109367" cy="993913"/>
            </a:xfrm>
            <a:prstGeom prst="round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sz="3700" dirty="0">
                  <a:latin typeface="SVN-Gilroy" panose="00000500000000000000" pitchFamily="50" charset="0"/>
                </a:rPr>
                <a:t>TRADING BUY</a:t>
              </a:r>
            </a:p>
          </p:txBody>
        </p:sp>
        <p:sp>
          <p:nvSpPr>
            <p:cNvPr id="9" name="Arrow: Up 8">
              <a:extLst>
                <a:ext uri="{FF2B5EF4-FFF2-40B4-BE49-F238E27FC236}">
                  <a16:creationId xmlns:a16="http://schemas.microsoft.com/office/drawing/2014/main" id="{D86E1F36-EC74-E9A6-0608-6AD7488EF5C5}"/>
                </a:ext>
              </a:extLst>
            </p:cNvPr>
            <p:cNvSpPr/>
            <p:nvPr/>
          </p:nvSpPr>
          <p:spPr>
            <a:xfrm rot="19258989">
              <a:off x="6493332" y="9321178"/>
              <a:ext cx="914400" cy="914400"/>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graphicFrame>
        <p:nvGraphicFramePr>
          <p:cNvPr id="12" name="Table 11">
            <a:extLst>
              <a:ext uri="{FF2B5EF4-FFF2-40B4-BE49-F238E27FC236}">
                <a16:creationId xmlns:a16="http://schemas.microsoft.com/office/drawing/2014/main" id="{3184D3A0-7F48-33BE-E1E4-8C878D3CB804}"/>
              </a:ext>
            </a:extLst>
          </p:cNvPr>
          <p:cNvGraphicFramePr>
            <a:graphicFrameLocks noGrp="1"/>
          </p:cNvGraphicFramePr>
          <p:nvPr>
            <p:extLst>
              <p:ext uri="{D42A27DB-BD31-4B8C-83A1-F6EECF244321}">
                <p14:modId xmlns:p14="http://schemas.microsoft.com/office/powerpoint/2010/main" val="2620623371"/>
              </p:ext>
            </p:extLst>
          </p:nvPr>
        </p:nvGraphicFramePr>
        <p:xfrm>
          <a:off x="2679752" y="10155689"/>
          <a:ext cx="4927489" cy="1847279"/>
        </p:xfrm>
        <a:graphic>
          <a:graphicData uri="http://schemas.openxmlformats.org/drawingml/2006/table">
            <a:tbl>
              <a:tblPr firstRow="1" bandRow="1">
                <a:tableStyleId>{2D5ABB26-0587-4C30-8999-92F81FD0307C}</a:tableStyleId>
              </a:tblPr>
              <a:tblGrid>
                <a:gridCol w="3273112">
                  <a:extLst>
                    <a:ext uri="{9D8B030D-6E8A-4147-A177-3AD203B41FA5}">
                      <a16:colId xmlns:a16="http://schemas.microsoft.com/office/drawing/2014/main" val="3602970718"/>
                    </a:ext>
                  </a:extLst>
                </a:gridCol>
                <a:gridCol w="1654377">
                  <a:extLst>
                    <a:ext uri="{9D8B030D-6E8A-4147-A177-3AD203B41FA5}">
                      <a16:colId xmlns:a16="http://schemas.microsoft.com/office/drawing/2014/main" val="3703199259"/>
                    </a:ext>
                  </a:extLst>
                </a:gridCol>
              </a:tblGrid>
              <a:tr h="785023">
                <a:tc>
                  <a:txBody>
                    <a:bodyPr/>
                    <a:lstStyle/>
                    <a:p>
                      <a:pPr marL="0" algn="l" defTabSz="1028700" rtl="0" eaLnBrk="1" latinLnBrk="0" hangingPunct="1">
                        <a:lnSpc>
                          <a:spcPct val="150000"/>
                        </a:lnSpc>
                        <a:spcBef>
                          <a:spcPts val="600"/>
                        </a:spcBef>
                        <a:spcAft>
                          <a:spcPts val="600"/>
                        </a:spcAft>
                      </a:pPr>
                      <a:r>
                        <a:rPr lang="en-US" sz="3700" b="0" kern="1200" dirty="0">
                          <a:solidFill>
                            <a:srgbClr val="00427A"/>
                          </a:solidFill>
                          <a:latin typeface="SVN-Gilroy" panose="00000500000000000000" pitchFamily="50" charset="0"/>
                          <a:ea typeface="+mn-ea"/>
                          <a:cs typeface="Poppins" panose="00000500000000000000" pitchFamily="2" charset="0"/>
                        </a:rPr>
                        <a:t>Target price</a:t>
                      </a:r>
                    </a:p>
                  </a:txBody>
                  <a:tcPr marT="91440" marB="91440" anchor="ctr">
                    <a:noFill/>
                  </a:tcPr>
                </a:tc>
                <a:tc>
                  <a:txBody>
                    <a:bodyPr/>
                    <a:lstStyle/>
                    <a:p>
                      <a:pPr marL="0" algn="ctr" defTabSz="1028700" rtl="0" eaLnBrk="1" latinLnBrk="0" hangingPunct="1">
                        <a:lnSpc>
                          <a:spcPct val="150000"/>
                        </a:lnSpc>
                        <a:spcBef>
                          <a:spcPts val="600"/>
                        </a:spcBef>
                        <a:spcAft>
                          <a:spcPts val="600"/>
                        </a:spcAft>
                      </a:pPr>
                      <a:endParaRPr lang="en-US" sz="37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extLst>
                  <a:ext uri="{0D108BD9-81ED-4DB2-BD59-A6C34878D82A}">
                    <a16:rowId xmlns:a16="http://schemas.microsoft.com/office/drawing/2014/main" val="555997262"/>
                  </a:ext>
                </a:extLst>
              </a:tr>
              <a:tr h="783782">
                <a:tc>
                  <a:txBody>
                    <a:bodyPr/>
                    <a:lstStyle/>
                    <a:p>
                      <a:pPr marL="0" algn="l" defTabSz="1028700" rtl="0" eaLnBrk="1" latinLnBrk="0" hangingPunct="1">
                        <a:lnSpc>
                          <a:spcPct val="150000"/>
                        </a:lnSpc>
                        <a:spcBef>
                          <a:spcPts val="600"/>
                        </a:spcBef>
                        <a:spcAft>
                          <a:spcPts val="600"/>
                        </a:spcAft>
                      </a:pPr>
                      <a:r>
                        <a:rPr lang="en-US" sz="3700" b="1" kern="1200" dirty="0">
                          <a:solidFill>
                            <a:srgbClr val="00427A"/>
                          </a:solidFill>
                          <a:latin typeface="SVN-Gilroy" panose="00000500000000000000" pitchFamily="50" charset="0"/>
                        </a:rPr>
                        <a:t>23,400</a:t>
                      </a:r>
                    </a:p>
                  </a:txBody>
                  <a:tcPr marT="91440" marB="91440" anchor="ctr">
                    <a:noFill/>
                  </a:tcPr>
                </a:tc>
                <a:tc>
                  <a:txBody>
                    <a:bodyPr/>
                    <a:lstStyle/>
                    <a:p>
                      <a:pPr marL="0" algn="ctr" defTabSz="1028700" rtl="0" eaLnBrk="1" latinLnBrk="0" hangingPunct="1">
                        <a:lnSpc>
                          <a:spcPct val="150000"/>
                        </a:lnSpc>
                        <a:spcBef>
                          <a:spcPts val="600"/>
                        </a:spcBef>
                        <a:spcAft>
                          <a:spcPts val="600"/>
                        </a:spcAft>
                      </a:pPr>
                      <a:r>
                        <a:rPr lang="en-US" sz="3700" b="1" kern="1200" dirty="0">
                          <a:solidFill>
                            <a:srgbClr val="92D050"/>
                          </a:solidFill>
                          <a:latin typeface="SVN-Gilroy" panose="00000500000000000000" pitchFamily="50" charset="0"/>
                        </a:rPr>
                        <a:t>+13%</a:t>
                      </a:r>
                      <a:endParaRPr lang="en-US" sz="3700" b="1" kern="1200" dirty="0">
                        <a:solidFill>
                          <a:srgbClr val="92D050"/>
                        </a:solidFill>
                        <a:latin typeface="SVN-Gilroy" panose="00000500000000000000" pitchFamily="50" charset="0"/>
                        <a:ea typeface="+mn-ea"/>
                        <a:cs typeface="Poppins" panose="00000500000000000000" pitchFamily="2" charset="0"/>
                      </a:endParaRPr>
                    </a:p>
                  </a:txBody>
                  <a:tcPr marT="91440" marB="91440" anchor="ctr">
                    <a:noFill/>
                  </a:tcPr>
                </a:tc>
                <a:extLst>
                  <a:ext uri="{0D108BD9-81ED-4DB2-BD59-A6C34878D82A}">
                    <a16:rowId xmlns:a16="http://schemas.microsoft.com/office/drawing/2014/main" val="2189032345"/>
                  </a:ext>
                </a:extLst>
              </a:tr>
            </a:tbl>
          </a:graphicData>
        </a:graphic>
      </p:graphicFrame>
    </p:spTree>
    <p:extLst>
      <p:ext uri="{BB962C8B-B14F-4D97-AF65-F5344CB8AC3E}">
        <p14:creationId xmlns:p14="http://schemas.microsoft.com/office/powerpoint/2010/main" val="722161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97D09-3026-2DE1-CD02-82EDFE1FB9CB}"/>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5B1F78C-46BE-0FE1-FEA3-BE72525FC1F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35EF953F-CE10-643C-FB02-B284A77E180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VN-Gilroy" panose="00000500000000000000"/>
            </a:endParaRPr>
          </a:p>
        </p:txBody>
      </p:sp>
      <p:sp>
        <p:nvSpPr>
          <p:cNvPr id="9" name="TextBox 8">
            <a:extLst>
              <a:ext uri="{FF2B5EF4-FFF2-40B4-BE49-F238E27FC236}">
                <a16:creationId xmlns:a16="http://schemas.microsoft.com/office/drawing/2014/main" id="{537BAE47-B734-117C-D56E-92361811686A}"/>
              </a:ext>
            </a:extLst>
          </p:cNvPr>
          <p:cNvSpPr txBox="1"/>
          <p:nvPr/>
        </p:nvSpPr>
        <p:spPr>
          <a:xfrm>
            <a:off x="586539" y="928966"/>
            <a:ext cx="9113922"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EIB – Turning the tide gradually</a:t>
            </a:r>
          </a:p>
        </p:txBody>
      </p:sp>
      <p:graphicFrame>
        <p:nvGraphicFramePr>
          <p:cNvPr id="7" name="Diagram 6">
            <a:extLst>
              <a:ext uri="{FF2B5EF4-FFF2-40B4-BE49-F238E27FC236}">
                <a16:creationId xmlns:a16="http://schemas.microsoft.com/office/drawing/2014/main" id="{08CB3599-E917-48DA-589A-D171A6355B7A}"/>
              </a:ext>
            </a:extLst>
          </p:cNvPr>
          <p:cNvGraphicFramePr/>
          <p:nvPr>
            <p:extLst>
              <p:ext uri="{D42A27DB-BD31-4B8C-83A1-F6EECF244321}">
                <p14:modId xmlns:p14="http://schemas.microsoft.com/office/powerpoint/2010/main" val="487844773"/>
              </p:ext>
            </p:extLst>
          </p:nvPr>
        </p:nvGraphicFramePr>
        <p:xfrm>
          <a:off x="1157904" y="2106646"/>
          <a:ext cx="7966218" cy="106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9022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E14D9-BEE8-CC7C-1851-6C232C138BF7}"/>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FF40A54B-6E59-24DE-02F9-38073E6865BB}"/>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B72C17AE-9D31-4C6C-17FA-ED3A3E7116E3}"/>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8CAB150F-AF6B-9800-7D0B-070E0208DA3B}"/>
              </a:ext>
            </a:extLst>
          </p:cNvPr>
          <p:cNvSpPr txBox="1"/>
          <p:nvPr/>
        </p:nvSpPr>
        <p:spPr>
          <a:xfrm>
            <a:off x="1156713" y="2331311"/>
            <a:ext cx="7973568"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We revised our estimates downward due to weak 1H26 financials</a:t>
            </a:r>
          </a:p>
        </p:txBody>
      </p:sp>
      <p:sp>
        <p:nvSpPr>
          <p:cNvPr id="9" name="TextBox 8">
            <a:extLst>
              <a:ext uri="{FF2B5EF4-FFF2-40B4-BE49-F238E27FC236}">
                <a16:creationId xmlns:a16="http://schemas.microsoft.com/office/drawing/2014/main" id="{21F70AF1-0D3E-6E6B-F5A2-64B9FBAF6F42}"/>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EIB – I/S</a:t>
            </a:r>
            <a:endParaRPr lang="vi-VN" sz="4000"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1D2D6ECB-7379-85C1-5FF8-6A7A96C96E30}"/>
              </a:ext>
            </a:extLst>
          </p:cNvPr>
          <p:cNvSpPr txBox="1"/>
          <p:nvPr/>
        </p:nvSpPr>
        <p:spPr>
          <a:xfrm>
            <a:off x="1175001" y="12048323"/>
            <a:ext cx="4739951" cy="276999"/>
          </a:xfrm>
          <a:prstGeom prst="rect">
            <a:avLst/>
          </a:prstGeom>
          <a:noFill/>
        </p:spPr>
        <p:txBody>
          <a:bodyPr wrap="square" rtlCol="0">
            <a:spAutoFit/>
          </a:bodyPr>
          <a:lstStyle/>
          <a:p>
            <a:r>
              <a:rPr lang="en-US" sz="1200" dirty="0">
                <a:latin typeface="SVN-Gilroy" panose="00000500000000000000"/>
              </a:rPr>
              <a:t>Source: EIB, Mirae Asset Vietnam</a:t>
            </a:r>
          </a:p>
        </p:txBody>
      </p:sp>
      <p:graphicFrame>
        <p:nvGraphicFramePr>
          <p:cNvPr id="5" name="Chart 4">
            <a:extLst>
              <a:ext uri="{FF2B5EF4-FFF2-40B4-BE49-F238E27FC236}">
                <a16:creationId xmlns:a16="http://schemas.microsoft.com/office/drawing/2014/main" id="{3E4343AE-A408-4F04-B0B5-3A710B35CC24}"/>
              </a:ext>
            </a:extLst>
          </p:cNvPr>
          <p:cNvGraphicFramePr>
            <a:graphicFrameLocks/>
          </p:cNvGraphicFramePr>
          <p:nvPr>
            <p:extLst>
              <p:ext uri="{D42A27DB-BD31-4B8C-83A1-F6EECF244321}">
                <p14:modId xmlns:p14="http://schemas.microsoft.com/office/powerpoint/2010/main" val="1219749000"/>
              </p:ext>
            </p:extLst>
          </p:nvPr>
        </p:nvGraphicFramePr>
        <p:xfrm>
          <a:off x="1355910" y="3528199"/>
          <a:ext cx="7575180" cy="82964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35250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FFD89-BC2F-56F2-12F0-37E94F0B6EF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F274DE8-BC76-3222-25E3-5A95C32DDD6B}"/>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A27459D5-F016-3542-C5DE-CCE354602C02}"/>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71DD03C7-9986-F757-1C0C-A7A273E120EB}"/>
              </a:ext>
            </a:extLst>
          </p:cNvPr>
          <p:cNvSpPr txBox="1"/>
          <p:nvPr/>
        </p:nvSpPr>
        <p:spPr>
          <a:xfrm>
            <a:off x="1156713" y="2331311"/>
            <a:ext cx="7973568" cy="523220"/>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NPL back below 3%; on track to 2.5% FY26</a:t>
            </a:r>
          </a:p>
        </p:txBody>
      </p:sp>
      <p:sp>
        <p:nvSpPr>
          <p:cNvPr id="9" name="TextBox 8">
            <a:extLst>
              <a:ext uri="{FF2B5EF4-FFF2-40B4-BE49-F238E27FC236}">
                <a16:creationId xmlns:a16="http://schemas.microsoft.com/office/drawing/2014/main" id="{2D737A82-37BD-12C5-746B-007BBE708BC5}"/>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EIB – Asset quality</a:t>
            </a:r>
            <a:endParaRPr lang="vi-VN" sz="4000" dirty="0">
              <a:solidFill>
                <a:schemeClr val="bg1"/>
              </a:solidFill>
              <a:latin typeface="SVN-Gilroy XBold" panose="00000900000000000000" pitchFamily="50" charset="0"/>
            </a:endParaRPr>
          </a:p>
        </p:txBody>
      </p:sp>
      <p:sp>
        <p:nvSpPr>
          <p:cNvPr id="5" name="TextBox 4">
            <a:extLst>
              <a:ext uri="{FF2B5EF4-FFF2-40B4-BE49-F238E27FC236}">
                <a16:creationId xmlns:a16="http://schemas.microsoft.com/office/drawing/2014/main" id="{A5BC0206-1D53-3B55-A31F-1C692BD64E29}"/>
              </a:ext>
            </a:extLst>
          </p:cNvPr>
          <p:cNvSpPr txBox="1"/>
          <p:nvPr/>
        </p:nvSpPr>
        <p:spPr>
          <a:xfrm>
            <a:off x="1175001" y="12048323"/>
            <a:ext cx="4739951" cy="276999"/>
          </a:xfrm>
          <a:prstGeom prst="rect">
            <a:avLst/>
          </a:prstGeom>
          <a:noFill/>
        </p:spPr>
        <p:txBody>
          <a:bodyPr wrap="square" rtlCol="0">
            <a:spAutoFit/>
          </a:bodyPr>
          <a:lstStyle/>
          <a:p>
            <a:r>
              <a:rPr lang="en-US" sz="1200" dirty="0">
                <a:latin typeface="SVN-Gilroy" panose="00000500000000000000"/>
              </a:rPr>
              <a:t>Source: EIB, Mirae Asset Vietnam</a:t>
            </a:r>
          </a:p>
        </p:txBody>
      </p:sp>
      <p:graphicFrame>
        <p:nvGraphicFramePr>
          <p:cNvPr id="10" name="Chart 9">
            <a:extLst>
              <a:ext uri="{FF2B5EF4-FFF2-40B4-BE49-F238E27FC236}">
                <a16:creationId xmlns:a16="http://schemas.microsoft.com/office/drawing/2014/main" id="{E0D90A13-4FDA-5009-BD87-4129B2960552}"/>
              </a:ext>
            </a:extLst>
          </p:cNvPr>
          <p:cNvGraphicFramePr>
            <a:graphicFrameLocks/>
          </p:cNvGraphicFramePr>
          <p:nvPr>
            <p:extLst>
              <p:ext uri="{D42A27DB-BD31-4B8C-83A1-F6EECF244321}">
                <p14:modId xmlns:p14="http://schemas.microsoft.com/office/powerpoint/2010/main" val="2660197352"/>
              </p:ext>
            </p:extLst>
          </p:nvPr>
        </p:nvGraphicFramePr>
        <p:xfrm>
          <a:off x="1246016" y="3339344"/>
          <a:ext cx="7794967" cy="847634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90773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2255223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080A-1BF5-AFC3-122C-56F736CB63A5}"/>
            </a:ext>
          </a:extLst>
        </p:cNvPr>
        <p:cNvGrpSpPr/>
        <p:nvPr/>
      </p:nvGrpSpPr>
      <p:grpSpPr>
        <a:xfrm>
          <a:off x="0" y="0"/>
          <a:ext cx="0" cy="0"/>
          <a:chOff x="0" y="0"/>
          <a:chExt cx="0" cy="0"/>
        </a:xfrm>
      </p:grpSpPr>
      <p:pic>
        <p:nvPicPr>
          <p:cNvPr id="8" name="Picture 7" descr="A white rectangular object with a pink border&#10;&#10;Description automatically generated">
            <a:extLst>
              <a:ext uri="{FF2B5EF4-FFF2-40B4-BE49-F238E27FC236}">
                <a16:creationId xmlns:a16="http://schemas.microsoft.com/office/drawing/2014/main" id="{77D9D435-ED2C-E0FB-DAAF-33E9371BEAA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6" name="TextBox 5">
            <a:extLst>
              <a:ext uri="{FF2B5EF4-FFF2-40B4-BE49-F238E27FC236}">
                <a16:creationId xmlns:a16="http://schemas.microsoft.com/office/drawing/2014/main" id="{A914B5F8-E1EB-70B1-B389-060E2921B1F7}"/>
              </a:ext>
            </a:extLst>
          </p:cNvPr>
          <p:cNvSpPr txBox="1"/>
          <p:nvPr/>
        </p:nvSpPr>
        <p:spPr>
          <a:xfrm>
            <a:off x="559467" y="399526"/>
            <a:ext cx="6501244" cy="738664"/>
          </a:xfrm>
          <a:prstGeom prst="rect">
            <a:avLst/>
          </a:prstGeom>
          <a:noFill/>
        </p:spPr>
        <p:txBody>
          <a:bodyPr wrap="square" rtlCol="0">
            <a:spAutoFit/>
          </a:bodyPr>
          <a:lstStyle/>
          <a:p>
            <a:r>
              <a:rPr lang="en-US" sz="4200" dirty="0">
                <a:solidFill>
                  <a:srgbClr val="F38120"/>
                </a:solidFill>
                <a:latin typeface="SVN-Gilroy XBold" panose="00000900000000000000" pitchFamily="50" charset="0"/>
              </a:rPr>
              <a:t>Ngân </a:t>
            </a:r>
            <a:r>
              <a:rPr lang="en-US" sz="4200" dirty="0" err="1">
                <a:solidFill>
                  <a:srgbClr val="F38120"/>
                </a:solidFill>
                <a:latin typeface="SVN-Gilroy XBold" panose="00000900000000000000" pitchFamily="50" charset="0"/>
              </a:rPr>
              <a:t>hàng</a:t>
            </a:r>
            <a:r>
              <a:rPr lang="en-US" sz="4200" dirty="0">
                <a:solidFill>
                  <a:srgbClr val="F38120"/>
                </a:solidFill>
                <a:latin typeface="SVN-Gilroy XBold" panose="00000900000000000000" pitchFamily="50" charset="0"/>
              </a:rPr>
              <a:t>	</a:t>
            </a:r>
          </a:p>
        </p:txBody>
      </p:sp>
      <p:sp>
        <p:nvSpPr>
          <p:cNvPr id="7" name="TextBox 6">
            <a:extLst>
              <a:ext uri="{FF2B5EF4-FFF2-40B4-BE49-F238E27FC236}">
                <a16:creationId xmlns:a16="http://schemas.microsoft.com/office/drawing/2014/main" id="{6A96A606-D1B5-EE58-A08A-3B9212285C6D}"/>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24.07.2026</a:t>
            </a:r>
          </a:p>
        </p:txBody>
      </p:sp>
      <p:sp>
        <p:nvSpPr>
          <p:cNvPr id="2" name="TextBox 1">
            <a:extLst>
              <a:ext uri="{FF2B5EF4-FFF2-40B4-BE49-F238E27FC236}">
                <a16:creationId xmlns:a16="http://schemas.microsoft.com/office/drawing/2014/main" id="{D5708BFA-DD95-5F7F-DB97-C61B49917AE0}"/>
              </a:ext>
            </a:extLst>
          </p:cNvPr>
          <p:cNvSpPr txBox="1"/>
          <p:nvPr/>
        </p:nvSpPr>
        <p:spPr>
          <a:xfrm>
            <a:off x="1156710" y="2877271"/>
            <a:ext cx="7973568" cy="3785652"/>
          </a:xfrm>
          <a:prstGeom prst="rect">
            <a:avLst/>
          </a:prstGeom>
          <a:noFill/>
        </p:spPr>
        <p:txBody>
          <a:bodyPr wrap="square" rtlCol="0">
            <a:spAutoFit/>
          </a:bodyPr>
          <a:lstStyle/>
          <a:p>
            <a:pPr algn="ctr"/>
            <a:r>
              <a:rPr lang="vi-VN" sz="6000" dirty="0">
                <a:solidFill>
                  <a:srgbClr val="F38120"/>
                </a:solidFill>
                <a:latin typeface="SVN-Gilroy XBold" panose="00000900000000000000" pitchFamily="50" charset="0"/>
              </a:rPr>
              <a:t>Ngân hàng </a:t>
            </a:r>
            <a:r>
              <a:rPr lang="en-US" sz="6000" dirty="0">
                <a:solidFill>
                  <a:srgbClr val="F38120"/>
                </a:solidFill>
                <a:latin typeface="SVN-Gilroy XBold" panose="00000900000000000000" pitchFamily="50" charset="0"/>
              </a:rPr>
              <a:t>TMCP</a:t>
            </a:r>
            <a:r>
              <a:rPr lang="vi-VN" sz="6000" dirty="0">
                <a:solidFill>
                  <a:srgbClr val="F38120"/>
                </a:solidFill>
                <a:latin typeface="SVN-Gilroy XBold" panose="00000900000000000000" pitchFamily="50" charset="0"/>
              </a:rPr>
              <a:t> Xuất Nhập khẩu </a:t>
            </a:r>
            <a:endParaRPr lang="en-US" sz="6000" dirty="0">
              <a:solidFill>
                <a:srgbClr val="F38120"/>
              </a:solidFill>
              <a:latin typeface="SVN-Gilroy XBold" panose="00000900000000000000" pitchFamily="50" charset="0"/>
            </a:endParaRPr>
          </a:p>
          <a:p>
            <a:pPr algn="ctr"/>
            <a:r>
              <a:rPr lang="vi-VN" sz="6000" dirty="0">
                <a:solidFill>
                  <a:srgbClr val="F38120"/>
                </a:solidFill>
                <a:latin typeface="SVN-Gilroy XBold" panose="00000900000000000000" pitchFamily="50" charset="0"/>
              </a:rPr>
              <a:t>Việt Nam</a:t>
            </a:r>
            <a:r>
              <a:rPr lang="en-US" sz="6000" dirty="0">
                <a:solidFill>
                  <a:srgbClr val="F38120"/>
                </a:solidFill>
                <a:latin typeface="SVN-Gilroy XBold" panose="00000900000000000000" pitchFamily="50" charset="0"/>
              </a:rPr>
              <a:t> </a:t>
            </a:r>
          </a:p>
          <a:p>
            <a:pPr algn="ctr"/>
            <a:r>
              <a:rPr lang="en-US" sz="6000" dirty="0">
                <a:solidFill>
                  <a:srgbClr val="F38120"/>
                </a:solidFill>
                <a:latin typeface="SVN-Gilroy XBold" panose="00000900000000000000" pitchFamily="50" charset="0"/>
              </a:rPr>
              <a:t>(HOSE: EIB)</a:t>
            </a:r>
          </a:p>
        </p:txBody>
      </p:sp>
      <p:sp>
        <p:nvSpPr>
          <p:cNvPr id="4" name="TextBox 3">
            <a:extLst>
              <a:ext uri="{FF2B5EF4-FFF2-40B4-BE49-F238E27FC236}">
                <a16:creationId xmlns:a16="http://schemas.microsoft.com/office/drawing/2014/main" id="{2E1692FE-8D2A-CF6A-866B-0B0422273BDD}"/>
              </a:ext>
            </a:extLst>
          </p:cNvPr>
          <p:cNvSpPr txBox="1"/>
          <p:nvPr/>
        </p:nvSpPr>
        <p:spPr>
          <a:xfrm>
            <a:off x="652999" y="7126168"/>
            <a:ext cx="8980991" cy="661720"/>
          </a:xfrm>
          <a:prstGeom prst="rect">
            <a:avLst/>
          </a:prstGeom>
          <a:noFill/>
        </p:spPr>
        <p:txBody>
          <a:bodyPr wrap="square" rtlCol="0">
            <a:spAutoFit/>
          </a:bodyPr>
          <a:lstStyle/>
          <a:p>
            <a:pPr algn="ctr"/>
            <a:r>
              <a:rPr lang="en-US" sz="3700" b="1" dirty="0">
                <a:solidFill>
                  <a:srgbClr val="01437C"/>
                </a:solidFill>
                <a:latin typeface="SVN-Gilroy" panose="00000500000000000000" pitchFamily="50" charset="0"/>
                <a:ea typeface="Karla" pitchFamily="2" charset="0"/>
                <a:cs typeface="Poppins" panose="00000500000000000000" pitchFamily="2" charset="0"/>
              </a:rPr>
              <a:t>Khởi </a:t>
            </a:r>
            <a:r>
              <a:rPr lang="en-US" sz="3700" b="1" dirty="0" err="1">
                <a:solidFill>
                  <a:srgbClr val="01437C"/>
                </a:solidFill>
                <a:latin typeface="SVN-Gilroy" panose="00000500000000000000" pitchFamily="50" charset="0"/>
                <a:ea typeface="Karla" pitchFamily="2" charset="0"/>
                <a:cs typeface="Poppins" panose="00000500000000000000" pitchFamily="2" charset="0"/>
              </a:rPr>
              <a:t>đầu</a:t>
            </a:r>
            <a:r>
              <a:rPr lang="en-US" sz="3700" b="1" dirty="0">
                <a:solidFill>
                  <a:srgbClr val="01437C"/>
                </a:solidFill>
                <a:latin typeface="SVN-Gilroy" panose="00000500000000000000" pitchFamily="50" charset="0"/>
                <a:ea typeface="Karla" pitchFamily="2" charset="0"/>
                <a:cs typeface="Poppins" panose="00000500000000000000" pitchFamily="2" charset="0"/>
              </a:rPr>
              <a:t> </a:t>
            </a:r>
            <a:r>
              <a:rPr lang="en-US" sz="3700" b="1" dirty="0" err="1">
                <a:solidFill>
                  <a:srgbClr val="01437C"/>
                </a:solidFill>
                <a:latin typeface="SVN-Gilroy" panose="00000500000000000000" pitchFamily="50" charset="0"/>
                <a:ea typeface="Karla" pitchFamily="2" charset="0"/>
                <a:cs typeface="Poppins" panose="00000500000000000000" pitchFamily="2" charset="0"/>
              </a:rPr>
              <a:t>năm</a:t>
            </a:r>
            <a:r>
              <a:rPr lang="en-US" sz="3700" b="1" dirty="0">
                <a:solidFill>
                  <a:srgbClr val="01437C"/>
                </a:solidFill>
                <a:latin typeface="SVN-Gilroy" panose="00000500000000000000" pitchFamily="50" charset="0"/>
                <a:ea typeface="Karla" pitchFamily="2" charset="0"/>
                <a:cs typeface="Poppins" panose="00000500000000000000" pitchFamily="2" charset="0"/>
              </a:rPr>
              <a:t> </a:t>
            </a:r>
            <a:r>
              <a:rPr lang="en-US" sz="3700" b="1" dirty="0" err="1">
                <a:solidFill>
                  <a:srgbClr val="01437C"/>
                </a:solidFill>
                <a:latin typeface="SVN-Gilroy" panose="00000500000000000000" pitchFamily="50" charset="0"/>
                <a:ea typeface="Karla" pitchFamily="2" charset="0"/>
                <a:cs typeface="Poppins" panose="00000500000000000000" pitchFamily="2" charset="0"/>
              </a:rPr>
              <a:t>tương</a:t>
            </a:r>
            <a:r>
              <a:rPr lang="en-US" sz="3700" b="1" dirty="0">
                <a:solidFill>
                  <a:srgbClr val="01437C"/>
                </a:solidFill>
                <a:latin typeface="SVN-Gilroy" panose="00000500000000000000" pitchFamily="50" charset="0"/>
                <a:ea typeface="Karla" pitchFamily="2" charset="0"/>
                <a:cs typeface="Poppins" panose="00000500000000000000" pitchFamily="2" charset="0"/>
              </a:rPr>
              <a:t> </a:t>
            </a:r>
            <a:r>
              <a:rPr lang="en-US" sz="3700" b="1" dirty="0" err="1">
                <a:solidFill>
                  <a:srgbClr val="01437C"/>
                </a:solidFill>
                <a:latin typeface="SVN-Gilroy" panose="00000500000000000000" pitchFamily="50" charset="0"/>
                <a:ea typeface="Karla" pitchFamily="2" charset="0"/>
                <a:cs typeface="Poppins" panose="00000500000000000000" pitchFamily="2" charset="0"/>
              </a:rPr>
              <a:t>đối</a:t>
            </a:r>
            <a:r>
              <a:rPr lang="en-US" sz="3700" b="1" dirty="0">
                <a:solidFill>
                  <a:srgbClr val="01437C"/>
                </a:solidFill>
                <a:latin typeface="SVN-Gilroy" panose="00000500000000000000" pitchFamily="50" charset="0"/>
                <a:ea typeface="Karla" pitchFamily="2" charset="0"/>
                <a:cs typeface="Poppins" panose="00000500000000000000" pitchFamily="2" charset="0"/>
              </a:rPr>
              <a:t> </a:t>
            </a:r>
            <a:r>
              <a:rPr lang="en-US" sz="3700" b="1" dirty="0" err="1">
                <a:solidFill>
                  <a:srgbClr val="01437C"/>
                </a:solidFill>
                <a:latin typeface="SVN-Gilroy" panose="00000500000000000000" pitchFamily="50" charset="0"/>
                <a:ea typeface="Karla" pitchFamily="2" charset="0"/>
                <a:cs typeface="Poppins" panose="00000500000000000000" pitchFamily="2" charset="0"/>
              </a:rPr>
              <a:t>chậm</a:t>
            </a:r>
            <a:endParaRPr lang="vi-VN" sz="3700" b="1" dirty="0">
              <a:solidFill>
                <a:srgbClr val="01437C"/>
              </a:solidFill>
              <a:latin typeface="SVN-Gilroy" panose="00000500000000000000" pitchFamily="50" charset="0"/>
              <a:ea typeface="Karla" pitchFamily="2" charset="0"/>
              <a:cs typeface="Poppins" panose="00000500000000000000" pitchFamily="2" charset="0"/>
            </a:endParaRPr>
          </a:p>
        </p:txBody>
      </p:sp>
      <p:grpSp>
        <p:nvGrpSpPr>
          <p:cNvPr id="13" name="Group 12">
            <a:extLst>
              <a:ext uri="{FF2B5EF4-FFF2-40B4-BE49-F238E27FC236}">
                <a16:creationId xmlns:a16="http://schemas.microsoft.com/office/drawing/2014/main" id="{638356BC-700A-EB7E-38C5-8059B2064F78}"/>
              </a:ext>
            </a:extLst>
          </p:cNvPr>
          <p:cNvGrpSpPr/>
          <p:nvPr/>
        </p:nvGrpSpPr>
        <p:grpSpPr>
          <a:xfrm>
            <a:off x="3336461" y="8625441"/>
            <a:ext cx="4109367" cy="1451113"/>
            <a:chOff x="3336461" y="8784465"/>
            <a:chExt cx="4109367" cy="1451113"/>
          </a:xfrm>
        </p:grpSpPr>
        <p:sp>
          <p:nvSpPr>
            <p:cNvPr id="5" name="Rectangle: Rounded Corners 4">
              <a:extLst>
                <a:ext uri="{FF2B5EF4-FFF2-40B4-BE49-F238E27FC236}">
                  <a16:creationId xmlns:a16="http://schemas.microsoft.com/office/drawing/2014/main" id="{3E669CBE-92BA-A572-7180-B81BDB62D11B}"/>
                </a:ext>
              </a:extLst>
            </p:cNvPr>
            <p:cNvSpPr/>
            <p:nvPr/>
          </p:nvSpPr>
          <p:spPr>
            <a:xfrm>
              <a:off x="3336461" y="8784465"/>
              <a:ext cx="4109367" cy="993913"/>
            </a:xfrm>
            <a:prstGeom prst="round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sz="3700" dirty="0">
                  <a:latin typeface="SVN-Gilroy" panose="00000500000000000000" pitchFamily="50" charset="0"/>
                </a:rPr>
                <a:t>TĂNG TỶ TRỌNG</a:t>
              </a:r>
            </a:p>
          </p:txBody>
        </p:sp>
        <p:sp>
          <p:nvSpPr>
            <p:cNvPr id="9" name="Arrow: Up 8">
              <a:extLst>
                <a:ext uri="{FF2B5EF4-FFF2-40B4-BE49-F238E27FC236}">
                  <a16:creationId xmlns:a16="http://schemas.microsoft.com/office/drawing/2014/main" id="{D86E1F36-EC74-E9A6-0608-6AD7488EF5C5}"/>
                </a:ext>
              </a:extLst>
            </p:cNvPr>
            <p:cNvSpPr/>
            <p:nvPr/>
          </p:nvSpPr>
          <p:spPr>
            <a:xfrm rot="19258989">
              <a:off x="6493332" y="9321178"/>
              <a:ext cx="914400" cy="914400"/>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graphicFrame>
        <p:nvGraphicFramePr>
          <p:cNvPr id="12" name="Table 11">
            <a:extLst>
              <a:ext uri="{FF2B5EF4-FFF2-40B4-BE49-F238E27FC236}">
                <a16:creationId xmlns:a16="http://schemas.microsoft.com/office/drawing/2014/main" id="{3184D3A0-7F48-33BE-E1E4-8C878D3CB804}"/>
              </a:ext>
            </a:extLst>
          </p:cNvPr>
          <p:cNvGraphicFramePr>
            <a:graphicFrameLocks noGrp="1"/>
          </p:cNvGraphicFramePr>
          <p:nvPr>
            <p:extLst>
              <p:ext uri="{D42A27DB-BD31-4B8C-83A1-F6EECF244321}">
                <p14:modId xmlns:p14="http://schemas.microsoft.com/office/powerpoint/2010/main" val="303836824"/>
              </p:ext>
            </p:extLst>
          </p:nvPr>
        </p:nvGraphicFramePr>
        <p:xfrm>
          <a:off x="2679752" y="10155689"/>
          <a:ext cx="4927489" cy="1847279"/>
        </p:xfrm>
        <a:graphic>
          <a:graphicData uri="http://schemas.openxmlformats.org/drawingml/2006/table">
            <a:tbl>
              <a:tblPr firstRow="1" bandRow="1">
                <a:tableStyleId>{2D5ABB26-0587-4C30-8999-92F81FD0307C}</a:tableStyleId>
              </a:tblPr>
              <a:tblGrid>
                <a:gridCol w="3273112">
                  <a:extLst>
                    <a:ext uri="{9D8B030D-6E8A-4147-A177-3AD203B41FA5}">
                      <a16:colId xmlns:a16="http://schemas.microsoft.com/office/drawing/2014/main" val="3602970718"/>
                    </a:ext>
                  </a:extLst>
                </a:gridCol>
                <a:gridCol w="1654377">
                  <a:extLst>
                    <a:ext uri="{9D8B030D-6E8A-4147-A177-3AD203B41FA5}">
                      <a16:colId xmlns:a16="http://schemas.microsoft.com/office/drawing/2014/main" val="3703199259"/>
                    </a:ext>
                  </a:extLst>
                </a:gridCol>
              </a:tblGrid>
              <a:tr h="785023">
                <a:tc>
                  <a:txBody>
                    <a:bodyPr/>
                    <a:lstStyle/>
                    <a:p>
                      <a:pPr marL="0" algn="l" defTabSz="1028700" rtl="0" eaLnBrk="1" latinLnBrk="0" hangingPunct="1">
                        <a:lnSpc>
                          <a:spcPct val="150000"/>
                        </a:lnSpc>
                        <a:spcBef>
                          <a:spcPts val="600"/>
                        </a:spcBef>
                        <a:spcAft>
                          <a:spcPts val="600"/>
                        </a:spcAft>
                      </a:pPr>
                      <a:r>
                        <a:rPr lang="en-US" sz="3700" b="0" kern="1200" dirty="0" err="1">
                          <a:solidFill>
                            <a:srgbClr val="00427A"/>
                          </a:solidFill>
                          <a:latin typeface="SVN-Gilroy" panose="00000500000000000000" pitchFamily="50" charset="0"/>
                          <a:ea typeface="+mn-ea"/>
                          <a:cs typeface="Poppins" panose="00000500000000000000" pitchFamily="2" charset="0"/>
                        </a:rPr>
                        <a:t>Giá</a:t>
                      </a:r>
                      <a:r>
                        <a:rPr lang="en-US" sz="3700" b="0" kern="1200" dirty="0">
                          <a:solidFill>
                            <a:srgbClr val="00427A"/>
                          </a:solidFill>
                          <a:latin typeface="SVN-Gilroy" panose="00000500000000000000" pitchFamily="50" charset="0"/>
                          <a:ea typeface="+mn-ea"/>
                          <a:cs typeface="Poppins" panose="00000500000000000000" pitchFamily="2" charset="0"/>
                        </a:rPr>
                        <a:t> </a:t>
                      </a:r>
                      <a:r>
                        <a:rPr lang="en-US" sz="3700" b="0" kern="1200" dirty="0" err="1">
                          <a:solidFill>
                            <a:srgbClr val="00427A"/>
                          </a:solidFill>
                          <a:latin typeface="SVN-Gilroy" panose="00000500000000000000" pitchFamily="50" charset="0"/>
                          <a:ea typeface="+mn-ea"/>
                          <a:cs typeface="Poppins" panose="00000500000000000000" pitchFamily="2" charset="0"/>
                        </a:rPr>
                        <a:t>mục</a:t>
                      </a:r>
                      <a:r>
                        <a:rPr lang="en-US" sz="3700" b="0" kern="1200" dirty="0">
                          <a:solidFill>
                            <a:srgbClr val="00427A"/>
                          </a:solidFill>
                          <a:latin typeface="SVN-Gilroy" panose="00000500000000000000" pitchFamily="50" charset="0"/>
                          <a:ea typeface="+mn-ea"/>
                          <a:cs typeface="Poppins" panose="00000500000000000000" pitchFamily="2" charset="0"/>
                        </a:rPr>
                        <a:t> </a:t>
                      </a:r>
                      <a:r>
                        <a:rPr lang="en-US" sz="3700" b="0" kern="1200" dirty="0" err="1">
                          <a:solidFill>
                            <a:srgbClr val="00427A"/>
                          </a:solidFill>
                          <a:latin typeface="SVN-Gilroy" panose="00000500000000000000" pitchFamily="50" charset="0"/>
                          <a:ea typeface="+mn-ea"/>
                          <a:cs typeface="Poppins" panose="00000500000000000000" pitchFamily="2" charset="0"/>
                        </a:rPr>
                        <a:t>tiêu</a:t>
                      </a:r>
                      <a:endParaRPr lang="en-US" sz="37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tc>
                  <a:txBody>
                    <a:bodyPr/>
                    <a:lstStyle/>
                    <a:p>
                      <a:pPr marL="0" algn="ctr" defTabSz="1028700" rtl="0" eaLnBrk="1" latinLnBrk="0" hangingPunct="1">
                        <a:lnSpc>
                          <a:spcPct val="150000"/>
                        </a:lnSpc>
                        <a:spcBef>
                          <a:spcPts val="600"/>
                        </a:spcBef>
                        <a:spcAft>
                          <a:spcPts val="600"/>
                        </a:spcAft>
                      </a:pPr>
                      <a:endParaRPr lang="en-US" sz="37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extLst>
                  <a:ext uri="{0D108BD9-81ED-4DB2-BD59-A6C34878D82A}">
                    <a16:rowId xmlns:a16="http://schemas.microsoft.com/office/drawing/2014/main" val="555997262"/>
                  </a:ext>
                </a:extLst>
              </a:tr>
              <a:tr h="783782">
                <a:tc>
                  <a:txBody>
                    <a:bodyPr/>
                    <a:lstStyle/>
                    <a:p>
                      <a:pPr marL="0" marR="0" lvl="0" indent="0" algn="l" defTabSz="1028700" rtl="0" eaLnBrk="1" fontAlgn="auto" latinLnBrk="0" hangingPunct="1">
                        <a:lnSpc>
                          <a:spcPct val="150000"/>
                        </a:lnSpc>
                        <a:spcBef>
                          <a:spcPts val="600"/>
                        </a:spcBef>
                        <a:spcAft>
                          <a:spcPts val="600"/>
                        </a:spcAft>
                        <a:buClrTx/>
                        <a:buSzTx/>
                        <a:buFontTx/>
                        <a:buNone/>
                        <a:tabLst/>
                        <a:defRPr/>
                      </a:pPr>
                      <a:r>
                        <a:rPr lang="en-US" sz="3700" b="1" kern="1200" dirty="0">
                          <a:solidFill>
                            <a:srgbClr val="00427A"/>
                          </a:solidFill>
                          <a:latin typeface="SVN-Gilroy" panose="00000500000000000000" pitchFamily="50" charset="0"/>
                        </a:rPr>
                        <a:t>23,400</a:t>
                      </a:r>
                      <a:endParaRPr lang="en-US" sz="37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tc>
                  <a:txBody>
                    <a:bodyPr/>
                    <a:lstStyle/>
                    <a:p>
                      <a:pPr marL="0" marR="0" lvl="0" indent="0" algn="ctr" defTabSz="1028700" rtl="0" eaLnBrk="1" fontAlgn="auto" latinLnBrk="0" hangingPunct="1">
                        <a:lnSpc>
                          <a:spcPct val="150000"/>
                        </a:lnSpc>
                        <a:spcBef>
                          <a:spcPts val="600"/>
                        </a:spcBef>
                        <a:spcAft>
                          <a:spcPts val="600"/>
                        </a:spcAft>
                        <a:buClrTx/>
                        <a:buSzTx/>
                        <a:buFontTx/>
                        <a:buNone/>
                        <a:tabLst/>
                        <a:defRPr/>
                      </a:pPr>
                      <a:r>
                        <a:rPr lang="en-US" sz="3700" b="1" kern="1200" dirty="0">
                          <a:solidFill>
                            <a:srgbClr val="92D050"/>
                          </a:solidFill>
                          <a:latin typeface="SVN-Gilroy" panose="00000500000000000000" pitchFamily="50" charset="0"/>
                        </a:rPr>
                        <a:t>+13%</a:t>
                      </a:r>
                      <a:endParaRPr lang="en-US" sz="3700" b="1" kern="1200" dirty="0">
                        <a:solidFill>
                          <a:srgbClr val="92D050"/>
                        </a:solidFill>
                        <a:latin typeface="SVN-Gilroy" panose="00000500000000000000" pitchFamily="50" charset="0"/>
                        <a:ea typeface="+mn-ea"/>
                        <a:cs typeface="Poppins" panose="00000500000000000000" pitchFamily="2" charset="0"/>
                      </a:endParaRPr>
                    </a:p>
                  </a:txBody>
                  <a:tcPr marT="91440" marB="91440" anchor="ctr">
                    <a:noFill/>
                  </a:tcPr>
                </a:tc>
                <a:extLst>
                  <a:ext uri="{0D108BD9-81ED-4DB2-BD59-A6C34878D82A}">
                    <a16:rowId xmlns:a16="http://schemas.microsoft.com/office/drawing/2014/main" val="2189032345"/>
                  </a:ext>
                </a:extLst>
              </a:tr>
            </a:tbl>
          </a:graphicData>
        </a:graphic>
      </p:graphicFrame>
    </p:spTree>
    <p:extLst>
      <p:ext uri="{BB962C8B-B14F-4D97-AF65-F5344CB8AC3E}">
        <p14:creationId xmlns:p14="http://schemas.microsoft.com/office/powerpoint/2010/main" val="560312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88BA1-FA16-6286-5CA8-2C3CAF4DBCD2}"/>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A2E9B9D9-D221-B652-5AF3-E08A1B33DA6C}"/>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101EFFE5-C13E-4C14-B0AD-6FA85B8D3A8C}"/>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VN-Gilroy" panose="00000500000000000000"/>
            </a:endParaRPr>
          </a:p>
        </p:txBody>
      </p:sp>
      <p:sp>
        <p:nvSpPr>
          <p:cNvPr id="9" name="TextBox 8">
            <a:extLst>
              <a:ext uri="{FF2B5EF4-FFF2-40B4-BE49-F238E27FC236}">
                <a16:creationId xmlns:a16="http://schemas.microsoft.com/office/drawing/2014/main" id="{EFB44F8A-1AE3-6723-3471-559EFA000F34}"/>
              </a:ext>
            </a:extLst>
          </p:cNvPr>
          <p:cNvSpPr txBox="1"/>
          <p:nvPr/>
        </p:nvSpPr>
        <p:spPr>
          <a:xfrm>
            <a:off x="586539" y="928966"/>
            <a:ext cx="9113922"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EIB – </a:t>
            </a:r>
            <a:r>
              <a:rPr lang="en-US" sz="4000" b="1" dirty="0" err="1">
                <a:solidFill>
                  <a:schemeClr val="bg1"/>
                </a:solidFill>
                <a:latin typeface="SVN-Gilroy XBold" panose="00000900000000000000" pitchFamily="50" charset="0"/>
              </a:rPr>
              <a:t>Đặt</a:t>
            </a:r>
            <a:r>
              <a:rPr lang="en-US" sz="4000" b="1" dirty="0">
                <a:solidFill>
                  <a:schemeClr val="bg1"/>
                </a:solidFill>
                <a:latin typeface="SVN-Gilroy XBold" panose="00000900000000000000" pitchFamily="50" charset="0"/>
              </a:rPr>
              <a:t> </a:t>
            </a:r>
            <a:r>
              <a:rPr lang="en-US" sz="4000" b="1" dirty="0" err="1">
                <a:solidFill>
                  <a:schemeClr val="bg1"/>
                </a:solidFill>
                <a:latin typeface="SVN-Gilroy XBold" panose="00000900000000000000" pitchFamily="50" charset="0"/>
              </a:rPr>
              <a:t>kế</a:t>
            </a:r>
            <a:r>
              <a:rPr lang="en-US" sz="4000" b="1" dirty="0">
                <a:solidFill>
                  <a:schemeClr val="bg1"/>
                </a:solidFill>
                <a:latin typeface="SVN-Gilroy XBold" panose="00000900000000000000" pitchFamily="50" charset="0"/>
              </a:rPr>
              <a:t> </a:t>
            </a:r>
            <a:r>
              <a:rPr lang="en-US" sz="4000" b="1" dirty="0" err="1">
                <a:solidFill>
                  <a:schemeClr val="bg1"/>
                </a:solidFill>
                <a:latin typeface="SVN-Gilroy XBold" panose="00000900000000000000" pitchFamily="50" charset="0"/>
              </a:rPr>
              <a:t>hoạch</a:t>
            </a:r>
            <a:r>
              <a:rPr lang="en-US" sz="4000" b="1" dirty="0">
                <a:solidFill>
                  <a:schemeClr val="bg1"/>
                </a:solidFill>
                <a:latin typeface="SVN-Gilroy XBold" panose="00000900000000000000" pitchFamily="50" charset="0"/>
              </a:rPr>
              <a:t> LN FY26 </a:t>
            </a:r>
            <a:r>
              <a:rPr lang="en-US" sz="4000" b="1" dirty="0" err="1">
                <a:solidFill>
                  <a:schemeClr val="bg1"/>
                </a:solidFill>
                <a:latin typeface="SVN-Gilroy XBold" panose="00000900000000000000" pitchFamily="50" charset="0"/>
              </a:rPr>
              <a:t>cao</a:t>
            </a:r>
            <a:endParaRPr lang="en-US" sz="4000" b="1" dirty="0">
              <a:solidFill>
                <a:schemeClr val="bg1"/>
              </a:solidFill>
              <a:latin typeface="SVN-Gilroy XBold" panose="00000900000000000000" pitchFamily="50" charset="0"/>
            </a:endParaRPr>
          </a:p>
        </p:txBody>
      </p:sp>
      <p:graphicFrame>
        <p:nvGraphicFramePr>
          <p:cNvPr id="7" name="Diagram 6">
            <a:extLst>
              <a:ext uri="{FF2B5EF4-FFF2-40B4-BE49-F238E27FC236}">
                <a16:creationId xmlns:a16="http://schemas.microsoft.com/office/drawing/2014/main" id="{21A6B058-0408-7831-F8DA-ED33EEADB563}"/>
              </a:ext>
            </a:extLst>
          </p:cNvPr>
          <p:cNvGraphicFramePr/>
          <p:nvPr>
            <p:extLst>
              <p:ext uri="{D42A27DB-BD31-4B8C-83A1-F6EECF244321}">
                <p14:modId xmlns:p14="http://schemas.microsoft.com/office/powerpoint/2010/main" val="3189516700"/>
              </p:ext>
            </p:extLst>
          </p:nvPr>
        </p:nvGraphicFramePr>
        <p:xfrm>
          <a:off x="1157904" y="2106646"/>
          <a:ext cx="7966218" cy="106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92778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1B56-2AFB-D2B3-FD10-CAE617519881}"/>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8D1A3570-EFE7-1046-FACA-00C625CE7F62}"/>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D5123686-A481-2086-8754-0F0B10610223}"/>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73009315-0122-640A-8C78-08C0104659AF}"/>
              </a:ext>
            </a:extLst>
          </p:cNvPr>
          <p:cNvSpPr txBox="1"/>
          <p:nvPr/>
        </p:nvSpPr>
        <p:spPr>
          <a:xfrm>
            <a:off x="1156713" y="2331311"/>
            <a:ext cx="7973568"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Chúng tôi giảm dự phóng năm 2026 dựa trên KQKD 1H26</a:t>
            </a:r>
          </a:p>
        </p:txBody>
      </p:sp>
      <p:sp>
        <p:nvSpPr>
          <p:cNvPr id="9" name="TextBox 8">
            <a:extLst>
              <a:ext uri="{FF2B5EF4-FFF2-40B4-BE49-F238E27FC236}">
                <a16:creationId xmlns:a16="http://schemas.microsoft.com/office/drawing/2014/main" id="{0E142608-B438-59CB-B63B-50324488CF0F}"/>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EIB – KQKD</a:t>
            </a:r>
            <a:endParaRPr lang="vi-VN" sz="4000"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DC4FAE99-DFC0-5EE9-AFA7-8A5E837E5C61}"/>
              </a:ext>
            </a:extLst>
          </p:cNvPr>
          <p:cNvSpPr txBox="1"/>
          <p:nvPr/>
        </p:nvSpPr>
        <p:spPr>
          <a:xfrm>
            <a:off x="1175001" y="12048323"/>
            <a:ext cx="4739951" cy="276999"/>
          </a:xfrm>
          <a:prstGeom prst="rect">
            <a:avLst/>
          </a:prstGeom>
          <a:noFill/>
        </p:spPr>
        <p:txBody>
          <a:bodyPr wrap="square" rtlCol="0">
            <a:spAutoFit/>
          </a:bodyPr>
          <a:lstStyle/>
          <a:p>
            <a:r>
              <a:rPr lang="en-US" sz="1200" dirty="0">
                <a:latin typeface="SVN-Gilroy" panose="00000500000000000000"/>
              </a:rPr>
              <a:t>Source: EIB, Mirae Asset Vietnam</a:t>
            </a:r>
          </a:p>
        </p:txBody>
      </p:sp>
      <p:graphicFrame>
        <p:nvGraphicFramePr>
          <p:cNvPr id="5" name="Chart 4">
            <a:extLst>
              <a:ext uri="{FF2B5EF4-FFF2-40B4-BE49-F238E27FC236}">
                <a16:creationId xmlns:a16="http://schemas.microsoft.com/office/drawing/2014/main" id="{3E4343AE-A408-4F04-B0B5-3A710B35CC24}"/>
              </a:ext>
            </a:extLst>
          </p:cNvPr>
          <p:cNvGraphicFramePr>
            <a:graphicFrameLocks/>
          </p:cNvGraphicFramePr>
          <p:nvPr>
            <p:extLst>
              <p:ext uri="{D42A27DB-BD31-4B8C-83A1-F6EECF244321}">
                <p14:modId xmlns:p14="http://schemas.microsoft.com/office/powerpoint/2010/main" val="3430288773"/>
              </p:ext>
            </p:extLst>
          </p:nvPr>
        </p:nvGraphicFramePr>
        <p:xfrm>
          <a:off x="1355910" y="3285418"/>
          <a:ext cx="7575180" cy="82964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2895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0CFFA-6270-1804-2090-F5DC8F13F87E}"/>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5434A966-F0FF-1EE6-D574-74F39F336F1C}"/>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7069F12-DDCA-EA5D-754D-783B82E95E55}"/>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930AC488-B979-46AB-BE41-3319A16D2C5A}"/>
              </a:ext>
            </a:extLst>
          </p:cNvPr>
          <p:cNvSpPr txBox="1"/>
          <p:nvPr/>
        </p:nvSpPr>
        <p:spPr>
          <a:xfrm>
            <a:off x="1156713" y="2331311"/>
            <a:ext cx="7973568" cy="523220"/>
          </a:xfrm>
          <a:prstGeom prst="rect">
            <a:avLst/>
          </a:prstGeom>
          <a:noFill/>
        </p:spPr>
        <p:txBody>
          <a:bodyPr wrap="square" rtlCol="0">
            <a:spAutoFit/>
          </a:bodyPr>
          <a:lstStyle/>
          <a:p>
            <a:pPr algn="ctr"/>
            <a:r>
              <a:rPr lang="en-US" sz="2800" b="1" dirty="0" err="1">
                <a:solidFill>
                  <a:srgbClr val="01437C"/>
                </a:solidFill>
                <a:latin typeface="SVN-Gilroy" panose="00000500000000000000" pitchFamily="50" charset="0"/>
                <a:ea typeface="Karla" pitchFamily="2" charset="0"/>
                <a:cs typeface="Poppins" panose="00000500000000000000" pitchFamily="2" charset="0"/>
              </a:rPr>
              <a:t>Nợ xấu về dưới 3%; dự phóng 2,5% năm 2026</a:t>
            </a:r>
          </a:p>
        </p:txBody>
      </p:sp>
      <p:sp>
        <p:nvSpPr>
          <p:cNvPr id="9" name="TextBox 8">
            <a:extLst>
              <a:ext uri="{FF2B5EF4-FFF2-40B4-BE49-F238E27FC236}">
                <a16:creationId xmlns:a16="http://schemas.microsoft.com/office/drawing/2014/main" id="{83563C7D-C1F9-B72B-283D-2091A6560553}"/>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EIB – </a:t>
            </a:r>
            <a:r>
              <a:rPr lang="en-US" sz="4000" dirty="0" err="1">
                <a:solidFill>
                  <a:schemeClr val="bg1"/>
                </a:solidFill>
                <a:latin typeface="SVN-Gilroy XBold" panose="00000900000000000000" pitchFamily="50" charset="0"/>
              </a:rPr>
              <a:t>Chất</a:t>
            </a:r>
            <a:r>
              <a:rPr lang="en-US" sz="4000" dirty="0">
                <a:solidFill>
                  <a:schemeClr val="bg1"/>
                </a:solidFill>
                <a:latin typeface="SVN-Gilroy XBold" panose="00000900000000000000" pitchFamily="50" charset="0"/>
              </a:rPr>
              <a:t> </a:t>
            </a:r>
            <a:r>
              <a:rPr lang="en-US" sz="4000" dirty="0" err="1">
                <a:solidFill>
                  <a:schemeClr val="bg1"/>
                </a:solidFill>
                <a:latin typeface="SVN-Gilroy XBold" panose="00000900000000000000" pitchFamily="50" charset="0"/>
              </a:rPr>
              <a:t>lượng</a:t>
            </a:r>
            <a:r>
              <a:rPr lang="en-US" sz="4000" dirty="0">
                <a:solidFill>
                  <a:schemeClr val="bg1"/>
                </a:solidFill>
                <a:latin typeface="SVN-Gilroy XBold" panose="00000900000000000000" pitchFamily="50" charset="0"/>
              </a:rPr>
              <a:t> </a:t>
            </a:r>
            <a:r>
              <a:rPr lang="en-US" sz="4000" dirty="0" err="1">
                <a:solidFill>
                  <a:schemeClr val="bg1"/>
                </a:solidFill>
                <a:latin typeface="SVN-Gilroy XBold" panose="00000900000000000000" pitchFamily="50" charset="0"/>
              </a:rPr>
              <a:t>tài</a:t>
            </a:r>
            <a:r>
              <a:rPr lang="en-US" sz="4000" dirty="0">
                <a:solidFill>
                  <a:schemeClr val="bg1"/>
                </a:solidFill>
                <a:latin typeface="SVN-Gilroy XBold" panose="00000900000000000000" pitchFamily="50" charset="0"/>
              </a:rPr>
              <a:t> </a:t>
            </a:r>
            <a:r>
              <a:rPr lang="en-US" sz="4000" dirty="0" err="1">
                <a:solidFill>
                  <a:schemeClr val="bg1"/>
                </a:solidFill>
                <a:latin typeface="SVN-Gilroy XBold" panose="00000900000000000000" pitchFamily="50" charset="0"/>
              </a:rPr>
              <a:t>sản</a:t>
            </a:r>
            <a:endParaRPr lang="vi-VN" sz="4000" dirty="0">
              <a:solidFill>
                <a:schemeClr val="bg1"/>
              </a:solidFill>
              <a:latin typeface="SVN-Gilroy XBold" panose="00000900000000000000" pitchFamily="50" charset="0"/>
            </a:endParaRPr>
          </a:p>
        </p:txBody>
      </p:sp>
      <p:sp>
        <p:nvSpPr>
          <p:cNvPr id="5" name="TextBox 4">
            <a:extLst>
              <a:ext uri="{FF2B5EF4-FFF2-40B4-BE49-F238E27FC236}">
                <a16:creationId xmlns:a16="http://schemas.microsoft.com/office/drawing/2014/main" id="{7092B820-C107-6F46-58FE-670266C8539D}"/>
              </a:ext>
            </a:extLst>
          </p:cNvPr>
          <p:cNvSpPr txBox="1"/>
          <p:nvPr/>
        </p:nvSpPr>
        <p:spPr>
          <a:xfrm>
            <a:off x="1175001" y="12048323"/>
            <a:ext cx="4739951" cy="276999"/>
          </a:xfrm>
          <a:prstGeom prst="rect">
            <a:avLst/>
          </a:prstGeom>
          <a:noFill/>
        </p:spPr>
        <p:txBody>
          <a:bodyPr wrap="square" rtlCol="0">
            <a:spAutoFit/>
          </a:bodyPr>
          <a:lstStyle/>
          <a:p>
            <a:r>
              <a:rPr lang="en-US" sz="1200" dirty="0">
                <a:latin typeface="SVN-Gilroy" panose="00000500000000000000"/>
              </a:rPr>
              <a:t>Source: EIB, Mirae Asset Vietnam</a:t>
            </a:r>
          </a:p>
        </p:txBody>
      </p:sp>
      <p:sp>
        <p:nvSpPr>
          <p:cNvPr id="2" name="TextBox 1">
            <a:extLst>
              <a:ext uri="{FF2B5EF4-FFF2-40B4-BE49-F238E27FC236}">
                <a16:creationId xmlns:a16="http://schemas.microsoft.com/office/drawing/2014/main" id="{5172826E-B334-D7BA-5DF5-3D21803B791E}"/>
              </a:ext>
            </a:extLst>
          </p:cNvPr>
          <p:cNvSpPr txBox="1"/>
          <p:nvPr/>
        </p:nvSpPr>
        <p:spPr>
          <a:xfrm>
            <a:off x="1175001" y="11771324"/>
            <a:ext cx="7794967" cy="276999"/>
          </a:xfrm>
          <a:prstGeom prst="rect">
            <a:avLst/>
          </a:prstGeom>
          <a:noFill/>
        </p:spPr>
        <p:txBody>
          <a:bodyPr wrap="square" rtlCol="0">
            <a:spAutoFit/>
          </a:bodyPr>
          <a:lstStyle/>
          <a:p>
            <a:r>
              <a:rPr lang="en-US" sz="1200" dirty="0" err="1">
                <a:latin typeface="SVN-Gilroy" panose="00000500000000000000"/>
              </a:rPr>
              <a:t>Ghi</a:t>
            </a:r>
            <a:r>
              <a:rPr lang="en-US" sz="1200" dirty="0">
                <a:latin typeface="SVN-Gilroy" panose="00000500000000000000"/>
              </a:rPr>
              <a:t> </a:t>
            </a:r>
            <a:r>
              <a:rPr lang="en-US" sz="1200" dirty="0" err="1">
                <a:latin typeface="SVN-Gilroy" panose="00000500000000000000"/>
              </a:rPr>
              <a:t>chú</a:t>
            </a:r>
            <a:r>
              <a:rPr lang="en-US" sz="1200" dirty="0">
                <a:latin typeface="SVN-Gilroy" panose="00000500000000000000"/>
              </a:rPr>
              <a:t>: NPL Ratio: </a:t>
            </a:r>
            <a:r>
              <a:rPr lang="en-US" sz="1200" dirty="0" err="1">
                <a:latin typeface="SVN-Gilroy" panose="00000500000000000000"/>
              </a:rPr>
              <a:t>Tỷ</a:t>
            </a:r>
            <a:r>
              <a:rPr lang="en-US" sz="1200" dirty="0">
                <a:latin typeface="SVN-Gilroy" panose="00000500000000000000"/>
              </a:rPr>
              <a:t> </a:t>
            </a:r>
            <a:r>
              <a:rPr lang="en-US" sz="1200" dirty="0" err="1">
                <a:latin typeface="SVN-Gilroy" panose="00000500000000000000"/>
              </a:rPr>
              <a:t>lệ</a:t>
            </a:r>
            <a:r>
              <a:rPr lang="en-US" sz="1200" dirty="0">
                <a:latin typeface="SVN-Gilroy" panose="00000500000000000000"/>
              </a:rPr>
              <a:t> </a:t>
            </a:r>
            <a:r>
              <a:rPr lang="en-US" sz="1200" dirty="0" err="1">
                <a:latin typeface="SVN-Gilroy" panose="00000500000000000000"/>
              </a:rPr>
              <a:t>nợ</a:t>
            </a:r>
            <a:r>
              <a:rPr lang="en-US" sz="1200" dirty="0">
                <a:latin typeface="SVN-Gilroy" panose="00000500000000000000"/>
              </a:rPr>
              <a:t> </a:t>
            </a:r>
            <a:r>
              <a:rPr lang="en-US" sz="1200" dirty="0" err="1">
                <a:latin typeface="SVN-Gilroy" panose="00000500000000000000"/>
              </a:rPr>
              <a:t>xấu</a:t>
            </a:r>
            <a:r>
              <a:rPr lang="en-US" sz="1200" dirty="0">
                <a:latin typeface="SVN-Gilroy" panose="00000500000000000000"/>
              </a:rPr>
              <a:t> ; Broad NPL ratio: </a:t>
            </a:r>
            <a:r>
              <a:rPr lang="en-US" sz="1200" dirty="0" err="1">
                <a:latin typeface="SVN-Gilroy" panose="00000500000000000000"/>
              </a:rPr>
              <a:t>tỷ</a:t>
            </a:r>
            <a:r>
              <a:rPr lang="en-US" sz="1200" dirty="0">
                <a:latin typeface="SVN-Gilroy" panose="00000500000000000000"/>
              </a:rPr>
              <a:t> </a:t>
            </a:r>
            <a:r>
              <a:rPr lang="en-US" sz="1200" dirty="0" err="1">
                <a:latin typeface="SVN-Gilroy" panose="00000500000000000000"/>
              </a:rPr>
              <a:t>lệ</a:t>
            </a:r>
            <a:r>
              <a:rPr lang="en-US" sz="1200" dirty="0">
                <a:latin typeface="SVN-Gilroy" panose="00000500000000000000"/>
              </a:rPr>
              <a:t> </a:t>
            </a:r>
            <a:r>
              <a:rPr lang="en-US" sz="1200" dirty="0" err="1">
                <a:latin typeface="SVN-Gilroy" panose="00000500000000000000"/>
              </a:rPr>
              <a:t>nợ</a:t>
            </a:r>
            <a:r>
              <a:rPr lang="en-US" sz="1200" dirty="0">
                <a:latin typeface="SVN-Gilroy" panose="00000500000000000000"/>
              </a:rPr>
              <a:t> </a:t>
            </a:r>
            <a:r>
              <a:rPr lang="en-US" sz="1200" dirty="0" err="1">
                <a:latin typeface="SVN-Gilroy" panose="00000500000000000000"/>
              </a:rPr>
              <a:t>xấu</a:t>
            </a:r>
            <a:r>
              <a:rPr lang="en-US" sz="1200" dirty="0">
                <a:latin typeface="SVN-Gilroy" panose="00000500000000000000"/>
              </a:rPr>
              <a:t> </a:t>
            </a:r>
            <a:r>
              <a:rPr lang="en-US" sz="1200" dirty="0" err="1">
                <a:latin typeface="SVN-Gilroy" panose="00000500000000000000"/>
              </a:rPr>
              <a:t>mở</a:t>
            </a:r>
            <a:r>
              <a:rPr lang="en-US" sz="1200" dirty="0">
                <a:latin typeface="SVN-Gilroy" panose="00000500000000000000"/>
              </a:rPr>
              <a:t> </a:t>
            </a:r>
            <a:r>
              <a:rPr lang="en-US" sz="1200" dirty="0" err="1">
                <a:latin typeface="SVN-Gilroy" panose="00000500000000000000"/>
              </a:rPr>
              <a:t>rộng</a:t>
            </a:r>
            <a:r>
              <a:rPr lang="en-US" sz="1200" dirty="0">
                <a:latin typeface="SVN-Gilroy" panose="00000500000000000000"/>
              </a:rPr>
              <a:t> ; NPL coverage ratio: </a:t>
            </a:r>
            <a:r>
              <a:rPr lang="en-US" sz="1200" dirty="0" err="1">
                <a:latin typeface="SVN-Gilroy" panose="00000500000000000000"/>
              </a:rPr>
              <a:t>tỷ</a:t>
            </a:r>
            <a:r>
              <a:rPr lang="en-US" sz="1200" dirty="0">
                <a:latin typeface="SVN-Gilroy" panose="00000500000000000000"/>
              </a:rPr>
              <a:t> </a:t>
            </a:r>
            <a:r>
              <a:rPr lang="en-US" sz="1200" dirty="0" err="1">
                <a:latin typeface="SVN-Gilroy" panose="00000500000000000000"/>
              </a:rPr>
              <a:t>lệ</a:t>
            </a:r>
            <a:r>
              <a:rPr lang="en-US" sz="1200" dirty="0">
                <a:latin typeface="SVN-Gilroy" panose="00000500000000000000"/>
              </a:rPr>
              <a:t> bao </a:t>
            </a:r>
            <a:r>
              <a:rPr lang="en-US" sz="1200" dirty="0" err="1">
                <a:latin typeface="SVN-Gilroy" panose="00000500000000000000"/>
              </a:rPr>
              <a:t>phủ</a:t>
            </a:r>
            <a:endParaRPr lang="en-US" sz="1200" dirty="0">
              <a:latin typeface="SVN-Gilroy" panose="00000500000000000000"/>
            </a:endParaRPr>
          </a:p>
        </p:txBody>
      </p:sp>
      <p:graphicFrame>
        <p:nvGraphicFramePr>
          <p:cNvPr id="7" name="Chart 6">
            <a:extLst>
              <a:ext uri="{FF2B5EF4-FFF2-40B4-BE49-F238E27FC236}">
                <a16:creationId xmlns:a16="http://schemas.microsoft.com/office/drawing/2014/main" id="{E0D90A13-4FDA-5009-BD87-4129B2960552}"/>
              </a:ext>
            </a:extLst>
          </p:cNvPr>
          <p:cNvGraphicFramePr>
            <a:graphicFrameLocks/>
          </p:cNvGraphicFramePr>
          <p:nvPr>
            <p:extLst>
              <p:ext uri="{D42A27DB-BD31-4B8C-83A1-F6EECF244321}">
                <p14:modId xmlns:p14="http://schemas.microsoft.com/office/powerpoint/2010/main" val="1970160766"/>
              </p:ext>
            </p:extLst>
          </p:nvPr>
        </p:nvGraphicFramePr>
        <p:xfrm>
          <a:off x="1246016" y="3017982"/>
          <a:ext cx="7794967" cy="847634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81829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8" y="903715"/>
            <a:ext cx="9113922" cy="707886"/>
          </a:xfrm>
          <a:prstGeom prst="rect">
            <a:avLst/>
          </a:prstGeom>
          <a:noFill/>
        </p:spPr>
        <p:txBody>
          <a:bodyPr wrap="square" rtlCol="0">
            <a:spAutoFit/>
          </a:bodyPr>
          <a:lstStyle/>
          <a:p>
            <a:pPr algn="ctr"/>
            <a:r>
              <a:rPr lang="en-US" sz="4000">
                <a:solidFill>
                  <a:schemeClr val="bg1"/>
                </a:solidFill>
                <a:latin typeface="SVN-Gilroy XBold" panose="00000900000000000000" pitchFamily="50" charset="0"/>
              </a:rPr>
              <a:t>Phụ lục</a:t>
            </a:r>
            <a:endParaRPr lang="en-US" sz="4000"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2032904"/>
            <a:ext cx="9113926" cy="10720884"/>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b="1" u="sng">
                <a:solidFill>
                  <a:prstClr val="black"/>
                </a:solidFill>
                <a:latin typeface="Noto Sans" panose="020B0502040504020204"/>
                <a:ea typeface="Malgun Gothic" panose="020B0503020000020004" pitchFamily="34" charset="-127"/>
                <a:cs typeface="Noto Sans" panose="020B0502040504020204"/>
              </a:rPr>
              <a:t>Xác nhận của chuyên viên phân tích</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Chuyên viên phân tích chịu trách nhiệm thực hiện báo cáo này xác nhận rằng (i) những quan điểm được trình bày trong báo cáo này phản ánh đúng quan điểm cá nhân các tổ chức phát hành và chứng khoán trong báo cáo và (ii) không có phần thù lao nào của chuyên viên phân tích đã, đang, hoặc sẽ trực tiếp hay gián tiếp có liên quan đến các khuyến nghị hay quan điểm thể hiện trong báo cáo này. Tương tự như các nhân viên trong công ty, Chuyên viên phân tích nhận được thù lao dựa trên doanh thu và lợi nhuận tổng thể của Chứng Khoán Mirae Asset, trong đó bao gồm doanh thu từ các đơn vị kinh doanh khác như bộ phận Môi giới tổ chức, Ngân hàng đầu tư hoặc Tư vấn doanh nghiệp. Tại thời điểm phát hành báo cáo, Chuyên viên phân tích không biết về bất kỳ xung đột lợi ích thực tế, trọng yếu nào của Chuyên viên phân tích hoặc Chứng Khoán Mirae Asset.</a:t>
            </a:r>
          </a:p>
          <a:p>
            <a:pPr marR="38108" algn="just" defTabSz="914583" hangingPunct="0">
              <a:spcBef>
                <a:spcPts val="600"/>
              </a:spcBef>
              <a:spcAft>
                <a:spcPts val="400"/>
              </a:spcAft>
            </a:pPr>
            <a:r>
              <a:rPr lang="en-US" sz="1300" b="1" u="sng">
                <a:solidFill>
                  <a:prstClr val="black"/>
                </a:solidFill>
                <a:latin typeface="Noto Sans" panose="020B0502040504020204"/>
                <a:ea typeface="Malgun Gothic" panose="020B0503020000020004" pitchFamily="34" charset="-127"/>
                <a:cs typeface="Noto Sans" panose="020B0502040504020204"/>
              </a:rPr>
              <a:t>Tuyên bố miễn trừ trách nhiệm</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Báo cáo này được công bố bởi Công ty Cổ phần Chứng khoán Mirae Asset (Việt Nam) (sau đây gọi tắt là MAS), là công ty chứng khoán được đăng ký tại nước Cộng hòa xã hội chủ nghĩa Việt Nam và là thành viên của Sở giao dịch chứng khoán Việt Nam. Thông tin và ý kiến trong tài liệu này đã được tổng hợp từ các nguồn được cho là đáng tin cậy, nhưng những thông tin đó chưa được xác minh độc lập và MAS không cam đoan, đại diện hoặc bảo đảm, rõ ràng hay ngụ ý, về tính công bằng, chính xác, đầy đủ hoặc tính đúng đắn của thông tin và ý kiến trong tài liệu này hoặc của bất kỳ bản dịch nào sang tiếng Anh từ tiếng Việt. Trong trường hợp bản dịch tiếng Anh của một báo cáo được chuẩn bị bằng tiếng Việt, bản gốc của báo cáo bằng tiếng Việt có thể đã được cung cấp cho nhà đầu tư trước khi thực hiện báo cáo này.</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Đối tượng tiếp nhận được nhắm đến của báo cáo này là các nhà đầu tư tổ chức chuyên nghiệp, những người có kiến thức đáng kể về môi trường kinh doanh địa phương, các thông lệ chung, luật và nguyên tắc kế toán, và không có việc cá nhân nào tiếp nhận hoặc sử dụng báo cáo này sẽ vi phạm bất kỳ luật hoặc quy định hoặc đối tượng của MAS và các chi nhánh đối với các yêu cầu về đăng ký hoặc cấp phép ở bất kỳ khu vực tài phán nào sẽ nhận được hoặc sử dụng bất kỳ thông tin nào từ đây.</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Báo cáo này chỉ dành cho mục đích thông tin chung, không phải và sẽ không được hiểu là một lời đề nghị hoặc một lời mời chào để thực hiện các giao dịch bất kỳ chứng khoán hoặc công cụ tài chính nào khác. Báo cáo không cấu thành lời khuyên đầu tư cho bất kỳ người nào và người đó sẽ không được coi là khách hàng của MAS chỉ vì nhận được báo cáo này. Báo cáo này không tính đến các mục tiêu đầu tư cụ thể, tình hình tài chính hoặc nhu cầu của các khách hàng cá nhân. Báo cáo không được dựa vào để thay thế cho việc thực hiện phán quyết độc lập. Thông tin và ý kiến trong tài liệu này là kể từ ngày của tài liệu này và có thể thay đổi mà không cần thông báo trước. Giá và giá trị của các khoản đầu tư được đề cập trong báo cáo này và thu nhập từ chúng có thể giảm giá hoặc tăng giá, và các nhà đầu tư có thể phải chịu lỗ cho các khoản đầu tư. Hiệu suất trong quá khứ không phải là biểu thị cho hiệu suất trong tương lai. Lợi nhuận trong tương lai không được đảm bảo và có thể xảy ra mất vốn ban đầu. MAS, các chi nhánh và giám đốc, cán bộ, nhân viên và đại lý của họ không chịu bất kỳ trách nhiệm pháp lý nào đối với bất kỳ tổn thất nào phát sinh từ việc sử dụng tài liệu này.</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MAS có thể đã đưa ra các báo cáo khác không nhất quán và đưa ra kết luận khác với các ý kiến được trình bày trong báo cáo này. Các báo cáo có thể phản ánh các giả định, quan điểm và phương pháp phân tích khác nhau của các nhà phân tích đã chuẩn bị chúng. MAS có thể đưa ra các quyết định đầu tư không phù hợp với các ý kiến và quan điểm được trình bày trong báo cáo nghiên cứu này. MAS, các chi nhánh của MAS và giám đốc, cán bộ, nhân viên và đại lý của họ có thể có các vị trí dài hoặc ngắn trong bất kỳ chứng khoán chủ đề nào vào bất kỳ lúc nào và có thể thực hiện mua hoặc bán, hoặc đề nghị mua hoặc bán bất kỳ chứng khoán nào như vậy hoặc các công cụ tài chính khác tùy từng thời điểm trên thị trường mở hoặc theo cách khác, trong từng trường hợp, với tư cách là bên giao đại lý hoặc bên đại lý. MAS và các chi nhánh của nó có thể đã có, hoặc có thể mong đợi tham gia vào các mối quan hệ kinh doanh với các công ty chủ thể để cung cấp các dịch vụ ngân hàng đầu tư, tạo thị trường hoặc các dịch vụ tài chính khác được cho phép theo luật và quy định hiện hành.</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Không một phần nào của tài liệu này có thể được sao chép hoặc tái tạo theo bất kỳ cách thức hoặc hình thức nào hoặc được phân phối lại hoặc xuất bản, toàn bộ hoặc một phần, mà không có sự đồng ý trước bằng văn bản của MAS.</a:t>
            </a:r>
          </a:p>
          <a:p>
            <a:pPr>
              <a:spcBef>
                <a:spcPts val="600"/>
              </a:spcBef>
            </a:pPr>
            <a:endParaRPr lang="en-US" sz="1300" dirty="0"/>
          </a:p>
        </p:txBody>
      </p:sp>
    </p:spTree>
    <p:extLst>
      <p:ext uri="{BB962C8B-B14F-4D97-AF65-F5344CB8AC3E}">
        <p14:creationId xmlns:p14="http://schemas.microsoft.com/office/powerpoint/2010/main" val="21357387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5130</TotalTime>
  <Words>2404</Words>
  <Application>Microsoft Office PowerPoint</Application>
  <PresentationFormat>Custom</PresentationFormat>
  <Paragraphs>75</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Aptos Display</vt:lpstr>
      <vt:lpstr>Arial</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HQ 37</dc:creator>
  <cp:lastModifiedBy>Quan, Ton Dat</cp:lastModifiedBy>
  <cp:revision>424</cp:revision>
  <dcterms:created xsi:type="dcterms:W3CDTF">2024-07-22T08:52:42Z</dcterms:created>
  <dcterms:modified xsi:type="dcterms:W3CDTF">2026-06-25T04:04:00Z</dcterms:modified>
</cp:coreProperties>
</file>