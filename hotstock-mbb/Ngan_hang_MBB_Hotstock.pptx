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58" r:id="rId5"/>
    <p:sldId id="261" r:id="rId6"/>
    <p:sldId id="259" r:id="rId7"/>
  </p:sldIdLst>
  <p:sldSz cx="10287000" cy="13716000"/>
  <p:notesSz cx="13716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30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uan.td\Desktop\FinStatements\FiinProX_DuLieuTaiChinh_BaoCaoTaiChinh_Yearly_Hop_nhat_TCB_2026032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uan.td\Desktop\FinStatements\FiinProX_DuLieuTaiChinh_BaoCaoTaiChinh_Yearly_Hop_nhat_TCB_2026032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VN-Gilroy" panose="00000500000000000000" pitchFamily="50" charset="0"/>
                <a:ea typeface="+mn-ea"/>
                <a:cs typeface="+mn-cs"/>
              </a:defRPr>
            </a:pPr>
            <a:r>
              <a:rPr lang="en-US" sz="2000" dirty="0"/>
              <a:t>(</a:t>
            </a:r>
            <a:r>
              <a:rPr lang="en-US" sz="2000" dirty="0" err="1"/>
              <a:t>tỷ</a:t>
            </a:r>
            <a:r>
              <a:rPr lang="en-US" sz="2000" dirty="0"/>
              <a:t>)</a:t>
            </a:r>
          </a:p>
        </c:rich>
      </c:tx>
      <c:layout>
        <c:manualLayout>
          <c:xMode val="edge"/>
          <c:yMode val="edge"/>
          <c:x val="0.1040033803977297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VN-Gilroy" panose="00000500000000000000" pitchFamily="50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350292938477487"/>
          <c:y val="6.6842304124126797E-2"/>
          <c:w val="0.70109743898128518"/>
          <c:h val="0.74238649348333208"/>
        </c:manualLayout>
      </c:layout>
      <c:barChart>
        <c:barDir val="col"/>
        <c:grouping val="clustered"/>
        <c:varyColors val="0"/>
        <c:ser>
          <c:idx val="0"/>
          <c:order val="1"/>
          <c:tx>
            <c:v>Vốn Chủ Sở Hữu</c:v>
          </c:tx>
          <c:spPr>
            <a:solidFill>
              <a:schemeClr val="tx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'Bảng cân đối kế toán'!$U$11:$Z$11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2026F</c:v>
                </c:pt>
              </c:strCache>
              <c:extLst/>
            </c:strRef>
          </c:cat>
          <c:val>
            <c:numRef>
              <c:f>'Bảng cân đối kế toán'!$U$78:$Z$78</c:f>
              <c:numCache>
                <c:formatCode>#,##0.00</c:formatCode>
                <c:ptCount val="5"/>
                <c:pt idx="0">
                  <c:v>79613</c:v>
                </c:pt>
                <c:pt idx="1">
                  <c:v>96711</c:v>
                </c:pt>
                <c:pt idx="2">
                  <c:v>118356</c:v>
                </c:pt>
                <c:pt idx="3">
                  <c:v>144549</c:v>
                </c:pt>
                <c:pt idx="4">
                  <c:v>175134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A8C8-4EBE-B846-449102666032}"/>
            </c:ext>
          </c:extLst>
        </c:ser>
        <c:ser>
          <c:idx val="3"/>
          <c:order val="3"/>
          <c:tx>
            <c:v>Tổng Tài Sản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'Bảng cân đối kế toán'!$U$11:$Z$11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2026F</c:v>
                </c:pt>
              </c:strCache>
              <c:extLst/>
            </c:strRef>
          </c:cat>
          <c:val>
            <c:numRef>
              <c:f>'Bảng cân đối kế toán'!$U$15:$Z$15</c:f>
              <c:numCache>
                <c:formatCode>#,##0.00</c:formatCode>
                <c:ptCount val="5"/>
                <c:pt idx="0">
                  <c:v>728532</c:v>
                </c:pt>
                <c:pt idx="1">
                  <c:v>944954</c:v>
                </c:pt>
                <c:pt idx="2">
                  <c:v>1133797</c:v>
                </c:pt>
                <c:pt idx="3">
                  <c:v>1615764</c:v>
                </c:pt>
                <c:pt idx="4">
                  <c:v>2100000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A8C8-4EBE-B846-4491026660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777538735"/>
        <c:axId val="1777536335"/>
        <c:extLst>
          <c:ext xmlns:c15="http://schemas.microsoft.com/office/drawing/2012/chart" uri="{02D57815-91ED-43cb-92C2-25804820EDAC}">
            <c15:filteredBarSeries>
              <c15:ser>
                <c:idx val="1"/>
                <c:order val="0"/>
                <c:tx>
                  <c:v>Vốn Điều Lệ</c:v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'Bảng cân đối kế toán'!$U$11:$Z$11</c15:sqref>
                        </c15:formulaRef>
                      </c:ext>
                    </c:extLst>
                    <c:strCache>
                      <c:ptCount val="5"/>
                      <c:pt idx="0">
                        <c:v>2022</c:v>
                      </c:pt>
                      <c:pt idx="1">
                        <c:v>2023</c:v>
                      </c:pt>
                      <c:pt idx="2">
                        <c:v>2024</c:v>
                      </c:pt>
                      <c:pt idx="3">
                        <c:v>2025</c:v>
                      </c:pt>
                      <c:pt idx="4">
                        <c:v>2026F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'Bảng cân đối kế toán'!$U$80:$Z$80</c15:sqref>
                        </c15:formulaRef>
                      </c:ext>
                    </c:extLst>
                    <c:numCache>
                      <c:formatCode>#,##0.00</c:formatCode>
                      <c:ptCount val="5"/>
                      <c:pt idx="0">
                        <c:v>45340</c:v>
                      </c:pt>
                      <c:pt idx="1">
                        <c:v>52141</c:v>
                      </c:pt>
                      <c:pt idx="2">
                        <c:v>53063</c:v>
                      </c:pt>
                      <c:pt idx="3">
                        <c:v>80550</c:v>
                      </c:pt>
                      <c:pt idx="4">
                        <c:v>102687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6-A8C8-4EBE-B846-449102666032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'Bảng cân đối kế toán'!$A$81</c:f>
              <c:strCache>
                <c:ptCount val="1"/>
                <c:pt idx="0">
                  <c:v>Tăng trưởng VCSH (%)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5.7820869971127925E-2"/>
                  <c:y val="-4.63580438193879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8C8-4EBE-B846-449102666032}"/>
                </c:ext>
              </c:extLst>
            </c:dLbl>
            <c:dLbl>
              <c:idx val="2"/>
              <c:layout>
                <c:manualLayout>
                  <c:x val="-3.8021453001759027E-2"/>
                  <c:y val="-3.237793410304664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8C8-4EBE-B846-449102666032}"/>
                </c:ext>
              </c:extLst>
            </c:dLbl>
            <c:dLbl>
              <c:idx val="3"/>
              <c:layout>
                <c:manualLayout>
                  <c:x val="-3.9194526570950836E-2"/>
                  <c:y val="-6.724058502906377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8C8-4EBE-B846-449102666032}"/>
                </c:ext>
              </c:extLst>
            </c:dLbl>
            <c:dLbl>
              <c:idx val="4"/>
              <c:layout>
                <c:manualLayout>
                  <c:x val="-4.284946517574497E-2"/>
                  <c:y val="-7.88196384215245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8C8-4EBE-B846-449102666032}"/>
                </c:ext>
              </c:extLst>
            </c:dLbl>
            <c:dLbl>
              <c:idx val="5"/>
              <c:layout>
                <c:manualLayout>
                  <c:x val="-3.1731465385855424E-2"/>
                  <c:y val="-2.737305482459640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8C8-4EBE-B846-44910266603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VN-Gilroy" panose="000005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'Bảng cân đối kế toán'!$U$11:$Z$11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2026F</c:v>
                </c:pt>
              </c:strCache>
              <c:extLst/>
            </c:strRef>
          </c:cat>
          <c:val>
            <c:numRef>
              <c:f>'Bảng cân đối kế toán'!$U$81:$Z$81</c:f>
              <c:numCache>
                <c:formatCode>0.0%</c:formatCode>
                <c:ptCount val="5"/>
                <c:pt idx="0">
                  <c:v>0.274</c:v>
                </c:pt>
                <c:pt idx="1">
                  <c:v>0.215</c:v>
                </c:pt>
                <c:pt idx="2">
                  <c:v>0.224</c:v>
                </c:pt>
                <c:pt idx="3">
                  <c:v>0.221</c:v>
                </c:pt>
                <c:pt idx="4">
                  <c:v>0.212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5-A8C8-4EBE-B846-4491026660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77533935"/>
        <c:axId val="1777535375"/>
      </c:lineChart>
      <c:catAx>
        <c:axId val="1777538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VN-Gilroy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777536335"/>
        <c:crosses val="autoZero"/>
        <c:auto val="1"/>
        <c:lblAlgn val="ctr"/>
        <c:lblOffset val="100"/>
        <c:noMultiLvlLbl val="0"/>
      </c:catAx>
      <c:valAx>
        <c:axId val="1777536335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VN-Gilroy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777538735"/>
        <c:crosses val="autoZero"/>
        <c:crossBetween val="between"/>
      </c:valAx>
      <c:valAx>
        <c:axId val="1777535375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VN-Gilroy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777533935"/>
        <c:crosses val="max"/>
        <c:crossBetween val="between"/>
      </c:valAx>
      <c:catAx>
        <c:axId val="177753393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77535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67939680704562E-4"/>
          <c:y val="0.89671386619055182"/>
          <c:w val="0.9992932060319295"/>
          <c:h val="8.4651921146693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VN-Gilroy" panose="000005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>
          <a:latin typeface="SVN-Gilroy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246686756748"/>
          <c:y val="0.12298370772527673"/>
          <c:w val="0.83735480595789724"/>
          <c:h val="0.57548525108062121"/>
        </c:manualLayout>
      </c:layout>
      <c:areaChart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axId val="1983756111"/>
        <c:axId val="1983780591"/>
      </c:areaChart>
      <c:barChart>
        <c:barDir val="col"/>
        <c:grouping val="clustered"/>
        <c:varyColors val="0"/>
        <c:ser>
          <c:idx val="0"/>
          <c:order val="0"/>
          <c:tx>
            <c:strRef>
              <c:f>'Kết quả kinh doanh'!$A$15</c:f>
              <c:strCache>
                <c:ptCount val="1"/>
                <c:pt idx="0">
                  <c:v>Lợi nhuận trước thuế</c:v>
                </c:pt>
              </c:strCache>
            </c:strRef>
          </c:tx>
          <c:spPr>
            <a:solidFill>
              <a:schemeClr val="tx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'Kết quả kinh doanh'!$U$11:$Y$11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2026F</c:v>
                </c:pt>
              </c:strCache>
            </c:strRef>
          </c:cat>
          <c:val>
            <c:numRef>
              <c:f>('Kết quả kinh doanh'!$B$15:$R$15,'Kết quả kinh doanh'!$U$15:$Y$15)</c:f>
              <c:numCache>
                <c:formatCode>#,##0.00</c:formatCode>
                <c:ptCount val="5"/>
                <c:pt idx="0">
                  <c:v>22729</c:v>
                </c:pt>
                <c:pt idx="1">
                  <c:v>26306</c:v>
                </c:pt>
                <c:pt idx="2">
                  <c:v>28829</c:v>
                </c:pt>
                <c:pt idx="3">
                  <c:v>34268</c:v>
                </c:pt>
                <c:pt idx="4">
                  <c:v>40726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A1-45CC-8CEA-EFD9BB4A2B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983756111"/>
        <c:axId val="1983780591"/>
      </c:barChart>
      <c:catAx>
        <c:axId val="19837561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VN-Gilroy" panose="00000500000000000000" pitchFamily="50" charset="0"/>
                    <a:ea typeface="+mn-ea"/>
                    <a:cs typeface="+mn-cs"/>
                  </a:defRPr>
                </a:pPr>
                <a:r>
                  <a:rPr lang="en-US" sz="2200"/>
                  <a:t>(tỷ)</a:t>
                </a:r>
              </a:p>
            </c:rich>
          </c:tx>
          <c:layout>
            <c:manualLayout>
              <c:xMode val="edge"/>
              <c:yMode val="edge"/>
              <c:x val="5.4943843368143688E-2"/>
              <c:y val="4.8439290421607085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VN-Gilroy" panose="00000500000000000000" pitchFamily="50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VN-Gilroy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983780591"/>
        <c:crosses val="autoZero"/>
        <c:auto val="1"/>
        <c:lblAlgn val="ctr"/>
        <c:lblOffset val="100"/>
        <c:noMultiLvlLbl val="0"/>
      </c:catAx>
      <c:valAx>
        <c:axId val="198378059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VN-Gilroy" panose="00000500000000000000" pitchFamily="50" charset="0"/>
                <a:ea typeface="+mn-ea"/>
                <a:cs typeface="+mn-cs"/>
              </a:defRPr>
            </a:pPr>
            <a:endParaRPr lang="en-US"/>
          </a:p>
        </c:txPr>
        <c:crossAx val="1983756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0738704704359392E-2"/>
          <c:y val="0.80692882935863064"/>
          <c:w val="0.96667486876640418"/>
          <c:h val="0.193071170641369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VN-Gilroy" panose="000005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2400">
          <a:latin typeface="SVN-Gilroy" panose="000005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MBB đang được định giá đúng, hay thị trường chưa trả đủ cho ngân hàng có chi phí vốn rẻ nhất? P/B dự phóng 2026 ~1,2x đi cùng ROE trên 21%.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P/B dự phóng 2026 ~1,2x trên ROE trên 21%. CASA ~38% cuối 2025, cao nhất hệ thống. LNTT 2026 dự phóng 40.726 tỷ, tăng 18,8% so với cùng kỳ.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DC42-0573-292F-026B-3AF257B72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F64CF-C0A2-07FC-9AE5-06D45A9C8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95494-1AD9-8D9B-8D52-52D98750A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Tổng tài sản tăng từ 728.532 tỷ (2022) lên 1.615.764 tỷ cuối 2025, tăng 43%. Mục tiêu vượt 2,1 triệu tỷ năm 2026, vốn điều lệ lên tối đa 102.687 tỷ.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BF06F-ECE5-07D6-2C87-DB97E147C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33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CASA ~38% cuối 2025, dẫn đầu hệ thống. Nhận chuyển giao MBV nên được giao room tín dụng nhóm cao nhất 2026-2028, mục tiêu 30-35%. ROE 2025 đạt 21,1%.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45F80-65E3-DE73-503F-ADC81879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F1E31-F778-2A89-0529-6245F261C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7FEC3-2690-2B86-FC79-731A45D81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LNTT tăng liên tục: 22.729 tỷ (2022), 26.306 tỷ (2023), 28.829 tỷ (2024), 34.268 tỷ (2025) và dự phóng 40.726 tỷ cho năm 2026.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35018-B976-C87C-6992-AFD689E763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98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Tổng tài sản 1.615.764 tỷ cuối 2025, tăng 43%; mục tiêu vượt 2,1 triệu tỷ. Vốn điều lệ lên tối đa 102.687 tỷ, cổ tức 25% gồm 10% tiền mặt và 15% cổ phiếu.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68DF393-E84A-1411-08DB-8FAB3A5643B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7" b="7"/>
          <a:stretch/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30184" y="-84566"/>
            <a:ext cx="8932131" cy="8932131"/>
          </a:xfrm>
          <a:prstGeom prst="ellipse">
            <a:avLst/>
          </a:prstGeom>
          <a:gradFill rotWithShape="1">
            <a:gsLst>
              <a:gs pos="0">
                <a:srgbClr val="1B4F9C">
                  <a:alpha val="10000"/>
                </a:srgbClr>
              </a:gs>
              <a:gs pos="68000">
                <a:srgbClr val="1B4F9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-2289345" y="8378655"/>
            <a:ext cx="6864690" cy="6864689"/>
          </a:xfrm>
          <a:prstGeom prst="ellipse">
            <a:avLst/>
          </a:prstGeom>
          <a:gradFill rotWithShape="1">
            <a:gsLst>
              <a:gs pos="0">
                <a:srgbClr val="1B4F9C">
                  <a:alpha val="6000"/>
                </a:srgbClr>
              </a:gs>
              <a:gs pos="70000">
                <a:srgbClr val="1B4F9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54682" y="7983681"/>
            <a:ext cx="8780318" cy="8780318"/>
          </a:xfrm>
          <a:prstGeom prst="ellipse">
            <a:avLst/>
          </a:prstGeom>
          <a:ln w="8659">
            <a:solidFill>
              <a:srgbClr val="1B4F9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316682" y="8745681"/>
            <a:ext cx="7256318" cy="7256318"/>
          </a:xfrm>
          <a:prstGeom prst="ellipse">
            <a:avLst/>
          </a:prstGeom>
          <a:ln w="8659">
            <a:solidFill>
              <a:srgbClr val="1B4F9C">
                <a:alpha val="1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78682" y="9507681"/>
            <a:ext cx="5732318" cy="5732318"/>
          </a:xfrm>
          <a:prstGeom prst="ellipse">
            <a:avLst/>
          </a:prstGeom>
          <a:ln w="8659">
            <a:solidFill>
              <a:srgbClr val="1B4F9C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631937" y="5562570"/>
            <a:ext cx="5843439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0" b="1" kern="0" spc="-1050">
                <a:solidFill>
                  <a:srgbClr val="1B4F9C">
                    <a:alpha val="5000"/>
                  </a:srgbClr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MBB</a:t>
            </a:r>
            <a:endParaRPr lang="en-US" sz="22500" dirty="0"/>
          </a:p>
        </p:txBody>
      </p:sp>
      <p:sp>
        <p:nvSpPr>
          <p:cNvPr id="9" name="Shape 6"/>
          <p:cNvSpPr/>
          <p:nvPr/>
        </p:nvSpPr>
        <p:spPr>
          <a:xfrm>
            <a:off x="590442" y="666750"/>
            <a:ext cx="9132634" cy="1465010"/>
          </a:xfrm>
          <a:prstGeom prst="roundRect">
            <a:avLst>
              <a:gd name="adj" fmla="val 16904"/>
            </a:avLst>
          </a:prstGeom>
          <a:gradFill rotWithShape="1">
            <a:gsLst>
              <a:gs pos="0">
                <a:srgbClr val="F48120">
                  <a:alpha val="100000"/>
                </a:srgbClr>
              </a:gs>
              <a:gs pos="100000">
                <a:srgbClr val="FE6700">
                  <a:alpha val="100000"/>
                </a:srgbClr>
              </a:gs>
            </a:gsLst>
            <a:lin ang="5400000" scaled="0"/>
          </a:gradFill>
          <a:ln w="8659">
            <a:solidFill>
              <a:srgbClr val="FFE6AB"/>
            </a:solidFill>
            <a:prstDash val="solid"/>
          </a:ln>
          <a:effectLst>
            <a:outerShdw blurRad="285750" dist="95250" dir="5400000" algn="bl" rotWithShape="0">
              <a:srgbClr val="F481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52500" y="952500"/>
            <a:ext cx="1819221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61942" y="1052080"/>
            <a:ext cx="1540371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75" dirty="0">
                <a:solidFill>
                  <a:srgbClr val="FE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HOTSTOCK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83228" y="1047750"/>
            <a:ext cx="21463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MASVN · Jul 2026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952500" y="1600173"/>
            <a:ext cx="4276725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FFE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· Vietnam Banks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590442" y="3048000"/>
            <a:ext cx="3300561" cy="600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75">
                <a:solidFill>
                  <a:srgbClr val="1B4F9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Ngân hàng MB</a:t>
            </a:r>
            <a:endParaRPr lang="en-US" sz="3450" dirty="0"/>
          </a:p>
        </p:txBody>
      </p:sp>
      <p:sp>
        <p:nvSpPr>
          <p:cNvPr id="15" name="Shape 12"/>
          <p:cNvSpPr/>
          <p:nvPr/>
        </p:nvSpPr>
        <p:spPr>
          <a:xfrm>
            <a:off x="3800394" y="3177886"/>
            <a:ext cx="17318" cy="303068"/>
          </a:xfrm>
          <a:prstGeom prst="rect">
            <a:avLst/>
          </a:prstGeom>
          <a:solidFill>
            <a:srgbClr val="D9C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027262" y="3177886"/>
            <a:ext cx="1576482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25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HOSE · MBB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590442" y="4191000"/>
            <a:ext cx="10026848" cy="971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350" b="1" kern="0" spc="-75" dirty="0">
                <a:solidFill>
                  <a:srgbClr val="0A254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Ngân </a:t>
            </a:r>
            <a:r>
              <a:rPr lang="en-US" sz="7350" b="1" kern="0" spc="-75" dirty="0" err="1">
                <a:solidFill>
                  <a:srgbClr val="0A254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hàng</a:t>
            </a:r>
            <a:endParaRPr lang="en-US" sz="7350" dirty="0"/>
          </a:p>
        </p:txBody>
      </p:sp>
      <p:sp>
        <p:nvSpPr>
          <p:cNvPr id="18" name="Text 15"/>
          <p:cNvSpPr/>
          <p:nvPr/>
        </p:nvSpPr>
        <p:spPr>
          <a:xfrm>
            <a:off x="590442" y="5200596"/>
            <a:ext cx="10026848" cy="101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350" b="1" i="1" kern="0" spc="-75">
                <a:solidFill>
                  <a:srgbClr val="FE6700"/>
                </a:solidFill>
                <a:latin typeface="Lora" pitchFamily="34" charset="0"/>
              </a:rPr>
              <a:t>Dẫn đầu về CASA</a:t>
            </a:r>
            <a:endParaRPr lang="en-US" sz="7350" dirty="0"/>
          </a:p>
        </p:txBody>
      </p:sp>
      <p:sp>
        <p:nvSpPr>
          <p:cNvPr id="19" name="Text 16"/>
          <p:cNvSpPr/>
          <p:nvPr/>
        </p:nvSpPr>
        <p:spPr>
          <a:xfrm>
            <a:off x="590442" y="8096250"/>
            <a:ext cx="8829674" cy="997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i="1">
                <a:solidFill>
                  <a:srgbClr val="2A2A2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CASA ~38% — chi phí vốn rẻ nhất toàn hệ thống.</a:t>
            </a:r>
            <a:endParaRPr lang="en-US" sz="2700" dirty="0"/>
          </a:p>
        </p:txBody>
      </p:sp>
      <p:sp>
        <p:nvSpPr>
          <p:cNvPr id="20" name="Shape 17"/>
          <p:cNvSpPr/>
          <p:nvPr/>
        </p:nvSpPr>
        <p:spPr>
          <a:xfrm>
            <a:off x="590442" y="9524999"/>
            <a:ext cx="4371894" cy="2857500"/>
          </a:xfrm>
          <a:prstGeom prst="roundRect">
            <a:avLst>
              <a:gd name="adj" fmla="val 1333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0442" y="9524999"/>
            <a:ext cx="142875" cy="2857500"/>
          </a:xfrm>
          <a:prstGeom prst="rect">
            <a:avLst/>
          </a:prstGeom>
          <a:solidFill>
            <a:srgbClr val="F481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104711" y="9963095"/>
            <a:ext cx="201691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00" dirty="0">
                <a:solidFill>
                  <a:srgbClr val="F48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ĐỊNH GIÁ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1104711" y="10477500"/>
            <a:ext cx="2319486" cy="722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Hợp lý</a:t>
            </a:r>
            <a:endParaRPr lang="en-US" sz="4200" dirty="0"/>
          </a:p>
        </p:txBody>
      </p:sp>
      <p:sp>
        <p:nvSpPr>
          <p:cNvPr id="24" name="Text 21"/>
          <p:cNvSpPr/>
          <p:nvPr/>
        </p:nvSpPr>
        <p:spPr>
          <a:xfrm>
            <a:off x="1104711" y="11391845"/>
            <a:ext cx="3876675" cy="397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>
                <a:solidFill>
                  <a:srgbClr val="FFE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P/B fwd ~1,2x · ROE 21%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5324394" y="9524999"/>
            <a:ext cx="4371894" cy="2857500"/>
          </a:xfrm>
          <a:prstGeom prst="roundRect">
            <a:avLst>
              <a:gd name="adj" fmla="val 1333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324394" y="9524999"/>
            <a:ext cx="142875" cy="2857500"/>
          </a:xfrm>
          <a:prstGeom prst="rect">
            <a:avLst/>
          </a:prstGeom>
          <a:solidFill>
            <a:srgbClr val="F481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838662" y="9963095"/>
            <a:ext cx="2002333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00" dirty="0">
                <a:solidFill>
                  <a:srgbClr val="F48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CATALYST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5838662" y="10477500"/>
            <a:ext cx="2533055" cy="722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Bứt tốc</a:t>
            </a:r>
            <a:endParaRPr lang="en-US" sz="4200" dirty="0"/>
          </a:p>
        </p:txBody>
      </p:sp>
      <p:sp>
        <p:nvSpPr>
          <p:cNvPr id="29" name="Text 26"/>
          <p:cNvSpPr/>
          <p:nvPr/>
        </p:nvSpPr>
        <p:spPr>
          <a:xfrm>
            <a:off x="5838662" y="11391845"/>
            <a:ext cx="3629978" cy="757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>
                <a:solidFill>
                  <a:srgbClr val="FFE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tín dụng cao nhất · tăng vốn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590442" y="13141118"/>
            <a:ext cx="2124373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case tăng trưởng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8464396" y="13141118"/>
            <a:ext cx="1365498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HotStock · MBB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7" b="7"/>
          <a:stretch/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0442" y="666750"/>
            <a:ext cx="9132634" cy="1198337"/>
          </a:xfrm>
          <a:prstGeom prst="roundRect">
            <a:avLst>
              <a:gd name="adj" fmla="val 20666"/>
            </a:avLst>
          </a:prstGeom>
          <a:gradFill rotWithShape="1">
            <a:gsLst>
              <a:gs pos="0">
                <a:srgbClr val="F48120">
                  <a:alpha val="100000"/>
                </a:srgbClr>
              </a:gs>
              <a:gs pos="100000">
                <a:srgbClr val="FE6700">
                  <a:alpha val="100000"/>
                </a:srgbClr>
              </a:gs>
            </a:gsLst>
            <a:lin ang="5400000" scaled="0"/>
          </a:gradFill>
          <a:ln w="8659">
            <a:solidFill>
              <a:srgbClr val="FFE6AB"/>
            </a:solidFill>
            <a:prstDash val="solid"/>
          </a:ln>
          <a:effectLst>
            <a:outerShdw blurRad="285750" dist="95250" dir="5400000" algn="bl" rotWithShape="0">
              <a:srgbClr val="F481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52500" y="914346"/>
            <a:ext cx="1263578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FFE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METRICS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52500" y="1219173"/>
            <a:ext cx="9220199" cy="410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Định giá hợp lý trên nền sinh lời đầu ngành</a:t>
            </a:r>
            <a:endParaRPr lang="en-US" sz="2325" dirty="0"/>
          </a:p>
        </p:txBody>
      </p:sp>
      <p:sp>
        <p:nvSpPr>
          <p:cNvPr id="6" name="Text 3"/>
          <p:cNvSpPr/>
          <p:nvPr/>
        </p:nvSpPr>
        <p:spPr>
          <a:xfrm>
            <a:off x="590442" y="2190750"/>
            <a:ext cx="3138934" cy="54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150">
                <a:solidFill>
                  <a:srgbClr val="1B4F9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Ngân hàng MB</a:t>
            </a:r>
            <a:endParaRPr lang="en-US" sz="3150" dirty="0"/>
          </a:p>
        </p:txBody>
      </p:sp>
      <p:sp>
        <p:nvSpPr>
          <p:cNvPr id="7" name="Shape 4"/>
          <p:cNvSpPr/>
          <p:nvPr/>
        </p:nvSpPr>
        <p:spPr>
          <a:xfrm>
            <a:off x="3615441" y="2342284"/>
            <a:ext cx="17318" cy="207818"/>
          </a:xfrm>
          <a:prstGeom prst="rect">
            <a:avLst/>
          </a:prstGeom>
          <a:solidFill>
            <a:srgbClr val="D9C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04209" y="2342284"/>
            <a:ext cx="1191464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25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HOSE · MBB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80971" y="3790923"/>
            <a:ext cx="9115316" cy="2695548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/>
          <a:effectLst>
            <a:outerShdw blurRad="209550" dist="5715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80971" y="3790923"/>
            <a:ext cx="142875" cy="2695548"/>
          </a:xfrm>
          <a:prstGeom prst="roundRect">
            <a:avLst>
              <a:gd name="adj" fmla="val 26667"/>
            </a:avLst>
          </a:prstGeom>
          <a:solidFill>
            <a:srgbClr val="F481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52500" y="3790923"/>
            <a:ext cx="4699265" cy="2733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850" b="1" kern="0" spc="-150">
                <a:solidFill>
                  <a:srgbClr val="0A254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1,2x</a:t>
            </a:r>
            <a:endParaRPr lang="en-US" sz="8850" dirty="0"/>
          </a:p>
        </p:txBody>
      </p:sp>
      <p:sp>
        <p:nvSpPr>
          <p:cNvPr id="12" name="Text 9"/>
          <p:cNvSpPr/>
          <p:nvPr/>
        </p:nvSpPr>
        <p:spPr>
          <a:xfrm>
            <a:off x="5600673" y="4476750"/>
            <a:ext cx="2258764" cy="410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150">
                <a:solidFill>
                  <a:srgbClr val="FE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P/B DỰ PHÓNG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600673" y="5029173"/>
            <a:ext cx="4306193" cy="34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giá trị sổ sách dự phóng năm 2026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80971" y="6810375"/>
            <a:ext cx="9115316" cy="2695548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/>
          <a:effectLst>
            <a:outerShdw blurRad="209550" dist="5715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80971" y="6810375"/>
            <a:ext cx="142875" cy="2695548"/>
          </a:xfrm>
          <a:prstGeom prst="roundRect">
            <a:avLst>
              <a:gd name="adj" fmla="val 26667"/>
            </a:avLst>
          </a:prstGeom>
          <a:solidFill>
            <a:srgbClr val="F481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52500" y="6810375"/>
            <a:ext cx="4699265" cy="2733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850" b="1" kern="0" spc="-150">
                <a:solidFill>
                  <a:srgbClr val="0A254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38%</a:t>
            </a:r>
            <a:endParaRPr lang="en-US" sz="8850" dirty="0"/>
          </a:p>
        </p:txBody>
      </p:sp>
      <p:sp>
        <p:nvSpPr>
          <p:cNvPr id="17" name="Text 14"/>
          <p:cNvSpPr/>
          <p:nvPr/>
        </p:nvSpPr>
        <p:spPr>
          <a:xfrm>
            <a:off x="5600673" y="7496066"/>
            <a:ext cx="1717774" cy="410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150">
                <a:solidFill>
                  <a:srgbClr val="FE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2025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600673" y="8048625"/>
            <a:ext cx="4032162" cy="65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tiền gửi không kỳ hạn cao nhất hệ thống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80971" y="9829692"/>
            <a:ext cx="9115316" cy="2695548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/>
          <a:effectLst>
            <a:outerShdw blurRad="209550" dist="5715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80971" y="9829692"/>
            <a:ext cx="142875" cy="2695548"/>
          </a:xfrm>
          <a:prstGeom prst="roundRect">
            <a:avLst>
              <a:gd name="adj" fmla="val 26667"/>
            </a:avLst>
          </a:prstGeom>
          <a:solidFill>
            <a:srgbClr val="F481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52500" y="9829692"/>
            <a:ext cx="4699265" cy="2733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800" b="1" kern="0" spc="-150">
                <a:solidFill>
                  <a:srgbClr val="0A254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+18,8%</a:t>
            </a:r>
            <a:endParaRPr lang="en-US" sz="7800" dirty="0"/>
          </a:p>
        </p:txBody>
      </p:sp>
      <p:sp>
        <p:nvSpPr>
          <p:cNvPr id="22" name="Text 19"/>
          <p:cNvSpPr/>
          <p:nvPr/>
        </p:nvSpPr>
        <p:spPr>
          <a:xfrm>
            <a:off x="5600673" y="10467894"/>
            <a:ext cx="3022550" cy="410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150">
                <a:solidFill>
                  <a:srgbClr val="FE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LNTT 2026F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600673" y="11020317"/>
            <a:ext cx="4120515" cy="65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nhuận trước thuế dự phóng 40.726 tỷ đồng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90442" y="13222431"/>
            <a:ext cx="1836539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giá &amp; sinh lời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214355" y="13222431"/>
            <a:ext cx="567603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C1BF1-7311-7D60-8687-DE26DEBA1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7222506-71F1-5459-C1B9-1806AFE7C0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" b="7"/>
          <a:stretch/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F48F86E-6F71-E6AB-2879-9464DFC20055}"/>
              </a:ext>
            </a:extLst>
          </p:cNvPr>
          <p:cNvSpPr/>
          <p:nvPr/>
        </p:nvSpPr>
        <p:spPr>
          <a:xfrm>
            <a:off x="590442" y="666750"/>
            <a:ext cx="9132634" cy="1198337"/>
          </a:xfrm>
          <a:prstGeom prst="roundRect">
            <a:avLst>
              <a:gd name="adj" fmla="val 20666"/>
            </a:avLst>
          </a:prstGeom>
          <a:gradFill rotWithShape="1">
            <a:gsLst>
              <a:gs pos="0">
                <a:srgbClr val="F48120">
                  <a:alpha val="100000"/>
                </a:srgbClr>
              </a:gs>
              <a:gs pos="100000">
                <a:srgbClr val="FE6700">
                  <a:alpha val="100000"/>
                </a:srgbClr>
              </a:gs>
            </a:gsLst>
            <a:lin ang="5400000" scaled="0"/>
          </a:gradFill>
          <a:ln w="8659">
            <a:solidFill>
              <a:srgbClr val="FFE6AB"/>
            </a:solidFill>
            <a:prstDash val="solid"/>
          </a:ln>
          <a:effectLst>
            <a:outerShdw blurRad="285750" dist="95250" dir="5400000" algn="bl" rotWithShape="0">
              <a:srgbClr val="F481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5D1179D-75C7-C98D-BC7C-CE4A14365D80}"/>
              </a:ext>
            </a:extLst>
          </p:cNvPr>
          <p:cNvSpPr/>
          <p:nvPr/>
        </p:nvSpPr>
        <p:spPr>
          <a:xfrm>
            <a:off x="952500" y="914346"/>
            <a:ext cx="1263578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FFE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METRICS</a:t>
            </a:r>
            <a:endParaRPr lang="en-US" sz="1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A56C3D4-8583-C5A4-FDC5-E708B2C62441}"/>
              </a:ext>
            </a:extLst>
          </p:cNvPr>
          <p:cNvSpPr/>
          <p:nvPr/>
        </p:nvSpPr>
        <p:spPr>
          <a:xfrm>
            <a:off x="952500" y="1219173"/>
            <a:ext cx="9220199" cy="410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Định giá hợp lý trên nền sinh lời đầu ngành</a:t>
            </a:r>
            <a:endParaRPr lang="en-US" sz="2325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4CB425B-C478-E229-F195-782F085097EF}"/>
              </a:ext>
            </a:extLst>
          </p:cNvPr>
          <p:cNvSpPr/>
          <p:nvPr/>
        </p:nvSpPr>
        <p:spPr>
          <a:xfrm>
            <a:off x="590442" y="2190750"/>
            <a:ext cx="3138934" cy="54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150">
                <a:solidFill>
                  <a:srgbClr val="1B4F9C"/>
                </a:solidFill>
                <a:latin typeface="SVN-Gilroy" panose="00000500000000000000" pitchFamily="50" charset="0"/>
                <a:ea typeface="Lora" pitchFamily="34" charset="-122"/>
                <a:cs typeface="Lora" pitchFamily="34" charset="-120"/>
              </a:rPr>
              <a:t>Ngân hàng MB</a:t>
            </a:r>
            <a:endParaRPr lang="en-US" sz="3150" dirty="0">
              <a:latin typeface="SVN-Gilroy" panose="00000500000000000000" pitchFamily="50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589D896-9616-5F90-D859-BB8C770A6167}"/>
              </a:ext>
            </a:extLst>
          </p:cNvPr>
          <p:cNvSpPr/>
          <p:nvPr/>
        </p:nvSpPr>
        <p:spPr>
          <a:xfrm>
            <a:off x="3615441" y="2342284"/>
            <a:ext cx="17318" cy="207818"/>
          </a:xfrm>
          <a:prstGeom prst="rect">
            <a:avLst/>
          </a:prstGeom>
          <a:solidFill>
            <a:srgbClr val="D9C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51AA2C3-5386-6A3B-263D-B7CE9755A801}"/>
              </a:ext>
            </a:extLst>
          </p:cNvPr>
          <p:cNvSpPr/>
          <p:nvPr/>
        </p:nvSpPr>
        <p:spPr>
          <a:xfrm>
            <a:off x="3804209" y="2342284"/>
            <a:ext cx="1191464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25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HOSE · MBB</a:t>
            </a:r>
            <a:endParaRPr lang="en-US" sz="1350" dirty="0"/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0207CCB4-291B-4943-7C6E-F1E60CF851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8840466"/>
              </p:ext>
            </p:extLst>
          </p:nvPr>
        </p:nvGraphicFramePr>
        <p:xfrm>
          <a:off x="1138687" y="3554083"/>
          <a:ext cx="7729268" cy="87471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14">
            <a:extLst>
              <a:ext uri="{FF2B5EF4-FFF2-40B4-BE49-F238E27FC236}">
                <a16:creationId xmlns:a16="http://schemas.microsoft.com/office/drawing/2014/main" id="{F892186C-EE57-E50F-AC36-8083DEFBDE5E}"/>
              </a:ext>
            </a:extLst>
          </p:cNvPr>
          <p:cNvSpPr/>
          <p:nvPr/>
        </p:nvSpPr>
        <p:spPr>
          <a:xfrm>
            <a:off x="2022660" y="2954273"/>
            <a:ext cx="6672767" cy="971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-75">
                <a:solidFill>
                  <a:srgbClr val="0A2540"/>
                </a:solidFill>
                <a:latin typeface="SVN-Gilroy" panose="00000500000000000000" pitchFamily="50" charset="0"/>
                <a:ea typeface="Lora" pitchFamily="34" charset="-122"/>
                <a:cs typeface="Lora" pitchFamily="34" charset="-120"/>
              </a:rPr>
              <a:t>Quy mô tài sản và vốn tăng tốc </a:t>
            </a:r>
            <a:endParaRPr lang="en-US" sz="2800" dirty="0">
              <a:latin typeface="SVN-Gilro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984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7" b="7"/>
          <a:stretch/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0442" y="666750"/>
            <a:ext cx="9132634" cy="1198337"/>
          </a:xfrm>
          <a:prstGeom prst="roundRect">
            <a:avLst>
              <a:gd name="adj" fmla="val 20666"/>
            </a:avLst>
          </a:prstGeom>
          <a:gradFill rotWithShape="1">
            <a:gsLst>
              <a:gs pos="0">
                <a:srgbClr val="F48120">
                  <a:alpha val="100000"/>
                </a:srgbClr>
              </a:gs>
              <a:gs pos="100000">
                <a:srgbClr val="FE6700">
                  <a:alpha val="100000"/>
                </a:srgbClr>
              </a:gs>
            </a:gsLst>
            <a:lin ang="5400000" scaled="0"/>
          </a:gradFill>
          <a:ln w="8659">
            <a:solidFill>
              <a:srgbClr val="FFE6AB"/>
            </a:solidFill>
            <a:prstDash val="solid"/>
          </a:ln>
          <a:effectLst>
            <a:outerShdw blurRad="285750" dist="95250" dir="5400000" algn="bl" rotWithShape="0">
              <a:srgbClr val="F481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52499" y="869346"/>
            <a:ext cx="2673987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FFE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FUNDAMENTALS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52500" y="1219173"/>
            <a:ext cx="9220199" cy="410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Lợi thế vốn rẻ và dư địa tín dụng vượt trội</a:t>
            </a:r>
            <a:endParaRPr lang="en-US" sz="2325" dirty="0"/>
          </a:p>
        </p:txBody>
      </p:sp>
      <p:sp>
        <p:nvSpPr>
          <p:cNvPr id="6" name="Text 3"/>
          <p:cNvSpPr/>
          <p:nvPr/>
        </p:nvSpPr>
        <p:spPr>
          <a:xfrm>
            <a:off x="590442" y="2247846"/>
            <a:ext cx="10026848" cy="358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dẫn đầu hệ thống giúp MBB giữ chi phí vốn thấp nhất trong khi tín dụng tăng tốc.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80971" y="3790923"/>
            <a:ext cx="9115316" cy="2695548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/>
          <a:effectLst>
            <a:outerShdw blurRad="209550" dist="5715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971" y="3790923"/>
            <a:ext cx="142875" cy="2695548"/>
          </a:xfrm>
          <a:prstGeom prst="roundRect">
            <a:avLst>
              <a:gd name="adj" fmla="val 26667"/>
            </a:avLst>
          </a:prstGeom>
          <a:solidFill>
            <a:srgbClr val="F481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52500" y="4440625"/>
            <a:ext cx="157178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75">
                <a:solidFill>
                  <a:srgbClr val="0A254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CASA</a:t>
            </a:r>
            <a:endParaRPr lang="en-US" sz="4650" dirty="0"/>
          </a:p>
        </p:txBody>
      </p:sp>
      <p:sp>
        <p:nvSpPr>
          <p:cNvPr id="10" name="Text 7"/>
          <p:cNvSpPr/>
          <p:nvPr/>
        </p:nvSpPr>
        <p:spPr>
          <a:xfrm>
            <a:off x="952500" y="5060697"/>
            <a:ext cx="21083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75">
                <a:solidFill>
                  <a:srgbClr val="0A254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số một</a:t>
            </a:r>
            <a:endParaRPr lang="en-US" sz="4650" dirty="0"/>
          </a:p>
        </p:txBody>
      </p:sp>
      <p:sp>
        <p:nvSpPr>
          <p:cNvPr id="11" name="Text 8"/>
          <p:cNvSpPr/>
          <p:nvPr/>
        </p:nvSpPr>
        <p:spPr>
          <a:xfrm>
            <a:off x="5600673" y="4381500"/>
            <a:ext cx="3017193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kern="0" spc="150">
                <a:solidFill>
                  <a:srgbClr val="FE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VỐN RẺ &amp; NIM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5600673" y="4953000"/>
            <a:ext cx="4032162" cy="678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~38% cuối 2025, cao nhất hệ thống, số dư tăng ~27% so với cùng kỳ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80971" y="6810375"/>
            <a:ext cx="9115316" cy="2695548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/>
          <a:effectLst>
            <a:outerShdw blurRad="209550" dist="5715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80971" y="6810375"/>
            <a:ext cx="142875" cy="2695548"/>
          </a:xfrm>
          <a:prstGeom prst="roundRect">
            <a:avLst>
              <a:gd name="adj" fmla="val 26667"/>
            </a:avLst>
          </a:prstGeom>
          <a:solidFill>
            <a:srgbClr val="F481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52500" y="7460077"/>
            <a:ext cx="267398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75">
                <a:solidFill>
                  <a:srgbClr val="0A254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Tín dụng</a:t>
            </a:r>
            <a:endParaRPr lang="en-US" sz="4650" dirty="0"/>
          </a:p>
        </p:txBody>
      </p:sp>
      <p:sp>
        <p:nvSpPr>
          <p:cNvPr id="16" name="Text 13"/>
          <p:cNvSpPr/>
          <p:nvPr/>
        </p:nvSpPr>
        <p:spPr>
          <a:xfrm>
            <a:off x="952500" y="8080149"/>
            <a:ext cx="15670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75">
                <a:solidFill>
                  <a:srgbClr val="0A254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bứt tốc</a:t>
            </a:r>
            <a:endParaRPr lang="en-US" sz="4650" dirty="0"/>
          </a:p>
        </p:txBody>
      </p:sp>
      <p:sp>
        <p:nvSpPr>
          <p:cNvPr id="17" name="Text 14"/>
          <p:cNvSpPr/>
          <p:nvPr/>
        </p:nvSpPr>
        <p:spPr>
          <a:xfrm>
            <a:off x="5600673" y="7400816"/>
            <a:ext cx="2636788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kern="0" spc="150">
                <a:solidFill>
                  <a:srgbClr val="FE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GIAO MBV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5600673" y="7972316"/>
            <a:ext cx="4032162" cy="678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mức tăng trưởng tín dụng nhóm cao nhất giai đoạn 2026–2028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80971" y="9829692"/>
            <a:ext cx="9115316" cy="2695548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/>
          <a:effectLst>
            <a:outerShdw blurRad="209550" dist="57150" dir="5400000" algn="bl" rotWithShape="0">
              <a:srgbClr val="0A254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80971" y="9829692"/>
            <a:ext cx="142875" cy="2695548"/>
          </a:xfrm>
          <a:prstGeom prst="roundRect">
            <a:avLst>
              <a:gd name="adj" fmla="val 26667"/>
            </a:avLst>
          </a:prstGeom>
          <a:solidFill>
            <a:srgbClr val="F481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52500" y="10479394"/>
            <a:ext cx="19856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75">
                <a:solidFill>
                  <a:srgbClr val="0A254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ROE</a:t>
            </a:r>
            <a:endParaRPr lang="en-US" sz="4650" dirty="0"/>
          </a:p>
        </p:txBody>
      </p:sp>
      <p:sp>
        <p:nvSpPr>
          <p:cNvPr id="22" name="Text 19"/>
          <p:cNvSpPr/>
          <p:nvPr/>
        </p:nvSpPr>
        <p:spPr>
          <a:xfrm>
            <a:off x="952500" y="11099466"/>
            <a:ext cx="243959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kern="0" spc="-75">
                <a:solidFill>
                  <a:srgbClr val="0A254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21,1%</a:t>
            </a:r>
            <a:endParaRPr lang="en-US" sz="4650" dirty="0"/>
          </a:p>
        </p:txBody>
      </p:sp>
      <p:sp>
        <p:nvSpPr>
          <p:cNvPr id="23" name="Text 20"/>
          <p:cNvSpPr/>
          <p:nvPr/>
        </p:nvSpPr>
        <p:spPr>
          <a:xfrm>
            <a:off x="5600673" y="10401192"/>
            <a:ext cx="3639592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kern="0" spc="75">
                <a:solidFill>
                  <a:srgbClr val="FE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LỜI · HIỆU QUẢ VỐN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5600673" y="10934672"/>
            <a:ext cx="4120515" cy="678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2025 thuộc nhóm cao nhất khối ngân hàng lớn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90442" y="13222431"/>
            <a:ext cx="1388566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thế cạnh tranh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9214355" y="13222431"/>
            <a:ext cx="567603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8A741-CFB5-CE94-0874-1AB6139D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763A183-1312-A6F4-56F2-76F2512A45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" b="7"/>
          <a:stretch/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494FB21-A87C-AEA4-F78B-250C1022867F}"/>
              </a:ext>
            </a:extLst>
          </p:cNvPr>
          <p:cNvSpPr/>
          <p:nvPr/>
        </p:nvSpPr>
        <p:spPr>
          <a:xfrm>
            <a:off x="590442" y="666750"/>
            <a:ext cx="9132634" cy="1198337"/>
          </a:xfrm>
          <a:prstGeom prst="roundRect">
            <a:avLst>
              <a:gd name="adj" fmla="val 20666"/>
            </a:avLst>
          </a:prstGeom>
          <a:gradFill rotWithShape="1">
            <a:gsLst>
              <a:gs pos="0">
                <a:srgbClr val="F48120">
                  <a:alpha val="100000"/>
                </a:srgbClr>
              </a:gs>
              <a:gs pos="100000">
                <a:srgbClr val="FE6700">
                  <a:alpha val="100000"/>
                </a:srgbClr>
              </a:gs>
            </a:gsLst>
            <a:lin ang="5400000" scaled="0"/>
          </a:gradFill>
          <a:ln w="8659">
            <a:solidFill>
              <a:srgbClr val="FFE6AB"/>
            </a:solidFill>
            <a:prstDash val="solid"/>
          </a:ln>
          <a:effectLst>
            <a:outerShdw blurRad="285750" dist="95250" dir="5400000" algn="bl" rotWithShape="0">
              <a:srgbClr val="F481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3DCDB8B-65C7-5E6F-329F-8F83862B8EC3}"/>
              </a:ext>
            </a:extLst>
          </p:cNvPr>
          <p:cNvSpPr/>
          <p:nvPr/>
        </p:nvSpPr>
        <p:spPr>
          <a:xfrm>
            <a:off x="952499" y="869346"/>
            <a:ext cx="2673987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FFE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FUNDAMENTALS</a:t>
            </a:r>
            <a:endParaRPr lang="en-US" sz="1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4E2D231-9614-C5B9-BB48-EF1756B1CD47}"/>
              </a:ext>
            </a:extLst>
          </p:cNvPr>
          <p:cNvSpPr/>
          <p:nvPr/>
        </p:nvSpPr>
        <p:spPr>
          <a:xfrm>
            <a:off x="952500" y="1219173"/>
            <a:ext cx="9220199" cy="410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Lợi thế vốn rẻ và dư địa tín dụng vượt trội</a:t>
            </a:r>
            <a:endParaRPr lang="en-US" sz="2325" dirty="0"/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08FBA4B9-E5E3-B298-B12E-82F558E82C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0966214"/>
              </p:ext>
            </p:extLst>
          </p:nvPr>
        </p:nvGraphicFramePr>
        <p:xfrm>
          <a:off x="1220722" y="2988821"/>
          <a:ext cx="7845556" cy="9176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14">
            <a:extLst>
              <a:ext uri="{FF2B5EF4-FFF2-40B4-BE49-F238E27FC236}">
                <a16:creationId xmlns:a16="http://schemas.microsoft.com/office/drawing/2014/main" id="{2B2EA38B-2F9B-E323-1519-BBE9747F1DFB}"/>
              </a:ext>
            </a:extLst>
          </p:cNvPr>
          <p:cNvSpPr/>
          <p:nvPr/>
        </p:nvSpPr>
        <p:spPr>
          <a:xfrm>
            <a:off x="1341492" y="2267586"/>
            <a:ext cx="8044048" cy="971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vi-VN" sz="2800" b="1" kern="0" spc="-75">
                <a:solidFill>
                  <a:srgbClr val="0A2540"/>
                </a:solidFill>
                <a:latin typeface="SVN-Gilroy" panose="00000500000000000000" pitchFamily="50" charset="0"/>
                <a:ea typeface="Lora" pitchFamily="34" charset="-122"/>
                <a:cs typeface="Lora" pitchFamily="34" charset="-120"/>
              </a:rPr>
              <a:t>Lợi nhuận trước thuế nối dài chuỗi tăng trưởng, dự phóng vượt 40.000 tỷ đồng trong năm 2026.</a:t>
            </a:r>
          </a:p>
        </p:txBody>
      </p:sp>
    </p:spTree>
    <p:extLst>
      <p:ext uri="{BB962C8B-B14F-4D97-AF65-F5344CB8AC3E}">
        <p14:creationId xmlns:p14="http://schemas.microsoft.com/office/powerpoint/2010/main" val="202423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7" b="7"/>
          <a:stretch/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0442" y="666750"/>
            <a:ext cx="9132634" cy="1198337"/>
          </a:xfrm>
          <a:prstGeom prst="roundRect">
            <a:avLst>
              <a:gd name="adj" fmla="val 20666"/>
            </a:avLst>
          </a:prstGeom>
          <a:gradFill rotWithShape="1">
            <a:gsLst>
              <a:gs pos="0">
                <a:srgbClr val="F48120">
                  <a:alpha val="100000"/>
                </a:srgbClr>
              </a:gs>
              <a:gs pos="100000">
                <a:srgbClr val="FE6700">
                  <a:alpha val="100000"/>
                </a:srgbClr>
              </a:gs>
            </a:gsLst>
            <a:lin ang="5400000" scaled="0"/>
          </a:gradFill>
          <a:ln w="8659">
            <a:solidFill>
              <a:srgbClr val="FFE6AB"/>
            </a:solidFill>
            <a:prstDash val="solid"/>
          </a:ln>
          <a:effectLst>
            <a:outerShdw blurRad="285750" dist="95250" dir="5400000" algn="bl" rotWithShape="0">
              <a:srgbClr val="F4812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52500" y="914346"/>
            <a:ext cx="1432024" cy="271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FFE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CATALYST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52500" y="1219173"/>
            <a:ext cx="9220199" cy="410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Bứt tốc quy mô &amp; tăng vốn điều lệ</a:t>
            </a:r>
            <a:endParaRPr lang="en-US" sz="2325" dirty="0"/>
          </a:p>
        </p:txBody>
      </p:sp>
      <p:sp>
        <p:nvSpPr>
          <p:cNvPr id="6" name="Text 3"/>
          <p:cNvSpPr/>
          <p:nvPr/>
        </p:nvSpPr>
        <p:spPr>
          <a:xfrm>
            <a:off x="580971" y="2247846"/>
            <a:ext cx="9388776" cy="701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tổng tài sản tăng 43% trong năm 2025, MBB đặt mục tiêu vượt 2,1 triệu tỷ đồng và nâng vốn điều lệ lên hơn 102.000 tỷ đồng năm 2026.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80971" y="3600423"/>
            <a:ext cx="9115316" cy="4295721"/>
          </a:xfrm>
          <a:prstGeom prst="roundRect">
            <a:avLst>
              <a:gd name="adj" fmla="val 887"/>
            </a:avLst>
          </a:prstGeom>
          <a:solidFill>
            <a:srgbClr val="FFFFFF"/>
          </a:solidFill>
          <a:ln/>
          <a:effectLst>
            <a:outerShdw blurRad="209550" dist="57150" dir="5400000" algn="bl" rotWithShape="0">
              <a:srgbClr val="0A254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971" y="3600423"/>
            <a:ext cx="9115316" cy="771471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80971" y="3600423"/>
            <a:ext cx="142875" cy="4295721"/>
          </a:xfrm>
          <a:prstGeom prst="rect">
            <a:avLst/>
          </a:prstGeom>
          <a:solidFill>
            <a:srgbClr val="F481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99990" y="3809865"/>
            <a:ext cx="2638871" cy="45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75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TỔNG TÀI SẢN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7895602" y="3828942"/>
            <a:ext cx="1534012" cy="323769"/>
          </a:xfrm>
          <a:prstGeom prst="roundRect">
            <a:avLst>
              <a:gd name="adj" fmla="val 11768"/>
            </a:avLst>
          </a:prstGeom>
          <a:solidFill>
            <a:srgbClr val="FFE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48002" y="3828942"/>
            <a:ext cx="1305412" cy="361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50">
                <a:solidFill>
                  <a:srgbClr val="C04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2026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99990" y="4724346"/>
            <a:ext cx="4729162" cy="860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b="1" kern="0" spc="-150">
                <a:solidFill>
                  <a:srgbClr val="0A254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2,1 triệu tỷ</a:t>
            </a:r>
            <a:endParaRPr lang="en-US" sz="7200" dirty="0"/>
          </a:p>
        </p:txBody>
      </p:sp>
      <p:sp>
        <p:nvSpPr>
          <p:cNvPr id="14" name="Text 11"/>
          <p:cNvSpPr/>
          <p:nvPr/>
        </p:nvSpPr>
        <p:spPr>
          <a:xfrm>
            <a:off x="999990" y="5962596"/>
            <a:ext cx="863345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tài sản đạt 1.615.764 tỷ đồng cuối 2025, tăng 43%; mục tiêu vượt 2,1 triệu tỷ năm 2026.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999990" y="7029423"/>
            <a:ext cx="410527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E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 dụng mục tiêu tăng 30–35% năm 2026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80971" y="8258066"/>
            <a:ext cx="9115316" cy="4295721"/>
          </a:xfrm>
          <a:prstGeom prst="roundRect">
            <a:avLst>
              <a:gd name="adj" fmla="val 887"/>
            </a:avLst>
          </a:prstGeom>
          <a:solidFill>
            <a:srgbClr val="FFFFFF"/>
          </a:solidFill>
          <a:ln/>
          <a:effectLst>
            <a:outerShdw blurRad="209550" dist="57150" dir="5400000" algn="bl" rotWithShape="0">
              <a:srgbClr val="0A254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80971" y="8258066"/>
            <a:ext cx="9115316" cy="771471"/>
          </a:xfrm>
          <a:prstGeom prst="rect">
            <a:avLst/>
          </a:prstGeom>
          <a:solidFill>
            <a:srgbClr val="F481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80971" y="8258066"/>
            <a:ext cx="142875" cy="4295721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99990" y="8467508"/>
            <a:ext cx="2853035" cy="45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75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TĂNG VỐN</a:t>
            </a:r>
            <a:endParaRPr lang="en-US" sz="2550" dirty="0"/>
          </a:p>
        </p:txBody>
      </p:sp>
      <p:sp>
        <p:nvSpPr>
          <p:cNvPr id="20" name="Shape 17"/>
          <p:cNvSpPr/>
          <p:nvPr/>
        </p:nvSpPr>
        <p:spPr>
          <a:xfrm>
            <a:off x="7480913" y="8486585"/>
            <a:ext cx="1948701" cy="323769"/>
          </a:xfrm>
          <a:prstGeom prst="roundRect">
            <a:avLst>
              <a:gd name="adj" fmla="val 117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633313" y="8486585"/>
            <a:ext cx="1720101" cy="361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50">
                <a:solidFill>
                  <a:srgbClr val="FE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CỔ TỨC 25%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99990" y="9381990"/>
            <a:ext cx="5457527" cy="860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b="1" kern="0" spc="-150">
                <a:solidFill>
                  <a:srgbClr val="0A254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102.687 tỷ</a:t>
            </a:r>
            <a:endParaRPr lang="en-US" sz="7200" dirty="0"/>
          </a:p>
        </p:txBody>
      </p:sp>
      <p:sp>
        <p:nvSpPr>
          <p:cNvPr id="23" name="Text 20"/>
          <p:cNvSpPr/>
          <p:nvPr/>
        </p:nvSpPr>
        <p:spPr>
          <a:xfrm>
            <a:off x="999990" y="10620239"/>
            <a:ext cx="863345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Vốn điều lệ dự kiến tăng từ 80.550 tỷ đồng lên tối đa 102.687 tỷ đồng trong năm 2026.</a:t>
            </a:r>
            <a:endParaRPr lang="en-US" sz="1875" dirty="0"/>
          </a:p>
        </p:txBody>
      </p:sp>
      <p:sp>
        <p:nvSpPr>
          <p:cNvPr id="24" name="Text 21"/>
          <p:cNvSpPr/>
          <p:nvPr/>
        </p:nvSpPr>
        <p:spPr>
          <a:xfrm>
            <a:off x="999990" y="11687067"/>
            <a:ext cx="447838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E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 tức 25%: 10% tiền mặt + 15% cổ phiếu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90442" y="13222431"/>
            <a:ext cx="1565969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tăng trưởng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9214355" y="13222431"/>
            <a:ext cx="567603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690</Words>
  <Application>Microsoft Office PowerPoint</Application>
  <PresentationFormat>Custom</PresentationFormat>
  <Paragraphs>91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Lora</vt:lpstr>
      <vt:lpstr>SVN-Gilroy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HotStock · MBB · Ngân hàng MB</dc:title>
  <dc:subject>Equity Research · Vietnam Banks</dc:subject>
  <dc:creator>PptxGenJS</dc:creator>
  <cp:lastModifiedBy>Quan, Ton Dat</cp:lastModifiedBy>
  <cp:revision>28</cp:revision>
  <dcterms:created xsi:type="dcterms:W3CDTF">2026-06-19T09:38:57Z</dcterms:created>
  <dcterms:modified xsi:type="dcterms:W3CDTF">2026-06-22T11:11:25Z</dcterms:modified>
</cp:coreProperties>
</file>