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drawings/drawing2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405" r:id="rId2"/>
    <p:sldId id="417" r:id="rId9"/>
    <p:sldId id="401" r:id="rId4"/>
    <p:sldId id="416" r:id="rId8"/>
  </p:sldIdLst>
  <p:sldSz cx="10287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6700"/>
    <a:srgbClr val="F48120"/>
    <a:srgbClr val="F38120"/>
    <a:srgbClr val="D9D9D9"/>
    <a:srgbClr val="00427A"/>
    <a:srgbClr val="01437C"/>
    <a:srgbClr val="FFE6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45" autoAdjust="0"/>
    <p:restoredTop sz="94889" autoAdjust="0"/>
  </p:normalViewPr>
  <p:slideViewPr>
    <p:cSldViewPr snapToGrid="0">
      <p:cViewPr varScale="1">
        <p:scale>
          <a:sx n="45" d="100"/>
          <a:sy n="45" d="100"/>
        </p:scale>
        <p:origin x="3330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../embeddings/oleObject1.bin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../embeddings/oleObject4.bin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5" Type="http://schemas.openxmlformats.org/officeDocument/2006/relationships/chartUserShapes" Target="../drawings/drawing2.xml"/><Relationship Id="rId4" Type="http://schemas.openxmlformats.org/officeDocument/2006/relationships/oleObject" Target="../embeddings/oleObject5.bin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+mn-cs"/>
              </a:defRPr>
            </a:pPr>
            <a:r>
              <a:rPr lang="en-US" sz="2000"/>
              <a:t>(Nghìn</a:t>
            </a:r>
            <a:r>
              <a:rPr lang="en-US" sz="2000" baseline="0"/>
              <a:t> tỷ đồng)</a:t>
            </a:r>
            <a:endParaRPr lang="en-US" sz="2000"/>
          </a:p>
        </c:rich>
      </c:tx>
      <c:layout>
        <c:manualLayout>
          <c:xMode val="edge"/>
          <c:yMode val="edge"/>
          <c:x val="7.5678040244966385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6469816272965873E-2"/>
          <c:y val="0.18039406532516766"/>
          <c:w val="0.90297462817147855"/>
          <c:h val="0.69036588220422368"/>
        </c:manualLayout>
      </c:layout>
      <c:barChart>
        <c:barDir val="col"/>
        <c:grouping val="clustered"/>
        <c:varyColors val="0"/>
        <c:ser>
          <c:idx val="0"/>
          <c:order val="0"/>
          <c:tx>
            <c:v>Dư nợ tín dụng</c:v>
          </c:tx>
          <c:spPr>
            <a:solidFill>
              <a:sysClr val="window" lastClr="FFFFFF">
                <a:lumMod val="85000"/>
              </a:sysClr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7B8DA886-D9DC-4EED-A7DF-046EDBF9B2C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5EB3-4EA8-B62C-82B52FF4765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AF90049-004D-4265-A77D-296445CE414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5EB3-4EA8-B62C-82B52FF4765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5F3CB89C-D3CC-4290-9E3E-F6BD6B07EA8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5EB3-4EA8-B62C-82B52FF4765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002656D2-10C9-474B-A6F2-E485009ABFB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5EB3-4EA8-B62C-82B52FF4765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419FE0AA-7910-4FEC-A80F-2A3BFA6A740E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5EB3-4EA8-B62C-82B52FF4765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99ED09FC-404B-4E7E-B2B9-EA3DD212B97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5EB3-4EA8-B62C-82B52FF4765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D0B62D3-700C-478E-9F2E-5833932B2E6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5EB3-4EA8-B62C-82B52FF4765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DE6E73EE-7813-40D2-BF83-DF710FB3DA7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5EB3-4EA8-B62C-82B52FF4765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F69441B3-9773-41E8-8FFC-29E97D0D48C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8-5EB3-4EA8-B62C-82B52FF4765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44CDA07A-0B8F-4966-B0BF-C6AE28A4FD0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9-5EB3-4EA8-B62C-82B52FF476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Noto Sans" panose="020B0502040504020204" pitchFamily="34" charset="0"/>
                    <a:ea typeface="Noto Sans" panose="020B0502040504020204" pitchFamily="34" charset="0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'For report'!$G$68:$P$68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'For report'!$G$72:$P$72</c:f>
              <c:numCache>
                <c:formatCode>#,##0</c:formatCode>
                <c:ptCount val="5"/>
                <c:pt idx="0">
                  <c:v>460.574</c:v>
                </c:pt>
                <c:pt idx="1">
                  <c:v>611.049</c:v>
                </c:pt>
                <c:pt idx="2">
                  <c:v>776.658</c:v>
                </c:pt>
                <c:pt idx="3">
                  <c:v>1048.247</c:v>
                </c:pt>
                <c:pt idx="4">
                  <c:v>1344.157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'For report'!$G$76:$P$76</c15:f>
                <c15:dlblRangeCache>
                  <c:ptCount val="10"/>
                  <c:pt idx="0">
                    <c:v>97%</c:v>
                  </c:pt>
                  <c:pt idx="1">
                    <c:v>92%</c:v>
                  </c:pt>
                  <c:pt idx="2">
                    <c:v>82%</c:v>
                  </c:pt>
                  <c:pt idx="3">
                    <c:v>69%</c:v>
                  </c:pt>
                  <c:pt idx="4">
                    <c:v>51%</c:v>
                  </c:pt>
                  <c:pt idx="5">
                    <c:v>38%</c:v>
                  </c:pt>
                  <c:pt idx="6">
                    <c:v>33%</c:v>
                  </c:pt>
                  <c:pt idx="7">
                    <c:v>30%</c:v>
                  </c:pt>
                  <c:pt idx="8">
                    <c:v>26%</c:v>
                  </c:pt>
                  <c:pt idx="9">
                    <c:v>24%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A-5EB3-4EA8-B62C-82B52FF47658}"/>
            </c:ext>
          </c:extLst>
        </c:ser>
        <c:ser>
          <c:idx val="1"/>
          <c:order val="1"/>
          <c:tx>
            <c:v>Tiền gửi khách hàng</c:v>
          </c:tx>
          <c:spPr>
            <a:solidFill>
              <a:srgbClr val="8DC8E8">
                <a:lumMod val="60000"/>
                <a:lumOff val="40000"/>
              </a:srgbClr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22D3100C-1B24-4522-97C0-49299C754A5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B-5EB3-4EA8-B62C-82B52FF4765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2B26DAD-9DB5-46B0-8F5A-7B69FD6732D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C-5EB3-4EA8-B62C-82B52FF4765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F5B2894D-A2EE-4F2A-95BC-97C51B8BF4A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D-5EB3-4EA8-B62C-82B52FF4765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693FBA2D-02FC-4D17-8F06-0907AEEBF2B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E-5EB3-4EA8-B62C-82B52FF4765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4C6E25A6-ECE9-42D1-A7F1-8513B1AA85B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F-5EB3-4EA8-B62C-82B52FF4765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426B2E89-CA2C-4336-89CB-48201905CC5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0-5EB3-4EA8-B62C-82B52FF4765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0C3807C8-D88F-4929-96FF-81C6F29841D5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1-5EB3-4EA8-B62C-82B52FF4765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BC0212B8-BBBE-4753-8126-124C1AFEC22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2-5EB3-4EA8-B62C-82B52FF4765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4D751840-3E75-4CAD-BAC7-DD5DDE31D3D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3-5EB3-4EA8-B62C-82B52FF4765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92016E4B-4EEA-4454-8ED5-B10A7AE1069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4-5EB3-4EA8-B62C-82B52FF476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rgbClr val="0070C0"/>
                    </a:solidFill>
                    <a:latin typeface="Noto Sans" panose="020B0502040504020204" pitchFamily="34" charset="0"/>
                    <a:ea typeface="Noto Sans" panose="020B0502040504020204" pitchFamily="34" charset="0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'For report'!$G$68:$P$68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'For report'!$G$73:$P$73</c:f>
              <c:numCache>
                <c:formatCode>#,##0</c:formatCode>
                <c:ptCount val="5"/>
                <c:pt idx="0">
                  <c:v>443.606</c:v>
                </c:pt>
                <c:pt idx="1">
                  <c:v>567.533</c:v>
                </c:pt>
                <c:pt idx="2">
                  <c:v>714.154</c:v>
                </c:pt>
                <c:pt idx="3">
                  <c:v>923.46</c:v>
                </c:pt>
                <c:pt idx="4">
                  <c:v>1163.655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'For report'!$G$75:$P$75</c15:f>
                <c15:dlblRangeCache>
                  <c:ptCount val="10"/>
                  <c:pt idx="0">
                    <c:v>3%</c:v>
                  </c:pt>
                  <c:pt idx="1">
                    <c:v>8%</c:v>
                  </c:pt>
                  <c:pt idx="2">
                    <c:v>18%</c:v>
                  </c:pt>
                  <c:pt idx="3">
                    <c:v>31%</c:v>
                  </c:pt>
                  <c:pt idx="4">
                    <c:v>49%</c:v>
                  </c:pt>
                  <c:pt idx="5">
                    <c:v>62%</c:v>
                  </c:pt>
                  <c:pt idx="6">
                    <c:v>67%</c:v>
                  </c:pt>
                  <c:pt idx="7">
                    <c:v>70%</c:v>
                  </c:pt>
                  <c:pt idx="8">
                    <c:v>74%</c:v>
                  </c:pt>
                  <c:pt idx="9">
                    <c:v>76%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15-5EB3-4EA8-B62C-82B52FF476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+mn-cs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0"/>
        <c:axPos val="l"/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+mn-cs"/>
              </a:defRPr>
            </a:pPr>
            <a:endParaRPr lang="en-US"/>
          </a:p>
        </c:txPr>
        <c:crossAx val="51095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48"/>
          <c:y val="0"/>
          <c:w val="0.51"/>
          <c:h val="0.18566897887764028"/>
        </c:manualLayout>
      </c:layout>
      <c:overlay val="0"/>
      <c:spPr>
        <a:noFill/>
        <a:ln>
          <a:noFill/>
        </a:ln>
        <a:effectLst/>
      </c:spPr>
      <c:txPr>
        <a:bodyPr rot="0" spcFirstLastPara="1" vertOverflow="overflow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2000">
          <a:solidFill>
            <a:schemeClr val="tx1"/>
          </a:solidFill>
          <a:latin typeface="Noto Sans" panose="020B0502040504020204" pitchFamily="34" charset="0"/>
          <a:ea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2000"/>
              <a:t>(%)</a:t>
            </a:r>
          </a:p>
        </c:rich>
      </c:tx>
      <c:layout>
        <c:manualLayout>
          <c:xMode val="edge"/>
          <c:yMode val="edge"/>
          <c:x val="7.5678040244966385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232291941506386"/>
          <c:y val="0.17797488600083666"/>
          <c:w val="0.90297462817147855"/>
          <c:h val="0.72055395166374214"/>
        </c:manualLayout>
      </c:layout>
      <c:barChart>
        <c:barDir val="col"/>
        <c:grouping val="clustered"/>
        <c:varyColors val="0"/>
        <c:ser>
          <c:idx val="0"/>
          <c:order val="0"/>
          <c:tx>
            <c:v>Tỷ lệ nợ xấu</c:v>
          </c:tx>
          <c:spPr>
            <a:solidFill>
              <a:srgbClr val="84888B">
                <a:lumMod val="40000"/>
                <a:lumOff val="60000"/>
              </a:srgb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Sheet5!$D$6:$D$8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Sheet5!$E$6:$E$8</c:f>
              <c:numCache>
                <c:formatCode>#,##0.0</c:formatCode>
                <c:ptCount val="5"/>
                <c:pt idx="0">
                  <c:v>1.09</c:v>
                </c:pt>
                <c:pt idx="1">
                  <c:v>1.61</c:v>
                </c:pt>
                <c:pt idx="2">
                  <c:v>1.62</c:v>
                </c:pt>
                <c:pt idx="3">
                  <c:v>1.9</c:v>
                </c:pt>
                <c:pt idx="4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2-4D5C-9E2D-9A3216E5B34D}"/>
            </c:ext>
          </c:extLst>
        </c:ser>
        <c:ser>
          <c:idx val="1"/>
          <c:order val="1"/>
          <c:tx>
            <c:v>Chi phí tín dụng</c:v>
          </c:tx>
          <c:spPr>
            <a:solidFill>
              <a:srgbClr val="84888B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Sheet5!$D$6:$D$8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Sheet5!$F$6:$F$8</c:f>
              <c:numCache>
                <c:formatCode>#,##0.0</c:formatCode>
                <c:ptCount val="5"/>
                <c:pt idx="0">
                  <c:v>1.75</c:v>
                </c:pt>
                <c:pt idx="1">
                  <c:v>1.0</c:v>
                </c:pt>
                <c:pt idx="2">
                  <c:v>1.23</c:v>
                </c:pt>
                <c:pt idx="3">
                  <c:v>1.57</c:v>
                </c:pt>
                <c:pt idx="4">
                  <c:v>1.22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2-4D5C-9E2D-9A3216E5B34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51095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49415809236254299"/>
          <c:y val="3.9012716475203416E-3"/>
          <c:w val="0.50267955690272459"/>
          <c:h val="0.1095867736585010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 algn="just">
        <a:defRPr sz="2000">
          <a:solidFill>
            <a:schemeClr val="tx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/>
              <a:t>(%)</a:t>
            </a:r>
            <a:endParaRPr lang="en-US"/>
          </a:p>
        </c:rich>
      </c:tx>
      <c:layout>
        <c:manualLayout>
          <c:xMode val="edge"/>
          <c:yMode val="edge"/>
          <c:x val="7.5678040244966385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6469816272965873E-2"/>
          <c:y val="0.1656685083413672"/>
          <c:w val="0.90297462817147855"/>
          <c:h val="0.72187009097448895"/>
        </c:manualLayout>
      </c:layout>
      <c:barChart>
        <c:barDir val="col"/>
        <c:grouping val="clustered"/>
        <c:varyColors val="0"/>
        <c:ser>
          <c:idx val="0"/>
          <c:order val="0"/>
          <c:tx>
            <c:v>ROE</c:v>
          </c:tx>
          <c:spPr>
            <a:solidFill>
              <a:srgbClr val="84888B">
                <a:lumMod val="40000"/>
                <a:lumOff val="60000"/>
              </a:srgbClr>
            </a:solidFill>
            <a:ln>
              <a:noFill/>
            </a:ln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AA8-430F-A9A5-F28ACC04B91F}"/>
              </c:ext>
            </c:extLst>
          </c:dPt>
          <c:dPt>
            <c:idx val="12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A8-430F-A9A5-F28ACC04B91F}"/>
              </c:ext>
            </c:extLst>
          </c:dPt>
          <c:dPt>
            <c:idx val="13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AA8-430F-A9A5-F28ACC04B91F}"/>
              </c:ext>
            </c:extLst>
          </c:dPt>
          <c:dPt>
            <c:idx val="14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AA8-430F-A9A5-F28ACC04B91F}"/>
              </c:ext>
            </c:extLst>
          </c:dPt>
          <c:dPt>
            <c:idx val="15"/>
            <c:invertIfNegative val="0"/>
            <c:bubble3D val="0"/>
            <c:spPr>
              <a:solidFill>
                <a:srgbClr val="8DC8E8">
                  <a:lumMod val="60000"/>
                  <a:lumOff val="4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AA8-430F-A9A5-F28ACC04B91F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FAA8-430F-A9A5-F28ACC04B91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AA8-430F-A9A5-F28ACC04B91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FAA8-430F-A9A5-F28ACC04B91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AA8-430F-A9A5-F28ACC04B91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AA8-430F-A9A5-F28ACC04B91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FAA8-430F-A9A5-F28ACC04B91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FAA8-430F-A9A5-F28ACC04B91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FAA8-430F-A9A5-F28ACC04B9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Noto Sans" panose="020B0502040504020204" pitchFamily="34" charset="0"/>
                    <a:ea typeface="Noto Sans" panose="020B0502040504020204" pitchFamily="34" charset="0"/>
                    <a:cs typeface="Noto Sans" panose="020B0502040504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Sheet2!$I$9:$X$9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Sheet2!$I$10:$X$10</c:f>
              <c:numCache>
                <c:formatCode>#,##0.0</c:formatCode>
                <c:ptCount val="5"/>
                <c:pt idx="0">
                  <c:v>24.61</c:v>
                </c:pt>
                <c:pt idx="1">
                  <c:v>23.45</c:v>
                </c:pt>
                <c:pt idx="2">
                  <c:v>21.18</c:v>
                </c:pt>
                <c:pt idx="3">
                  <c:v>20.67</c:v>
                </c:pt>
                <c:pt idx="4">
                  <c:v>20.51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AA8-430F-A9A5-F28ACC04B91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7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noFill/>
          <a:ln>
            <a:solidFill>
              <a:schemeClr val="bg1">
                <a:lumMod val="6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510957903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2000">
          <a:solidFill>
            <a:schemeClr val="tx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/>
                </a:solidFill>
                <a:latin typeface="SVN-Gilroy" panose="00000500000000000000" pitchFamily="50" charset="0"/>
                <a:ea typeface="Noto Sans" panose="020B0502040504020204" pitchFamily="34" charset="0"/>
                <a:cs typeface="+mn-cs"/>
              </a:defRPr>
            </a:pPr>
            <a:r>
              <a:rPr lang="en-US" sz="2000"/>
              <a:t>(%)</a:t>
            </a:r>
            <a:endParaRPr lang="en-US" sz="2000"/>
          </a:p>
        </c:rich>
      </c:tx>
      <c:layout>
        <c:manualLayout>
          <c:xMode val="edge"/>
          <c:yMode val="edge"/>
          <c:x val="4.7053026417674809E-2"/>
          <c:y val="0.1799886621315192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/>
              </a:solidFill>
              <a:latin typeface="SVN-Gilroy" panose="00000500000000000000" pitchFamily="50" charset="0"/>
              <a:ea typeface="Noto Sans" panose="020B0502040504020204" pitchFamily="34" charset="0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2.5292175105659665E-2"/>
          <c:y val="0.25265923009623797"/>
          <c:w val="0.94415236390695145"/>
          <c:h val="0.64681277340332455"/>
        </c:manualLayout>
      </c:layout>
      <c:barChart>
        <c:barDir val="col"/>
        <c:grouping val="clustered"/>
        <c:varyColors val="0"/>
        <c:ser>
          <c:idx val="0"/>
          <c:order val="0"/>
          <c:tx>
            <c:v>NIM</c:v>
          </c:tx>
          <c:spPr>
            <a:solidFill>
              <a:srgbClr val="8DC8E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SVN-Gilroy" panose="00000500000000000000" pitchFamily="50" charset="0"/>
                    <a:ea typeface="Noto Sans" panose="020B0502040504020204" pitchFamily="34" charset="0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Sheet10!$E$12:$N$12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Sheet10!$E$13:$N$13</c:f>
              <c:numCache>
                <c:formatCode>#,##0.0</c:formatCode>
                <c:ptCount val="5"/>
                <c:pt idx="0">
                  <c:v>5.76</c:v>
                </c:pt>
                <c:pt idx="1">
                  <c:v>4.87</c:v>
                </c:pt>
                <c:pt idx="2">
                  <c:v>4.13</c:v>
                </c:pt>
                <c:pt idx="3">
                  <c:v>3.76</c:v>
                </c:pt>
                <c:pt idx="4">
                  <c:v>3.69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37-4845-9C92-8BCCB9F5CFF7}"/>
            </c:ext>
          </c:extLst>
        </c:ser>
        <c:ser>
          <c:idx val="1"/>
          <c:order val="1"/>
          <c:tx>
            <c:v>Chi phí vốn</c:v>
          </c:tx>
          <c:spPr>
            <a:solidFill>
              <a:srgbClr val="FE6700"/>
            </a:solidFill>
            <a:ln>
              <a:noFill/>
            </a:ln>
            <a:effectLst/>
          </c:spPr>
          <c:invertIfNegative val="0"/>
          <c:cat>
            <c:strRef>
              <c:f>Sheet10!$E$12:$N$12</c:f>
              <c:strCache>
                <c:ptCount val="5"/>
                <c:pt idx="0">
                  <c:v>22</c:v>
                </c:pt>
                <c:pt idx="1">
                  <c:v>23</c:v>
                </c:pt>
                <c:pt idx="2">
                  <c:v>24</c:v>
                </c:pt>
                <c:pt idx="3">
                  <c:v>25</c:v>
                </c:pt>
                <c:pt idx="4">
                  <c:v>26F</c:v>
                </c:pt>
              </c:strCache>
            </c:strRef>
          </c:cat>
          <c:val>
            <c:numRef>
              <c:f>Sheet10!$E$14:$N$14</c:f>
              <c:numCache>
                <c:formatCode>#,##0.0</c:formatCode>
                <c:ptCount val="5"/>
                <c:pt idx="0">
                  <c:v>2.83</c:v>
                </c:pt>
                <c:pt idx="1">
                  <c:v>4.3</c:v>
                </c:pt>
                <c:pt idx="2">
                  <c:v>3.51</c:v>
                </c:pt>
                <c:pt idx="3">
                  <c:v>3.24</c:v>
                </c:pt>
                <c:pt idx="4">
                  <c:v>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037-4845-9C92-8BCCB9F5CF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100"/>
        <c:axId val="510957903"/>
        <c:axId val="510959823"/>
      </c:barChart>
      <c:catAx>
        <c:axId val="510957903"/>
        <c:scaling>
          <c:orientation val="minMax"/>
        </c:scaling>
        <c:delete val="0"/>
        <c:axPos val="b"/>
        <c:numFmt formatCode="#,##0.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bg1">
                <a:lumMod val="6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SVN-Gilroy" panose="00000500000000000000" pitchFamily="50" charset="0"/>
                <a:ea typeface="Noto Sans" panose="020B0502040504020204" pitchFamily="34" charset="0"/>
                <a:cs typeface="+mn-cs"/>
              </a:defRPr>
            </a:pPr>
            <a:endParaRPr lang="en-US"/>
          </a:p>
        </c:txPr>
        <c:crossAx val="510959823"/>
        <c:crosses val="autoZero"/>
        <c:auto val="1"/>
        <c:lblAlgn val="ctr"/>
        <c:lblOffset val="100"/>
        <c:noMultiLvlLbl val="0"/>
      </c:catAx>
      <c:valAx>
        <c:axId val="510959823"/>
        <c:scaling>
          <c:orientation val="minMax"/>
        </c:scaling>
        <c:delete val="1"/>
        <c:axPos val="l"/>
        <c:numFmt formatCode="#,##0.0" sourceLinked="0"/>
        <c:majorTickMark val="out"/>
        <c:minorTickMark val="none"/>
        <c:tickLblPos val="nextTo"/>
        <c:crossAx val="51095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3.5635577880351162E-2"/>
          <c:y val="1.0054100380309603E-2"/>
          <c:w val="0.96436446354583993"/>
          <c:h val="0.1286355946578106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SVN-Gilroy" panose="00000500000000000000" pitchFamily="50" charset="0"/>
              <a:ea typeface="Noto Sans" panose="020B0502040504020204" pitchFamily="34" charset="0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2000">
          <a:solidFill>
            <a:schemeClr val="tx1"/>
          </a:solidFill>
          <a:latin typeface="SVN-Gilroy" panose="00000500000000000000" pitchFamily="50" charset="0"/>
          <a:ea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0.10786</cdr:x>
      <cdr:y>0.406</cdr:y>
    </cdr:from>
    <cdr:to>
      <cdr:x>0.88984</cdr:x>
      <cdr:y>0.46167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C01D2345-CC7F-D40F-3C79-2CA8156D368D}"/>
            </a:ext>
          </a:extLst>
        </cdr:cNvPr>
        <cdr:cNvSpPr/>
      </cdr:nvSpPr>
      <cdr:spPr>
        <a:xfrm xmlns:a="http://schemas.openxmlformats.org/drawingml/2006/main">
          <a:off x="858073" y="3638183"/>
          <a:ext cx="6220845" cy="498865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>
            <a:lumMod val="50000"/>
            <a:alpha val="2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US" sz="1800">
              <a:solidFill>
                <a:srgbClr val="FF0000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rPr>
            <a:t>Phần lớn thị phần thuộc về các nhà thuốc truyền thống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9309F-D4A3-2C44-7CD1-628D8DB6D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D27811B0-643D-FBFE-F198-FDC577BEAF3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47A5BB5-C64F-8B1C-A71C-18F7E3127FBE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FAC599-33D1-171D-B114-EA3BA24AF545}"/>
              </a:ext>
            </a:extLst>
          </p:cNvPr>
          <p:cNvSpPr txBox="1"/>
          <p:nvPr/>
        </p:nvSpPr>
        <p:spPr>
          <a:xfrm>
            <a:off x="982975" y="2153243"/>
            <a:ext cx="83210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2800" b="1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Tín dụng tăng 35% trong năm 2025 và liên tục mở rộng nhanh hơn tốc độ huy động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6BF64896-817F-A1CD-06A5-5DA2EBB216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8971437"/>
              </p:ext>
            </p:extLst>
          </p:nvPr>
        </p:nvGraphicFramePr>
        <p:xfrm>
          <a:off x="1175001" y="3289717"/>
          <a:ext cx="7955280" cy="8961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4F4B905-3A12-E559-AB92-FBB9E8665E92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58F888-8BCB-257C-5641-C2A2992BD90C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Dữ liệu doanh nghiệp, Mirae Asset Research ước tính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807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5339C-9C1D-C6E0-C3CE-8803DE84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E49371F1-C485-3869-078B-C0B56E527C1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7CBF741-E10B-B88A-1854-2ABEEA1FD9C3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A5E763-5BAF-7CBC-AD6B-FD83FCFFD235}"/>
              </a:ext>
            </a:extLst>
          </p:cNvPr>
          <p:cNvSpPr txBox="1"/>
          <p:nvPr/>
        </p:nvSpPr>
        <p:spPr>
          <a:xfrm>
            <a:off x="1165857" y="2186284"/>
            <a:ext cx="79552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800" b="1" i="0" u="none" strike="noStrike" kern="1200" cap="none" spc="0" normalizeH="0" baseline="0" noProof="0">
                <a:ln>
                  <a:noFill/>
                </a:ln>
                <a:solidFill>
                  <a:srgbClr val="01437C"/>
                </a:solidFill>
                <a:effectLst/>
                <a:uLnTx/>
                <a:uFillTx/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Nợ xấu nhích lên 1,9% trong năm 2025 nhưng chi phí tín dụng được dự báo hạ nhiệt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B3DC17-0C97-DEDE-1292-7CEE9317D5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24814127"/>
              </p:ext>
            </p:extLst>
          </p:nvPr>
        </p:nvGraphicFramePr>
        <p:xfrm>
          <a:off x="1165857" y="3381157"/>
          <a:ext cx="7955280" cy="8778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946340E-39FF-449E-1E3A-06D50B992A7E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03ABB-BF9C-CAA7-FD3B-96D3DC993EC2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Dữ liệu doanh nghiệp, Mirae Asset Research ước tính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347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84802-50BB-AAB7-084C-585C7641F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105DA3F8-23ED-42F3-CAD8-D31A6B7A93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1B6297-0781-C2B3-D321-B82A8A63DD2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9A2642-3BDA-2C38-0C47-3A25113418D9}"/>
              </a:ext>
            </a:extLst>
          </p:cNvPr>
          <p:cNvSpPr txBox="1"/>
          <p:nvPr/>
        </p:nvSpPr>
        <p:spPr>
          <a:xfrm>
            <a:off x="982975" y="2256112"/>
            <a:ext cx="83210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ROE duy trì trên 20% suốt chu kỳ, trong khi P/B dự phóng 2026 chỉ quanh 1,2 lần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01437C"/>
              </a:solidFill>
              <a:effectLst/>
              <a:uLnTx/>
              <a:uFillTx/>
              <a:latin typeface="SVN-Gilroy" panose="00000500000000000000" pitchFamily="50" charset="0"/>
              <a:ea typeface="Karla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A786616-9F6A-46F6-02F0-CBC97A8BFC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541108"/>
              </p:ext>
            </p:extLst>
          </p:nvPr>
        </p:nvGraphicFramePr>
        <p:xfrm>
          <a:off x="1165856" y="3374141"/>
          <a:ext cx="7955280" cy="8961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3F3FA09-508F-C492-ABE8-0F3C12887865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9F78AE-03A9-E63D-66CB-A445E034612B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Dữ liệu doanh nghiệp, Mirae Asset Research ước tính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3004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76839-3110-F778-A8B3-0863C5FAB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2382F820-DAED-DB0A-B980-908E6EB3A0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642FA61-4E72-28DE-2491-91F8AD2E5CF8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D57CB0-DC6E-F5EB-3F54-298501B58B9F}"/>
              </a:ext>
            </a:extLst>
          </p:cNvPr>
          <p:cNvSpPr txBox="1"/>
          <p:nvPr/>
        </p:nvSpPr>
        <p:spPr>
          <a:xfrm>
            <a:off x="1348738" y="2513854"/>
            <a:ext cx="79552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vi-VN" sz="2800" b="1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CASA gần 38% kéo chi phí vốn về 3,1%, bù lại phần lớn áp lực thu hẹp của biên lãi ròng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01437C"/>
              </a:solidFill>
              <a:effectLst/>
              <a:uLnTx/>
              <a:uFillTx/>
              <a:latin typeface="SVN-Gilroy" panose="00000500000000000000" pitchFamily="50" charset="0"/>
              <a:ea typeface="Karla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73C2F33-FF7B-8892-9170-3F7E534D8F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4371306"/>
              </p:ext>
            </p:extLst>
          </p:nvPr>
        </p:nvGraphicFramePr>
        <p:xfrm>
          <a:off x="1175001" y="3538063"/>
          <a:ext cx="7955280" cy="8961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8050C40-6FA0-F7DD-8C08-3EFD2ED400DF}"/>
              </a:ext>
            </a:extLst>
          </p:cNvPr>
          <p:cNvSpPr txBox="1"/>
          <p:nvPr/>
        </p:nvSpPr>
        <p:spPr>
          <a:xfrm>
            <a:off x="586539" y="928966"/>
            <a:ext cx="911392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3500">
                <a:solidFill>
                  <a:prstClr val="white"/>
                </a:solidFill>
                <a:latin typeface="SVN-Gilroy XBold" panose="00000900000000000000" pitchFamily="50" charset="0"/>
              </a:rPr>
              <a:t>Vốn rẻ dẫn đầu, tăng trưởng vượt trội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078AC-6B81-4AE3-8A7A-832D8CCB5B6D}"/>
              </a:ext>
            </a:extLst>
          </p:cNvPr>
          <p:cNvSpPr txBox="1"/>
          <p:nvPr/>
        </p:nvSpPr>
        <p:spPr>
          <a:xfrm>
            <a:off x="1175001" y="1249918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VN-Gilroy" panose="00000500000000000000"/>
                <a:ea typeface="+mn-ea"/>
                <a:cs typeface="+mn-cs"/>
              </a:rPr>
              <a:t>Nguồn: Dữ liệu doanh nghiệp, Mirae Asset Research ước tính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VN-Gilroy" panose="0000050000000000000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9577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MASVN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0D2D4F"/>
    </a:accent1>
    <a:accent2>
      <a:srgbClr val="0086B8"/>
    </a:accent2>
    <a:accent3>
      <a:srgbClr val="8DC8E8"/>
    </a:accent3>
    <a:accent4>
      <a:srgbClr val="5C4936"/>
    </a:accent4>
    <a:accent5>
      <a:srgbClr val="B09478"/>
    </a:accent5>
    <a:accent6>
      <a:srgbClr val="FAB072"/>
    </a:accent6>
    <a:hlink>
      <a:srgbClr val="FFFFFF"/>
    </a:hlink>
    <a:folHlink>
      <a:srgbClr val="FFFFFF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" panose="0211000402020202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미래에셋대우1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F0B26B"/>
    </a:accent1>
    <a:accent2>
      <a:srgbClr val="C2AC97"/>
    </a:accent2>
    <a:accent3>
      <a:srgbClr val="043B72"/>
    </a:accent3>
    <a:accent4>
      <a:srgbClr val="0086B8"/>
    </a:accent4>
    <a:accent5>
      <a:srgbClr val="8DC8E8"/>
    </a:accent5>
    <a:accent6>
      <a:srgbClr val="84888B"/>
    </a:accent6>
    <a:hlink>
      <a:srgbClr val="FFFFFF"/>
    </a:hlink>
    <a:folHlink>
      <a:srgbClr val="FFFFFF"/>
    </a:folHlink>
  </a:clrScheme>
  <a:fontScheme name="Office">
    <a:majorFont>
      <a:latin typeface="맑은 고딕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맑은 고딕" panose="020F050202020403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미래에셋대우1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F0B26B"/>
    </a:accent1>
    <a:accent2>
      <a:srgbClr val="C2AC97"/>
    </a:accent2>
    <a:accent3>
      <a:srgbClr val="043B72"/>
    </a:accent3>
    <a:accent4>
      <a:srgbClr val="0086B8"/>
    </a:accent4>
    <a:accent5>
      <a:srgbClr val="8DC8E8"/>
    </a:accent5>
    <a:accent6>
      <a:srgbClr val="84888B"/>
    </a:accent6>
    <a:hlink>
      <a:srgbClr val="FFFFFF"/>
    </a:hlink>
    <a:folHlink>
      <a:srgbClr val="FFFFFF"/>
    </a:folHlink>
  </a:clrScheme>
  <a:fontScheme name="Office">
    <a:majorFont>
      <a:latin typeface="맑은 고딕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맑은 고딕" panose="020F050202020403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미래에셋대우1">
    <a:dk1>
      <a:srgbClr val="000000"/>
    </a:dk1>
    <a:lt1>
      <a:sysClr val="window" lastClr="FFFFFF"/>
    </a:lt1>
    <a:dk2>
      <a:srgbClr val="F58220"/>
    </a:dk2>
    <a:lt2>
      <a:srgbClr val="C00000"/>
    </a:lt2>
    <a:accent1>
      <a:srgbClr val="F0B26B"/>
    </a:accent1>
    <a:accent2>
      <a:srgbClr val="C2AC97"/>
    </a:accent2>
    <a:accent3>
      <a:srgbClr val="043B72"/>
    </a:accent3>
    <a:accent4>
      <a:srgbClr val="0086B8"/>
    </a:accent4>
    <a:accent5>
      <a:srgbClr val="8DC8E8"/>
    </a:accent5>
    <a:accent6>
      <a:srgbClr val="84888B"/>
    </a:accent6>
    <a:hlink>
      <a:srgbClr val="FFFFFF"/>
    </a:hlink>
    <a:folHlink>
      <a:srgbClr val="FFFFFF"/>
    </a:folHlink>
  </a:clrScheme>
  <a:fontScheme name="Office">
    <a:majorFont>
      <a:latin typeface="맑은 고딕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맑은 고딕" panose="020F0502020204030204"/>
      <a:ea typeface=""/>
      <a:cs typeface=""/>
      <a:font script="Jpan" typeface="游明朝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C5446F-64EF-49D7-857D-C061759E0C2B}">
  <we:reference id="wa200010215" version="2.0.0.0" store="en-US" storeType="OMEX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6524</TotalTime>
  <Words>901</Words>
  <Application>Microsoft Office PowerPoint</Application>
  <PresentationFormat>Custom</PresentationFormat>
  <Paragraphs>97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HotStock · MBB · Ngân hàng MB</dc:title>
  <dc:creator>HQ 37</dc:creator>
  <cp:lastModifiedBy>Nguyen, Nguyen Huynh Binh</cp:lastModifiedBy>
  <cp:revision>154</cp:revision>
  <dcterms:created xsi:type="dcterms:W3CDTF">2024-07-22T08:52:42Z</dcterms:created>
  <dcterms:modified xsi:type="dcterms:W3CDTF">2026-07-28T09:42:35Z</dcterms:modified>
</cp:coreProperties>
</file>