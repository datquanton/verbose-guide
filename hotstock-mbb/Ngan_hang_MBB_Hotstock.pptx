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drawings/drawing2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405" r:id="rId2"/>
    <p:sldId id="416" r:id="rId8"/>
    <p:sldId id="417" r:id="rId9"/>
    <p:sldId id="420" r:id="rId10"/>
  </p:sldIdLst>
  <p:sldSz cx="10287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6700"/>
    <a:srgbClr val="F48120"/>
    <a:srgbClr val="F38120"/>
    <a:srgbClr val="D9D9D9"/>
    <a:srgbClr val="00427A"/>
    <a:srgbClr val="01437C"/>
    <a:srgbClr val="FFE6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45" autoAdjust="0"/>
    <p:restoredTop sz="94889" autoAdjust="0"/>
  </p:normalViewPr>
  <p:slideViewPr>
    <p:cSldViewPr snapToGrid="0">
      <p:cViewPr varScale="1">
        <p:scale>
          <a:sx n="45" d="100"/>
          <a:sy n="45" d="100"/>
        </p:scale>
        <p:origin x="3330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../embeddings/oleObject4.bin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5" Type="http://schemas.openxmlformats.org/officeDocument/2006/relationships/chartUserShapes" Target="../drawings/drawing2.xml"/><Relationship Id="rId4" Type="http://schemas.openxmlformats.org/officeDocument/2006/relationships/oleObject" Target="../embeddings/oleObject5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r>
              <a:rPr lang="en-US" sz="2000"/>
              <a:t>(Nghìn</a:t>
            </a:r>
            <a:r>
              <a:rPr lang="en-US" sz="2000" baseline="0"/>
              <a:t> tỷ đồng)</a:t>
            </a:r>
            <a:endParaRPr lang="en-US" sz="2000"/>
          </a:p>
        </c:rich>
      </c:tx>
      <c:layout>
        <c:manualLayout>
          <c:xMode val="edge"/>
          <c:yMode val="edge"/>
          <c:x val="7.5678040244966385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6469816272965873E-2"/>
          <c:y val="0.18039406532516766"/>
          <c:w val="0.90297462817147855"/>
          <c:h val="0.69036588220422368"/>
        </c:manualLayout>
      </c:layout>
      <c:barChart>
        <c:barDir val="col"/>
        <c:grouping val="clustered"/>
        <c:varyColors val="0"/>
        <c:ser>
          <c:idx val="0"/>
          <c:order val="0"/>
          <c:tx>
            <c:v>Tổng tài sản</c:v>
          </c:tx>
          <c:spPr>
            <a:solidFill>
              <a:sysClr val="window" lastClr="FFFFFF">
                <a:lumMod val="85000"/>
              </a:sysClr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7B8DA886-D9DC-4EED-A7DF-046EDBF9B2C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5EB3-4EA8-B62C-82B52FF4765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AF90049-004D-4265-A77D-296445CE414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5EB3-4EA8-B62C-82B52FF4765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5F3CB89C-D3CC-4290-9E3E-F6BD6B07EA8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5EB3-4EA8-B62C-82B52FF4765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002656D2-10C9-474B-A6F2-E485009ABFB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5EB3-4EA8-B62C-82B52FF4765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419FE0AA-7910-4FEC-A80F-2A3BFA6A740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5EB3-4EA8-B62C-82B52FF4765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99ED09FC-404B-4E7E-B2B9-EA3DD212B97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5EB3-4EA8-B62C-82B52FF4765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D0B62D3-700C-478E-9F2E-5833932B2E6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5EB3-4EA8-B62C-82B52FF4765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DE6E73EE-7813-40D2-BF83-DF710FB3DA7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5EB3-4EA8-B62C-82B52FF4765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F69441B3-9773-41E8-8FFC-29E97D0D48C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5EB3-4EA8-B62C-82B52FF4765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44CDA07A-0B8F-4966-B0BF-C6AE28A4FD0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5EB3-4EA8-B62C-82B52FF476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Noto Sans" panose="020B0502040504020204" pitchFamily="34" charset="0"/>
                    <a:ea typeface="Noto Sans" panose="020B0502040504020204" pitchFamily="34" charset="0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'For report'!$G$68:$P$68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'For report'!$G$72:$P$72</c:f>
              <c:numCache>
                <c:formatCode>#,##0</c:formatCode>
                <c:ptCount val="5"/>
                <c:pt idx="0">
                  <c:v>728.532</c:v>
                </c:pt>
                <c:pt idx="1">
                  <c:v>944.954</c:v>
                </c:pt>
                <c:pt idx="2">
                  <c:v>1133.797</c:v>
                </c:pt>
                <c:pt idx="3">
                  <c:v>1615.764</c:v>
                </c:pt>
                <c:pt idx="4">
                  <c:v>2100.0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'For report'!$G$76:$P$76</c15:f>
                <c15:dlblRangeCache>
                  <c:ptCount val="10"/>
                  <c:pt idx="0">
                    <c:v>97%</c:v>
                  </c:pt>
                  <c:pt idx="1">
                    <c:v>92%</c:v>
                  </c:pt>
                  <c:pt idx="2">
                    <c:v>82%</c:v>
                  </c:pt>
                  <c:pt idx="3">
                    <c:v>69%</c:v>
                  </c:pt>
                  <c:pt idx="4">
                    <c:v>51%</c:v>
                  </c:pt>
                  <c:pt idx="5">
                    <c:v>38%</c:v>
                  </c:pt>
                  <c:pt idx="6">
                    <c:v>33%</c:v>
                  </c:pt>
                  <c:pt idx="7">
                    <c:v>30%</c:v>
                  </c:pt>
                  <c:pt idx="8">
                    <c:v>26%</c:v>
                  </c:pt>
                  <c:pt idx="9">
                    <c:v>24%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A-5EB3-4EA8-B62C-82B52FF476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48"/>
          <c:y val="0"/>
          <c:w val="0.51"/>
          <c:h val="0.18566897887764028"/>
        </c:manualLayout>
      </c:layout>
      <c:overlay val="0"/>
      <c:spPr>
        <a:noFill/>
        <a:ln>
          <a:noFill/>
        </a:ln>
        <a:effectLst/>
      </c:spPr>
      <c:txPr>
        <a:bodyPr rot="0" spcFirstLastPara="1" vertOverflow="overflow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Noto Sans" panose="020B0502040504020204" pitchFamily="34" charset="0"/>
          <a:ea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/>
              <a:t>(Nghìn</a:t>
            </a:r>
            <a:r>
              <a:rPr lang="en-US" baseline="0"/>
              <a:t> tỷ đồng)</a:t>
            </a:r>
            <a:endParaRPr lang="en-US"/>
          </a:p>
        </c:rich>
      </c:tx>
      <c:layout>
        <c:manualLayout>
          <c:xMode val="edge"/>
          <c:yMode val="edge"/>
          <c:x val="7.5678040244966385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6469816272965873E-2"/>
          <c:y val="0.1656685083413672"/>
          <c:w val="0.90297462817147855"/>
          <c:h val="0.72187009097448895"/>
        </c:manualLayout>
      </c:layout>
      <c:barChart>
        <c:barDir val="col"/>
        <c:grouping val="clustered"/>
        <c:varyColors val="0"/>
        <c:ser>
          <c:idx val="0"/>
          <c:order val="0"/>
          <c:tx>
            <c:v>Lợi nhuận trước thuế</c:v>
          </c:tx>
          <c:spPr>
            <a:solidFill>
              <a:srgbClr val="84888B">
                <a:lumMod val="40000"/>
                <a:lumOff val="60000"/>
              </a:srgbClr>
            </a:solidFill>
            <a:ln>
              <a:noFill/>
            </a:ln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AA8-430F-A9A5-F28ACC04B91F}"/>
              </c:ext>
            </c:extLst>
          </c:dPt>
          <c:dPt>
            <c:idx val="12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A8-430F-A9A5-F28ACC04B91F}"/>
              </c:ext>
            </c:extLst>
          </c:dPt>
          <c:dPt>
            <c:idx val="13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AA8-430F-A9A5-F28ACC04B91F}"/>
              </c:ext>
            </c:extLst>
          </c:dPt>
          <c:dPt>
            <c:idx val="14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AA8-430F-A9A5-F28ACC04B91F}"/>
              </c:ext>
            </c:extLst>
          </c:dPt>
          <c:dPt>
            <c:idx val="15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AA8-430F-A9A5-F28ACC04B91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AA8-430F-A9A5-F28ACC04B91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AA8-430F-A9A5-F28ACC04B91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AA8-430F-A9A5-F28ACC04B91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AA8-430F-A9A5-F28ACC04B91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AA8-430F-A9A5-F28ACC04B91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AA8-430F-A9A5-F28ACC04B91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AA8-430F-A9A5-F28ACC04B91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AA8-430F-A9A5-F28ACC04B9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Noto Sans" panose="020B0502040504020204" pitchFamily="34" charset="0"/>
                    <a:ea typeface="Noto Sans" panose="020B0502040504020204" pitchFamily="34" charset="0"/>
                    <a:cs typeface="Noto Sans" panose="020B0502040504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Sheet2!$I$9:$X$9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Sheet2!$I$10:$X$10</c:f>
              <c:numCache>
                <c:formatCode>#,##0.0</c:formatCode>
                <c:ptCount val="5"/>
                <c:pt idx="0">
                  <c:v>22.729</c:v>
                </c:pt>
                <c:pt idx="1">
                  <c:v>26.306</c:v>
                </c:pt>
                <c:pt idx="2">
                  <c:v>28.829</c:v>
                </c:pt>
                <c:pt idx="3">
                  <c:v>34.268</c:v>
                </c:pt>
                <c:pt idx="4">
                  <c:v>40.726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AA8-430F-A9A5-F28ACC04B91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7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7903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/>
                </a:solidFill>
                <a:latin typeface="SVN-Gilroy" panose="00000500000000000000" pitchFamily="50" charset="0"/>
                <a:ea typeface="Noto Sans" panose="020B0502040504020204" pitchFamily="34" charset="0"/>
                <a:cs typeface="+mn-cs"/>
              </a:defRPr>
            </a:pPr>
            <a:r>
              <a:rPr lang="en-US" sz="2000"/>
              <a:t>(Nghìn tỷ đồng)</a:t>
            </a:r>
            <a:endParaRPr lang="en-US" sz="2000"/>
          </a:p>
        </c:rich>
      </c:tx>
      <c:layout>
        <c:manualLayout>
          <c:xMode val="edge"/>
          <c:yMode val="edge"/>
          <c:x val="4.7053026417674809E-2"/>
          <c:y val="0.1799886621315192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/>
              </a:solidFill>
              <a:latin typeface="SVN-Gilroy" panose="00000500000000000000" pitchFamily="50" charset="0"/>
              <a:ea typeface="Noto Sans" panose="020B0502040504020204" pitchFamily="34" charset="0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2.5292175105659665E-2"/>
          <c:y val="0.25265923009623797"/>
          <c:w val="0.94415236390695145"/>
          <c:h val="0.64681277340332455"/>
        </c:manualLayout>
      </c:layout>
      <c:barChart>
        <c:barDir val="col"/>
        <c:grouping val="clustered"/>
        <c:varyColors val="0"/>
        <c:ser>
          <c:idx val="0"/>
          <c:order val="0"/>
          <c:tx>
            <c:v>Vốn điều lệ</c:v>
          </c:tx>
          <c:spPr>
            <a:solidFill>
              <a:srgbClr val="8DC8E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SVN-Gilroy" panose="00000500000000000000" pitchFamily="50" charset="0"/>
                    <a:ea typeface="Noto Sans" panose="020B0502040504020204" pitchFamily="34" charset="0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Sheet10!$E$12:$N$12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Sheet10!$E$13:$N$13</c:f>
              <c:numCache>
                <c:formatCode>#,##0.0</c:formatCode>
                <c:ptCount val="5"/>
                <c:pt idx="0">
                  <c:v>45.34</c:v>
                </c:pt>
                <c:pt idx="1">
                  <c:v>52.141</c:v>
                </c:pt>
                <c:pt idx="2">
                  <c:v>53.063</c:v>
                </c:pt>
                <c:pt idx="3">
                  <c:v>80.55</c:v>
                </c:pt>
                <c:pt idx="4">
                  <c:v>102.687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37-4845-9C92-8BCCB9F5CF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100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#,##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SVN-Gilroy" panose="00000500000000000000" pitchFamily="50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1"/>
        <c:axPos val="l"/>
        <c:numFmt formatCode="#,##0.0" sourceLinked="0"/>
        <c:majorTickMark val="out"/>
        <c:minorTickMark val="none"/>
        <c:tickLblPos val="nextTo"/>
        <c:crossAx val="51095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5635577880351162E-2"/>
          <c:y val="1.0054100380309603E-2"/>
          <c:w val="0.96436446354583993"/>
          <c:h val="0.128635594657810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SVN-Gilroy" panose="00000500000000000000" pitchFamily="50" charset="0"/>
              <a:ea typeface="Noto Sans" panose="020B0502040504020204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SVN-Gilroy" panose="00000500000000000000" pitchFamily="50" charset="0"/>
          <a:ea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0.10786</cdr:x>
      <cdr:y>0.406</cdr:y>
    </cdr:from>
    <cdr:to>
      <cdr:x>0.88984</cdr:x>
      <cdr:y>0.46167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C01D2345-CC7F-D40F-3C79-2CA8156D368D}"/>
            </a:ext>
          </a:extLst>
        </cdr:cNvPr>
        <cdr:cNvSpPr/>
      </cdr:nvSpPr>
      <cdr:spPr>
        <a:xfrm xmlns:a="http://schemas.openxmlformats.org/drawingml/2006/main">
          <a:off x="858073" y="3638183"/>
          <a:ext cx="6220845" cy="498865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>
            <a:lumMod val="50000"/>
            <a:alpha val="2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1800">
              <a:solidFill>
                <a:srgbClr val="FF0000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rPr>
            <a:t>Phần lớn thị phần thuộc về các nhà thuốc truyền thống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9309F-D4A3-2C44-7CD1-628D8DB6D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D27811B0-643D-FBFE-F198-FDC577BEAF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47A5BB5-C64F-8B1C-A71C-18F7E3127FBE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FAC599-33D1-171D-B114-EA3BA24AF545}"/>
              </a:ext>
            </a:extLst>
          </p:cNvPr>
          <p:cNvSpPr txBox="1"/>
          <p:nvPr/>
        </p:nvSpPr>
        <p:spPr>
          <a:xfrm>
            <a:off x="982975" y="2153243"/>
            <a:ext cx="83210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Tổng tài sản tăng 43% trong năm 2025 và hướng tới mốc 2,1 triệu tỷ đồng trong năm 2026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6BF64896-817F-A1CD-06A5-5DA2EBB216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8971437"/>
              </p:ext>
            </p:extLst>
          </p:nvPr>
        </p:nvGraphicFramePr>
        <p:xfrm>
          <a:off x="1175001" y="3289717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F4B905-3A12-E559-AB92-FBB9E8665E92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58F888-8BCB-257C-5641-C2A2992BD90C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Báo cáo tài chính MB, kế hoạch ĐHĐCĐ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807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84802-50BB-AAB7-084C-585C7641F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105DA3F8-23ED-42F3-CAD8-D31A6B7A93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1B6297-0781-C2B3-D321-B82A8A63DD2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9A2642-3BDA-2C38-0C47-3A25113418D9}"/>
              </a:ext>
            </a:extLst>
          </p:cNvPr>
          <p:cNvSpPr txBox="1"/>
          <p:nvPr/>
        </p:nvSpPr>
        <p:spPr>
          <a:xfrm>
            <a:off x="982975" y="2256112"/>
            <a:ext cx="83210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Lợi nhuận trước thuế gấp gần 1,8 lần chỉ sau 4 năm, dự phóng vượt 40.000 tỷ đồng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01437C"/>
              </a:solidFill>
              <a:effectLst/>
              <a:uLnTx/>
              <a:uFillTx/>
              <a:latin typeface="SVN-Gilroy" panose="00000500000000000000" pitchFamily="50" charset="0"/>
              <a:ea typeface="Karla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A786616-9F6A-46F6-02F0-CBC97A8BFC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541108"/>
              </p:ext>
            </p:extLst>
          </p:nvPr>
        </p:nvGraphicFramePr>
        <p:xfrm>
          <a:off x="1165856" y="3374141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F3FA09-508F-C492-ABE8-0F3C12887865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9F78AE-03A9-E63D-66CB-A445E034612B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Báo cáo tài chính MB, dự phóng Mirae Asset Research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3004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76839-3110-F778-A8B3-0863C5FAB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2382F820-DAED-DB0A-B980-908E6EB3A0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642FA61-4E72-28DE-2491-91F8AD2E5CF8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D57CB0-DC6E-F5EB-3F54-298501B58B9F}"/>
              </a:ext>
            </a:extLst>
          </p:cNvPr>
          <p:cNvSpPr txBox="1"/>
          <p:nvPr/>
        </p:nvSpPr>
        <p:spPr>
          <a:xfrm>
            <a:off x="1348738" y="2513854"/>
            <a:ext cx="79552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Vốn điều lệ tăng hơn gấp đôi sau 4 năm, tạo dư địa cho tín dụng tăng 30–35%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01437C"/>
              </a:solidFill>
              <a:effectLst/>
              <a:uLnTx/>
              <a:uFillTx/>
              <a:latin typeface="SVN-Gilroy" panose="00000500000000000000" pitchFamily="50" charset="0"/>
              <a:ea typeface="Karla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73C2F33-FF7B-8892-9170-3F7E534D8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4371306"/>
              </p:ext>
            </p:extLst>
          </p:nvPr>
        </p:nvGraphicFramePr>
        <p:xfrm>
          <a:off x="1175001" y="3538063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8050C40-6FA0-F7DD-8C08-3EFD2ED400DF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078AC-6B81-4AE3-8A7A-832D8CCB5B6D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Công bố thông tin của MB, kế hoạch ĐHĐCĐ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9577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2B25-29AB-83C9-D4F3-0300AAB49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D89B21A-0155-7B6B-9EEC-8BD019DCB7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216192C-4157-3886-057E-A14B4EE69347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B3A8-71D1-3113-4028-3014A4F4BB44}"/>
              </a:ext>
            </a:extLst>
          </p:cNvPr>
          <p:cNvSpPr txBox="1"/>
          <p:nvPr/>
        </p:nvSpPr>
        <p:spPr>
          <a:xfrm>
            <a:off x="982975" y="2256112"/>
            <a:ext cx="83210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800" b="1" i="0" u="none" strike="noStrike" kern="1200" cap="none" spc="0" normalizeH="0" baseline="0" noProof="0">
                <a:ln>
                  <a:noFill/>
                </a:ln>
                <a:solidFill>
                  <a:srgbClr val="01437C"/>
                </a:solidFill>
                <a:effectLst/>
                <a:uLnTx/>
                <a:uFillTx/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Định giá dự phóng 2026 lùi về ~1,2 lần P/B trong khi ROE vẫn duy trì trên 21%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1437C"/>
              </a:solidFill>
              <a:effectLst/>
              <a:uLnTx/>
              <a:uFillTx/>
              <a:latin typeface="SVN-Gilroy" panose="00000500000000000000" pitchFamily="50" charset="0"/>
              <a:ea typeface="Karla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CDD825B-81C0-9466-86FE-212438E3E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74275"/>
              </p:ext>
            </p:extLst>
          </p:nvPr>
        </p:nvGraphicFramePr>
        <p:xfrm>
          <a:off x="888996" y="3345282"/>
          <a:ext cx="8509000" cy="8915143"/>
        </p:xfrm>
        <a:graphic>
          <a:graphicData uri="http://schemas.openxmlformats.org/drawingml/2006/table">
            <a:tbl>
              <a:tblPr>
                <a:tableStyleId>{0E3FDE45-AF77-4B5C-9715-49D594BDF05E}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13564463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16668557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57064378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617811"/>
                    </a:ext>
                  </a:extLst>
                </a:gridCol>
              </a:tblGrid>
              <a:tr h="578698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latin typeface="SVN-Gilroy" panose="00000500000000000000" pitchFamily="50" charset="0"/>
                        </a:rPr>
                        <a:t>Luận điểm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latin typeface="SVN-Gilroy" panose="00000500000000000000" pitchFamily="50" charset="0"/>
                        </a:rPr>
                        <a:t>đầu tư</a:t>
                      </a:r>
                      <a:endParaRPr lang="en-US" sz="1500" b="1" i="0" u="none" strike="noStrike">
                        <a:solidFill>
                          <a:srgbClr val="FFFFFF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rgbClr val="FE67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latin typeface="SVN-Gilroy" panose="00000500000000000000" pitchFamily="50" charset="0"/>
                        </a:rPr>
                        <a:t>Số liệu</a:t>
                      </a:r>
                      <a:endParaRPr lang="en-US" sz="1500" b="1" i="0" u="none" strike="noStrike">
                        <a:solidFill>
                          <a:srgbClr val="FFFFFF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rgbClr val="FE67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latin typeface="SVN-Gilroy" panose="00000500000000000000" pitchFamily="50" charset="0"/>
                        </a:rPr>
                        <a:t>Chỉ tiêu</a:t>
                      </a:r>
                      <a:endParaRPr lang="en-US" sz="1500" b="1" i="0" u="none" strike="noStrike">
                        <a:solidFill>
                          <a:srgbClr val="FFFFFF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rgbClr val="FE67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latin typeface="SVN-Gilroy" panose="00000500000000000000" pitchFamily="50" charset="0"/>
                        </a:rPr>
                        <a:t>Ý nghĩa với cổ phiếu MBB</a:t>
                      </a:r>
                    </a:p>
                  </a:txBody>
                  <a:tcPr marL="40640" marR="40640" marT="35560" marB="27940" anchor="ctr">
                    <a:solidFill>
                      <a:srgbClr val="FE67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554586"/>
                  </a:ext>
                </a:extLst>
              </a:tr>
              <a:tr h="185876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① Định giá</a:t>
                      </a:r>
                    </a:p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(P/B dự phóng)</a:t>
                      </a:r>
                      <a:endParaRPr lang="en-US" sz="1500" b="1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~1,2x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P/B trên giá trị sổ sách dự phóng năm 2026, so với 1,39x tại thời điểm hiện tại.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Thấp hơn cả P/B hiện tại lẫn trung bình 5 năm 1,34x, trong khi khả năng sinh lời không suy giảm.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1596031"/>
                  </a:ext>
                </a:extLst>
              </a:tr>
              <a:tr h="1602752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② Vốn rẻ (CASA)</a:t>
                      </a:r>
                      <a:endParaRPr lang="en-US" sz="1500" b="1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~38%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/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Tỷ lệ tiền gửi không kỳ hạn tại thời điểm cuối năm 2025.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/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Dẫn đầu hệ thống, giúp MBB giữ chi phí huy động ở nhóm thấp nhất khi NIM toàn ngành thu hẹp.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/>
                </a:tc>
                <a:extLst>
                  <a:ext uri="{0D108BD9-81ED-4DB2-BD59-A6C34878D82A}">
                    <a16:rowId xmlns:a16="http://schemas.microsoft.com/office/drawing/2014/main" val="2376709250"/>
                  </a:ext>
                </a:extLst>
              </a:tr>
              <a:tr h="1413409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③ Tăng trưởng</a:t>
                      </a:r>
                    </a:p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(room tín dụng)</a:t>
                      </a:r>
                      <a:endParaRPr lang="en-US" sz="1500" b="1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30–35%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Mục tiêu tăng trưởng tín dụng năm 2026; đã đạt khoảng 10% tính tới tháng 5.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Hạn mức thuộc nhóm cao nhất thị trường cho giai đoạn 2026–2028 sau khi nhận chuyển giao MBV.</a:t>
                      </a:r>
                      <a:endParaRPr lang="en-US" sz="1500" b="0" i="0" u="none" strike="noStrike" dirty="0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272996"/>
                  </a:ext>
                </a:extLst>
              </a:tr>
              <a:tr h="1602752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Sinh lời</a:t>
                      </a:r>
                    </a:p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(ROE 2025)</a:t>
                      </a:r>
                      <a:endParaRPr lang="en-US" sz="1500" b="1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21,1%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/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Tỷ suất sinh lời trên vốn chủ sở hữu cả năm 2025, theo công bố của MB.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/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Thuộc nhóm cao nhất trong các ngân hàng quy mô lớn, hỗ trợ cho một mặt bằng định giá cao hơn.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/>
                </a:tc>
                <a:extLst>
                  <a:ext uri="{0D108BD9-81ED-4DB2-BD59-A6C34878D82A}">
                    <a16:rowId xmlns:a16="http://schemas.microsoft.com/office/drawing/2014/main" val="3955427424"/>
                  </a:ext>
                </a:extLst>
              </a:tr>
              <a:tr h="185876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Giá mục tiêu</a:t>
                      </a:r>
                    </a:p>
                    <a:p>
                      <a:pPr algn="l" fontAlgn="base">
                        <a:buNone/>
                      </a:pPr>
                      <a:r>
                        <a:rPr lang="en-US" sz="1500" b="1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(đồng/cổ phiếu)</a:t>
                      </a:r>
                      <a:endParaRPr lang="en-US" sz="1500" b="1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32.900 – 37.230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Vùng giá mục tiêu năm 2026 của BSC, Mirae Asset, KBSV và VCBS.</a:t>
                      </a:r>
                      <a:endParaRPr lang="en-US" sz="1500" b="0" i="0" u="none" strike="noStrike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1500" b="0" u="none" strike="noStrike">
                          <a:solidFill>
                            <a:srgbClr val="111827"/>
                          </a:solidFill>
                          <a:effectLst/>
                          <a:latin typeface="SVN-Gilroy" panose="00000500000000000000" pitchFamily="50" charset="0"/>
                        </a:rPr>
                        <a:t>Cả bốn nhóm phân tích đều đang duy trì khuyến nghị MUA đối với cổ phiếu MBB.</a:t>
                      </a:r>
                      <a:endParaRPr lang="en-US" sz="1500" b="1" i="0" u="none" strike="noStrike" dirty="0">
                        <a:solidFill>
                          <a:srgbClr val="111827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40640" marR="40640" marT="35560" marB="2794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929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2CA5966-3ADD-63D3-D22E-86E91BA0392C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84CDE5-EB89-B3EF-A04F-A43E8DA057BB}"/>
              </a:ext>
            </a:extLst>
          </p:cNvPr>
          <p:cNvSpPr txBox="1"/>
          <p:nvPr/>
        </p:nvSpPr>
        <p:spPr>
          <a:xfrm>
            <a:off x="1175001" y="12499183"/>
            <a:ext cx="56448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BSC, KBSV, Mirae Asset Research, VCBS; Mirae Asset Research tổng hợp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3188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MASVN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0D2D4F"/>
    </a:accent1>
    <a:accent2>
      <a:srgbClr val="0086B8"/>
    </a:accent2>
    <a:accent3>
      <a:srgbClr val="8DC8E8"/>
    </a:accent3>
    <a:accent4>
      <a:srgbClr val="5C4936"/>
    </a:accent4>
    <a:accent5>
      <a:srgbClr val="B09478"/>
    </a:accent5>
    <a:accent6>
      <a:srgbClr val="FAB072"/>
    </a:accent6>
    <a:hlink>
      <a:srgbClr val="FFFFFF"/>
    </a:hlink>
    <a:folHlink>
      <a:srgbClr val="FFFFFF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" panose="0211000402020202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미래에셋대우1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F0B26B"/>
    </a:accent1>
    <a:accent2>
      <a:srgbClr val="C2AC97"/>
    </a:accent2>
    <a:accent3>
      <a:srgbClr val="043B72"/>
    </a:accent3>
    <a:accent4>
      <a:srgbClr val="0086B8"/>
    </a:accent4>
    <a:accent5>
      <a:srgbClr val="8DC8E8"/>
    </a:accent5>
    <a:accent6>
      <a:srgbClr val="84888B"/>
    </a:accent6>
    <a:hlink>
      <a:srgbClr val="FFFFFF"/>
    </a:hlink>
    <a:folHlink>
      <a:srgbClr val="FFFFFF"/>
    </a:folHlink>
  </a:clrScheme>
  <a:fontScheme name="Office">
    <a:majorFont>
      <a:latin typeface="맑은 고딕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맑은 고딕" panose="020F050202020403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미래에셋대우1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F0B26B"/>
    </a:accent1>
    <a:accent2>
      <a:srgbClr val="C2AC97"/>
    </a:accent2>
    <a:accent3>
      <a:srgbClr val="043B72"/>
    </a:accent3>
    <a:accent4>
      <a:srgbClr val="0086B8"/>
    </a:accent4>
    <a:accent5>
      <a:srgbClr val="8DC8E8"/>
    </a:accent5>
    <a:accent6>
      <a:srgbClr val="84888B"/>
    </a:accent6>
    <a:hlink>
      <a:srgbClr val="FFFFFF"/>
    </a:hlink>
    <a:folHlink>
      <a:srgbClr val="FFFFFF"/>
    </a:folHlink>
  </a:clrScheme>
  <a:fontScheme name="Office">
    <a:majorFont>
      <a:latin typeface="맑은 고딕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맑은 고딕" panose="020F050202020403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C5446F-64EF-49D7-857D-C061759E0C2B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6524</TotalTime>
  <Words>901</Words>
  <Application>Microsoft Office PowerPoint</Application>
  <PresentationFormat>Custom</PresentationFormat>
  <Paragraphs>97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HotStock · MBB · Ngân hàng MB</dc:title>
  <dc:creator>HQ 37</dc:creator>
  <cp:lastModifiedBy>Nguyen, Nguyen Huynh Binh</cp:lastModifiedBy>
  <cp:revision>154</cp:revision>
  <dcterms:created xsi:type="dcterms:W3CDTF">2024-07-22T08:52:42Z</dcterms:created>
  <dcterms:modified xsi:type="dcterms:W3CDTF">2026-07-28T09:42:35Z</dcterms:modified>
</cp:coreProperties>
</file>