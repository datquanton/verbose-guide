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ags/tag1.xml" ContentType="application/vnd.openxmlformats-officedocument.presentationml.tags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charts/chart1.xml" ContentType="application/vnd.openxmlformats-officedocument.drawingml.chart+xml"/>
  <Override PartName="/ppt/charts/style1.xml" ContentType="application/vnd.ms-office.chartstyle+xml"/>
  <Override PartName="/ppt/charts/colors1.xml" ContentType="application/vnd.ms-office.chartcolorstyl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charts/chart2.xml" ContentType="application/vnd.openxmlformats-officedocument.drawingml.chart+xml"/>
  <Override PartName="/ppt/charts/style2.xml" ContentType="application/vnd.ms-office.chartstyle+xml"/>
  <Override PartName="/ppt/charts/colors2.xml" ContentType="application/vnd.ms-office.chartcolorstyl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60" r:id="rId4"/>
    <p:sldId id="258" r:id="rId5"/>
    <p:sldId id="261" r:id="rId6"/>
    <p:sldId id="259" r:id="rId7"/>
  </p:sldIdLst>
  <p:sldSz cx="10287000" cy="13716000"/>
  <p:notesSz cx="13716000" cy="10287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66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56" d="100"/>
          <a:sy n="56" d="100"/>
        </p:scale>
        <p:origin x="3006" y="120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charts/_rels/chart1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quan.td\Desktop\FinStatements\FiinProX_DuLieuTaiChinh_BaoCaoTaiChinh_Yearly_Hop_nhat_TCB_20260326.xlsx" TargetMode="External"/><Relationship Id="rId2" Type="http://schemas.microsoft.com/office/2011/relationships/chartColorStyle" Target="colors1.xml"/><Relationship Id="rId1" Type="http://schemas.microsoft.com/office/2011/relationships/chartStyle" Target="style1.xml"/></Relationships>
</file>

<file path=ppt/charts/_rels/chart2.xml.rels><?xml version="1.0" encoding="UTF-8" standalone="yes"?>
<Relationships xmlns="http://schemas.openxmlformats.org/package/2006/relationships"><Relationship Id="rId3" Type="http://schemas.openxmlformats.org/officeDocument/2006/relationships/oleObject" Target="file:///C:\Users\quan.td\Desktop\FinStatements\FiinProX_DuLieuTaiChinh_BaoCaoTaiChinh_Yearly_Hop_nhat_TCB_20260326.xlsx" TargetMode="External"/><Relationship Id="rId2" Type="http://schemas.microsoft.com/office/2011/relationships/chartColorStyle" Target="colors2.xml"/><Relationship Id="rId1" Type="http://schemas.microsoft.com/office/2011/relationships/chartStyle" Target="style2.xml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title>
      <c:tx>
        <c:rich>
          <a:bodyPr rot="0" spcFirstLastPara="1" vertOverflow="ellipsis" vert="horz" wrap="square" anchor="ctr" anchorCtr="1"/>
          <a:lstStyle/>
          <a:p>
            <a:pPr>
              <a:defRPr sz="2000" b="0" i="0" u="none" strike="noStrike" kern="1200" spc="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r>
              <a:rPr lang="en-US" sz="2000" dirty="0"/>
              <a:t>(</a:t>
            </a:r>
            <a:r>
              <a:rPr lang="en-US" sz="2000" dirty="0" err="1"/>
              <a:t>tỷ</a:t>
            </a:r>
            <a:r>
              <a:rPr lang="en-US" sz="2000" dirty="0"/>
              <a:t>)</a:t>
            </a:r>
          </a:p>
        </c:rich>
      </c:tx>
      <c:layout>
        <c:manualLayout>
          <c:xMode val="edge"/>
          <c:yMode val="edge"/>
          <c:x val="0.10400338039772977"/>
          <c:y val="0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spc="0" baseline="0">
              <a:solidFill>
                <a:schemeClr val="tx1">
                  <a:lumMod val="65000"/>
                  <a:lumOff val="35000"/>
                </a:schemeClr>
              </a:solidFill>
              <a:latin typeface="SVN-Gilroy" panose="00000500000000000000" pitchFamily="50" charset="0"/>
              <a:ea typeface="+mn-ea"/>
              <a:cs typeface="+mn-cs"/>
            </a:defRPr>
          </a:pPr>
          <a:endParaRPr lang="en-US"/>
        </a:p>
      </c:txPr>
    </c:title>
    <c:autoTitleDeleted val="0"/>
    <c:plotArea>
      <c:layout>
        <c:manualLayout>
          <c:layoutTarget val="inner"/>
          <c:xMode val="edge"/>
          <c:yMode val="edge"/>
          <c:x val="0.19350292938477487"/>
          <c:y val="6.6842304124126797E-2"/>
          <c:w val="0.70109743898128518"/>
          <c:h val="0.74238649348333208"/>
        </c:manualLayout>
      </c:layout>
      <c:barChart>
        <c:barDir val="col"/>
        <c:grouping val="clustered"/>
        <c:varyColors val="0"/>
        <c:ser>
          <c:idx val="0"/>
          <c:order val="1"/>
          <c:tx>
            <c:v>Vốn Chủ Sở Hữu</c:v>
          </c:tx>
          <c:spPr>
            <a:solidFill>
              <a:schemeClr val="tx2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'Bảng cân đối kế toán'!$U$11:$Z$11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'Bảng cân đối kế toán'!$U$78:$Z$78</c:f>
              <c:numCache>
                <c:formatCode>#,##0.00</c:formatCode>
                <c:ptCount val="5"/>
                <c:pt idx="0">
                  <c:v>79613</c:v>
                </c:pt>
                <c:pt idx="1">
                  <c:v>96711</c:v>
                </c:pt>
                <c:pt idx="2">
                  <c:v>118356</c:v>
                </c:pt>
                <c:pt idx="3">
                  <c:v>144549</c:v>
                </c:pt>
                <c:pt idx="4">
                  <c:v>175134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0-A8C8-4EBE-B846-449102666032}"/>
            </c:ext>
          </c:extLst>
        </c:ser>
        <c:ser>
          <c:idx val="3"/>
          <c:order val="3"/>
          <c:tx>
            <c:v>Tổng Tài Sản</c:v>
          </c:tx>
          <c:spPr>
            <a:solidFill>
              <a:schemeClr val="accent4"/>
            </a:solidFill>
            <a:ln>
              <a:noFill/>
            </a:ln>
            <a:effectLst/>
          </c:spPr>
          <c:invertIfNegative val="0"/>
          <c:cat>
            <c:strRef>
              <c:f>'Bảng cân đối kế toán'!$U$11:$Z$11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'Bảng cân đối kế toán'!$U$15:$Z$15</c:f>
              <c:numCache>
                <c:formatCode>#,##0.00</c:formatCode>
                <c:ptCount val="5"/>
                <c:pt idx="0">
                  <c:v>728532</c:v>
                </c:pt>
                <c:pt idx="1">
                  <c:v>944954</c:v>
                </c:pt>
                <c:pt idx="2">
                  <c:v>1133797</c:v>
                </c:pt>
                <c:pt idx="3">
                  <c:v>1500000</c:v>
                </c:pt>
                <c:pt idx="4">
                  <c:v>2100000</c:v>
                </c:pt>
              </c:numCache>
              <c:extLst/>
            </c:numRef>
          </c:val>
          <c:extLst>
            <c:ext xmlns:c16="http://schemas.microsoft.com/office/drawing/2014/chart" uri="{C3380CC4-5D6E-409C-BE32-E72D297353CC}">
              <c16:uniqueId val="{00000001-A8C8-4EBE-B846-449102666032}"/>
            </c:ext>
          </c:extLst>
        </c:ser>
        <c:dLbls>
          <c:showLegendKey val="0"/>
          <c:showVal val="0"/>
          <c:showCatName val="0"/>
          <c:showSerName val="0"/>
          <c:showPercent val="0"/>
          <c:showBubbleSize val="0"/>
        </c:dLbls>
        <c:gapWidth val="75"/>
        <c:axId val="1777538735"/>
        <c:axId val="1777536335"/>
        <c:extLst>
          <c:ext xmlns:c15="http://schemas.microsoft.com/office/drawing/2012/chart" uri="{02D57815-91ED-43cb-92C2-25804820EDAC}">
            <c15:filteredBarSeries>
              <c15:ser>
                <c:idx val="1"/>
                <c:order val="0"/>
                <c:tx>
                  <c:v>Vốn Điều Lệ</c:v>
                </c:tx>
                <c:spPr>
                  <a:solidFill>
                    <a:schemeClr val="accent2"/>
                  </a:solidFill>
                  <a:ln>
                    <a:noFill/>
                  </a:ln>
                  <a:effectLst/>
                </c:spPr>
                <c:invertIfNegative val="0"/>
                <c:cat>
                  <c:strRef>
                    <c:extLst>
                      <c:ext uri="{02D57815-91ED-43cb-92C2-25804820EDAC}">
                        <c15:formulaRef>
                          <c15:sqref>'Bảng cân đối kế toán'!$U$11:$Z$11</c15:sqref>
                        </c15:formulaRef>
                      </c:ext>
                    </c:extLst>
                    <c:strCache>
                      <c:ptCount val="5"/>
                      <c:pt idx="0">
                        <c:v>2022</c:v>
                      </c:pt>
                      <c:pt idx="1">
                        <c:v>2023</c:v>
                      </c:pt>
                      <c:pt idx="2">
                        <c:v>2024</c:v>
                      </c:pt>
                      <c:pt idx="3">
                        <c:v>2025</c:v>
                      </c:pt>
                      <c:pt idx="4">
                        <c:v>2026F</c:v>
                      </c:pt>
                    </c:strCache>
                  </c:strRef>
                </c:cat>
                <c:val>
                  <c:numRef>
                    <c:extLst>
                      <c:ext uri="{02D57815-91ED-43cb-92C2-25804820EDAC}">
                        <c15:formulaRef>
                          <c15:sqref>'Bảng cân đối kế toán'!$U$80:$Z$80</c15:sqref>
                        </c15:formulaRef>
                      </c:ext>
                    </c:extLst>
                    <c:numCache>
                      <c:formatCode>#,##0.00</c:formatCode>
                      <c:ptCount val="5"/>
                      <c:pt idx="0">
                        <c:v>45340</c:v>
                      </c:pt>
                      <c:pt idx="1">
                        <c:v>52141</c:v>
                      </c:pt>
                      <c:pt idx="2">
                        <c:v>53063</c:v>
                      </c:pt>
                      <c:pt idx="3">
                        <c:v>80550</c:v>
                      </c:pt>
                      <c:pt idx="4">
                        <c:v>102687</c:v>
                      </c:pt>
                    </c:numCache>
                  </c:numRef>
                </c:val>
                <c:extLst>
                  <c:ext xmlns:c16="http://schemas.microsoft.com/office/drawing/2014/chart" uri="{C3380CC4-5D6E-409C-BE32-E72D297353CC}">
                    <c16:uniqueId val="{00000006-A8C8-4EBE-B846-449102666032}"/>
                  </c:ext>
                </c:extLst>
              </c15:ser>
            </c15:filteredBarSeries>
          </c:ext>
        </c:extLst>
      </c:barChart>
      <c:lineChart>
        <c:grouping val="standard"/>
        <c:varyColors val="0"/>
        <c:ser>
          <c:idx val="2"/>
          <c:order val="2"/>
          <c:tx>
            <c:strRef>
              <c:f>'Bảng cân đối kế toán'!$A$81</c:f>
              <c:strCache>
                <c:ptCount val="1"/>
                <c:pt idx="0">
                  <c:v>Tăng trưởng VCSH (%)</c:v>
                </c:pt>
              </c:strCache>
            </c:strRef>
          </c:tx>
          <c:spPr>
            <a:ln w="28575" cap="rnd">
              <a:solidFill>
                <a:srgbClr val="00B0F0"/>
              </a:solidFill>
              <a:round/>
            </a:ln>
            <a:effectLst/>
          </c:spPr>
          <c:marker>
            <c:symbol val="none"/>
          </c:marker>
          <c:dLbls>
            <c:dLbl>
              <c:idx val="0"/>
              <c:layout>
                <c:manualLayout>
                  <c:x val="-5.7820869971127925E-2"/>
                  <c:y val="-4.635804381938799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8-A8C8-4EBE-B846-449102666032}"/>
                </c:ext>
              </c:extLst>
            </c:dLbl>
            <c:dLbl>
              <c:idx val="2"/>
              <c:layout>
                <c:manualLayout>
                  <c:x val="-3.8021453001759027E-2"/>
                  <c:y val="-3.2377934103046645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7-A8C8-4EBE-B846-449102666032}"/>
                </c:ext>
              </c:extLst>
            </c:dLbl>
            <c:dLbl>
              <c:idx val="3"/>
              <c:layout>
                <c:manualLayout>
                  <c:x val="-3.9194526570950836E-2"/>
                  <c:y val="-6.7240585029063771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2-A8C8-4EBE-B846-449102666032}"/>
                </c:ext>
              </c:extLst>
            </c:dLbl>
            <c:dLbl>
              <c:idx val="4"/>
              <c:layout>
                <c:manualLayout>
                  <c:x val="-4.284946517574497E-2"/>
                  <c:y val="-7.8819638421524577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3-A8C8-4EBE-B846-449102666032}"/>
                </c:ext>
              </c:extLst>
            </c:dLbl>
            <c:dLbl>
              <c:idx val="5"/>
              <c:layout>
                <c:manualLayout>
                  <c:x val="-3.1731465385855424E-2"/>
                  <c:y val="-2.7373054824596406E-2"/>
                </c:manualLayout>
              </c:layout>
              <c:dLblPos val="r"/>
              <c:showLegendKey val="0"/>
              <c:showVal val="1"/>
              <c:showCatName val="0"/>
              <c:showSerName val="0"/>
              <c:showPercent val="0"/>
              <c:showBubbleSize val="0"/>
              <c:extLst>
                <c:ext xmlns:c15="http://schemas.microsoft.com/office/drawing/2012/chart" uri="{CE6537A1-D6FC-4f65-9D91-7224C49458BB}"/>
                <c:ext xmlns:c16="http://schemas.microsoft.com/office/drawing/2014/chart" uri="{C3380CC4-5D6E-409C-BE32-E72D297353CC}">
                  <c16:uniqueId val="{00000004-A8C8-4EBE-B846-449102666032}"/>
                </c:ext>
              </c:extLst>
            </c:dLbl>
            <c:spPr>
              <a:noFill/>
              <a:ln>
                <a:noFill/>
              </a:ln>
              <a:effectLst/>
            </c:spPr>
            <c:txPr>
              <a:bodyPr rot="0" spcFirstLastPara="1" vertOverflow="ellipsis" vert="horz" wrap="square" anchor="ctr" anchorCtr="1"/>
              <a:lstStyle/>
              <a:p>
                <a:pPr>
                  <a:defRPr sz="2000" b="0" i="0" u="none" strike="noStrike" kern="1200" baseline="0">
                    <a:solidFill>
                      <a:schemeClr val="tx1">
                        <a:lumMod val="75000"/>
                        <a:lumOff val="25000"/>
                      </a:schemeClr>
                    </a:solidFill>
                    <a:latin typeface="SVN-Gilroy" panose="00000500000000000000" pitchFamily="50" charset="0"/>
                    <a:ea typeface="+mn-ea"/>
                    <a:cs typeface="+mn-cs"/>
                  </a:defRPr>
                </a:pPr>
                <a:endParaRPr lang="en-US"/>
              </a:p>
            </c:txPr>
            <c:dLblPos val="t"/>
            <c:showLegendKey val="0"/>
            <c:showVal val="1"/>
            <c:showCatName val="0"/>
            <c:showSerName val="0"/>
            <c:showPercent val="0"/>
            <c:showBubbleSize val="0"/>
            <c:showLeaderLines val="0"/>
            <c:extLst>
              <c:ext xmlns:c15="http://schemas.microsoft.com/office/drawing/2012/chart" uri="{CE6537A1-D6FC-4f65-9D91-7224C49458BB}">
                <c15:showLeaderLines val="1"/>
                <c15:leaderLines>
                  <c:spPr>
                    <a:ln w="9525" cap="flat" cmpd="sng" algn="ctr">
                      <a:solidFill>
                        <a:schemeClr val="tx1">
                          <a:lumMod val="35000"/>
                          <a:lumOff val="65000"/>
                        </a:schemeClr>
                      </a:solidFill>
                      <a:round/>
                    </a:ln>
                    <a:effectLst/>
                  </c:spPr>
                </c15:leaderLines>
              </c:ext>
            </c:extLst>
          </c:dLbls>
          <c:cat>
            <c:strRef>
              <c:f>'Bảng cân đối kế toán'!$U$11:$Z$11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  <c:extLst/>
            </c:strRef>
          </c:cat>
          <c:val>
            <c:numRef>
              <c:f>'Bảng cân đối kế toán'!$U$81:$Z$81</c:f>
              <c:numCache>
                <c:formatCode>0.0%</c:formatCode>
                <c:ptCount val="5"/>
                <c:pt idx="0">
                  <c:v>0.274</c:v>
                </c:pt>
                <c:pt idx="1">
                  <c:v>0.215</c:v>
                </c:pt>
                <c:pt idx="2">
                  <c:v>0.224</c:v>
                </c:pt>
                <c:pt idx="3">
                  <c:v>0.221</c:v>
                </c:pt>
                <c:pt idx="4">
                  <c:v>0.212</c:v>
                </c:pt>
              </c:numCache>
              <c:extLst/>
            </c:numRef>
          </c:val>
          <c:smooth val="0"/>
          <c:extLst>
            <c:ext xmlns:c16="http://schemas.microsoft.com/office/drawing/2014/chart" uri="{C3380CC4-5D6E-409C-BE32-E72D297353CC}">
              <c16:uniqueId val="{00000005-A8C8-4EBE-B846-449102666032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marker val="1"/>
        <c:smooth val="0"/>
        <c:axId val="1777533935"/>
        <c:axId val="1777535375"/>
      </c:lineChart>
      <c:catAx>
        <c:axId val="1777538735"/>
        <c:scaling>
          <c:orientation val="minMax"/>
        </c:scaling>
        <c:delete val="0"/>
        <c:axPos val="b"/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777536335"/>
        <c:crosses val="autoZero"/>
        <c:auto val="1"/>
        <c:lblAlgn val="ctr"/>
        <c:lblOffset val="100"/>
        <c:noMultiLvlLbl val="0"/>
      </c:catAx>
      <c:valAx>
        <c:axId val="1777536335"/>
        <c:scaling>
          <c:orientation val="minMax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777538735"/>
        <c:crosses val="autoZero"/>
        <c:crossBetween val="between"/>
      </c:valAx>
      <c:valAx>
        <c:axId val="1777535375"/>
        <c:scaling>
          <c:orientation val="minMax"/>
        </c:scaling>
        <c:delete val="0"/>
        <c:axPos val="r"/>
        <c:numFmt formatCode="0%" sourceLinked="0"/>
        <c:majorTickMark val="out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777533935"/>
        <c:crosses val="max"/>
        <c:crossBetween val="between"/>
      </c:valAx>
      <c:catAx>
        <c:axId val="1777533935"/>
        <c:scaling>
          <c:orientation val="minMax"/>
        </c:scaling>
        <c:delete val="1"/>
        <c:axPos val="b"/>
        <c:numFmt formatCode="General" sourceLinked="1"/>
        <c:majorTickMark val="out"/>
        <c:minorTickMark val="none"/>
        <c:tickLblPos val="nextTo"/>
        <c:crossAx val="1777535375"/>
        <c:crosses val="autoZero"/>
        <c:auto val="1"/>
        <c:lblAlgn val="ctr"/>
        <c:lblOffset val="100"/>
        <c:noMultiLvlLbl val="0"/>
      </c:cat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7.067939680704562E-4"/>
          <c:y val="0.89671386619055182"/>
          <c:w val="0.9992932060319295"/>
          <c:h val="8.465192114669369E-2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0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SVN-Gilroy" panose="00000500000000000000" pitchFamily="50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</c:chart>
  <c:spPr>
    <a:noFill/>
    <a:ln>
      <a:noFill/>
    </a:ln>
    <a:effectLst/>
  </c:spPr>
  <c:txPr>
    <a:bodyPr/>
    <a:lstStyle/>
    <a:p>
      <a:pPr>
        <a:defRPr sz="2000">
          <a:latin typeface="SVN-Gilroy" panose="00000500000000000000" pitchFamily="50" charset="0"/>
        </a:defRPr>
      </a:pPr>
      <a:endParaRPr lang="en-US"/>
    </a:p>
  </c:txPr>
  <c:externalData r:id="rId3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 xmlns:c16r2="http://schemas.microsoft.com/office/drawing/2015/06/chart">
  <c:date1904 val="0"/>
  <c:lang val="en-US"/>
  <c:roundedCorners val="0"/>
  <mc:AlternateContent xmlns:mc="http://schemas.openxmlformats.org/markup-compatibility/2006">
    <mc:Choice xmlns:c14="http://schemas.microsoft.com/office/drawing/2007/8/2/chart" Requires="c14">
      <c14:style val="102"/>
    </mc:Choice>
    <mc:Fallback>
      <c:style val="2"/>
    </mc:Fallback>
  </mc:AlternateContent>
  <c:chart>
    <c:autoTitleDeleted val="1"/>
    <c:plotArea>
      <c:layout>
        <c:manualLayout>
          <c:layoutTarget val="inner"/>
          <c:xMode val="edge"/>
          <c:yMode val="edge"/>
          <c:x val="0.13246686756748"/>
          <c:y val="0.12298370772527673"/>
          <c:w val="0.83735480595789724"/>
          <c:h val="0.57548525108062121"/>
        </c:manualLayout>
      </c:layout>
      <c:areaChart>
        <c:grouping val="clustered"/>
        <c:varyColors val="0"/>
        <c:dLbls>
          <c:showLegendKey val="0"/>
          <c:showVal val="1"/>
          <c:showCatName val="0"/>
          <c:showSerName val="0"/>
          <c:showPercent val="0"/>
          <c:showBubbleSize val="0"/>
        </c:dLbls>
        <c:axId val="1983756111"/>
        <c:axId val="1983780591"/>
      </c:areaChart>
      <c:barChart>
        <c:barDir val="col"/>
        <c:grouping val="clustered"/>
        <c:varyColors val="0"/>
        <c:ser>
          <c:idx val="0"/>
          <c:order val="0"/>
          <c:tx>
            <c:strRef>
              <c:f>'Kết quả kinh doanh'!$A$15</c:f>
              <c:strCache>
                <c:ptCount val="1"/>
                <c:pt idx="0">
                  <c:v>Lợi nhuận trước thuế</c:v>
                </c:pt>
              </c:strCache>
            </c:strRef>
          </c:tx>
          <c:spPr>
            <a:solidFill>
              <a:schemeClr val="tx2">
                <a:lumMod val="50000"/>
              </a:schemeClr>
            </a:solidFill>
            <a:ln>
              <a:noFill/>
            </a:ln>
            <a:effectLst/>
          </c:spPr>
          <c:invertIfNegative val="0"/>
          <c:cat>
            <c:strRef>
              <c:f>'Kết quả kinh doanh'!$U$11:$Y$11</c:f>
              <c:strCache>
                <c:ptCount val="5"/>
                <c:pt idx="0">
                  <c:v>2022</c:v>
                </c:pt>
                <c:pt idx="1">
                  <c:v>2023</c:v>
                </c:pt>
                <c:pt idx="2">
                  <c:v>2024</c:v>
                </c:pt>
                <c:pt idx="3">
                  <c:v>2025</c:v>
                </c:pt>
                <c:pt idx="4">
                  <c:v>2026F</c:v>
                </c:pt>
              </c:strCache>
            </c:strRef>
          </c:cat>
          <c:val>
            <c:numRef>
              <c:f>('Kết quả kinh doanh'!$B$15:$R$15,'Kết quả kinh doanh'!$U$15:$Y$15)</c:f>
              <c:numCache>
                <c:formatCode>#,##0.00</c:formatCode>
                <c:ptCount val="5"/>
                <c:pt idx="0">
                  <c:v>22729</c:v>
                </c:pt>
                <c:pt idx="1">
                  <c:v>26306</c:v>
                </c:pt>
                <c:pt idx="2">
                  <c:v>28829</c:v>
                </c:pt>
                <c:pt idx="3">
                  <c:v>34268</c:v>
                </c:pt>
                <c:pt idx="4">
                  <c:v>40726</c:v>
                </c:pt>
              </c:numCache>
            </c:numRef>
          </c:val>
          <c:extLst>
            <c:ext xmlns:c16="http://schemas.microsoft.com/office/drawing/2014/chart" uri="{C3380CC4-5D6E-409C-BE32-E72D297353CC}">
              <c16:uniqueId val="{00000002-C3A1-45CC-8CEA-EFD9BB4A2B84}"/>
            </c:ext>
          </c:extLst>
        </c:ser>
        <c:dLbls>
          <c:showLegendKey val="0"/>
          <c:showVal val="1"/>
          <c:showCatName val="0"/>
          <c:showSerName val="0"/>
          <c:showPercent val="0"/>
          <c:showBubbleSize val="0"/>
        </c:dLbls>
        <c:gapWidth val="150"/>
        <c:overlap val="100"/>
        <c:axId val="1983756111"/>
        <c:axId val="1983780591"/>
      </c:barChart>
      <c:catAx>
        <c:axId val="1983756111"/>
        <c:scaling>
          <c:orientation val="minMax"/>
        </c:scaling>
        <c:delete val="0"/>
        <c:axPos val="b"/>
        <c:title>
          <c:tx>
            <c:rich>
              <a:bodyPr rot="0" spcFirstLastPara="1" vertOverflow="ellipsis" vert="horz" wrap="square" anchor="ctr" anchorCtr="1"/>
              <a:lstStyle/>
              <a:p>
                <a:pPr>
                  <a:defRPr sz="2200" b="0" i="0" u="none" strike="noStrike" kern="1200" baseline="0">
                    <a:solidFill>
                      <a:schemeClr val="tx1">
                        <a:lumMod val="65000"/>
                        <a:lumOff val="35000"/>
                      </a:schemeClr>
                    </a:solidFill>
                    <a:latin typeface="SVN-Gilroy" panose="00000500000000000000" pitchFamily="50" charset="0"/>
                    <a:ea typeface="+mn-ea"/>
                    <a:cs typeface="+mn-cs"/>
                  </a:defRPr>
                </a:pPr>
                <a:r>
                  <a:rPr lang="en-US" sz="2200"/>
                  <a:t>(tỷ)</a:t>
                </a:r>
              </a:p>
            </c:rich>
          </c:tx>
          <c:layout>
            <c:manualLayout>
              <c:xMode val="edge"/>
              <c:yMode val="edge"/>
              <c:x val="5.4943843368143688E-2"/>
              <c:y val="4.8439290421607085E-2"/>
            </c:manualLayout>
          </c:layout>
          <c:overlay val="0"/>
          <c:spPr>
            <a:noFill/>
            <a:ln>
              <a:noFill/>
            </a:ln>
            <a:effectLst/>
          </c:spPr>
          <c:txPr>
            <a:bodyPr rot="0" spcFirstLastPara="1" vertOverflow="ellipsis" vert="horz" wrap="square" anchor="ctr" anchorCtr="1"/>
            <a:lstStyle/>
            <a:p>
              <a:pPr>
                <a:defRPr sz="2200" b="0" i="0" u="none" strike="noStrike" kern="1200" baseline="0">
                  <a:solidFill>
                    <a:schemeClr val="tx1">
                      <a:lumMod val="65000"/>
                      <a:lumOff val="35000"/>
                    </a:schemeClr>
                  </a:solidFill>
                  <a:latin typeface="SVN-Gilroy" panose="00000500000000000000" pitchFamily="50" charset="0"/>
                  <a:ea typeface="+mn-ea"/>
                  <a:cs typeface="+mn-cs"/>
                </a:defRPr>
              </a:pPr>
              <a:endParaRPr lang="en-US"/>
            </a:p>
          </c:txPr>
        </c:title>
        <c:numFmt formatCode="General" sourceLinked="1"/>
        <c:majorTickMark val="none"/>
        <c:minorTickMark val="none"/>
        <c:tickLblPos val="nextTo"/>
        <c:spPr>
          <a:noFill/>
          <a:ln w="9525" cap="flat" cmpd="sng" algn="ctr">
            <a:solidFill>
              <a:schemeClr val="tx1">
                <a:lumMod val="15000"/>
                <a:lumOff val="85000"/>
              </a:schemeClr>
            </a:solidFill>
            <a:round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4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983780591"/>
        <c:crosses val="autoZero"/>
        <c:auto val="1"/>
        <c:lblAlgn val="ctr"/>
        <c:lblOffset val="100"/>
        <c:noMultiLvlLbl val="0"/>
      </c:catAx>
      <c:valAx>
        <c:axId val="1983780591"/>
        <c:scaling>
          <c:orientation val="minMax"/>
        </c:scaling>
        <c:delete val="0"/>
        <c:axPos val="l"/>
        <c:numFmt formatCode="#,##0" sourceLinked="0"/>
        <c:majorTickMark val="none"/>
        <c:minorTickMark val="none"/>
        <c:tickLblPos val="nextTo"/>
        <c:spPr>
          <a:noFill/>
          <a:ln>
            <a:noFill/>
          </a:ln>
          <a:effectLst/>
        </c:spPr>
        <c:txPr>
          <a:bodyPr rot="-60000000" spcFirstLastPara="1" vertOverflow="ellipsis" vert="horz" wrap="square" anchor="ctr" anchorCtr="1"/>
          <a:lstStyle/>
          <a:p>
            <a:pPr>
              <a:defRPr sz="2000" b="0" i="0" u="none" strike="noStrike" kern="1200" baseline="0">
                <a:solidFill>
                  <a:schemeClr val="tx1">
                    <a:lumMod val="65000"/>
                    <a:lumOff val="35000"/>
                  </a:schemeClr>
                </a:solidFill>
                <a:latin typeface="SVN-Gilroy" panose="00000500000000000000" pitchFamily="50" charset="0"/>
                <a:ea typeface="+mn-ea"/>
                <a:cs typeface="+mn-cs"/>
              </a:defRPr>
            </a:pPr>
            <a:endParaRPr lang="en-US"/>
          </a:p>
        </c:txPr>
        <c:crossAx val="1983756111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layout>
        <c:manualLayout>
          <c:xMode val="edge"/>
          <c:yMode val="edge"/>
          <c:x val="3.0738704704359392E-2"/>
          <c:y val="0.80692882935863064"/>
          <c:w val="0.96667486876640418"/>
          <c:h val="0.19307117064136947"/>
        </c:manualLayout>
      </c:layout>
      <c:overlay val="0"/>
      <c:spPr>
        <a:noFill/>
        <a:ln>
          <a:noFill/>
        </a:ln>
        <a:effectLst/>
      </c:spPr>
      <c:txPr>
        <a:bodyPr rot="0" spcFirstLastPara="1" vertOverflow="ellipsis" vert="horz" wrap="square" anchor="ctr" anchorCtr="1"/>
        <a:lstStyle/>
        <a:p>
          <a:pPr>
            <a:defRPr sz="2100" b="0" i="0" u="none" strike="noStrike" kern="1200" baseline="0">
              <a:solidFill>
                <a:schemeClr val="tx1">
                  <a:lumMod val="65000"/>
                  <a:lumOff val="35000"/>
                </a:schemeClr>
              </a:solidFill>
              <a:latin typeface="SVN-Gilroy" panose="00000500000000000000" pitchFamily="50" charset="0"/>
              <a:ea typeface="+mn-ea"/>
              <a:cs typeface="+mn-cs"/>
            </a:defRPr>
          </a:pPr>
          <a:endParaRPr lang="en-US"/>
        </a:p>
      </c:txPr>
    </c:legend>
    <c:plotVisOnly val="1"/>
    <c:dispBlanksAs val="gap"/>
    <c:showDLblsOverMax val="0"/>
    <c:extLst>
      <c:ext xmlns:c16r3="http://schemas.microsoft.com/office/drawing/2017/03/chart" uri="{56B9EC1D-385E-4148-901F-78D8002777C0}">
        <c16r3:dataDisplayOptions16>
          <c16r3:dispNaAsBlank val="1"/>
        </c16r3:dataDisplayOptions16>
      </c:ext>
    </c:extLst>
  </c:chart>
  <c:spPr>
    <a:noFill/>
    <a:ln w="9525" cap="flat" cmpd="sng" algn="ctr">
      <a:noFill/>
      <a:round/>
    </a:ln>
    <a:effectLst/>
  </c:spPr>
  <c:txPr>
    <a:bodyPr/>
    <a:lstStyle/>
    <a:p>
      <a:pPr>
        <a:defRPr sz="2400">
          <a:latin typeface="SVN-Gilroy" panose="00000500000000000000" pitchFamily="50" charset="0"/>
        </a:defRPr>
      </a:pPr>
      <a:endParaRPr lang="en-US"/>
    </a:p>
  </c:txPr>
  <c:externalData r:id="rId3">
    <c:autoUpdate val="0"/>
  </c:externalData>
</c:chartSpace>
</file>

<file path=ppt/charts/colors1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colors2.xml><?xml version="1.0" encoding="utf-8"?>
<cs:colorStyle xmlns:cs="http://schemas.microsoft.com/office/drawing/2012/chartStyle" xmlns:a="http://schemas.openxmlformats.org/drawingml/2006/main" meth="cycle" id="10">
  <a:schemeClr val="accent1"/>
  <a:schemeClr val="accent2"/>
  <a:schemeClr val="accent3"/>
  <a:schemeClr val="accent4"/>
  <a:schemeClr val="accent5"/>
  <a:schemeClr val="accent6"/>
  <cs:variation/>
  <cs:variation>
    <a:lumMod val="60000"/>
  </cs:variation>
  <cs:variation>
    <a:lumMod val="80000"/>
    <a:lumOff val="20000"/>
  </cs:variation>
  <cs:variation>
    <a:lumMod val="80000"/>
  </cs:variation>
  <cs:variation>
    <a:lumMod val="60000"/>
    <a:lumOff val="40000"/>
  </cs:variation>
  <cs:variation>
    <a:lumMod val="50000"/>
  </cs:variation>
  <cs:variation>
    <a:lumMod val="70000"/>
    <a:lumOff val="30000"/>
  </cs:variation>
  <cs:variation>
    <a:lumMod val="70000"/>
  </cs:variation>
  <cs:variation>
    <a:lumMod val="50000"/>
    <a:lumOff val="50000"/>
  </cs:variation>
</cs:colorStyle>
</file>

<file path=ppt/charts/style1.xml><?xml version="1.0" encoding="utf-8"?>
<cs:chartStyle xmlns:cs="http://schemas.microsoft.com/office/drawing/2012/chartStyle" xmlns:a="http://schemas.openxmlformats.org/drawingml/2006/main" id="201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dk1"/>
    </cs:fontRef>
    <cs:spPr>
      <a:solidFill>
        <a:schemeClr val="dk1">
          <a:lumMod val="65000"/>
          <a:lumOff val="35000"/>
        </a:schemeClr>
      </a:solidFill>
      <a:ln w="9525">
        <a:solidFill>
          <a:schemeClr val="tx1">
            <a:lumMod val="65000"/>
            <a:lumOff val="35000"/>
          </a:schemeClr>
        </a:solidFill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75000"/>
            <a:lumOff val="25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dk1"/>
    </cs:fontRef>
    <cs:spPr>
      <a:solidFill>
        <a:schemeClr val="lt1"/>
      </a:solidFill>
      <a:ln w="9525">
        <a:solidFill>
          <a:schemeClr val="tx1">
            <a:lumMod val="15000"/>
            <a:lumOff val="85000"/>
          </a:schemeClr>
        </a:solidFill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charts/style2.xml><?xml version="1.0" encoding="utf-8"?>
<cs:chartStyle xmlns:cs="http://schemas.microsoft.com/office/drawing/2012/chartStyle" xmlns:a="http://schemas.openxmlformats.org/drawingml/2006/main" id="297">
  <cs:axisTitle>
    <cs:lnRef idx="0"/>
    <cs:fillRef idx="0"/>
    <cs:effectRef idx="0"/>
    <cs:fontRef idx="minor">
      <a:schemeClr val="tx1">
        <a:lumMod val="65000"/>
        <a:lumOff val="35000"/>
      </a:schemeClr>
    </cs:fontRef>
    <cs:defRPr sz="1000" kern="1200"/>
  </cs:axisTitle>
  <cs:categoryAxis>
    <cs:lnRef idx="0"/>
    <cs:fillRef idx="0"/>
    <cs:effectRef idx="0"/>
    <cs:fontRef idx="minor">
      <a:schemeClr val="tx1">
        <a:lumMod val="65000"/>
        <a:lumOff val="35000"/>
      </a:schemeClr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categoryAxis>
  <cs:chartArea mods="allowNoFillOverride allowNoLineOverride">
    <cs:lnRef idx="0"/>
    <cs:fillRef idx="0"/>
    <cs:effectRef idx="0"/>
    <cs:fontRef idx="minor">
      <a:schemeClr val="tx1"/>
    </cs:fontRef>
    <cs:spPr>
      <a:solidFill>
        <a:schemeClr val="bg1"/>
      </a:solidFill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1000" kern="1200"/>
  </cs:chartArea>
  <cs:dataLabel>
    <cs:lnRef idx="0"/>
    <cs:fillRef idx="0"/>
    <cs:effectRef idx="0"/>
    <cs:fontRef idx="minor">
      <a:schemeClr val="tx1">
        <a:lumMod val="75000"/>
        <a:lumOff val="25000"/>
      </a:schemeClr>
    </cs:fontRef>
    <cs:defRPr sz="900" kern="1200"/>
  </cs:dataLabel>
  <cs:dataLabelCallout>
    <cs:lnRef idx="0"/>
    <cs:fillRef idx="0"/>
    <cs:effectRef idx="0"/>
    <cs:fontRef idx="minor">
      <a:schemeClr val="dk1">
        <a:lumMod val="65000"/>
        <a:lumOff val="35000"/>
      </a:schemeClr>
    </cs:fontRef>
    <cs:spPr>
      <a:solidFill>
        <a:schemeClr val="lt1"/>
      </a:solidFill>
      <a:ln>
        <a:solidFill>
          <a:schemeClr val="dk1">
            <a:lumMod val="25000"/>
            <a:lumOff val="75000"/>
          </a:schemeClr>
        </a:solidFill>
      </a:ln>
    </cs:spPr>
    <cs:defRPr sz="900" kern="1200"/>
    <cs:bodyPr rot="0" spcFirstLastPara="1" vertOverflow="clip" horzOverflow="clip" vert="horz" wrap="square" lIns="36576" tIns="18288" rIns="36576" bIns="18288" anchor="ctr" anchorCtr="1">
      <a:spAutoFit/>
    </cs:bodyPr>
  </cs:dataLabelCallout>
  <cs:dataPoint>
    <cs:lnRef idx="0"/>
    <cs:fillRef idx="1">
      <cs:styleClr val="auto"/>
    </cs:fillRef>
    <cs:effectRef idx="0"/>
    <cs:fontRef idx="minor">
      <a:schemeClr val="tx1"/>
    </cs:fontRef>
  </cs:dataPoint>
  <cs:dataPoint3D>
    <cs:lnRef idx="0"/>
    <cs:fillRef idx="1">
      <cs:styleClr val="auto"/>
    </cs:fillRef>
    <cs:effectRef idx="0"/>
    <cs:fontRef idx="minor">
      <a:schemeClr val="tx1"/>
    </cs:fontRef>
  </cs:dataPoint3D>
  <cs:dataPointLine>
    <cs:lnRef idx="0">
      <cs:styleClr val="auto"/>
    </cs:lnRef>
    <cs:fillRef idx="1"/>
    <cs:effectRef idx="0"/>
    <cs:fontRef idx="minor">
      <a:schemeClr val="tx1"/>
    </cs:fontRef>
    <cs:spPr>
      <a:ln w="28575" cap="rnd">
        <a:solidFill>
          <a:schemeClr val="phClr"/>
        </a:solidFill>
        <a:round/>
      </a:ln>
    </cs:spPr>
  </cs:dataPointLine>
  <cs:dataPointMarker>
    <cs:lnRef idx="0">
      <cs:styleClr val="auto"/>
    </cs:lnRef>
    <cs:fillRef idx="1">
      <cs:styleClr val="auto"/>
    </cs:fillRef>
    <cs:effectRef idx="0"/>
    <cs:fontRef idx="minor">
      <a:schemeClr val="tx1"/>
    </cs:fontRef>
    <cs:spPr>
      <a:ln w="9525">
        <a:solidFill>
          <a:schemeClr val="phClr"/>
        </a:solidFill>
      </a:ln>
    </cs:spPr>
  </cs:dataPointMarker>
  <cs:dataPointMarkerLayout symbol="circle" size="5"/>
  <cs:dataPointWireframe>
    <cs:lnRef idx="0">
      <cs:styleClr val="auto"/>
    </cs:lnRef>
    <cs:fillRef idx="1"/>
    <cs:effectRef idx="0"/>
    <cs:fontRef idx="minor">
      <a:schemeClr val="tx1"/>
    </cs:fontRef>
    <cs:spPr>
      <a:ln w="9525" cap="rnd">
        <a:solidFill>
          <a:schemeClr val="phClr"/>
        </a:solidFill>
        <a:round/>
      </a:ln>
    </cs:spPr>
  </cs:dataPointWireframe>
  <cs:dataTable>
    <cs:lnRef idx="0"/>
    <cs:fillRef idx="0"/>
    <cs:effectRef idx="0"/>
    <cs:fontRef idx="minor">
      <a:schemeClr val="tx1">
        <a:lumMod val="65000"/>
        <a:lumOff val="35000"/>
      </a:schemeClr>
    </cs:fontRef>
    <cs:spPr>
      <a:noFill/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  <cs:defRPr sz="900" kern="1200"/>
  </cs:dataTable>
  <cs:downBar>
    <cs:lnRef idx="0"/>
    <cs:fillRef idx="0"/>
    <cs:effectRef idx="0"/>
    <cs:fontRef idx="minor">
      <a:schemeClr val="tx1"/>
    </cs:fontRef>
    <cs:spPr>
      <a:solidFill>
        <a:schemeClr val="dk1">
          <a:lumMod val="75000"/>
          <a:lumOff val="25000"/>
        </a:schemeClr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downBar>
  <cs:drop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dropLine>
  <cs:errorBa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errorBar>
  <cs:floor>
    <cs:lnRef idx="0"/>
    <cs:fillRef idx="0"/>
    <cs:effectRef idx="0"/>
    <cs:fontRef idx="minor">
      <a:schemeClr val="tx1"/>
    </cs:fontRef>
    <cs:spPr>
      <a:noFill/>
      <a:ln>
        <a:noFill/>
      </a:ln>
    </cs:spPr>
  </cs:floor>
  <cs:gridlineMaj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15000"/>
            <a:lumOff val="85000"/>
          </a:schemeClr>
        </a:solidFill>
        <a:round/>
      </a:ln>
    </cs:spPr>
  </cs:gridlineMajor>
  <cs:gridlineMinor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"/>
            <a:lumOff val="95000"/>
          </a:schemeClr>
        </a:solidFill>
        <a:round/>
      </a:ln>
    </cs:spPr>
  </cs:gridlineMinor>
  <cs:hiLo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50000"/>
            <a:lumOff val="50000"/>
          </a:schemeClr>
        </a:solidFill>
        <a:round/>
      </a:ln>
    </cs:spPr>
  </cs:hiLoLine>
  <cs:leader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leaderLine>
  <cs:legend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legend>
  <cs:plotArea mods="allowNoFillOverride allowNoLineOverride">
    <cs:lnRef idx="0"/>
    <cs:fillRef idx="0"/>
    <cs:effectRef idx="0"/>
    <cs:fontRef idx="minor">
      <a:schemeClr val="tx1"/>
    </cs:fontRef>
  </cs:plotArea>
  <cs:plotArea3D mods="allowNoFillOverride allowNoLineOverride">
    <cs:lnRef idx="0"/>
    <cs:fillRef idx="0"/>
    <cs:effectRef idx="0"/>
    <cs:fontRef idx="minor">
      <a:schemeClr val="tx1"/>
    </cs:fontRef>
  </cs:plotArea3D>
  <cs:series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seriesAxis>
  <cs:seriesLine>
    <cs:lnRef idx="0"/>
    <cs:fillRef idx="0"/>
    <cs:effectRef idx="0"/>
    <cs:fontRef idx="minor">
      <a:schemeClr val="tx1"/>
    </cs:fontRef>
    <cs:spPr>
      <a:ln w="9525" cap="flat" cmpd="sng" algn="ctr">
        <a:solidFill>
          <a:schemeClr val="tx1">
            <a:lumMod val="35000"/>
            <a:lumOff val="65000"/>
          </a:schemeClr>
        </a:solidFill>
        <a:round/>
      </a:ln>
    </cs:spPr>
  </cs:seriesLine>
  <cs:title>
    <cs:lnRef idx="0"/>
    <cs:fillRef idx="0"/>
    <cs:effectRef idx="0"/>
    <cs:fontRef idx="minor">
      <a:schemeClr val="tx1">
        <a:lumMod val="65000"/>
        <a:lumOff val="35000"/>
      </a:schemeClr>
    </cs:fontRef>
    <cs:defRPr sz="1400" b="0" kern="1200" spc="0" baseline="0"/>
  </cs:title>
  <cs:trendline>
    <cs:lnRef idx="0">
      <cs:styleClr val="auto"/>
    </cs:lnRef>
    <cs:fillRef idx="0"/>
    <cs:effectRef idx="0"/>
    <cs:fontRef idx="minor">
      <a:schemeClr val="tx1"/>
    </cs:fontRef>
    <cs:spPr>
      <a:ln w="19050" cap="rnd">
        <a:solidFill>
          <a:schemeClr val="phClr"/>
        </a:solidFill>
        <a:prstDash val="sysDot"/>
      </a:ln>
    </cs:spPr>
  </cs:trendline>
  <cs:trendlineLabel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trendlineLabel>
  <cs:upBar>
    <cs:lnRef idx="0"/>
    <cs:fillRef idx="0"/>
    <cs:effectRef idx="0"/>
    <cs:fontRef idx="minor">
      <a:schemeClr val="tx1"/>
    </cs:fontRef>
    <cs:spPr>
      <a:solidFill>
        <a:schemeClr val="lt1"/>
      </a:solidFill>
      <a:ln w="9525" cap="flat" cmpd="sng" algn="ctr">
        <a:solidFill>
          <a:schemeClr val="tx1">
            <a:lumMod val="65000"/>
            <a:lumOff val="35000"/>
          </a:schemeClr>
        </a:solidFill>
        <a:round/>
      </a:ln>
    </cs:spPr>
  </cs:upBar>
  <cs:valueAxis>
    <cs:lnRef idx="0"/>
    <cs:fillRef idx="0"/>
    <cs:effectRef idx="0"/>
    <cs:fontRef idx="minor">
      <a:schemeClr val="tx1">
        <a:lumMod val="65000"/>
        <a:lumOff val="35000"/>
      </a:schemeClr>
    </cs:fontRef>
    <cs:defRPr sz="900" kern="1200"/>
  </cs:valueAxis>
  <cs:wall>
    <cs:lnRef idx="0"/>
    <cs:fillRef idx="0"/>
    <cs:effectRef idx="0"/>
    <cs:fontRef idx="minor">
      <a:schemeClr val="tx1"/>
    </cs:fontRef>
    <cs:spPr>
      <a:noFill/>
      <a:ln>
        <a:noFill/>
      </a:ln>
    </cs:spPr>
  </cs:wall>
</cs:chartStyle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11752837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MBB đang được định giá đúng, hay thị trường chưa trả đủ cho ngân hàng có chi phí vốn rẻ nhất? P/B dự phóng 2026 ~1,2x đi cùng ROE trên 21%.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P/B dự phóng 2026 ~1,2x trên ROE trên 21%. CASA ~38% cuối 2025, cao nhất hệ thống. LNTT 2026 dự phóng 40.726 tỷ, tăng 18,8% so với cùng kỳ.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C6DC42-0573-292F-026B-3AF257B721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A57F64CF-C0A2-07FC-9AE5-06D45A9C8EDA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B395494-1AD9-8D9B-8D52-52D98750A1A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Tổng tài sản tăng từ 728.532 tỷ (2022) lên gần 1,5 triệu tỷ (2025), mục tiêu vượt 2,1 triệu tỷ năm 2026. Vốn điều lệ lên tối đa 102.687 tỷ.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1FBF06F-ECE5-07D6-2C87-DB97E147C0C5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18633515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CASA ~38% cuối 2025, cao nhất hệ thống, số dư tăng ~27%. Nhận chuyển giao MBV nên được giao room tín dụng nhóm cao nhất 2026-2028. ROE trên 21%.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6A45F80-65E3-DE73-503F-ADC8187984B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1AF1E31-F778-2A89-0529-6245F261C6E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70F7FEC3-2690-2B86-FC79-731A45D813FB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LNTT tăng liên tục: 22.729 tỷ (2022), 26.306 tỷ (2023), 28.829 tỷ (2024), 34.268 tỷ (2025) và dự phóng 40.726 tỷ cho năm 2026.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49C35018-B976-C87C-6992-AFD689E7636E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0979876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/>
              <a:t>Tổng tài sản vượt 1,6 triệu tỷ cuối quý I/2026, mục tiêu vượt 2,1 triệu tỷ. Vốn điều lệ lên tối đa 102.687 tỷ, cổ tức 25% gồm 10% tiền mặt và 15% cổ phiếu.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slideMaster" Target="../slideMasters/slideMaster1.xml"/><Relationship Id="rId1" Type="http://schemas.openxmlformats.org/officeDocument/2006/relationships/tags" Target="../tags/tag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Do not remove" hidden="1">
            <a:extLst>
              <a:ext uri="{FF2B5EF4-FFF2-40B4-BE49-F238E27FC236}">
                <a16:creationId xmlns:a16="http://schemas.microsoft.com/office/drawing/2014/main" id="{768DF393-E84A-1411-08DB-8FAB3A5643B2}"/>
              </a:ext>
            </a:extLst>
          </p:cNvPr>
          <p:cNvSpPr/>
          <p:nvPr userDrawn="1">
            <p:custDataLst>
              <p:tags r:id="rId1"/>
            </p:custDataLst>
          </p:nvPr>
        </p:nvSpPr>
        <p:spPr>
          <a:xfrm>
            <a:off x="0" y="0"/>
            <a:ext cx="12700" cy="12700"/>
          </a:xfrm>
          <a:prstGeom prst="octagon">
            <a:avLst/>
          </a:prstGeom>
          <a:noFill/>
          <a:ln w="12700" cap="flat" cmpd="sng" algn="ctr">
            <a:noFill/>
            <a:prstDash val="solid"/>
            <a:miter lim="800000"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15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4" Type="http://schemas.openxmlformats.org/officeDocument/2006/relationships/chart" Target="../charts/char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e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3630184" y="-84566"/>
            <a:ext cx="8932131" cy="8932131"/>
          </a:xfrm>
          <a:prstGeom prst="ellipse">
            <a:avLst/>
          </a:prstGeom>
          <a:gradFill rotWithShape="1">
            <a:gsLst>
              <a:gs pos="0">
                <a:srgbClr val="1B4F9C">
                  <a:alpha val="10000"/>
                </a:srgbClr>
              </a:gs>
              <a:gs pos="68000">
                <a:srgbClr val="1B4F9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4" name="Shape 1"/>
          <p:cNvSpPr/>
          <p:nvPr/>
        </p:nvSpPr>
        <p:spPr>
          <a:xfrm>
            <a:off x="-2289345" y="8378655"/>
            <a:ext cx="6864690" cy="6864689"/>
          </a:xfrm>
          <a:prstGeom prst="ellipse">
            <a:avLst/>
          </a:prstGeom>
          <a:gradFill rotWithShape="1">
            <a:gsLst>
              <a:gs pos="0">
                <a:srgbClr val="1B4F9C">
                  <a:alpha val="6000"/>
                </a:srgbClr>
              </a:gs>
              <a:gs pos="70000">
                <a:srgbClr val="1B4F9C">
                  <a:alpha val="0"/>
                </a:srgbClr>
              </a:gs>
            </a:gsLst>
            <a:path path="circle">
              <a:fillToRect l="50000" t="50000" r="50000" b="50000"/>
            </a:path>
          </a:gradFill>
          <a:ln/>
        </p:spPr>
        <p:txBody>
          <a:bodyPr/>
          <a:lstStyle/>
          <a:p>
            <a:endParaRPr lang="en-US"/>
          </a:p>
        </p:txBody>
      </p:sp>
      <p:sp>
        <p:nvSpPr>
          <p:cNvPr id="5" name="Shape 2"/>
          <p:cNvSpPr/>
          <p:nvPr/>
        </p:nvSpPr>
        <p:spPr>
          <a:xfrm>
            <a:off x="4554682" y="7983681"/>
            <a:ext cx="8780318" cy="8780318"/>
          </a:xfrm>
          <a:prstGeom prst="ellipse">
            <a:avLst/>
          </a:prstGeom>
          <a:ln w="8659">
            <a:solidFill>
              <a:srgbClr val="1B4F9C">
                <a:alpha val="15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Shape 3"/>
          <p:cNvSpPr/>
          <p:nvPr/>
        </p:nvSpPr>
        <p:spPr>
          <a:xfrm>
            <a:off x="5316682" y="8745681"/>
            <a:ext cx="7256318" cy="7256318"/>
          </a:xfrm>
          <a:prstGeom prst="ellipse">
            <a:avLst/>
          </a:prstGeom>
          <a:ln w="8659">
            <a:solidFill>
              <a:srgbClr val="1B4F9C">
                <a:alpha val="11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Shape 4"/>
          <p:cNvSpPr/>
          <p:nvPr/>
        </p:nvSpPr>
        <p:spPr>
          <a:xfrm>
            <a:off x="6078682" y="9507681"/>
            <a:ext cx="5732318" cy="5732318"/>
          </a:xfrm>
          <a:prstGeom prst="ellipse">
            <a:avLst/>
          </a:prstGeom>
          <a:ln w="8659">
            <a:solidFill>
              <a:srgbClr val="1B4F9C">
                <a:alpha val="800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4631937" y="5562570"/>
            <a:ext cx="5843439" cy="289560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2500" b="1" kern="0" spc="-1050">
                <a:solidFill>
                  <a:srgbClr val="1B4F9C">
                    <a:alpha val="5000"/>
                  </a:srgbClr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MBB</a:t>
            </a:r>
            <a:endParaRPr lang="en-US" sz="22500" dirty="0"/>
          </a:p>
        </p:txBody>
      </p:sp>
      <p:sp>
        <p:nvSpPr>
          <p:cNvPr id="9" name="Shape 6"/>
          <p:cNvSpPr/>
          <p:nvPr/>
        </p:nvSpPr>
        <p:spPr>
          <a:xfrm>
            <a:off x="590442" y="666750"/>
            <a:ext cx="9132634" cy="1465010"/>
          </a:xfrm>
          <a:prstGeom prst="roundRect">
            <a:avLst>
              <a:gd name="adj" fmla="val 16904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952500" y="952500"/>
            <a:ext cx="1819221" cy="476250"/>
          </a:xfrm>
          <a:prstGeom prst="roundRect">
            <a:avLst>
              <a:gd name="adj" fmla="val 16000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1161942" y="1052080"/>
            <a:ext cx="1540371" cy="31519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800" b="1" kern="0" spc="375" dirty="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HOTSTOCK</a:t>
            </a:r>
            <a:endParaRPr lang="en-US" sz="1800" dirty="0"/>
          </a:p>
        </p:txBody>
      </p:sp>
      <p:sp>
        <p:nvSpPr>
          <p:cNvPr id="12" name="Text 9"/>
          <p:cNvSpPr/>
          <p:nvPr/>
        </p:nvSpPr>
        <p:spPr>
          <a:xfrm>
            <a:off x="7383228" y="1047750"/>
            <a:ext cx="2146399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MASVN · Jul 2026</a:t>
            </a:r>
            <a:endParaRPr lang="en-US" sz="1950" dirty="0"/>
          </a:p>
        </p:txBody>
      </p:sp>
      <p:sp>
        <p:nvSpPr>
          <p:cNvPr id="13" name="Text 10"/>
          <p:cNvSpPr/>
          <p:nvPr/>
        </p:nvSpPr>
        <p:spPr>
          <a:xfrm>
            <a:off x="952500" y="1600173"/>
            <a:ext cx="4276725" cy="384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i="1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Equity Research · Vietnam Banks</a:t>
            </a:r>
            <a:endParaRPr lang="en-US" sz="2250" dirty="0"/>
          </a:p>
        </p:txBody>
      </p:sp>
      <p:sp>
        <p:nvSpPr>
          <p:cNvPr id="14" name="Text 11"/>
          <p:cNvSpPr/>
          <p:nvPr/>
        </p:nvSpPr>
        <p:spPr>
          <a:xfrm>
            <a:off x="590442" y="3048000"/>
            <a:ext cx="3300561" cy="6009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450" b="1" kern="0" spc="75">
                <a:solidFill>
                  <a:srgbClr val="1B4F9C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Ngân hàng MB</a:t>
            </a:r>
            <a:endParaRPr lang="en-US" sz="3450" dirty="0"/>
          </a:p>
        </p:txBody>
      </p:sp>
      <p:sp>
        <p:nvSpPr>
          <p:cNvPr id="15" name="Shape 12"/>
          <p:cNvSpPr/>
          <p:nvPr/>
        </p:nvSpPr>
        <p:spPr>
          <a:xfrm>
            <a:off x="3800394" y="3177886"/>
            <a:ext cx="17318" cy="303068"/>
          </a:xfrm>
          <a:prstGeom prst="rect">
            <a:avLst/>
          </a:prstGeom>
          <a:solidFill>
            <a:srgbClr val="D9C9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4027262" y="3177886"/>
            <a:ext cx="1576482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225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HOSE · MBB</a:t>
            </a:r>
            <a:endParaRPr lang="en-US" sz="1950" dirty="0"/>
          </a:p>
        </p:txBody>
      </p:sp>
      <p:sp>
        <p:nvSpPr>
          <p:cNvPr id="17" name="Text 14"/>
          <p:cNvSpPr/>
          <p:nvPr/>
        </p:nvSpPr>
        <p:spPr>
          <a:xfrm>
            <a:off x="590442" y="4191000"/>
            <a:ext cx="10026848" cy="971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7350" b="1" kern="0" spc="-75" dirty="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Ngân </a:t>
            </a:r>
            <a:r>
              <a:rPr lang="en-US" sz="7350" b="1" kern="0" spc="-75" dirty="0" err="1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hàng</a:t>
            </a:r>
            <a:endParaRPr lang="en-US" sz="7350" dirty="0"/>
          </a:p>
        </p:txBody>
      </p:sp>
      <p:sp>
        <p:nvSpPr>
          <p:cNvPr id="18" name="Text 15"/>
          <p:cNvSpPr/>
          <p:nvPr/>
        </p:nvSpPr>
        <p:spPr>
          <a:xfrm>
            <a:off x="590442" y="5200596"/>
            <a:ext cx="10026848" cy="101806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7350" b="1" i="1" kern="0" spc="-75">
                <a:solidFill>
                  <a:srgbClr val="FE6700"/>
                </a:solidFill>
                <a:latin typeface="Lora" pitchFamily="34" charset="0"/>
              </a:rPr>
              <a:t>Dẫn đầu về CASA</a:t>
            </a:r>
            <a:endParaRPr lang="en-US" sz="7350" dirty="0"/>
          </a:p>
        </p:txBody>
      </p:sp>
      <p:sp>
        <p:nvSpPr>
          <p:cNvPr id="19" name="Text 16"/>
          <p:cNvSpPr/>
          <p:nvPr/>
        </p:nvSpPr>
        <p:spPr>
          <a:xfrm>
            <a:off x="590442" y="8096250"/>
            <a:ext cx="8829674" cy="99790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2700" i="1">
                <a:solidFill>
                  <a:srgbClr val="2A2A2A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CASA ~38% — chi phí vốn rẻ nhất toàn hệ thống.</a:t>
            </a:r>
            <a:endParaRPr lang="en-US" sz="2700" dirty="0"/>
          </a:p>
        </p:txBody>
      </p:sp>
      <p:sp>
        <p:nvSpPr>
          <p:cNvPr id="20" name="Shape 17"/>
          <p:cNvSpPr/>
          <p:nvPr/>
        </p:nvSpPr>
        <p:spPr>
          <a:xfrm>
            <a:off x="590442" y="9524999"/>
            <a:ext cx="4371894" cy="2857500"/>
          </a:xfrm>
          <a:prstGeom prst="roundRect">
            <a:avLst>
              <a:gd name="adj" fmla="val 1333"/>
            </a:avLst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Shape 18"/>
          <p:cNvSpPr/>
          <p:nvPr/>
        </p:nvSpPr>
        <p:spPr>
          <a:xfrm>
            <a:off x="590442" y="9524999"/>
            <a:ext cx="142875" cy="2857500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2" name="Text 19"/>
          <p:cNvSpPr/>
          <p:nvPr/>
        </p:nvSpPr>
        <p:spPr>
          <a:xfrm>
            <a:off x="1104711" y="9963095"/>
            <a:ext cx="2016919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300" dirty="0">
                <a:solidFill>
                  <a:srgbClr val="F48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① ĐỊNH GIÁ</a:t>
            </a:r>
            <a:endParaRPr lang="en-US" sz="1950" dirty="0"/>
          </a:p>
        </p:txBody>
      </p:sp>
      <p:sp>
        <p:nvSpPr>
          <p:cNvPr id="23" name="Text 20"/>
          <p:cNvSpPr/>
          <p:nvPr/>
        </p:nvSpPr>
        <p:spPr>
          <a:xfrm>
            <a:off x="1104711" y="10477500"/>
            <a:ext cx="2319486" cy="722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Hợp lý</a:t>
            </a:r>
            <a:endParaRPr lang="en-US" sz="4200" dirty="0"/>
          </a:p>
        </p:txBody>
      </p:sp>
      <p:sp>
        <p:nvSpPr>
          <p:cNvPr id="24" name="Text 21"/>
          <p:cNvSpPr/>
          <p:nvPr/>
        </p:nvSpPr>
        <p:spPr>
          <a:xfrm>
            <a:off x="1104711" y="11391845"/>
            <a:ext cx="3876675" cy="39799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0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P/B fwd ~1,2x · ROE 21%</a:t>
            </a:r>
            <a:endParaRPr lang="en-US" sz="2100" dirty="0"/>
          </a:p>
        </p:txBody>
      </p:sp>
      <p:sp>
        <p:nvSpPr>
          <p:cNvPr id="25" name="Shape 22"/>
          <p:cNvSpPr/>
          <p:nvPr/>
        </p:nvSpPr>
        <p:spPr>
          <a:xfrm>
            <a:off x="5324394" y="9524999"/>
            <a:ext cx="4371894" cy="2857500"/>
          </a:xfrm>
          <a:prstGeom prst="roundRect">
            <a:avLst>
              <a:gd name="adj" fmla="val 1333"/>
            </a:avLst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6" name="Shape 23"/>
          <p:cNvSpPr/>
          <p:nvPr/>
        </p:nvSpPr>
        <p:spPr>
          <a:xfrm>
            <a:off x="5324394" y="9524999"/>
            <a:ext cx="142875" cy="2857500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7" name="Text 24"/>
          <p:cNvSpPr/>
          <p:nvPr/>
        </p:nvSpPr>
        <p:spPr>
          <a:xfrm>
            <a:off x="5838662" y="9963095"/>
            <a:ext cx="2002333" cy="341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950" b="1" kern="0" spc="300" dirty="0">
                <a:solidFill>
                  <a:srgbClr val="F4812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② CATALYST</a:t>
            </a:r>
            <a:endParaRPr lang="en-US" sz="1950" dirty="0"/>
          </a:p>
        </p:txBody>
      </p:sp>
      <p:sp>
        <p:nvSpPr>
          <p:cNvPr id="28" name="Text 25"/>
          <p:cNvSpPr/>
          <p:nvPr/>
        </p:nvSpPr>
        <p:spPr>
          <a:xfrm>
            <a:off x="5838662" y="10477500"/>
            <a:ext cx="2533055" cy="72216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4200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Bứt tốc</a:t>
            </a:r>
            <a:endParaRPr lang="en-US" sz="4200" dirty="0"/>
          </a:p>
        </p:txBody>
      </p:sp>
      <p:sp>
        <p:nvSpPr>
          <p:cNvPr id="29" name="Text 26"/>
          <p:cNvSpPr/>
          <p:nvPr/>
        </p:nvSpPr>
        <p:spPr>
          <a:xfrm>
            <a:off x="5838662" y="11391845"/>
            <a:ext cx="3629978" cy="75788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1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210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Room tín dụng cao nhất · tăng vốn</a:t>
            </a:r>
            <a:endParaRPr lang="en-US" sz="2100" dirty="0"/>
          </a:p>
        </p:txBody>
      </p:sp>
      <p:sp>
        <p:nvSpPr>
          <p:cNvPr id="30" name="Text 27"/>
          <p:cNvSpPr/>
          <p:nvPr/>
        </p:nvSpPr>
        <p:spPr>
          <a:xfrm>
            <a:off x="590442" y="13141118"/>
            <a:ext cx="2124373" cy="2892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Một case tăng trưởng</a:t>
            </a:r>
            <a:endParaRPr lang="en-US" sz="1650" dirty="0"/>
          </a:p>
        </p:txBody>
      </p:sp>
      <p:sp>
        <p:nvSpPr>
          <p:cNvPr id="31" name="Text 28"/>
          <p:cNvSpPr/>
          <p:nvPr/>
        </p:nvSpPr>
        <p:spPr>
          <a:xfrm>
            <a:off x="8464396" y="13141118"/>
            <a:ext cx="1365498" cy="28921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6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HotStock · MBB</a:t>
            </a:r>
            <a:endParaRPr lang="en-US" sz="16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52500" y="914346"/>
            <a:ext cx="1263578" cy="271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METRICS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Định giá hợp lý trên nền sinh lời đầu ngành</a:t>
            </a:r>
            <a:endParaRPr lang="en-US" sz="2325" dirty="0"/>
          </a:p>
        </p:txBody>
      </p:sp>
      <p:sp>
        <p:nvSpPr>
          <p:cNvPr id="6" name="Text 3"/>
          <p:cNvSpPr/>
          <p:nvPr/>
        </p:nvSpPr>
        <p:spPr>
          <a:xfrm>
            <a:off x="590442" y="2190750"/>
            <a:ext cx="3138934" cy="548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kern="0" spc="150">
                <a:solidFill>
                  <a:srgbClr val="1B4F9C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Ngân hàng MB</a:t>
            </a:r>
            <a:endParaRPr lang="en-US" sz="3150" dirty="0"/>
          </a:p>
        </p:txBody>
      </p:sp>
      <p:sp>
        <p:nvSpPr>
          <p:cNvPr id="7" name="Shape 4"/>
          <p:cNvSpPr/>
          <p:nvPr/>
        </p:nvSpPr>
        <p:spPr>
          <a:xfrm>
            <a:off x="3615441" y="2342284"/>
            <a:ext cx="17318" cy="207818"/>
          </a:xfrm>
          <a:prstGeom prst="rect">
            <a:avLst/>
          </a:prstGeom>
          <a:solidFill>
            <a:srgbClr val="D9C9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3804209" y="2342284"/>
            <a:ext cx="1191464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225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HOSE · MBB</a:t>
            </a:r>
            <a:endParaRPr lang="en-US" sz="1350" dirty="0"/>
          </a:p>
        </p:txBody>
      </p:sp>
      <p:sp>
        <p:nvSpPr>
          <p:cNvPr id="9" name="Shape 6"/>
          <p:cNvSpPr/>
          <p:nvPr/>
        </p:nvSpPr>
        <p:spPr>
          <a:xfrm>
            <a:off x="580971" y="3790923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0" name="Shape 7"/>
          <p:cNvSpPr/>
          <p:nvPr/>
        </p:nvSpPr>
        <p:spPr>
          <a:xfrm>
            <a:off x="580971" y="3790923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1" name="Text 8"/>
          <p:cNvSpPr/>
          <p:nvPr/>
        </p:nvSpPr>
        <p:spPr>
          <a:xfrm>
            <a:off x="952500" y="3790923"/>
            <a:ext cx="4699265" cy="2733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5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1,2x</a:t>
            </a:r>
            <a:endParaRPr lang="en-US" sz="8850" dirty="0"/>
          </a:p>
        </p:txBody>
      </p:sp>
      <p:sp>
        <p:nvSpPr>
          <p:cNvPr id="12" name="Text 9"/>
          <p:cNvSpPr/>
          <p:nvPr/>
        </p:nvSpPr>
        <p:spPr>
          <a:xfrm>
            <a:off x="5600673" y="4476750"/>
            <a:ext cx="2258764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P/B DỰ PHÓNG</a:t>
            </a:r>
            <a:endParaRPr lang="en-US" sz="2400" dirty="0"/>
          </a:p>
        </p:txBody>
      </p:sp>
      <p:sp>
        <p:nvSpPr>
          <p:cNvPr id="13" name="Text 10"/>
          <p:cNvSpPr/>
          <p:nvPr/>
        </p:nvSpPr>
        <p:spPr>
          <a:xfrm>
            <a:off x="5600673" y="5029173"/>
            <a:ext cx="4306193" cy="34671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Trên giá trị sổ sách dự phóng năm 2026</a:t>
            </a:r>
            <a:endParaRPr lang="en-US" sz="1800" dirty="0"/>
          </a:p>
        </p:txBody>
      </p:sp>
      <p:sp>
        <p:nvSpPr>
          <p:cNvPr id="14" name="Shape 11"/>
          <p:cNvSpPr/>
          <p:nvPr/>
        </p:nvSpPr>
        <p:spPr>
          <a:xfrm>
            <a:off x="580971" y="6810375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Shape 12"/>
          <p:cNvSpPr/>
          <p:nvPr/>
        </p:nvSpPr>
        <p:spPr>
          <a:xfrm>
            <a:off x="580971" y="6810375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6" name="Text 13"/>
          <p:cNvSpPr/>
          <p:nvPr/>
        </p:nvSpPr>
        <p:spPr>
          <a:xfrm>
            <a:off x="952500" y="6810375"/>
            <a:ext cx="4699265" cy="2733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885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38%</a:t>
            </a:r>
            <a:endParaRPr lang="en-US" sz="8850" dirty="0"/>
          </a:p>
        </p:txBody>
      </p:sp>
      <p:sp>
        <p:nvSpPr>
          <p:cNvPr id="17" name="Text 14"/>
          <p:cNvSpPr/>
          <p:nvPr/>
        </p:nvSpPr>
        <p:spPr>
          <a:xfrm>
            <a:off x="5600673" y="7496066"/>
            <a:ext cx="1717774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2025</a:t>
            </a:r>
            <a:endParaRPr lang="en-US" sz="2400" dirty="0"/>
          </a:p>
        </p:txBody>
      </p:sp>
      <p:sp>
        <p:nvSpPr>
          <p:cNvPr id="18" name="Text 15"/>
          <p:cNvSpPr/>
          <p:nvPr/>
        </p:nvSpPr>
        <p:spPr>
          <a:xfrm>
            <a:off x="5600673" y="8048625"/>
            <a:ext cx="4032162" cy="655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Tỷ lệ tiền gửi không kỳ hạn cao nhất hệ thống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80971" y="9829692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80971" y="9829692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52500" y="9829692"/>
            <a:ext cx="4699265" cy="273364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80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+18,8%</a:t>
            </a:r>
            <a:endParaRPr lang="en-US" sz="7800" dirty="0"/>
          </a:p>
        </p:txBody>
      </p:sp>
      <p:sp>
        <p:nvSpPr>
          <p:cNvPr id="22" name="Text 19"/>
          <p:cNvSpPr/>
          <p:nvPr/>
        </p:nvSpPr>
        <p:spPr>
          <a:xfrm>
            <a:off x="5600673" y="10467894"/>
            <a:ext cx="3022550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4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LNTT 2026F</a:t>
            </a:r>
            <a:endParaRPr lang="en-US" sz="2400" dirty="0"/>
          </a:p>
        </p:txBody>
      </p:sp>
      <p:sp>
        <p:nvSpPr>
          <p:cNvPr id="23" name="Text 20"/>
          <p:cNvSpPr/>
          <p:nvPr/>
        </p:nvSpPr>
        <p:spPr>
          <a:xfrm>
            <a:off x="5600673" y="11020317"/>
            <a:ext cx="4120515" cy="655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3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nhuận trước thuế dự phóng 40.726 tỷ đồng</a:t>
            </a:r>
            <a:endParaRPr lang="en-US" sz="1800" dirty="0"/>
          </a:p>
        </p:txBody>
      </p:sp>
      <p:sp>
        <p:nvSpPr>
          <p:cNvPr id="24" name="Text 21"/>
          <p:cNvSpPr/>
          <p:nvPr/>
        </p:nvSpPr>
        <p:spPr>
          <a:xfrm>
            <a:off x="590442" y="13222431"/>
            <a:ext cx="1836539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Định giá &amp; sinh lời</a:t>
            </a:r>
            <a:endParaRPr lang="en-US" sz="1350" dirty="0"/>
          </a:p>
        </p:txBody>
      </p:sp>
      <p:sp>
        <p:nvSpPr>
          <p:cNvPr id="25" name="Text 22"/>
          <p:cNvSpPr/>
          <p:nvPr/>
        </p:nvSpPr>
        <p:spPr>
          <a:xfrm>
            <a:off x="9214355" y="13222431"/>
            <a:ext cx="567603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03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FC1BF1-7311-7D60-8687-DE26DEBA11D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7222506-71F1-5459-C1B9-1806AFE7C047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4F48F86E-6F71-E6AB-2879-9464DFC20055}"/>
              </a:ext>
            </a:extLst>
          </p:cNvPr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55D1179D-75C7-C98D-BC7C-CE4A14365D80}"/>
              </a:ext>
            </a:extLst>
          </p:cNvPr>
          <p:cNvSpPr/>
          <p:nvPr/>
        </p:nvSpPr>
        <p:spPr>
          <a:xfrm>
            <a:off x="952500" y="914346"/>
            <a:ext cx="1263578" cy="271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01 / METRICS</a:t>
            </a:r>
            <a:endParaRPr lang="en-US" sz="15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A56C3D4-8583-C5A4-FDC5-E708B2C62441}"/>
              </a:ext>
            </a:extLst>
          </p:cNvPr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Định giá hợp lý trên nền sinh lời đầu ngành</a:t>
            </a:r>
            <a:endParaRPr lang="en-US" sz="2325" dirty="0"/>
          </a:p>
        </p:txBody>
      </p:sp>
      <p:sp>
        <p:nvSpPr>
          <p:cNvPr id="6" name="Text 3">
            <a:extLst>
              <a:ext uri="{FF2B5EF4-FFF2-40B4-BE49-F238E27FC236}">
                <a16:creationId xmlns:a16="http://schemas.microsoft.com/office/drawing/2014/main" id="{C4CB425B-C478-E229-F195-782F085097EF}"/>
              </a:ext>
            </a:extLst>
          </p:cNvPr>
          <p:cNvSpPr/>
          <p:nvPr/>
        </p:nvSpPr>
        <p:spPr>
          <a:xfrm>
            <a:off x="590442" y="2190750"/>
            <a:ext cx="3138934" cy="54898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3150" b="1" kern="0" spc="150">
                <a:solidFill>
                  <a:srgbClr val="1B4F9C"/>
                </a:solidFill>
                <a:latin typeface="SVN-Gilroy" panose="00000500000000000000" pitchFamily="50" charset="0"/>
                <a:ea typeface="Lora" pitchFamily="34" charset="-122"/>
                <a:cs typeface="Lora" pitchFamily="34" charset="-120"/>
              </a:rPr>
              <a:t>Ngân hàng MB</a:t>
            </a:r>
            <a:endParaRPr lang="en-US" sz="3150" dirty="0">
              <a:latin typeface="SVN-Gilroy" panose="00000500000000000000" pitchFamily="50" charset="0"/>
            </a:endParaRPr>
          </a:p>
        </p:txBody>
      </p:sp>
      <p:sp>
        <p:nvSpPr>
          <p:cNvPr id="7" name="Shape 4">
            <a:extLst>
              <a:ext uri="{FF2B5EF4-FFF2-40B4-BE49-F238E27FC236}">
                <a16:creationId xmlns:a16="http://schemas.microsoft.com/office/drawing/2014/main" id="{A589D896-9616-5F90-D859-BB8C770A6167}"/>
              </a:ext>
            </a:extLst>
          </p:cNvPr>
          <p:cNvSpPr/>
          <p:nvPr/>
        </p:nvSpPr>
        <p:spPr>
          <a:xfrm>
            <a:off x="3615441" y="2342284"/>
            <a:ext cx="17318" cy="207818"/>
          </a:xfrm>
          <a:prstGeom prst="rect">
            <a:avLst/>
          </a:prstGeom>
          <a:solidFill>
            <a:srgbClr val="D9C9B8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8" name="Text 5">
            <a:extLst>
              <a:ext uri="{FF2B5EF4-FFF2-40B4-BE49-F238E27FC236}">
                <a16:creationId xmlns:a16="http://schemas.microsoft.com/office/drawing/2014/main" id="{051AA2C3-5386-6A3B-263D-B7CE9755A801}"/>
              </a:ext>
            </a:extLst>
          </p:cNvPr>
          <p:cNvSpPr/>
          <p:nvPr/>
        </p:nvSpPr>
        <p:spPr>
          <a:xfrm>
            <a:off x="3804209" y="2342284"/>
            <a:ext cx="1191464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b="1" kern="0" spc="225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HOSE · MBB</a:t>
            </a:r>
            <a:endParaRPr lang="en-US" sz="1350" dirty="0"/>
          </a:p>
        </p:txBody>
      </p:sp>
      <p:graphicFrame>
        <p:nvGraphicFramePr>
          <p:cNvPr id="26" name="Chart 25">
            <a:extLst>
              <a:ext uri="{FF2B5EF4-FFF2-40B4-BE49-F238E27FC236}">
                <a16:creationId xmlns:a16="http://schemas.microsoft.com/office/drawing/2014/main" id="{0207CCB4-291B-4943-7C6E-F1E60CF8514D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4008840466"/>
              </p:ext>
            </p:extLst>
          </p:nvPr>
        </p:nvGraphicFramePr>
        <p:xfrm>
          <a:off x="1138687" y="3554083"/>
          <a:ext cx="7729268" cy="874718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10" name="Text 14">
            <a:extLst>
              <a:ext uri="{FF2B5EF4-FFF2-40B4-BE49-F238E27FC236}">
                <a16:creationId xmlns:a16="http://schemas.microsoft.com/office/drawing/2014/main" id="{F892186C-EE57-E50F-AC36-8083DEFBDE5E}"/>
              </a:ext>
            </a:extLst>
          </p:cNvPr>
          <p:cNvSpPr/>
          <p:nvPr/>
        </p:nvSpPr>
        <p:spPr>
          <a:xfrm>
            <a:off x="2022660" y="2954273"/>
            <a:ext cx="6672767" cy="971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en-US" sz="2800" b="1" kern="0" spc="-75">
                <a:solidFill>
                  <a:srgbClr val="0A2540"/>
                </a:solidFill>
                <a:latin typeface="SVN-Gilroy" panose="00000500000000000000" pitchFamily="50" charset="0"/>
                <a:ea typeface="Lora" pitchFamily="34" charset="-122"/>
                <a:cs typeface="Lora" pitchFamily="34" charset="-120"/>
              </a:rPr>
              <a:t>Quy mô tài sản và vốn tăng tốc </a:t>
            </a:r>
            <a:endParaRPr lang="en-US" sz="2800" dirty="0">
              <a:latin typeface="SVN-Gilroy" panose="00000500000000000000" pitchFamily="50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972984588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52499" y="869346"/>
            <a:ext cx="2673987" cy="349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FUNDAMENTALS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Lợi thế vốn rẻ và dư địa tín dụng vượt trội</a:t>
            </a:r>
            <a:endParaRPr lang="en-US" sz="2325" dirty="0"/>
          </a:p>
        </p:txBody>
      </p:sp>
      <p:sp>
        <p:nvSpPr>
          <p:cNvPr id="6" name="Text 3"/>
          <p:cNvSpPr/>
          <p:nvPr/>
        </p:nvSpPr>
        <p:spPr>
          <a:xfrm>
            <a:off x="590442" y="2247846"/>
            <a:ext cx="10026848" cy="35821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dẫn đầu hệ thống giúp MBB giữ chi phí vốn thấp nhất trong khi tín dụng tăng tốc.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80971" y="3790923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80971" y="3790923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Text 6"/>
          <p:cNvSpPr/>
          <p:nvPr/>
        </p:nvSpPr>
        <p:spPr>
          <a:xfrm>
            <a:off x="952500" y="4440625"/>
            <a:ext cx="1571787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75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CASA</a:t>
            </a:r>
            <a:endParaRPr lang="en-US" sz="4650" dirty="0"/>
          </a:p>
        </p:txBody>
      </p:sp>
      <p:sp>
        <p:nvSpPr>
          <p:cNvPr id="10" name="Text 7"/>
          <p:cNvSpPr/>
          <p:nvPr/>
        </p:nvSpPr>
        <p:spPr>
          <a:xfrm>
            <a:off x="952500" y="5060697"/>
            <a:ext cx="2108380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75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số một</a:t>
            </a:r>
            <a:endParaRPr lang="en-US" sz="4650" dirty="0"/>
          </a:p>
        </p:txBody>
      </p:sp>
      <p:sp>
        <p:nvSpPr>
          <p:cNvPr id="11" name="Text 8"/>
          <p:cNvSpPr/>
          <p:nvPr/>
        </p:nvSpPr>
        <p:spPr>
          <a:xfrm>
            <a:off x="5600673" y="4381500"/>
            <a:ext cx="3017193" cy="384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VỐN RẺ &amp; NIM</a:t>
            </a:r>
            <a:endParaRPr lang="en-US" sz="2250" dirty="0"/>
          </a:p>
        </p:txBody>
      </p:sp>
      <p:sp>
        <p:nvSpPr>
          <p:cNvPr id="12" name="Text 9"/>
          <p:cNvSpPr/>
          <p:nvPr/>
        </p:nvSpPr>
        <p:spPr>
          <a:xfrm>
            <a:off x="5600673" y="4953000"/>
            <a:ext cx="4032162" cy="678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CASA ~38% cuối 2025, cao nhất hệ thống, số dư tăng ~27% so với cùng kỳ</a:t>
            </a:r>
            <a:endParaRPr lang="en-US" sz="1800" dirty="0"/>
          </a:p>
        </p:txBody>
      </p:sp>
      <p:sp>
        <p:nvSpPr>
          <p:cNvPr id="13" name="Shape 10"/>
          <p:cNvSpPr/>
          <p:nvPr/>
        </p:nvSpPr>
        <p:spPr>
          <a:xfrm>
            <a:off x="580971" y="6810375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Shape 11"/>
          <p:cNvSpPr/>
          <p:nvPr/>
        </p:nvSpPr>
        <p:spPr>
          <a:xfrm>
            <a:off x="580971" y="6810375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5" name="Text 12"/>
          <p:cNvSpPr/>
          <p:nvPr/>
        </p:nvSpPr>
        <p:spPr>
          <a:xfrm>
            <a:off x="952500" y="7460077"/>
            <a:ext cx="2673987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75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Tín dụng</a:t>
            </a:r>
            <a:endParaRPr lang="en-US" sz="4650" dirty="0"/>
          </a:p>
        </p:txBody>
      </p:sp>
      <p:sp>
        <p:nvSpPr>
          <p:cNvPr id="16" name="Text 13"/>
          <p:cNvSpPr/>
          <p:nvPr/>
        </p:nvSpPr>
        <p:spPr>
          <a:xfrm>
            <a:off x="952500" y="8080149"/>
            <a:ext cx="1567052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75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bứt tốc</a:t>
            </a:r>
            <a:endParaRPr lang="en-US" sz="4650" dirty="0"/>
          </a:p>
        </p:txBody>
      </p:sp>
      <p:sp>
        <p:nvSpPr>
          <p:cNvPr id="17" name="Text 14"/>
          <p:cNvSpPr/>
          <p:nvPr/>
        </p:nvSpPr>
        <p:spPr>
          <a:xfrm>
            <a:off x="5600673" y="7400816"/>
            <a:ext cx="2636788" cy="38446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25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CHUYỂN GIAO MBV</a:t>
            </a:r>
            <a:endParaRPr lang="en-US" sz="2250" dirty="0"/>
          </a:p>
        </p:txBody>
      </p:sp>
      <p:sp>
        <p:nvSpPr>
          <p:cNvPr id="18" name="Text 15"/>
          <p:cNvSpPr/>
          <p:nvPr/>
        </p:nvSpPr>
        <p:spPr>
          <a:xfrm>
            <a:off x="5600673" y="7972316"/>
            <a:ext cx="4032162" cy="678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Hạn mức tăng trưởng tín dụng nhóm cao nhất giai đoạn 2026–2028</a:t>
            </a:r>
            <a:endParaRPr lang="en-US" sz="1800" dirty="0"/>
          </a:p>
        </p:txBody>
      </p:sp>
      <p:sp>
        <p:nvSpPr>
          <p:cNvPr id="19" name="Shape 16"/>
          <p:cNvSpPr/>
          <p:nvPr/>
        </p:nvSpPr>
        <p:spPr>
          <a:xfrm>
            <a:off x="580971" y="9829692"/>
            <a:ext cx="9115316" cy="2695548"/>
          </a:xfrm>
          <a:prstGeom prst="roundRect">
            <a:avLst>
              <a:gd name="adj" fmla="val 1413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6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Shape 17"/>
          <p:cNvSpPr/>
          <p:nvPr/>
        </p:nvSpPr>
        <p:spPr>
          <a:xfrm>
            <a:off x="580971" y="9829692"/>
            <a:ext cx="142875" cy="2695548"/>
          </a:xfrm>
          <a:prstGeom prst="roundRect">
            <a:avLst>
              <a:gd name="adj" fmla="val 26667"/>
            </a:avLst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952500" y="10479394"/>
            <a:ext cx="1985665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75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ROE</a:t>
            </a:r>
            <a:endParaRPr lang="en-US" sz="4650" dirty="0"/>
          </a:p>
        </p:txBody>
      </p:sp>
      <p:sp>
        <p:nvSpPr>
          <p:cNvPr id="22" name="Text 19"/>
          <p:cNvSpPr/>
          <p:nvPr/>
        </p:nvSpPr>
        <p:spPr>
          <a:xfrm>
            <a:off x="952500" y="11099466"/>
            <a:ext cx="2439591" cy="800100"/>
          </a:xfrm>
          <a:prstGeom prst="rect">
            <a:avLst/>
          </a:prstGeom>
          <a:noFill/>
          <a:ln/>
        </p:spPr>
        <p:txBody>
          <a:bodyPr wrap="square" lIns="0" tIns="0" rIns="0" bIns="0" rtlCol="0" anchor="t">
            <a:normAutofit/>
          </a:bodyPr>
          <a:lstStyle/>
          <a:p>
            <a:pPr marL="0" indent="0" algn="l">
              <a:lnSpc>
                <a:spcPct val="105000"/>
              </a:lnSpc>
              <a:buNone/>
            </a:pPr>
            <a:r>
              <a:rPr lang="en-US" sz="4650" b="1" kern="0" spc="-75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21,6%</a:t>
            </a:r>
            <a:endParaRPr lang="en-US" sz="4650" dirty="0"/>
          </a:p>
        </p:txBody>
      </p:sp>
      <p:sp>
        <p:nvSpPr>
          <p:cNvPr id="23" name="Text 20"/>
          <p:cNvSpPr/>
          <p:nvPr/>
        </p:nvSpPr>
        <p:spPr>
          <a:xfrm>
            <a:off x="5600673" y="10401192"/>
            <a:ext cx="3639592" cy="349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2025" b="1" kern="0" spc="75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SINH LỜI · HIỆU QUẢ VỐN</a:t>
            </a:r>
            <a:endParaRPr lang="en-US" sz="2025" dirty="0"/>
          </a:p>
        </p:txBody>
      </p:sp>
      <p:sp>
        <p:nvSpPr>
          <p:cNvPr id="24" name="Text 21"/>
          <p:cNvSpPr/>
          <p:nvPr/>
        </p:nvSpPr>
        <p:spPr>
          <a:xfrm>
            <a:off x="5600673" y="10934672"/>
            <a:ext cx="4120515" cy="67833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ROE thuộc nhóm cao nhất trong các ngân hàng lớn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90442" y="13222431"/>
            <a:ext cx="1388566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Lợi thế cạnh tranh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214355" y="13222431"/>
            <a:ext cx="567603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03</a:t>
            </a:r>
            <a:endParaRPr lang="en-US" sz="13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888A741-CFB5-CE94-0874-1AB6139D6D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>
            <a:extLst>
              <a:ext uri="{FF2B5EF4-FFF2-40B4-BE49-F238E27FC236}">
                <a16:creationId xmlns:a16="http://schemas.microsoft.com/office/drawing/2014/main" id="{6763A183-1312-A6F4-56F2-76F2512A454B}"/>
              </a:ext>
            </a:extLst>
          </p:cNvPr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>
            <a:extLst>
              <a:ext uri="{FF2B5EF4-FFF2-40B4-BE49-F238E27FC236}">
                <a16:creationId xmlns:a16="http://schemas.microsoft.com/office/drawing/2014/main" id="{B494FB21-A87C-AEA4-F78B-250C1022867F}"/>
              </a:ext>
            </a:extLst>
          </p:cNvPr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>
            <a:extLst>
              <a:ext uri="{FF2B5EF4-FFF2-40B4-BE49-F238E27FC236}">
                <a16:creationId xmlns:a16="http://schemas.microsoft.com/office/drawing/2014/main" id="{B3DCDB8B-65C7-5E6F-329F-8F83862B8EC3}"/>
              </a:ext>
            </a:extLst>
          </p:cNvPr>
          <p:cNvSpPr/>
          <p:nvPr/>
        </p:nvSpPr>
        <p:spPr>
          <a:xfrm>
            <a:off x="952499" y="869346"/>
            <a:ext cx="2673987" cy="349827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02 / FUNDAMENTALS</a:t>
            </a:r>
            <a:endParaRPr lang="en-US" sz="1500" dirty="0"/>
          </a:p>
        </p:txBody>
      </p:sp>
      <p:sp>
        <p:nvSpPr>
          <p:cNvPr id="5" name="Text 2">
            <a:extLst>
              <a:ext uri="{FF2B5EF4-FFF2-40B4-BE49-F238E27FC236}">
                <a16:creationId xmlns:a16="http://schemas.microsoft.com/office/drawing/2014/main" id="{F4E2D231-9614-C5B9-BB48-EF1756B1CD47}"/>
              </a:ext>
            </a:extLst>
          </p:cNvPr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Lợi thế vốn rẻ và dư địa tín dụng vượt trội</a:t>
            </a:r>
            <a:endParaRPr lang="en-US" sz="2325" dirty="0"/>
          </a:p>
        </p:txBody>
      </p:sp>
      <p:graphicFrame>
        <p:nvGraphicFramePr>
          <p:cNvPr id="28" name="Chart 27">
            <a:extLst>
              <a:ext uri="{FF2B5EF4-FFF2-40B4-BE49-F238E27FC236}">
                <a16:creationId xmlns:a16="http://schemas.microsoft.com/office/drawing/2014/main" id="{08FBA4B9-E5E3-B298-B12E-82F558E82C88}"/>
              </a:ext>
            </a:extLst>
          </p:cNvPr>
          <p:cNvGraphicFramePr>
            <a:graphicFrameLocks/>
          </p:cNvGraphicFramePr>
          <p:nvPr>
            <p:extLst>
              <p:ext uri="{D42A27DB-BD31-4B8C-83A1-F6EECF244321}">
                <p14:modId xmlns:p14="http://schemas.microsoft.com/office/powerpoint/2010/main" val="2460966214"/>
              </p:ext>
            </p:extLst>
          </p:nvPr>
        </p:nvGraphicFramePr>
        <p:xfrm>
          <a:off x="1220722" y="2988821"/>
          <a:ext cx="7845556" cy="9176435"/>
        </p:xfrm>
        <a:graphic>
          <a:graphicData uri="http://schemas.openxmlformats.org/drawingml/2006/chart">
            <c:chart xmlns:c="http://schemas.openxmlformats.org/drawingml/2006/chart" xmlns:r="http://schemas.openxmlformats.org/officeDocument/2006/relationships" r:id="rId4"/>
          </a:graphicData>
        </a:graphic>
      </p:graphicFrame>
      <p:sp>
        <p:nvSpPr>
          <p:cNvPr id="8" name="Text 14">
            <a:extLst>
              <a:ext uri="{FF2B5EF4-FFF2-40B4-BE49-F238E27FC236}">
                <a16:creationId xmlns:a16="http://schemas.microsoft.com/office/drawing/2014/main" id="{2B2EA38B-2F9B-E323-1519-BBE9747F1DFB}"/>
              </a:ext>
            </a:extLst>
          </p:cNvPr>
          <p:cNvSpPr/>
          <p:nvPr/>
        </p:nvSpPr>
        <p:spPr>
          <a:xfrm>
            <a:off x="1341492" y="2267586"/>
            <a:ext cx="8044048" cy="971523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lnSpc>
                <a:spcPct val="100000"/>
              </a:lnSpc>
              <a:buNone/>
            </a:pPr>
            <a:r>
              <a:rPr lang="vi-VN" sz="2800" b="1" kern="0" spc="-75">
                <a:solidFill>
                  <a:srgbClr val="0A2540"/>
                </a:solidFill>
                <a:latin typeface="SVN-Gilroy" panose="00000500000000000000" pitchFamily="50" charset="0"/>
                <a:ea typeface="Lora" pitchFamily="34" charset="-122"/>
                <a:cs typeface="Lora" pitchFamily="34" charset="-120"/>
              </a:rPr>
              <a:t>Lợi nhuận trước thuế nối dài chuỗi tăng trưởng, dự phóng vượt 40.000 tỷ đồng trong năm 2026.</a:t>
            </a:r>
          </a:p>
        </p:txBody>
      </p:sp>
    </p:spTree>
    <p:extLst>
      <p:ext uri="{BB962C8B-B14F-4D97-AF65-F5344CB8AC3E}">
        <p14:creationId xmlns:p14="http://schemas.microsoft.com/office/powerpoint/2010/main" val="202423382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CFCFC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preencoded.png"/>
          <p:cNvPicPr>
            <a:picLocks noChangeAspect="1"/>
          </p:cNvPicPr>
          <p:nvPr/>
        </p:nvPicPr>
        <p:blipFill>
          <a:blip r:embed="rId3"/>
          <a:srcRect t="7" b="7"/>
          <a:stretch/>
        </p:blipFill>
        <p:spPr>
          <a:xfrm>
            <a:off x="0" y="0"/>
            <a:ext cx="10287000" cy="13716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590442" y="666750"/>
            <a:ext cx="9132634" cy="1198337"/>
          </a:xfrm>
          <a:prstGeom prst="roundRect">
            <a:avLst>
              <a:gd name="adj" fmla="val 20666"/>
            </a:avLst>
          </a:prstGeom>
          <a:gradFill rotWithShape="1">
            <a:gsLst>
              <a:gs pos="0">
                <a:srgbClr val="F48120">
                  <a:alpha val="100000"/>
                </a:srgbClr>
              </a:gs>
              <a:gs pos="100000">
                <a:srgbClr val="FE6700">
                  <a:alpha val="100000"/>
                </a:srgbClr>
              </a:gs>
            </a:gsLst>
            <a:lin ang="5400000" scaled="0"/>
          </a:gradFill>
          <a:ln w="8659">
            <a:solidFill>
              <a:srgbClr val="FFE6AB"/>
            </a:solidFill>
            <a:prstDash val="solid"/>
          </a:ln>
          <a:effectLst>
            <a:outerShdw blurRad="285750" dist="95250" dir="5400000" algn="bl" rotWithShape="0">
              <a:srgbClr val="F48120">
                <a:alpha val="2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" name="Text 1"/>
          <p:cNvSpPr/>
          <p:nvPr/>
        </p:nvSpPr>
        <p:spPr>
          <a:xfrm>
            <a:off x="952500" y="914346"/>
            <a:ext cx="1432024" cy="271895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500" kern="0" spc="75" dirty="0">
                <a:solidFill>
                  <a:srgbClr val="FFE6A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CATALYST</a:t>
            </a:r>
            <a:endParaRPr lang="en-US" sz="1500" dirty="0"/>
          </a:p>
        </p:txBody>
      </p:sp>
      <p:sp>
        <p:nvSpPr>
          <p:cNvPr id="5" name="Text 2"/>
          <p:cNvSpPr/>
          <p:nvPr/>
        </p:nvSpPr>
        <p:spPr>
          <a:xfrm>
            <a:off x="952500" y="1219173"/>
            <a:ext cx="9220199" cy="410441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325" b="1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Bứt tốc quy mô &amp; tăng vốn điều lệ</a:t>
            </a:r>
            <a:endParaRPr lang="en-US" sz="2325" dirty="0"/>
          </a:p>
        </p:txBody>
      </p:sp>
      <p:sp>
        <p:nvSpPr>
          <p:cNvPr id="6" name="Text 3"/>
          <p:cNvSpPr/>
          <p:nvPr/>
        </p:nvSpPr>
        <p:spPr>
          <a:xfrm>
            <a:off x="580971" y="2247846"/>
            <a:ext cx="9388776" cy="701062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145000"/>
              </a:lnSpc>
              <a:buNone/>
            </a:pPr>
            <a:r>
              <a:rPr lang="en-US" sz="180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MBB đặt mục tiêu tổng tài sản vượt 2,1 triệu tỷ đồng và nâng vốn điều lệ lên hơn 102.000 tỷ đồng ngay trong năm 2026.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580971" y="3600423"/>
            <a:ext cx="9115316" cy="4295721"/>
          </a:xfrm>
          <a:prstGeom prst="roundRect">
            <a:avLst>
              <a:gd name="adj" fmla="val 887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Shape 5"/>
          <p:cNvSpPr/>
          <p:nvPr/>
        </p:nvSpPr>
        <p:spPr>
          <a:xfrm>
            <a:off x="580971" y="3600423"/>
            <a:ext cx="9115316" cy="771471"/>
          </a:xfrm>
          <a:prstGeom prst="rect">
            <a:avLst/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9" name="Shape 6"/>
          <p:cNvSpPr/>
          <p:nvPr/>
        </p:nvSpPr>
        <p:spPr>
          <a:xfrm>
            <a:off x="580971" y="3600423"/>
            <a:ext cx="142875" cy="4295721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0" name="Text 7"/>
          <p:cNvSpPr/>
          <p:nvPr/>
        </p:nvSpPr>
        <p:spPr>
          <a:xfrm>
            <a:off x="999990" y="3809865"/>
            <a:ext cx="2638871" cy="4537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kern="0" spc="75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TỔNG TÀI SẢN</a:t>
            </a:r>
            <a:endParaRPr lang="en-US" sz="2550" dirty="0"/>
          </a:p>
        </p:txBody>
      </p:sp>
      <p:sp>
        <p:nvSpPr>
          <p:cNvPr id="11" name="Shape 8"/>
          <p:cNvSpPr/>
          <p:nvPr/>
        </p:nvSpPr>
        <p:spPr>
          <a:xfrm>
            <a:off x="7895602" y="3828942"/>
            <a:ext cx="1534012" cy="323769"/>
          </a:xfrm>
          <a:prstGeom prst="roundRect">
            <a:avLst>
              <a:gd name="adj" fmla="val 11768"/>
            </a:avLst>
          </a:prstGeom>
          <a:solidFill>
            <a:srgbClr val="FFE6AB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2" name="Text 9"/>
          <p:cNvSpPr/>
          <p:nvPr/>
        </p:nvSpPr>
        <p:spPr>
          <a:xfrm>
            <a:off x="8048002" y="3828942"/>
            <a:ext cx="1305412" cy="3618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50">
                <a:solidFill>
                  <a:srgbClr val="C041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MỤC TIÊU 2026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999990" y="4724346"/>
            <a:ext cx="4729162" cy="860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20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2,1 triệu tỷ</a:t>
            </a:r>
            <a:endParaRPr lang="en-US" sz="7200" dirty="0"/>
          </a:p>
        </p:txBody>
      </p:sp>
      <p:sp>
        <p:nvSpPr>
          <p:cNvPr id="14" name="Text 11"/>
          <p:cNvSpPr/>
          <p:nvPr/>
        </p:nvSpPr>
        <p:spPr>
          <a:xfrm>
            <a:off x="999990" y="5962596"/>
            <a:ext cx="863345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Tổng tài sản đã vượt 1,6 triệu tỷ đồng cuối quý I/2026, mục tiêu vượt 2,1 triệu tỷ trong năm.</a:t>
            </a:r>
            <a:endParaRPr lang="en-US" sz="1875" dirty="0"/>
          </a:p>
        </p:txBody>
      </p:sp>
      <p:sp>
        <p:nvSpPr>
          <p:cNvPr id="15" name="Text 12"/>
          <p:cNvSpPr/>
          <p:nvPr/>
        </p:nvSpPr>
        <p:spPr>
          <a:xfrm>
            <a:off x="999990" y="7029423"/>
            <a:ext cx="4105275" cy="332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Tín dụng tăng trưởng quanh mức 30%</a:t>
            </a:r>
            <a:endParaRPr lang="en-US" sz="1800" dirty="0"/>
          </a:p>
        </p:txBody>
      </p:sp>
      <p:sp>
        <p:nvSpPr>
          <p:cNvPr id="16" name="Shape 13"/>
          <p:cNvSpPr/>
          <p:nvPr/>
        </p:nvSpPr>
        <p:spPr>
          <a:xfrm>
            <a:off x="580971" y="8258066"/>
            <a:ext cx="9115316" cy="4295721"/>
          </a:xfrm>
          <a:prstGeom prst="roundRect">
            <a:avLst>
              <a:gd name="adj" fmla="val 887"/>
            </a:avLst>
          </a:prstGeom>
          <a:solidFill>
            <a:srgbClr val="FFFFFF"/>
          </a:solidFill>
          <a:ln/>
          <a:effectLst>
            <a:outerShdw blurRad="209550" dist="57150" dir="5400000" algn="bl" rotWithShape="0">
              <a:srgbClr val="0A254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4"/>
          <p:cNvSpPr/>
          <p:nvPr/>
        </p:nvSpPr>
        <p:spPr>
          <a:xfrm>
            <a:off x="580971" y="8258066"/>
            <a:ext cx="9115316" cy="771471"/>
          </a:xfrm>
          <a:prstGeom prst="rect">
            <a:avLst/>
          </a:prstGeom>
          <a:solidFill>
            <a:srgbClr val="F4812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8" name="Shape 15"/>
          <p:cNvSpPr/>
          <p:nvPr/>
        </p:nvSpPr>
        <p:spPr>
          <a:xfrm>
            <a:off x="580971" y="8258066"/>
            <a:ext cx="142875" cy="4295721"/>
          </a:xfrm>
          <a:prstGeom prst="rect">
            <a:avLst/>
          </a:prstGeom>
          <a:solidFill>
            <a:srgbClr val="0A2540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19" name="Text 16"/>
          <p:cNvSpPr/>
          <p:nvPr/>
        </p:nvSpPr>
        <p:spPr>
          <a:xfrm>
            <a:off x="999990" y="8467508"/>
            <a:ext cx="2853035" cy="4537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2550" b="1" kern="0" spc="75">
                <a:solidFill>
                  <a:srgbClr val="FFFFFF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TĂNG VỐN</a:t>
            </a:r>
            <a:endParaRPr lang="en-US" sz="2550" dirty="0"/>
          </a:p>
        </p:txBody>
      </p:sp>
      <p:sp>
        <p:nvSpPr>
          <p:cNvPr id="20" name="Shape 17"/>
          <p:cNvSpPr/>
          <p:nvPr/>
        </p:nvSpPr>
        <p:spPr>
          <a:xfrm>
            <a:off x="7480913" y="8486585"/>
            <a:ext cx="1948701" cy="323769"/>
          </a:xfrm>
          <a:prstGeom prst="roundRect">
            <a:avLst>
              <a:gd name="adj" fmla="val 11768"/>
            </a:avLst>
          </a:prstGeom>
          <a:solidFill>
            <a:srgbClr val="FFFFFF"/>
          </a:solidFill>
          <a:ln/>
        </p:spPr>
        <p:txBody>
          <a:bodyPr/>
          <a:lstStyle/>
          <a:p>
            <a:endParaRPr lang="en-US"/>
          </a:p>
        </p:txBody>
      </p:sp>
      <p:sp>
        <p:nvSpPr>
          <p:cNvPr id="21" name="Text 18"/>
          <p:cNvSpPr/>
          <p:nvPr/>
        </p:nvSpPr>
        <p:spPr>
          <a:xfrm>
            <a:off x="7633313" y="8486585"/>
            <a:ext cx="1720101" cy="36186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ctr">
            <a:normAutofit/>
          </a:bodyPr>
          <a:lstStyle/>
          <a:p>
            <a:pPr marL="0" indent="0" algn="l">
              <a:buNone/>
            </a:pPr>
            <a:r>
              <a:rPr lang="en-US" sz="1200" b="1" kern="0" spc="150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CHIA CỔ TỨC 25%</a:t>
            </a:r>
            <a:endParaRPr lang="en-US" sz="1200" dirty="0"/>
          </a:p>
        </p:txBody>
      </p:sp>
      <p:sp>
        <p:nvSpPr>
          <p:cNvPr id="22" name="Text 19"/>
          <p:cNvSpPr/>
          <p:nvPr/>
        </p:nvSpPr>
        <p:spPr>
          <a:xfrm>
            <a:off x="999990" y="9381990"/>
            <a:ext cx="5457527" cy="860984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 lnSpcReduction="20000"/>
          </a:bodyPr>
          <a:lstStyle/>
          <a:p>
            <a:pPr marL="0" indent="0" algn="l">
              <a:lnSpc>
                <a:spcPct val="90000"/>
              </a:lnSpc>
              <a:buNone/>
            </a:pPr>
            <a:r>
              <a:rPr lang="en-US" sz="7200" b="1" kern="0" spc="-150">
                <a:solidFill>
                  <a:srgbClr val="0A2540"/>
                </a:solidFill>
                <a:latin typeface="Lora" pitchFamily="34" charset="0"/>
                <a:ea typeface="Lora" pitchFamily="34" charset="-122"/>
                <a:cs typeface="Lora" pitchFamily="34" charset="-120"/>
              </a:rPr>
              <a:t>102.687 tỷ</a:t>
            </a:r>
            <a:endParaRPr lang="en-US" sz="7200" dirty="0"/>
          </a:p>
        </p:txBody>
      </p:sp>
      <p:sp>
        <p:nvSpPr>
          <p:cNvPr id="23" name="Text 20"/>
          <p:cNvSpPr/>
          <p:nvPr/>
        </p:nvSpPr>
        <p:spPr>
          <a:xfrm>
            <a:off x="999990" y="10620239"/>
            <a:ext cx="8633459" cy="704850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fontScale="92500"/>
          </a:bodyPr>
          <a:lstStyle/>
          <a:p>
            <a:pPr marL="0" indent="0" algn="l">
              <a:lnSpc>
                <a:spcPct val="140000"/>
              </a:lnSpc>
              <a:buNone/>
            </a:pPr>
            <a:r>
              <a:rPr lang="en-US" sz="1875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Vốn điều lệ dự kiến tăng từ 80.550 tỷ đồng lên tối đa 102.687 tỷ đồng trong năm 2026.</a:t>
            </a:r>
            <a:endParaRPr lang="en-US" sz="1875" dirty="0"/>
          </a:p>
        </p:txBody>
      </p:sp>
      <p:sp>
        <p:nvSpPr>
          <p:cNvPr id="24" name="Text 21"/>
          <p:cNvSpPr/>
          <p:nvPr/>
        </p:nvSpPr>
        <p:spPr>
          <a:xfrm>
            <a:off x="999990" y="11687067"/>
            <a:ext cx="4478387" cy="332509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/>
          </a:bodyPr>
          <a:lstStyle/>
          <a:p>
            <a:pPr marL="0" indent="0" algn="l">
              <a:buNone/>
            </a:pPr>
            <a:r>
              <a:rPr lang="en-US" sz="1800" b="1">
                <a:solidFill>
                  <a:srgbClr val="FE670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Cổ tức 25%: 10% tiền mặt + 15% cổ phiếu</a:t>
            </a:r>
            <a:endParaRPr lang="en-US" sz="1800" dirty="0"/>
          </a:p>
        </p:txBody>
      </p:sp>
      <p:sp>
        <p:nvSpPr>
          <p:cNvPr id="25" name="Text 22"/>
          <p:cNvSpPr/>
          <p:nvPr/>
        </p:nvSpPr>
        <p:spPr>
          <a:xfrm>
            <a:off x="590442" y="13222431"/>
            <a:ext cx="1565969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Catalyst tăng trưởng</a:t>
            </a:r>
            <a:endParaRPr lang="en-US" sz="1350" dirty="0"/>
          </a:p>
        </p:txBody>
      </p:sp>
      <p:sp>
        <p:nvSpPr>
          <p:cNvPr id="26" name="Text 23"/>
          <p:cNvSpPr/>
          <p:nvPr/>
        </p:nvSpPr>
        <p:spPr>
          <a:xfrm>
            <a:off x="9214355" y="13222431"/>
            <a:ext cx="567603" cy="245918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t">
            <a:normAutofit lnSpcReduction="10000"/>
          </a:bodyPr>
          <a:lstStyle/>
          <a:p>
            <a:pPr marL="0" indent="0" algn="l">
              <a:buNone/>
            </a:pPr>
            <a:r>
              <a:rPr lang="en-US" sz="1350" dirty="0">
                <a:solidFill>
                  <a:srgbClr val="6A6A6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03 / 03</a:t>
            </a:r>
            <a:endParaRPr lang="en-US" sz="1350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MM_SLIDE_TYPE" val="6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450</TotalTime>
  <Words>690</Words>
  <Application>Microsoft Office PowerPoint</Application>
  <PresentationFormat>Custom</PresentationFormat>
  <Paragraphs>91</Paragraphs>
  <Slides>6</Slides>
  <Notes>6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6</vt:i4>
      </vt:variant>
    </vt:vector>
  </HeadingPairs>
  <TitlesOfParts>
    <vt:vector size="11" baseType="lpstr">
      <vt:lpstr>Arial</vt:lpstr>
      <vt:lpstr>Calibri</vt:lpstr>
      <vt:lpstr>Lora</vt:lpstr>
      <vt:lpstr>SVN-Gilroy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HotStock · MBB · Ngân hàng MB</dc:title>
  <dc:subject>Equity Research · Vietnam Banks</dc:subject>
  <dc:creator>PptxGenJS</dc:creator>
  <cp:lastModifiedBy>Quan, Ton Dat</cp:lastModifiedBy>
  <cp:revision>28</cp:revision>
  <dcterms:created xsi:type="dcterms:W3CDTF">2026-06-19T09:38:57Z</dcterms:created>
  <dcterms:modified xsi:type="dcterms:W3CDTF">2026-06-22T11:11:25Z</dcterms:modified>
</cp:coreProperties>
</file>