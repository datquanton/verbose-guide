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6"/>
    <p:sldId id="259" r:id="rId7"/>
  </p:sldIdLst>
  <p:sldSz cx="10287000" cy="13716000"/>
  <p:notesSz cx="13716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300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quan.td\Desktop\FinStatements\FiinProX_DuLieuTaiChinh_BaoCaoTaiChinh_Yearly_Hop_nhat_TCB_20260326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6686756748"/>
          <c:y val="0.12298370772527673"/>
          <c:w val="0.83735480595789724"/>
          <c:h val="0.57548525108062121"/>
        </c:manualLayout>
      </c:layout>
      <c:areaChart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axId val="1983756111"/>
        <c:axId val="1983780591"/>
      </c:areaChart>
      <c:barChart>
        <c:barDir val="col"/>
        <c:grouping val="clustered"/>
        <c:varyColors val="0"/>
        <c:ser>
          <c:idx val="0"/>
          <c:order val="0"/>
          <c:tx>
            <c:strRef>
              <c:f>'Kết quả kinh doanh'!$A$15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chemeClr val="tx2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'Kết quả kinh doanh'!$U$11:$Y$11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</c:strRef>
          </c:cat>
          <c:val>
            <c:numRef>
              <c:f>('Kết quả kinh doanh'!$B$15:$R$15,'Kết quả kinh doanh'!$U$15:$Y$15)</c:f>
              <c:numCache>
                <c:formatCode>#,##0.00</c:formatCode>
                <c:ptCount val="5"/>
                <c:pt idx="0">
                  <c:v>22729</c:v>
                </c:pt>
                <c:pt idx="1">
                  <c:v>26306</c:v>
                </c:pt>
                <c:pt idx="2">
                  <c:v>28829</c:v>
                </c:pt>
                <c:pt idx="3">
                  <c:v>34268</c:v>
                </c:pt>
                <c:pt idx="4">
                  <c:v>40726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3A1-45CC-8CEA-EFD9BB4A2B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983756111"/>
        <c:axId val="1983780591"/>
      </c:barChart>
      <c:catAx>
        <c:axId val="198375611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VN-Gilroy" panose="00000500000000000000" pitchFamily="50" charset="0"/>
                    <a:ea typeface="+mn-ea"/>
                    <a:cs typeface="+mn-cs"/>
                  </a:defRPr>
                </a:pPr>
                <a:r>
                  <a:rPr lang="en-US" sz="2200"/>
                  <a:t>(tỷ)</a:t>
                </a:r>
              </a:p>
            </c:rich>
          </c:tx>
          <c:layout>
            <c:manualLayout>
              <c:xMode val="edge"/>
              <c:yMode val="edge"/>
              <c:x val="5.4943843368143688E-2"/>
              <c:y val="4.8439290421607085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SVN-Gilroy" panose="00000500000000000000" pitchFamily="50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983780591"/>
        <c:crosses val="autoZero"/>
        <c:auto val="1"/>
        <c:lblAlgn val="ctr"/>
        <c:lblOffset val="100"/>
        <c:noMultiLvlLbl val="0"/>
      </c:catAx>
      <c:valAx>
        <c:axId val="1983780591"/>
        <c:scaling>
          <c:orientation val="minMax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9837561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0738704704359392E-2"/>
          <c:y val="0.80692882935863064"/>
          <c:w val="0.96667486876640418"/>
          <c:h val="0.193071170641369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SVN-Gilroy" panose="00000500000000000000" pitchFamily="50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SVN-Gilroy" panose="00000500000000000000" pitchFamily="50" charset="0"/>
        </a:defRPr>
      </a:pPr>
      <a:endParaRPr lang="en-US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7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MBB đang được định giá đúng, hay thị trường chưa trả đủ cho ngân hàng có chi phí vốn rẻ nhất? P/B dự phóng 2026 ~1,2x đi cùng ROE 21,1%.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 lý do: P/B dự phóng 2026 ~1,2x trên ROE 21,1%; CASA ~38% cuối 2025 dẫn đầu hệ thống; room tín dụng 30-35% nhờ nhận chuyển giao MBV.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45F80-65E3-DE73-503F-ADC81879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1E31-F778-2A89-0529-6245F261C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7FEC3-2690-2B86-FC79-731A45D81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LNTT tăng liên tục: 22.729 tỷ (2022), 26.306 tỷ (2023), 28.829 tỷ (2024), 34.268 tỷ (2025) và dự phóng 40.726 tỷ cho 2026, tương đương gấp 1,8 lần sau 4 năm.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35018-B976-C87C-6992-AFD689E763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798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Tổng tài sản 1.615.764 tỷ cuối 2025, tăng 43%; mục tiêu vượt 2,1 triệu tỷ. Vốn điều lệ lên tối đa 102.687 tỷ, cổ tức 25% gồm 10% tiền mặt và 15% cổ phiếu.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768DF393-E84A-1411-08DB-8FAB3A5643B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30184" y="-84566"/>
            <a:ext cx="8932131" cy="8932131"/>
          </a:xfrm>
          <a:prstGeom prst="ellipse">
            <a:avLst/>
          </a:prstGeom>
          <a:gradFill rotWithShape="1">
            <a:gsLst>
              <a:gs pos="0">
                <a:srgbClr val="1B4F9C">
                  <a:alpha val="10000"/>
                </a:srgbClr>
              </a:gs>
              <a:gs pos="68000">
                <a:srgbClr val="1B4F9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-2289345" y="8378655"/>
            <a:ext cx="6864690" cy="6864689"/>
          </a:xfrm>
          <a:prstGeom prst="ellipse">
            <a:avLst/>
          </a:prstGeom>
          <a:gradFill rotWithShape="1">
            <a:gsLst>
              <a:gs pos="0">
                <a:srgbClr val="1B4F9C">
                  <a:alpha val="6000"/>
                </a:srgbClr>
              </a:gs>
              <a:gs pos="70000">
                <a:srgbClr val="1B4F9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554682" y="7983681"/>
            <a:ext cx="8780318" cy="8780318"/>
          </a:xfrm>
          <a:prstGeom prst="ellipse">
            <a:avLst/>
          </a:prstGeom>
          <a:ln w="8659">
            <a:solidFill>
              <a:srgbClr val="1B4F9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316682" y="8745681"/>
            <a:ext cx="7256318" cy="7256318"/>
          </a:xfrm>
          <a:prstGeom prst="ellipse">
            <a:avLst/>
          </a:prstGeom>
          <a:ln w="8659">
            <a:solidFill>
              <a:srgbClr val="1B4F9C">
                <a:alpha val="11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78682" y="9507681"/>
            <a:ext cx="5732318" cy="5732318"/>
          </a:xfrm>
          <a:prstGeom prst="ellipse">
            <a:avLst/>
          </a:prstGeom>
          <a:ln w="8659">
            <a:solidFill>
              <a:srgbClr val="1B4F9C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31937" y="5562570"/>
            <a:ext cx="5843439" cy="289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0" b="1" kern="0" spc="-1050">
                <a:solidFill>
                  <a:srgbClr val="1B4F9C">
                    <a:alpha val="5000"/>
                  </a:srgb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MBB</a:t>
            </a:r>
            <a:endParaRPr lang="en-US" sz="22500" dirty="0"/>
          </a:p>
        </p:txBody>
      </p:sp>
      <p:sp>
        <p:nvSpPr>
          <p:cNvPr id="9" name="Shape 6"/>
          <p:cNvSpPr/>
          <p:nvPr/>
        </p:nvSpPr>
        <p:spPr>
          <a:xfrm>
            <a:off x="590442" y="666750"/>
            <a:ext cx="9132634" cy="1465010"/>
          </a:xfrm>
          <a:prstGeom prst="roundRect">
            <a:avLst>
              <a:gd name="adj" fmla="val 16904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52500" y="952500"/>
            <a:ext cx="1819221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61942" y="1052080"/>
            <a:ext cx="1540371" cy="315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75" dirty="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HOTSTOCK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383228" y="1047750"/>
            <a:ext cx="2146399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MASVN · Jul 2026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952500" y="1600173"/>
            <a:ext cx="4276725" cy="384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i="1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 · Vietnam Banks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590442" y="3048000"/>
            <a:ext cx="3300561" cy="60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75">
                <a:solidFill>
                  <a:srgbClr val="1B4F9C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hàng MB</a:t>
            </a:r>
            <a:endParaRPr lang="en-US" sz="3450" dirty="0"/>
          </a:p>
        </p:txBody>
      </p:sp>
      <p:sp>
        <p:nvSpPr>
          <p:cNvPr id="15" name="Shape 12"/>
          <p:cNvSpPr/>
          <p:nvPr/>
        </p:nvSpPr>
        <p:spPr>
          <a:xfrm>
            <a:off x="3800394" y="3177886"/>
            <a:ext cx="17318" cy="303068"/>
          </a:xfrm>
          <a:prstGeom prst="rect">
            <a:avLst/>
          </a:prstGeom>
          <a:solidFill>
            <a:srgbClr val="D9C9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027262" y="3177886"/>
            <a:ext cx="1576482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HOSE · MBB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590442" y="4191000"/>
            <a:ext cx="10026848" cy="971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350" b="1" kern="0" spc="-75" dirty="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</a:t>
            </a:r>
            <a:r>
              <a:rPr lang="en-US" sz="7350" b="1" kern="0" spc="-75" dirty="0" err="1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hàng</a:t>
            </a:r>
            <a:endParaRPr lang="en-US" sz="7350" dirty="0"/>
          </a:p>
        </p:txBody>
      </p:sp>
      <p:sp>
        <p:nvSpPr>
          <p:cNvPr id="18" name="Text 15"/>
          <p:cNvSpPr/>
          <p:nvPr/>
        </p:nvSpPr>
        <p:spPr>
          <a:xfrm>
            <a:off x="590442" y="5200596"/>
            <a:ext cx="10026848" cy="101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350" b="1" i="1" kern="0" spc="-75">
                <a:solidFill>
                  <a:srgbClr val="FE6700"/>
                </a:solidFill>
                <a:latin typeface="Lora" pitchFamily="34" charset="0"/>
              </a:rPr>
              <a:t>Dẫn đầu về CASA</a:t>
            </a:r>
            <a:endParaRPr lang="en-US" sz="7350" dirty="0"/>
          </a:p>
        </p:txBody>
      </p:sp>
      <p:sp>
        <p:nvSpPr>
          <p:cNvPr id="19" name="Text 16"/>
          <p:cNvSpPr/>
          <p:nvPr/>
        </p:nvSpPr>
        <p:spPr>
          <a:xfrm>
            <a:off x="590442" y="8096250"/>
            <a:ext cx="8829674" cy="997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>
                <a:solidFill>
                  <a:srgbClr val="2A2A2A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Vốn rẻ nhất hệ thống, room tín dụng cao nhất thị trường.</a:t>
            </a:r>
            <a:endParaRPr lang="en-US" sz="2700" dirty="0"/>
          </a:p>
        </p:txBody>
      </p:sp>
      <p:sp>
        <p:nvSpPr>
          <p:cNvPr id="20" name="Shape 17"/>
          <p:cNvSpPr/>
          <p:nvPr/>
        </p:nvSpPr>
        <p:spPr>
          <a:xfrm>
            <a:off x="590442" y="9524999"/>
            <a:ext cx="4371894" cy="2857500"/>
          </a:xfrm>
          <a:prstGeom prst="roundRect">
            <a:avLst>
              <a:gd name="adj" fmla="val 1333"/>
            </a:avLst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90442" y="9524999"/>
            <a:ext cx="142875" cy="2857500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104711" y="9963095"/>
            <a:ext cx="2016919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300">
                <a:solidFill>
                  <a:srgbClr val="F48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GIÁ</a:t>
            </a:r>
            <a:endParaRPr lang="en-US" sz="1950" dirty="0"/>
          </a:p>
        </p:txBody>
      </p:sp>
      <p:sp>
        <p:nvSpPr>
          <p:cNvPr id="23" name="Text 20"/>
          <p:cNvSpPr/>
          <p:nvPr/>
        </p:nvSpPr>
        <p:spPr>
          <a:xfrm>
            <a:off x="1104711" y="10477500"/>
            <a:ext cx="2319486" cy="722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Hợp lý</a:t>
            </a:r>
            <a:endParaRPr lang="en-US" sz="4200" dirty="0"/>
          </a:p>
        </p:txBody>
      </p:sp>
      <p:sp>
        <p:nvSpPr>
          <p:cNvPr id="24" name="Text 21"/>
          <p:cNvSpPr/>
          <p:nvPr/>
        </p:nvSpPr>
        <p:spPr>
          <a:xfrm>
            <a:off x="1104711" y="11391845"/>
            <a:ext cx="3876675" cy="3979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 fwd ~1,2x · ROE 21,1%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324394" y="9524999"/>
            <a:ext cx="4371894" cy="2857500"/>
          </a:xfrm>
          <a:prstGeom prst="roundRect">
            <a:avLst>
              <a:gd name="adj" fmla="val 1333"/>
            </a:avLst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5324394" y="9524999"/>
            <a:ext cx="142875" cy="2857500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838662" y="9963095"/>
            <a:ext cx="2002333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300">
                <a:solidFill>
                  <a:srgbClr val="F48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TRƯỞNG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5838662" y="10477500"/>
            <a:ext cx="2533055" cy="722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Bứt tốc</a:t>
            </a:r>
            <a:endParaRPr lang="en-US" sz="4200" dirty="0"/>
          </a:p>
        </p:txBody>
      </p:sp>
      <p:sp>
        <p:nvSpPr>
          <p:cNvPr id="29" name="Text 26"/>
          <p:cNvSpPr/>
          <p:nvPr/>
        </p:nvSpPr>
        <p:spPr>
          <a:xfrm>
            <a:off x="5838662" y="11391845"/>
            <a:ext cx="3629978" cy="7578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 dụng 30–35% · LNTT +18,8%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590442" y="13141118"/>
            <a:ext cx="2124373" cy="2892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case tăng trưởng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8464396" y="13141118"/>
            <a:ext cx="1365498" cy="2892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HotStock · MBB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52500" y="914346"/>
            <a:ext cx="1263578" cy="271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kern="0" spc="75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THESIS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Ba lý do MBB đáng theo dõi</a:t>
            </a:r>
            <a:endParaRPr lang="en-US" sz="2325" dirty="0"/>
          </a:p>
        </p:txBody>
      </p:sp>
      <p:sp>
        <p:nvSpPr>
          <p:cNvPr id="6" name="Text 3"/>
          <p:cNvSpPr/>
          <p:nvPr/>
        </p:nvSpPr>
        <p:spPr>
          <a:xfrm>
            <a:off x="590442" y="2190750"/>
            <a:ext cx="3138934" cy="548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kern="0" spc="150">
                <a:solidFill>
                  <a:srgbClr val="1B4F9C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hàng MB</a:t>
            </a:r>
            <a:endParaRPr lang="en-US" sz="3150" dirty="0"/>
          </a:p>
        </p:txBody>
      </p:sp>
      <p:sp>
        <p:nvSpPr>
          <p:cNvPr id="7" name="Shape 4"/>
          <p:cNvSpPr/>
          <p:nvPr/>
        </p:nvSpPr>
        <p:spPr>
          <a:xfrm>
            <a:off x="3615441" y="2342284"/>
            <a:ext cx="17318" cy="207818"/>
          </a:xfrm>
          <a:prstGeom prst="rect">
            <a:avLst/>
          </a:prstGeom>
          <a:solidFill>
            <a:srgbClr val="D9C9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04209" y="2342284"/>
            <a:ext cx="1191464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225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HOSE · MBB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0971" y="3790923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80971" y="3790923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52500" y="3790923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5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1,2x</a:t>
            </a:r>
            <a:endParaRPr lang="en-US" sz="8850" dirty="0"/>
          </a:p>
        </p:txBody>
      </p:sp>
      <p:sp>
        <p:nvSpPr>
          <p:cNvPr id="12" name="Text 9"/>
          <p:cNvSpPr/>
          <p:nvPr/>
        </p:nvSpPr>
        <p:spPr>
          <a:xfrm>
            <a:off x="5600673" y="4476750"/>
            <a:ext cx="2258764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ĐỊNH GIÁ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600673" y="5029173"/>
            <a:ext cx="4306193" cy="34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 dự phóng 2026 trên ROE 21,1%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80971" y="6810375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80971" y="6810375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52500" y="6810375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5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38%</a:t>
            </a:r>
            <a:endParaRPr lang="en-US" sz="8850" dirty="0"/>
          </a:p>
        </p:txBody>
      </p:sp>
      <p:sp>
        <p:nvSpPr>
          <p:cNvPr id="17" name="Text 14"/>
          <p:cNvSpPr/>
          <p:nvPr/>
        </p:nvSpPr>
        <p:spPr>
          <a:xfrm>
            <a:off x="5600673" y="7496066"/>
            <a:ext cx="1717774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VỐN RẺ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600673" y="8048625"/>
            <a:ext cx="4032162" cy="655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cuối 2025, dẫn đầu toàn hệ thống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80971" y="9829692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80971" y="9829692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52500" y="9829692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8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30–35%</a:t>
            </a:r>
            <a:endParaRPr lang="en-US" sz="7800" dirty="0"/>
          </a:p>
        </p:txBody>
      </p:sp>
      <p:sp>
        <p:nvSpPr>
          <p:cNvPr id="22" name="Text 19"/>
          <p:cNvSpPr/>
          <p:nvPr/>
        </p:nvSpPr>
        <p:spPr>
          <a:xfrm>
            <a:off x="5600673" y="10467894"/>
            <a:ext cx="3022550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TĂNG TRƯỞNG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600673" y="11020317"/>
            <a:ext cx="4120515" cy="655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tín dụng 2026, nhóm cao nhất thị trường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90442" y="13222431"/>
            <a:ext cx="1836539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lý do đầu tư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9214355" y="13222431"/>
            <a:ext cx="567603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03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741-CFB5-CE94-0874-1AB6139D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763A183-1312-A6F4-56F2-76F2512A4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B494FB21-A87C-AEA4-F78B-250C1022867F}"/>
              </a:ext>
            </a:extLst>
          </p:cNvPr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3DCDB8B-65C7-5E6F-329F-8F83862B8EC3}"/>
              </a:ext>
            </a:extLst>
          </p:cNvPr>
          <p:cNvSpPr/>
          <p:nvPr/>
        </p:nvSpPr>
        <p:spPr>
          <a:xfrm>
            <a:off x="952499" y="869346"/>
            <a:ext cx="2673987" cy="349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75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EARNINGS</a:t>
            </a:r>
            <a:endParaRPr lang="en-US" sz="15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4E2D231-9614-C5B9-BB48-EF1756B1CD47}"/>
              </a:ext>
            </a:extLst>
          </p:cNvPr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Lợi nhuận trước thuế tăng liên tục</a:t>
            </a:r>
            <a:endParaRPr lang="en-US" sz="2325" dirty="0"/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08FBA4B9-E5E3-B298-B12E-82F558E82C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0966214"/>
              </p:ext>
            </p:extLst>
          </p:nvPr>
        </p:nvGraphicFramePr>
        <p:xfrm>
          <a:off x="1220722" y="2988821"/>
          <a:ext cx="7845556" cy="9176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14">
            <a:extLst>
              <a:ext uri="{FF2B5EF4-FFF2-40B4-BE49-F238E27FC236}">
                <a16:creationId xmlns:a16="http://schemas.microsoft.com/office/drawing/2014/main" id="{2B2EA38B-2F9B-E323-1519-BBE9747F1DFB}"/>
              </a:ext>
            </a:extLst>
          </p:cNvPr>
          <p:cNvSpPr/>
          <p:nvPr/>
        </p:nvSpPr>
        <p:spPr>
          <a:xfrm>
            <a:off x="1341492" y="2267586"/>
            <a:ext cx="8044048" cy="971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vi-VN" sz="2800" b="1" kern="0" spc="-75">
                <a:solidFill>
                  <a:srgbClr val="0A2540"/>
                </a:solidFill>
                <a:latin typeface="SVN-Gilroy" panose="00000500000000000000" pitchFamily="50" charset="0"/>
                <a:ea typeface="Lora" pitchFamily="34" charset="-122"/>
                <a:cs typeface="Lora" pitchFamily="34" charset="-120"/>
              </a:rPr>
              <a:t>LNTT gấp gần 1,8 lần chỉ sau 4 năm, dự phóng vượt 40.000 tỷ đồng trong năm 2026.</a:t>
            </a:r>
          </a:p>
        </p:txBody>
      </p:sp>
    </p:spTree>
    <p:extLst>
      <p:ext uri="{BB962C8B-B14F-4D97-AF65-F5344CB8AC3E}">
        <p14:creationId xmlns:p14="http://schemas.microsoft.com/office/powerpoint/2010/main" val="2024233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52500" y="914346"/>
            <a:ext cx="1432024" cy="271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CATALYST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Bứt tốc quy mô &amp; tăng vốn điều lệ</a:t>
            </a:r>
            <a:endParaRPr lang="en-US" sz="2325" dirty="0"/>
          </a:p>
        </p:txBody>
      </p:sp>
      <p:sp>
        <p:nvSpPr>
          <p:cNvPr id="6" name="Text 3"/>
          <p:cNvSpPr/>
          <p:nvPr/>
        </p:nvSpPr>
        <p:spPr>
          <a:xfrm>
            <a:off x="580971" y="2247846"/>
            <a:ext cx="9388776" cy="701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khi tổng tài sản tăng 43% trong năm 2025, MBB đặt mục tiêu vượt 2,1 triệu tỷ đồng và nâng vốn điều lệ lên hơn 102.000 tỷ đồng năm 2026.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80971" y="3600423"/>
            <a:ext cx="9115316" cy="4295721"/>
          </a:xfrm>
          <a:prstGeom prst="roundRect">
            <a:avLst>
              <a:gd name="adj" fmla="val 887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80971" y="3600423"/>
            <a:ext cx="9115316" cy="771471"/>
          </a:xfrm>
          <a:prstGeom prst="rect">
            <a:avLst/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80971" y="3600423"/>
            <a:ext cx="142875" cy="4295721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99990" y="3809865"/>
            <a:ext cx="2638871" cy="4537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75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TỔNG TÀI SẢN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7895602" y="3828942"/>
            <a:ext cx="1534012" cy="323769"/>
          </a:xfrm>
          <a:prstGeom prst="roundRect">
            <a:avLst>
              <a:gd name="adj" fmla="val 11768"/>
            </a:avLst>
          </a:prstGeom>
          <a:solidFill>
            <a:srgbClr val="FFE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48002" y="3828942"/>
            <a:ext cx="1305412" cy="3618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50">
                <a:solidFill>
                  <a:srgbClr val="C04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2026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99990" y="4724346"/>
            <a:ext cx="4729162" cy="860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2,1 triệu tỷ</a:t>
            </a:r>
            <a:endParaRPr lang="en-US" sz="7200" dirty="0"/>
          </a:p>
        </p:txBody>
      </p:sp>
      <p:sp>
        <p:nvSpPr>
          <p:cNvPr id="14" name="Text 11"/>
          <p:cNvSpPr/>
          <p:nvPr/>
        </p:nvSpPr>
        <p:spPr>
          <a:xfrm>
            <a:off x="999990" y="5962596"/>
            <a:ext cx="863345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tài sản đạt 1.615.764 tỷ đồng cuối 2025, tăng 43%; mục tiêu vượt 2,1 triệu tỷ năm 2026.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999990" y="7029423"/>
            <a:ext cx="4105275" cy="33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 dụng mục tiêu tăng 30–35% năm 2026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80971" y="8258066"/>
            <a:ext cx="9115316" cy="4295721"/>
          </a:xfrm>
          <a:prstGeom prst="roundRect">
            <a:avLst>
              <a:gd name="adj" fmla="val 887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80971" y="8258066"/>
            <a:ext cx="9115316" cy="771471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0971" y="8258066"/>
            <a:ext cx="142875" cy="4295721"/>
          </a:xfrm>
          <a:prstGeom prst="rect">
            <a:avLst/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99990" y="8467508"/>
            <a:ext cx="2853035" cy="4537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75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TĂNG VỐN</a:t>
            </a:r>
            <a:endParaRPr lang="en-US" sz="2550" dirty="0"/>
          </a:p>
        </p:txBody>
      </p:sp>
      <p:sp>
        <p:nvSpPr>
          <p:cNvPr id="20" name="Shape 17"/>
          <p:cNvSpPr/>
          <p:nvPr/>
        </p:nvSpPr>
        <p:spPr>
          <a:xfrm>
            <a:off x="7480913" y="8486585"/>
            <a:ext cx="1948701" cy="323769"/>
          </a:xfrm>
          <a:prstGeom prst="roundRect">
            <a:avLst>
              <a:gd name="adj" fmla="val 1176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633313" y="8486585"/>
            <a:ext cx="1720101" cy="3618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CỔ TỨC 25%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99990" y="9381990"/>
            <a:ext cx="5457527" cy="860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102.687 tỷ</a:t>
            </a:r>
            <a:endParaRPr lang="en-US" sz="7200" dirty="0"/>
          </a:p>
        </p:txBody>
      </p:sp>
      <p:sp>
        <p:nvSpPr>
          <p:cNvPr id="23" name="Text 20"/>
          <p:cNvSpPr/>
          <p:nvPr/>
        </p:nvSpPr>
        <p:spPr>
          <a:xfrm>
            <a:off x="999990" y="10620239"/>
            <a:ext cx="863345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Vốn điều lệ dự kiến tăng từ 80.550 tỷ đồng lên tối đa 102.687 tỷ đồng trong năm 2026.</a:t>
            </a:r>
            <a:endParaRPr lang="en-US" sz="1875" dirty="0"/>
          </a:p>
        </p:txBody>
      </p:sp>
      <p:sp>
        <p:nvSpPr>
          <p:cNvPr id="24" name="Text 21"/>
          <p:cNvSpPr/>
          <p:nvPr/>
        </p:nvSpPr>
        <p:spPr>
          <a:xfrm>
            <a:off x="999990" y="11687067"/>
            <a:ext cx="4478387" cy="33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 tức 25%: 10% tiền mặt + 15% cổ phiếu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90442" y="13222431"/>
            <a:ext cx="1565969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tăng trưởng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214355" y="13222431"/>
            <a:ext cx="567603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03</a:t>
            </a:r>
            <a:endParaRPr lang="en-US" sz="13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690</Words>
  <Application>Microsoft Office PowerPoint</Application>
  <PresentationFormat>Custom</PresentationFormat>
  <Paragraphs>91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Lora</vt:lpstr>
      <vt:lpstr>SVN-Gilroy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HotStock · MBB · Ngân hàng MB</dc:title>
  <dc:subject>Equity Research · Vietnam Banks</dc:subject>
  <dc:creator>PptxGenJS</dc:creator>
  <cp:lastModifiedBy>Quan, Ton Dat</cp:lastModifiedBy>
  <cp:revision>28</cp:revision>
  <dcterms:created xsi:type="dcterms:W3CDTF">2026-06-19T09:38:57Z</dcterms:created>
  <dcterms:modified xsi:type="dcterms:W3CDTF">2026-06-22T11:11:25Z</dcterms:modified>
</cp:coreProperties>
</file>