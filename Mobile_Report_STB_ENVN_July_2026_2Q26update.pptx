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2.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
  </p:notesMasterIdLst>
  <p:sldIdLst>
    <p:sldId id="362" r:id="rId2"/>
    <p:sldId id="374" r:id="rId3"/>
    <p:sldId id="382" r:id="rId4"/>
    <p:sldId id="364" r:id="rId5"/>
    <p:sldId id="375" r:id="rId6"/>
    <p:sldId id="381" r:id="rId7"/>
    <p:sldId id="383" r:id="rId8"/>
    <p:sldId id="384" r:id="rId9"/>
    <p:sldId id="378" r:id="rId10"/>
  </p:sldIdLst>
  <p:sldSz cx="10287000" cy="13716000"/>
  <p:notesSz cx="6858000" cy="9144000"/>
  <p:custDataLst>
    <p:tags r:id="rId1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N- STB" id="{947F27A8-BCCF-472A-AE92-129A7DFEA83E}">
          <p14:sldIdLst>
            <p14:sldId id="362"/>
            <p14:sldId id="374"/>
            <p14:sldId id="382"/>
            <p14:sldId id="364"/>
          </p14:sldIdLst>
        </p14:section>
        <p14:section name="VN - STB" id="{81E5BC43-F459-4D08-B07D-E0B1FCC722E8}">
          <p14:sldIdLst>
            <p14:sldId id="375"/>
            <p14:sldId id="381"/>
            <p14:sldId id="383"/>
            <p14:sldId id="384"/>
            <p14:sldId id="3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6AB"/>
    <a:srgbClr val="F48120"/>
    <a:srgbClr val="00427A"/>
    <a:srgbClr val="01437C"/>
    <a:srgbClr val="F38120"/>
    <a:srgbClr val="FE6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867" autoAdjust="0"/>
    <p:restoredTop sz="94889" autoAdjust="0"/>
  </p:normalViewPr>
  <p:slideViewPr>
    <p:cSldViewPr snapToGrid="0">
      <p:cViewPr varScale="1">
        <p:scale>
          <a:sx n="54" d="100"/>
          <a:sy n="54" d="100"/>
        </p:scale>
        <p:origin x="3348"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10.0.16.23\mas\Department\Reseach\Qu&#226;n\Financial%20Models\STB\FinModel_STB%204Q25.xlsx" TargetMode="External"/></Relationships>
</file>

<file path=ppt/charts/_rels/chart2.xml.rels><?xml version="1.0" encoding="UTF-8" standalone="yes"?>
<Relationships xmlns="http://schemas.openxmlformats.org/package/2006/relationships"><Relationship Id="rId3" Type="http://schemas.openxmlformats.org/officeDocument/2006/relationships/oleObject" Target="file:///\\10.0.16.23\mas\Department\Reseach\Qu&#226;n\Financial%20Models\STB\FinModel_STB%204Q25.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oleObject" Target="file:///\\10.0.16.23\mas\Department\Reseach\Qu&#226;n\Financial%20Models\STB\FinModel_STB%204Q25.xlsx"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file:///\\10.0.16.23\mas\Department\Reseach\Qu&#226;n\Financial%20Models\STB\FinModel_STB%204Q25.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Noto Sans" panose="020B0502040504020204" pitchFamily="34" charset="0"/>
                <a:ea typeface="Noto Sans" panose="020B0502040504020204" pitchFamily="34" charset="0"/>
                <a:cs typeface="+mn-cs"/>
              </a:defRPr>
            </a:pPr>
            <a:r>
              <a:rPr lang="en-US" sz="2000" dirty="0"/>
              <a:t>(VNDbn)</a:t>
            </a:r>
          </a:p>
        </c:rich>
      </c:tx>
      <c:layout>
        <c:manualLayout>
          <c:xMode val="edge"/>
          <c:yMode val="edge"/>
          <c:x val="1.5666667232596095E-3"/>
          <c:y val="3.9132244340292577E-3"/>
        </c:manualLayout>
      </c:layout>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title>
    <c:autoTitleDeleted val="0"/>
    <c:plotArea>
      <c:layout>
        <c:manualLayout>
          <c:layoutTarget val="inner"/>
          <c:xMode val="edge"/>
          <c:yMode val="edge"/>
          <c:x val="0.15376580526552036"/>
          <c:y val="6.8353846071146682E-2"/>
          <c:w val="0.82829249129654992"/>
          <c:h val="0.76284395973250319"/>
        </c:manualLayout>
      </c:layout>
      <c:areaChart>
        <c:grouping val="stacked"/>
        <c:varyColors val="0"/>
        <c:ser>
          <c:idx val="3"/>
          <c:order val="3"/>
          <c:tx>
            <c:v>OpEx</c:v>
          </c:tx>
          <c:spPr>
            <a:solidFill>
              <a:schemeClr val="accent4"/>
            </a:solidFill>
            <a:ln>
              <a:noFill/>
            </a:ln>
            <a:effectLst/>
          </c:spPr>
          <c:cat>
            <c:strRef>
              <c:f>Model!$BN$118:$BZ$118</c:f>
              <c:strCache>
                <c:ptCount val="9"/>
                <c:pt idx="0">
                  <c:v>1Q24</c:v>
                </c:pt>
                <c:pt idx="1">
                  <c:v>2Q24</c:v>
                </c:pt>
                <c:pt idx="2">
                  <c:v>3Q24</c:v>
                </c:pt>
                <c:pt idx="3">
                  <c:v>4Q24</c:v>
                </c:pt>
                <c:pt idx="4">
                  <c:v>1Q25</c:v>
                </c:pt>
                <c:pt idx="5">
                  <c:v>2Q25</c:v>
                </c:pt>
                <c:pt idx="6">
                  <c:v>3Q25</c:v>
                </c:pt>
                <c:pt idx="7">
                  <c:v>4Q25</c:v>
                </c:pt>
                <c:pt idx="8">
                  <c:v>1Q26</c:v>
                </c:pt>
              </c:strCache>
              <c:extLst/>
            </c:strRef>
          </c:cat>
          <c:val>
            <c:numRef>
              <c:f>Model!$BN$135:$BZ$135</c:f>
              <c:numCache>
                <c:formatCode>#,##0_);[Red]\(#,##0\)</c:formatCode>
                <c:ptCount val="9"/>
                <c:pt idx="0">
                  <c:v>3542.9160000000002</c:v>
                </c:pt>
                <c:pt idx="1">
                  <c:v>4001.0369999999998</c:v>
                </c:pt>
                <c:pt idx="2">
                  <c:v>3287.498</c:v>
                </c:pt>
                <c:pt idx="3">
                  <c:v>3150.9380000000001</c:v>
                </c:pt>
                <c:pt idx="4">
                  <c:v>3927.1469999999999</c:v>
                </c:pt>
                <c:pt idx="5">
                  <c:v>3199.817</c:v>
                </c:pt>
                <c:pt idx="6">
                  <c:v>4095.5819999999999</c:v>
                </c:pt>
                <c:pt idx="7">
                  <c:v>1822.33</c:v>
                </c:pt>
                <c:pt idx="8">
                  <c:v>3408.0450000000001</c:v>
                </c:pt>
              </c:numCache>
              <c:extLst/>
            </c:numRef>
          </c:val>
          <c:extLst>
            <c:ext xmlns:c16="http://schemas.microsoft.com/office/drawing/2014/chart" uri="{C3380CC4-5D6E-409C-BE32-E72D297353CC}">
              <c16:uniqueId val="{00000000-9049-474C-A6CA-E72BEB857934}"/>
            </c:ext>
          </c:extLst>
        </c:ser>
        <c:ser>
          <c:idx val="4"/>
          <c:order val="4"/>
          <c:tx>
            <c:v>Provisioning</c:v>
          </c:tx>
          <c:spPr>
            <a:solidFill>
              <a:schemeClr val="accent5"/>
            </a:solidFill>
            <a:ln>
              <a:noFill/>
            </a:ln>
            <a:effectLst/>
          </c:spPr>
          <c:cat>
            <c:strRef>
              <c:f>Model!$BN$118:$BZ$118</c:f>
              <c:strCache>
                <c:ptCount val="9"/>
                <c:pt idx="0">
                  <c:v>1Q24</c:v>
                </c:pt>
                <c:pt idx="1">
                  <c:v>2Q24</c:v>
                </c:pt>
                <c:pt idx="2">
                  <c:v>3Q24</c:v>
                </c:pt>
                <c:pt idx="3">
                  <c:v>4Q24</c:v>
                </c:pt>
                <c:pt idx="4">
                  <c:v>1Q25</c:v>
                </c:pt>
                <c:pt idx="5">
                  <c:v>2Q25</c:v>
                </c:pt>
                <c:pt idx="6">
                  <c:v>3Q25</c:v>
                </c:pt>
                <c:pt idx="7">
                  <c:v>4Q25</c:v>
                </c:pt>
                <c:pt idx="8">
                  <c:v>1Q26</c:v>
                </c:pt>
              </c:strCache>
              <c:extLst/>
            </c:strRef>
          </c:cat>
          <c:val>
            <c:numRef>
              <c:f>Model!$BN$137:$BZ$137</c:f>
              <c:numCache>
                <c:formatCode>#,##0_);[Red]\(#,##0\)</c:formatCode>
                <c:ptCount val="9"/>
                <c:pt idx="0">
                  <c:v>677.65499999999997</c:v>
                </c:pt>
                <c:pt idx="1">
                  <c:v>465.30700000000002</c:v>
                </c:pt>
                <c:pt idx="2">
                  <c:v>1198.6610000000001</c:v>
                </c:pt>
                <c:pt idx="3">
                  <c:v>367.25900000000001</c:v>
                </c:pt>
                <c:pt idx="4">
                  <c:v>195.26300000000001</c:v>
                </c:pt>
                <c:pt idx="5">
                  <c:v>912.32100000000003</c:v>
                </c:pt>
                <c:pt idx="6">
                  <c:v>1044.039</c:v>
                </c:pt>
                <c:pt idx="7">
                  <c:v>9232.15</c:v>
                </c:pt>
                <c:pt idx="8">
                  <c:v>2023.8630000000001</c:v>
                </c:pt>
              </c:numCache>
              <c:extLst/>
            </c:numRef>
          </c:val>
          <c:extLst>
            <c:ext xmlns:c16="http://schemas.microsoft.com/office/drawing/2014/chart" uri="{C3380CC4-5D6E-409C-BE32-E72D297353CC}">
              <c16:uniqueId val="{00000001-9049-474C-A6CA-E72BEB857934}"/>
            </c:ext>
          </c:extLst>
        </c:ser>
        <c:dLbls>
          <c:showLegendKey val="0"/>
          <c:showVal val="0"/>
          <c:showCatName val="0"/>
          <c:showSerName val="0"/>
          <c:showPercent val="0"/>
          <c:showBubbleSize val="0"/>
        </c:dLbls>
        <c:axId val="525272368"/>
        <c:axId val="525273328"/>
      </c:areaChart>
      <c:barChart>
        <c:barDir val="col"/>
        <c:grouping val="stacked"/>
        <c:varyColors val="0"/>
        <c:ser>
          <c:idx val="0"/>
          <c:order val="0"/>
          <c:tx>
            <c:v>NII</c:v>
          </c:tx>
          <c:spPr>
            <a:solidFill>
              <a:schemeClr val="accent1"/>
            </a:solidFill>
            <a:ln>
              <a:noFill/>
            </a:ln>
            <a:effectLst/>
          </c:spPr>
          <c:invertIfNegative val="0"/>
          <c:cat>
            <c:strRef>
              <c:f>Model!$BN$118:$BZ$118</c:f>
              <c:strCache>
                <c:ptCount val="9"/>
                <c:pt idx="0">
                  <c:v>1Q24</c:v>
                </c:pt>
                <c:pt idx="1">
                  <c:v>2Q24</c:v>
                </c:pt>
                <c:pt idx="2">
                  <c:v>3Q24</c:v>
                </c:pt>
                <c:pt idx="3">
                  <c:v>4Q24</c:v>
                </c:pt>
                <c:pt idx="4">
                  <c:v>1Q25</c:v>
                </c:pt>
                <c:pt idx="5">
                  <c:v>2Q25</c:v>
                </c:pt>
                <c:pt idx="6">
                  <c:v>3Q25</c:v>
                </c:pt>
                <c:pt idx="7">
                  <c:v>4Q25</c:v>
                </c:pt>
                <c:pt idx="8">
                  <c:v>1Q26</c:v>
                </c:pt>
              </c:strCache>
              <c:extLst/>
            </c:strRef>
          </c:cat>
          <c:val>
            <c:numRef>
              <c:f>Model!$BN$121:$BZ$121</c:f>
              <c:numCache>
                <c:formatCode>_(* #,##0_);_(* \(#,##0\);_(* "-"??_);_(@_)</c:formatCode>
                <c:ptCount val="9"/>
                <c:pt idx="0">
                  <c:v>5950.84</c:v>
                </c:pt>
                <c:pt idx="1">
                  <c:v>6116.5659999999998</c:v>
                </c:pt>
                <c:pt idx="2">
                  <c:v>6365.1080000000002</c:v>
                </c:pt>
                <c:pt idx="3">
                  <c:v>6099.1840000000002</c:v>
                </c:pt>
                <c:pt idx="4">
                  <c:v>6863.1729999999998</c:v>
                </c:pt>
                <c:pt idx="5">
                  <c:v>6585.0770000000002</c:v>
                </c:pt>
                <c:pt idx="6">
                  <c:v>7874.366</c:v>
                </c:pt>
                <c:pt idx="7">
                  <c:v>5358</c:v>
                </c:pt>
                <c:pt idx="8">
                  <c:v>6042.0420000000004</c:v>
                </c:pt>
              </c:numCache>
              <c:extLst/>
            </c:numRef>
          </c:val>
          <c:extLst>
            <c:ext xmlns:c16="http://schemas.microsoft.com/office/drawing/2014/chart" uri="{C3380CC4-5D6E-409C-BE32-E72D297353CC}">
              <c16:uniqueId val="{00000002-9049-474C-A6CA-E72BEB857934}"/>
            </c:ext>
          </c:extLst>
        </c:ser>
        <c:ser>
          <c:idx val="1"/>
          <c:order val="1"/>
          <c:tx>
            <c:v>NFI</c:v>
          </c:tx>
          <c:spPr>
            <a:solidFill>
              <a:schemeClr val="accent2"/>
            </a:solidFill>
            <a:ln>
              <a:noFill/>
            </a:ln>
            <a:effectLst/>
          </c:spPr>
          <c:invertIfNegative val="0"/>
          <c:cat>
            <c:strRef>
              <c:f>Model!$BN$118:$BZ$118</c:f>
              <c:strCache>
                <c:ptCount val="9"/>
                <c:pt idx="0">
                  <c:v>1Q24</c:v>
                </c:pt>
                <c:pt idx="1">
                  <c:v>2Q24</c:v>
                </c:pt>
                <c:pt idx="2">
                  <c:v>3Q24</c:v>
                </c:pt>
                <c:pt idx="3">
                  <c:v>4Q24</c:v>
                </c:pt>
                <c:pt idx="4">
                  <c:v>1Q25</c:v>
                </c:pt>
                <c:pt idx="5">
                  <c:v>2Q25</c:v>
                </c:pt>
                <c:pt idx="6">
                  <c:v>3Q25</c:v>
                </c:pt>
                <c:pt idx="7">
                  <c:v>4Q25</c:v>
                </c:pt>
                <c:pt idx="8">
                  <c:v>1Q26</c:v>
                </c:pt>
              </c:strCache>
              <c:extLst/>
            </c:strRef>
          </c:cat>
          <c:val>
            <c:numRef>
              <c:f>Model!$BN$124:$BZ$124</c:f>
              <c:numCache>
                <c:formatCode>0</c:formatCode>
                <c:ptCount val="9"/>
                <c:pt idx="0">
                  <c:v>578.28499999999997</c:v>
                </c:pt>
                <c:pt idx="1">
                  <c:v>680.52099999999996</c:v>
                </c:pt>
                <c:pt idx="2">
                  <c:v>755.96799999999996</c:v>
                </c:pt>
                <c:pt idx="3">
                  <c:v>963.65099999999995</c:v>
                </c:pt>
                <c:pt idx="4">
                  <c:v>727.81500000000005</c:v>
                </c:pt>
                <c:pt idx="5">
                  <c:v>919.149</c:v>
                </c:pt>
                <c:pt idx="6">
                  <c:v>673.21799999999996</c:v>
                </c:pt>
                <c:pt idx="7">
                  <c:v>758.35</c:v>
                </c:pt>
                <c:pt idx="8">
                  <c:v>749.61</c:v>
                </c:pt>
              </c:numCache>
              <c:extLst/>
            </c:numRef>
          </c:val>
          <c:extLst>
            <c:ext xmlns:c16="http://schemas.microsoft.com/office/drawing/2014/chart" uri="{C3380CC4-5D6E-409C-BE32-E72D297353CC}">
              <c16:uniqueId val="{00000003-9049-474C-A6CA-E72BEB857934}"/>
            </c:ext>
          </c:extLst>
        </c:ser>
        <c:ser>
          <c:idx val="2"/>
          <c:order val="2"/>
          <c:tx>
            <c:v>NOII</c:v>
          </c:tx>
          <c:spPr>
            <a:solidFill>
              <a:schemeClr val="accent3"/>
            </a:solidFill>
            <a:ln>
              <a:noFill/>
            </a:ln>
            <a:effectLst/>
          </c:spPr>
          <c:invertIfNegative val="0"/>
          <c:cat>
            <c:strRef>
              <c:f>Model!$BN$118:$BZ$118</c:f>
              <c:strCache>
                <c:ptCount val="9"/>
                <c:pt idx="0">
                  <c:v>1Q24</c:v>
                </c:pt>
                <c:pt idx="1">
                  <c:v>2Q24</c:v>
                </c:pt>
                <c:pt idx="2">
                  <c:v>3Q24</c:v>
                </c:pt>
                <c:pt idx="3">
                  <c:v>4Q24</c:v>
                </c:pt>
                <c:pt idx="4">
                  <c:v>1Q25</c:v>
                </c:pt>
                <c:pt idx="5">
                  <c:v>2Q25</c:v>
                </c:pt>
                <c:pt idx="6">
                  <c:v>3Q25</c:v>
                </c:pt>
                <c:pt idx="7">
                  <c:v>4Q25</c:v>
                </c:pt>
                <c:pt idx="8">
                  <c:v>1Q26</c:v>
                </c:pt>
              </c:strCache>
              <c:extLst/>
            </c:strRef>
          </c:cat>
          <c:val>
            <c:numRef>
              <c:f>Model!$BN$131:$BZ$131</c:f>
              <c:numCache>
                <c:formatCode>#,##0_);[Red]\(#,##0\)</c:formatCode>
                <c:ptCount val="9"/>
                <c:pt idx="0">
                  <c:v>345.66899999999998</c:v>
                </c:pt>
                <c:pt idx="1">
                  <c:v>357.29700000000003</c:v>
                </c:pt>
                <c:pt idx="2">
                  <c:v>116.82099999999998</c:v>
                </c:pt>
                <c:pt idx="3">
                  <c:v>347.20799999999997</c:v>
                </c:pt>
                <c:pt idx="4">
                  <c:v>205.452</c:v>
                </c:pt>
                <c:pt idx="5">
                  <c:v>265.154</c:v>
                </c:pt>
                <c:pt idx="6">
                  <c:v>248.935</c:v>
                </c:pt>
                <c:pt idx="7">
                  <c:v>1578</c:v>
                </c:pt>
                <c:pt idx="8">
                  <c:v>746.46100000000001</c:v>
                </c:pt>
              </c:numCache>
              <c:extLst/>
            </c:numRef>
          </c:val>
          <c:extLst>
            <c:ext xmlns:c16="http://schemas.microsoft.com/office/drawing/2014/chart" uri="{C3380CC4-5D6E-409C-BE32-E72D297353CC}">
              <c16:uniqueId val="{00000004-9049-474C-A6CA-E72BEB857934}"/>
            </c:ext>
          </c:extLst>
        </c:ser>
        <c:dLbls>
          <c:showLegendKey val="0"/>
          <c:showVal val="0"/>
          <c:showCatName val="0"/>
          <c:showSerName val="0"/>
          <c:showPercent val="0"/>
          <c:showBubbleSize val="0"/>
        </c:dLbls>
        <c:gapWidth val="219"/>
        <c:overlap val="100"/>
        <c:axId val="1317633407"/>
        <c:axId val="1317637247"/>
      </c:barChart>
      <c:catAx>
        <c:axId val="131763340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crossAx val="1317637247"/>
        <c:crosses val="autoZero"/>
        <c:auto val="1"/>
        <c:lblAlgn val="ctr"/>
        <c:lblOffset val="100"/>
        <c:noMultiLvlLbl val="0"/>
      </c:catAx>
      <c:valAx>
        <c:axId val="1317637247"/>
        <c:scaling>
          <c:orientation val="minMax"/>
          <c:min val="0"/>
        </c:scaling>
        <c:delete val="0"/>
        <c:axPos val="l"/>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crossAx val="1317633407"/>
        <c:crosses val="autoZero"/>
        <c:crossBetween val="between"/>
        <c:majorUnit val="2000"/>
      </c:valAx>
      <c:valAx>
        <c:axId val="525273328"/>
        <c:scaling>
          <c:orientation val="minMax"/>
          <c:max val="0"/>
          <c:min val="-10500"/>
        </c:scaling>
        <c:delete val="1"/>
        <c:axPos val="r"/>
        <c:numFmt formatCode="#,##0_);[Red]\(#,##0\)" sourceLinked="1"/>
        <c:majorTickMark val="out"/>
        <c:minorTickMark val="none"/>
        <c:tickLblPos val="nextTo"/>
        <c:crossAx val="525272368"/>
        <c:crosses val="max"/>
        <c:crossBetween val="between"/>
      </c:valAx>
      <c:catAx>
        <c:axId val="525272368"/>
        <c:scaling>
          <c:orientation val="minMax"/>
        </c:scaling>
        <c:delete val="1"/>
        <c:axPos val="b"/>
        <c:numFmt formatCode="General" sourceLinked="1"/>
        <c:majorTickMark val="out"/>
        <c:minorTickMark val="none"/>
        <c:tickLblPos val="nextTo"/>
        <c:crossAx val="525273328"/>
        <c:crosses val="autoZero"/>
        <c:auto val="1"/>
        <c:lblAlgn val="ctr"/>
        <c:lblOffset val="100"/>
        <c:noMultiLvlLbl val="0"/>
      </c:catAx>
      <c:spPr>
        <a:noFill/>
        <a:ln>
          <a:noFill/>
        </a:ln>
        <a:effectLst/>
      </c:spPr>
    </c:plotArea>
    <c:legend>
      <c:legendPos val="b"/>
      <c:layout>
        <c:manualLayout>
          <c:xMode val="edge"/>
          <c:yMode val="edge"/>
          <c:x val="4.0548928885006323E-2"/>
          <c:y val="0.91802655457029514"/>
          <c:w val="0.90571145887405224"/>
          <c:h val="6.951277353541728E-2"/>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2000">
          <a:latin typeface="Noto Sans" panose="020B0502040504020204" pitchFamily="34" charset="0"/>
          <a:ea typeface="Noto Sans" panose="020B0502040504020204" pitchFamily="34" charset="0"/>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724121104795267"/>
          <c:y val="2.9411469877370994E-2"/>
          <c:w val="0.82497338835550704"/>
          <c:h val="0.67714723277235112"/>
        </c:manualLayout>
      </c:layout>
      <c:barChart>
        <c:barDir val="col"/>
        <c:grouping val="stacked"/>
        <c:varyColors val="0"/>
        <c:ser>
          <c:idx val="0"/>
          <c:order val="0"/>
          <c:tx>
            <c:v>Current</c:v>
          </c:tx>
          <c:spPr>
            <a:solidFill>
              <a:schemeClr val="accent1"/>
            </a:solidFill>
            <a:ln>
              <a:noFill/>
            </a:ln>
            <a:effectLst/>
          </c:spPr>
          <c:invertIfNegative val="0"/>
          <c:cat>
            <c:strRef>
              <c:f>NPL!$CX$3:$DF$3</c:f>
              <c:strCache>
                <c:ptCount val="9"/>
                <c:pt idx="0">
                  <c:v>1Q24</c:v>
                </c:pt>
                <c:pt idx="1">
                  <c:v>2Q24</c:v>
                </c:pt>
                <c:pt idx="2">
                  <c:v>3Q24</c:v>
                </c:pt>
                <c:pt idx="3">
                  <c:v>4Q24</c:v>
                </c:pt>
                <c:pt idx="4">
                  <c:v>1Q25</c:v>
                </c:pt>
                <c:pt idx="5">
                  <c:v>2Q25</c:v>
                </c:pt>
                <c:pt idx="6">
                  <c:v>3Q25</c:v>
                </c:pt>
                <c:pt idx="7">
                  <c:v>4Q25</c:v>
                </c:pt>
                <c:pt idx="8">
                  <c:v>1Q26</c:v>
                </c:pt>
              </c:strCache>
            </c:strRef>
          </c:cat>
          <c:val>
            <c:numRef>
              <c:f>NPL!$CX$26:$DF$26</c:f>
              <c:numCache>
                <c:formatCode>0.0%</c:formatCode>
                <c:ptCount val="9"/>
                <c:pt idx="0">
                  <c:v>0.96867386979992542</c:v>
                </c:pt>
                <c:pt idx="1">
                  <c:v>0.9686742014804447</c:v>
                </c:pt>
                <c:pt idx="2">
                  <c:v>0.96802948572360747</c:v>
                </c:pt>
                <c:pt idx="3">
                  <c:v>0.96831074263143813</c:v>
                </c:pt>
                <c:pt idx="4">
                  <c:v>0.9670642989261119</c:v>
                </c:pt>
                <c:pt idx="5">
                  <c:v>0.96808373856311913</c:v>
                </c:pt>
                <c:pt idx="6">
                  <c:v>0.95607417887835222</c:v>
                </c:pt>
                <c:pt idx="7">
                  <c:v>0.92848768986215691</c:v>
                </c:pt>
                <c:pt idx="8">
                  <c:v>0.92435551331432242</c:v>
                </c:pt>
              </c:numCache>
            </c:numRef>
          </c:val>
          <c:extLst>
            <c:ext xmlns:c16="http://schemas.microsoft.com/office/drawing/2014/chart" uri="{C3380CC4-5D6E-409C-BE32-E72D297353CC}">
              <c16:uniqueId val="{00000000-01F5-4EAB-A974-28A46133E6BF}"/>
            </c:ext>
          </c:extLst>
        </c:ser>
        <c:ser>
          <c:idx val="1"/>
          <c:order val="1"/>
          <c:tx>
            <c:v>Special mentioned</c:v>
          </c:tx>
          <c:spPr>
            <a:solidFill>
              <a:schemeClr val="accent2"/>
            </a:solidFill>
            <a:ln>
              <a:noFill/>
            </a:ln>
            <a:effectLst/>
          </c:spPr>
          <c:invertIfNegative val="0"/>
          <c:cat>
            <c:strRef>
              <c:f>NPL!$CX$3:$DF$3</c:f>
              <c:strCache>
                <c:ptCount val="9"/>
                <c:pt idx="0">
                  <c:v>1Q24</c:v>
                </c:pt>
                <c:pt idx="1">
                  <c:v>2Q24</c:v>
                </c:pt>
                <c:pt idx="2">
                  <c:v>3Q24</c:v>
                </c:pt>
                <c:pt idx="3">
                  <c:v>4Q24</c:v>
                </c:pt>
                <c:pt idx="4">
                  <c:v>1Q25</c:v>
                </c:pt>
                <c:pt idx="5">
                  <c:v>2Q25</c:v>
                </c:pt>
                <c:pt idx="6">
                  <c:v>3Q25</c:v>
                </c:pt>
                <c:pt idx="7">
                  <c:v>4Q25</c:v>
                </c:pt>
                <c:pt idx="8">
                  <c:v>1Q26</c:v>
                </c:pt>
              </c:strCache>
            </c:strRef>
          </c:cat>
          <c:val>
            <c:numRef>
              <c:f>NPL!$CX$27:$DF$27</c:f>
              <c:numCache>
                <c:formatCode>0.0%</c:formatCode>
                <c:ptCount val="9"/>
                <c:pt idx="0">
                  <c:v>8.5398195976531532E-3</c:v>
                </c:pt>
                <c:pt idx="1">
                  <c:v>7.0377638079667801E-3</c:v>
                </c:pt>
                <c:pt idx="2" formatCode="0.00%">
                  <c:v>7.2334139346053499E-3</c:v>
                </c:pt>
                <c:pt idx="3" formatCode="0.00%">
                  <c:v>7.6639693334646965E-3</c:v>
                </c:pt>
                <c:pt idx="4" formatCode="0.00%">
                  <c:v>7.860236033527649E-3</c:v>
                </c:pt>
                <c:pt idx="5" formatCode="0.00%">
                  <c:v>7.3013432686935258E-3</c:v>
                </c:pt>
                <c:pt idx="6" formatCode="0.00%">
                  <c:v>1.6427856619801156E-2</c:v>
                </c:pt>
                <c:pt idx="7" formatCode="0.00%">
                  <c:v>7.4362420040848011E-3</c:v>
                </c:pt>
                <c:pt idx="8" formatCode="0.00%">
                  <c:v>9.4550271093134346E-3</c:v>
                </c:pt>
              </c:numCache>
            </c:numRef>
          </c:val>
          <c:extLst>
            <c:ext xmlns:c16="http://schemas.microsoft.com/office/drawing/2014/chart" uri="{C3380CC4-5D6E-409C-BE32-E72D297353CC}">
              <c16:uniqueId val="{00000001-01F5-4EAB-A974-28A46133E6BF}"/>
            </c:ext>
          </c:extLst>
        </c:ser>
        <c:ser>
          <c:idx val="2"/>
          <c:order val="2"/>
          <c:tx>
            <c:v>Substandard</c:v>
          </c:tx>
          <c:spPr>
            <a:solidFill>
              <a:schemeClr val="accent3"/>
            </a:solidFill>
            <a:ln>
              <a:noFill/>
            </a:ln>
            <a:effectLst/>
          </c:spPr>
          <c:invertIfNegative val="0"/>
          <c:cat>
            <c:strRef>
              <c:f>NPL!$CX$3:$DF$3</c:f>
              <c:strCache>
                <c:ptCount val="9"/>
                <c:pt idx="0">
                  <c:v>1Q24</c:v>
                </c:pt>
                <c:pt idx="1">
                  <c:v>2Q24</c:v>
                </c:pt>
                <c:pt idx="2">
                  <c:v>3Q24</c:v>
                </c:pt>
                <c:pt idx="3">
                  <c:v>4Q24</c:v>
                </c:pt>
                <c:pt idx="4">
                  <c:v>1Q25</c:v>
                </c:pt>
                <c:pt idx="5">
                  <c:v>2Q25</c:v>
                </c:pt>
                <c:pt idx="6">
                  <c:v>3Q25</c:v>
                </c:pt>
                <c:pt idx="7">
                  <c:v>4Q25</c:v>
                </c:pt>
                <c:pt idx="8">
                  <c:v>1Q26</c:v>
                </c:pt>
              </c:strCache>
            </c:strRef>
          </c:cat>
          <c:val>
            <c:numRef>
              <c:f>NPL!$CX$28:$DF$28</c:f>
              <c:numCache>
                <c:formatCode>0.0%</c:formatCode>
                <c:ptCount val="9"/>
                <c:pt idx="0">
                  <c:v>2.6714082822271719E-3</c:v>
                </c:pt>
                <c:pt idx="1">
                  <c:v>3.3178211327105555E-3</c:v>
                </c:pt>
                <c:pt idx="2" formatCode="0.00%">
                  <c:v>2.9049786606152764E-3</c:v>
                </c:pt>
                <c:pt idx="3" formatCode="0.00%">
                  <c:v>2.7069114075516194E-3</c:v>
                </c:pt>
                <c:pt idx="4" formatCode="0.00%">
                  <c:v>2.5469036357862892E-3</c:v>
                </c:pt>
                <c:pt idx="5" formatCode="0.00%">
                  <c:v>3.0130279485376379E-3</c:v>
                </c:pt>
                <c:pt idx="6" formatCode="0.00%">
                  <c:v>3.8202208747078479E-3</c:v>
                </c:pt>
                <c:pt idx="7" formatCode="0.00%">
                  <c:v>1.1048003946204093E-2</c:v>
                </c:pt>
                <c:pt idx="8" formatCode="0.00%">
                  <c:v>5.0397456896001036E-3</c:v>
                </c:pt>
              </c:numCache>
            </c:numRef>
          </c:val>
          <c:extLst>
            <c:ext xmlns:c16="http://schemas.microsoft.com/office/drawing/2014/chart" uri="{C3380CC4-5D6E-409C-BE32-E72D297353CC}">
              <c16:uniqueId val="{00000002-01F5-4EAB-A974-28A46133E6BF}"/>
            </c:ext>
          </c:extLst>
        </c:ser>
        <c:ser>
          <c:idx val="3"/>
          <c:order val="3"/>
          <c:tx>
            <c:v>Doubtful</c:v>
          </c:tx>
          <c:spPr>
            <a:solidFill>
              <a:schemeClr val="accent4"/>
            </a:solidFill>
            <a:ln>
              <a:noFill/>
            </a:ln>
            <a:effectLst/>
          </c:spPr>
          <c:invertIfNegative val="0"/>
          <c:cat>
            <c:strRef>
              <c:f>NPL!$CX$3:$DF$3</c:f>
              <c:strCache>
                <c:ptCount val="9"/>
                <c:pt idx="0">
                  <c:v>1Q24</c:v>
                </c:pt>
                <c:pt idx="1">
                  <c:v>2Q24</c:v>
                </c:pt>
                <c:pt idx="2">
                  <c:v>3Q24</c:v>
                </c:pt>
                <c:pt idx="3">
                  <c:v>4Q24</c:v>
                </c:pt>
                <c:pt idx="4">
                  <c:v>1Q25</c:v>
                </c:pt>
                <c:pt idx="5">
                  <c:v>2Q25</c:v>
                </c:pt>
                <c:pt idx="6">
                  <c:v>3Q25</c:v>
                </c:pt>
                <c:pt idx="7">
                  <c:v>4Q25</c:v>
                </c:pt>
                <c:pt idx="8">
                  <c:v>1Q26</c:v>
                </c:pt>
              </c:strCache>
            </c:strRef>
          </c:cat>
          <c:val>
            <c:numRef>
              <c:f>NPL!$CX$29:$DF$29</c:f>
              <c:numCache>
                <c:formatCode>0.0%</c:formatCode>
                <c:ptCount val="9"/>
                <c:pt idx="0">
                  <c:v>7.5607511949850664E-3</c:v>
                </c:pt>
                <c:pt idx="1">
                  <c:v>4.6931426187219044E-3</c:v>
                </c:pt>
                <c:pt idx="2" formatCode="0.00%">
                  <c:v>4.6195578862888807E-3</c:v>
                </c:pt>
                <c:pt idx="3" formatCode="0.00%">
                  <c:v>4.8720092454820688E-3</c:v>
                </c:pt>
                <c:pt idx="4" formatCode="0.00%">
                  <c:v>4.8815527501039242E-3</c:v>
                </c:pt>
                <c:pt idx="5" formatCode="0.00%">
                  <c:v>3.8997650978073546E-3</c:v>
                </c:pt>
                <c:pt idx="6" formatCode="0.00%">
                  <c:v>4.6841125528688148E-3</c:v>
                </c:pt>
                <c:pt idx="7" formatCode="0.00%">
                  <c:v>5.2847054629352932E-3</c:v>
                </c:pt>
                <c:pt idx="8" formatCode="0.00%">
                  <c:v>1.2427820532866373E-2</c:v>
                </c:pt>
              </c:numCache>
            </c:numRef>
          </c:val>
          <c:extLst>
            <c:ext xmlns:c16="http://schemas.microsoft.com/office/drawing/2014/chart" uri="{C3380CC4-5D6E-409C-BE32-E72D297353CC}">
              <c16:uniqueId val="{00000003-01F5-4EAB-A974-28A46133E6BF}"/>
            </c:ext>
          </c:extLst>
        </c:ser>
        <c:ser>
          <c:idx val="4"/>
          <c:order val="4"/>
          <c:tx>
            <c:v>Bad</c:v>
          </c:tx>
          <c:spPr>
            <a:solidFill>
              <a:schemeClr val="accent5"/>
            </a:solidFill>
            <a:ln>
              <a:noFill/>
            </a:ln>
            <a:effectLst/>
          </c:spPr>
          <c:invertIfNegative val="0"/>
          <c:cat>
            <c:strRef>
              <c:f>NPL!$CX$3:$DF$3</c:f>
              <c:strCache>
                <c:ptCount val="9"/>
                <c:pt idx="0">
                  <c:v>1Q24</c:v>
                </c:pt>
                <c:pt idx="1">
                  <c:v>2Q24</c:v>
                </c:pt>
                <c:pt idx="2">
                  <c:v>3Q24</c:v>
                </c:pt>
                <c:pt idx="3">
                  <c:v>4Q24</c:v>
                </c:pt>
                <c:pt idx="4">
                  <c:v>1Q25</c:v>
                </c:pt>
                <c:pt idx="5">
                  <c:v>2Q25</c:v>
                </c:pt>
                <c:pt idx="6">
                  <c:v>3Q25</c:v>
                </c:pt>
                <c:pt idx="7">
                  <c:v>4Q25</c:v>
                </c:pt>
                <c:pt idx="8">
                  <c:v>1Q26</c:v>
                </c:pt>
              </c:strCache>
            </c:strRef>
          </c:cat>
          <c:val>
            <c:numRef>
              <c:f>NPL!$CX$30:$DF$30</c:f>
              <c:numCache>
                <c:formatCode>0.0%</c:formatCode>
                <c:ptCount val="9"/>
                <c:pt idx="0">
                  <c:v>1.2554151125209252E-2</c:v>
                </c:pt>
                <c:pt idx="1">
                  <c:v>1.6277070960155893E-2</c:v>
                </c:pt>
                <c:pt idx="2" formatCode="0.00%">
                  <c:v>1.7212563794883031E-2</c:v>
                </c:pt>
                <c:pt idx="3" formatCode="0.00%">
                  <c:v>1.6446367382063627E-2</c:v>
                </c:pt>
                <c:pt idx="4" formatCode="0.00%">
                  <c:v>1.76470086544703E-2</c:v>
                </c:pt>
                <c:pt idx="5" formatCode="0.00%">
                  <c:v>1.7702125121842254E-2</c:v>
                </c:pt>
                <c:pt idx="6" formatCode="0.00%">
                  <c:v>1.8993631074270129E-2</c:v>
                </c:pt>
                <c:pt idx="7" formatCode="0.00%">
                  <c:v>4.7743358724618878E-2</c:v>
                </c:pt>
                <c:pt idx="8" formatCode="0.00%">
                  <c:v>4.8721893353897761E-2</c:v>
                </c:pt>
              </c:numCache>
            </c:numRef>
          </c:val>
          <c:extLst>
            <c:ext xmlns:c16="http://schemas.microsoft.com/office/drawing/2014/chart" uri="{C3380CC4-5D6E-409C-BE32-E72D297353CC}">
              <c16:uniqueId val="{00000004-01F5-4EAB-A974-28A46133E6BF}"/>
            </c:ext>
          </c:extLst>
        </c:ser>
        <c:dLbls>
          <c:showLegendKey val="0"/>
          <c:showVal val="0"/>
          <c:showCatName val="0"/>
          <c:showSerName val="0"/>
          <c:showPercent val="0"/>
          <c:showBubbleSize val="0"/>
        </c:dLbls>
        <c:gapWidth val="150"/>
        <c:overlap val="100"/>
        <c:axId val="1988623407"/>
        <c:axId val="1988628687"/>
      </c:barChart>
      <c:catAx>
        <c:axId val="19886234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SVN-Gilroy" panose="00000500000000000000" pitchFamily="50" charset="0"/>
                <a:ea typeface="+mn-ea"/>
                <a:cs typeface="+mn-cs"/>
              </a:defRPr>
            </a:pPr>
            <a:endParaRPr lang="en-US"/>
          </a:p>
        </c:txPr>
        <c:crossAx val="1988628687"/>
        <c:crosses val="autoZero"/>
        <c:auto val="1"/>
        <c:lblAlgn val="ctr"/>
        <c:lblOffset val="100"/>
        <c:noMultiLvlLbl val="0"/>
      </c:catAx>
      <c:valAx>
        <c:axId val="1988628687"/>
        <c:scaling>
          <c:orientation val="minMax"/>
          <c:max val="1"/>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SVN-Gilroy" panose="00000500000000000000" pitchFamily="50" charset="0"/>
                <a:ea typeface="+mn-ea"/>
                <a:cs typeface="+mn-cs"/>
              </a:defRPr>
            </a:pPr>
            <a:endParaRPr lang="en-US"/>
          </a:p>
        </c:txPr>
        <c:crossAx val="1988623407"/>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SVN-Gilroy" panose="00000500000000000000" pitchFamily="50"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a:latin typeface="SVN-Gilroy" panose="00000500000000000000" pitchFamily="50"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2000" b="0" i="0" u="none" strike="noStrike" kern="1200" spc="0" baseline="0">
                <a:solidFill>
                  <a:schemeClr val="tx1">
                    <a:lumMod val="65000"/>
                    <a:lumOff val="35000"/>
                  </a:schemeClr>
                </a:solidFill>
                <a:latin typeface="Noto Sans" panose="020B0502040504020204" pitchFamily="34" charset="0"/>
                <a:ea typeface="Noto Sans" panose="020B0502040504020204" pitchFamily="34" charset="0"/>
                <a:cs typeface="+mn-cs"/>
              </a:defRPr>
            </a:pPr>
            <a:r>
              <a:rPr lang="en-US" sz="2000" dirty="0"/>
              <a:t>(</a:t>
            </a:r>
            <a:r>
              <a:rPr lang="en-US" sz="2000" dirty="0" err="1"/>
              <a:t>tỷ</a:t>
            </a:r>
            <a:r>
              <a:rPr lang="en-US" sz="2000" dirty="0"/>
              <a:t>)</a:t>
            </a:r>
          </a:p>
        </c:rich>
      </c:tx>
      <c:layout>
        <c:manualLayout>
          <c:xMode val="edge"/>
          <c:yMode val="edge"/>
          <c:x val="4.5311773634288392E-2"/>
          <c:y val="5.2450331681392921E-3"/>
        </c:manualLayout>
      </c:layout>
      <c:overlay val="0"/>
      <c:spPr>
        <a:noFill/>
        <a:ln>
          <a:noFill/>
        </a:ln>
        <a:effectLst/>
      </c:spPr>
      <c:txPr>
        <a:bodyPr rot="0" spcFirstLastPara="1" vertOverflow="ellipsis" vert="horz" wrap="square" anchor="ctr" anchorCtr="1"/>
        <a:lstStyle/>
        <a:p>
          <a:pPr>
            <a:defRPr sz="2000" b="0" i="0" u="none" strike="noStrike" kern="1200" spc="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title>
    <c:autoTitleDeleted val="0"/>
    <c:plotArea>
      <c:layout>
        <c:manualLayout>
          <c:layoutTarget val="inner"/>
          <c:xMode val="edge"/>
          <c:yMode val="edge"/>
          <c:x val="0.15376580526552036"/>
          <c:y val="6.8353846071146682E-2"/>
          <c:w val="0.82829249129654992"/>
          <c:h val="0.76284395973250319"/>
        </c:manualLayout>
      </c:layout>
      <c:areaChart>
        <c:grouping val="stacked"/>
        <c:varyColors val="0"/>
        <c:ser>
          <c:idx val="3"/>
          <c:order val="3"/>
          <c:tx>
            <c:v>CP hoạt động</c:v>
          </c:tx>
          <c:spPr>
            <a:solidFill>
              <a:schemeClr val="accent4"/>
            </a:solidFill>
            <a:ln>
              <a:noFill/>
            </a:ln>
            <a:effectLst/>
          </c:spPr>
          <c:cat>
            <c:strRef>
              <c:f>Model!$BR$118:$BZ$118</c:f>
              <c:strCache>
                <c:ptCount val="9"/>
                <c:pt idx="0">
                  <c:v>1Q24</c:v>
                </c:pt>
                <c:pt idx="1">
                  <c:v>2Q24</c:v>
                </c:pt>
                <c:pt idx="2">
                  <c:v>3Q24</c:v>
                </c:pt>
                <c:pt idx="3">
                  <c:v>4Q24</c:v>
                </c:pt>
                <c:pt idx="4">
                  <c:v>1Q25</c:v>
                </c:pt>
                <c:pt idx="5">
                  <c:v>2Q25</c:v>
                </c:pt>
                <c:pt idx="6">
                  <c:v>3Q25</c:v>
                </c:pt>
                <c:pt idx="7">
                  <c:v>4Q25</c:v>
                </c:pt>
                <c:pt idx="8">
                  <c:v>1Q26</c:v>
                </c:pt>
              </c:strCache>
              <c:extLst/>
            </c:strRef>
          </c:cat>
          <c:val>
            <c:numRef>
              <c:f>Model!$BR$135:$BZ$135</c:f>
              <c:numCache>
                <c:formatCode>#,##0_);[Red]\(#,##0\)</c:formatCode>
                <c:ptCount val="9"/>
                <c:pt idx="0">
                  <c:v>3542.9160000000002</c:v>
                </c:pt>
                <c:pt idx="1">
                  <c:v>4001.0369999999998</c:v>
                </c:pt>
                <c:pt idx="2">
                  <c:v>3287.498</c:v>
                </c:pt>
                <c:pt idx="3">
                  <c:v>3150.9380000000001</c:v>
                </c:pt>
                <c:pt idx="4">
                  <c:v>3927.1469999999999</c:v>
                </c:pt>
                <c:pt idx="5">
                  <c:v>3199.817</c:v>
                </c:pt>
                <c:pt idx="6">
                  <c:v>4095.5819999999999</c:v>
                </c:pt>
                <c:pt idx="7">
                  <c:v>1822.33</c:v>
                </c:pt>
                <c:pt idx="8">
                  <c:v>3408.0450000000001</c:v>
                </c:pt>
              </c:numCache>
              <c:extLst/>
            </c:numRef>
          </c:val>
          <c:extLst>
            <c:ext xmlns:c16="http://schemas.microsoft.com/office/drawing/2014/chart" uri="{C3380CC4-5D6E-409C-BE32-E72D297353CC}">
              <c16:uniqueId val="{00000000-F6CE-429A-91BC-D56886437C0E}"/>
            </c:ext>
          </c:extLst>
        </c:ser>
        <c:ser>
          <c:idx val="4"/>
          <c:order val="4"/>
          <c:tx>
            <c:v>CP dự phòng</c:v>
          </c:tx>
          <c:spPr>
            <a:solidFill>
              <a:schemeClr val="accent5"/>
            </a:solidFill>
            <a:ln>
              <a:noFill/>
            </a:ln>
            <a:effectLst/>
          </c:spPr>
          <c:cat>
            <c:strRef>
              <c:f>Model!$BR$118:$BZ$118</c:f>
              <c:strCache>
                <c:ptCount val="9"/>
                <c:pt idx="0">
                  <c:v>1Q24</c:v>
                </c:pt>
                <c:pt idx="1">
                  <c:v>2Q24</c:v>
                </c:pt>
                <c:pt idx="2">
                  <c:v>3Q24</c:v>
                </c:pt>
                <c:pt idx="3">
                  <c:v>4Q24</c:v>
                </c:pt>
                <c:pt idx="4">
                  <c:v>1Q25</c:v>
                </c:pt>
                <c:pt idx="5">
                  <c:v>2Q25</c:v>
                </c:pt>
                <c:pt idx="6">
                  <c:v>3Q25</c:v>
                </c:pt>
                <c:pt idx="7">
                  <c:v>4Q25</c:v>
                </c:pt>
                <c:pt idx="8">
                  <c:v>1Q26</c:v>
                </c:pt>
              </c:strCache>
              <c:extLst/>
            </c:strRef>
          </c:cat>
          <c:val>
            <c:numRef>
              <c:f>Model!$BR$137:$BZ$137</c:f>
              <c:numCache>
                <c:formatCode>#,##0_);[Red]\(#,##0\)</c:formatCode>
                <c:ptCount val="9"/>
                <c:pt idx="0">
                  <c:v>677.65499999999997</c:v>
                </c:pt>
                <c:pt idx="1">
                  <c:v>465.30700000000002</c:v>
                </c:pt>
                <c:pt idx="2">
                  <c:v>1198.6610000000001</c:v>
                </c:pt>
                <c:pt idx="3">
                  <c:v>367.25900000000001</c:v>
                </c:pt>
                <c:pt idx="4">
                  <c:v>195.26300000000001</c:v>
                </c:pt>
                <c:pt idx="5">
                  <c:v>912.32100000000003</c:v>
                </c:pt>
                <c:pt idx="6">
                  <c:v>1044.039</c:v>
                </c:pt>
                <c:pt idx="7">
                  <c:v>9232.15</c:v>
                </c:pt>
                <c:pt idx="8">
                  <c:v>2023.8630000000001</c:v>
                </c:pt>
              </c:numCache>
              <c:extLst/>
            </c:numRef>
          </c:val>
          <c:extLst>
            <c:ext xmlns:c16="http://schemas.microsoft.com/office/drawing/2014/chart" uri="{C3380CC4-5D6E-409C-BE32-E72D297353CC}">
              <c16:uniqueId val="{00000001-F6CE-429A-91BC-D56886437C0E}"/>
            </c:ext>
          </c:extLst>
        </c:ser>
        <c:dLbls>
          <c:showLegendKey val="0"/>
          <c:showVal val="0"/>
          <c:showCatName val="0"/>
          <c:showSerName val="0"/>
          <c:showPercent val="0"/>
          <c:showBubbleSize val="0"/>
        </c:dLbls>
        <c:axId val="525272368"/>
        <c:axId val="525273328"/>
      </c:areaChart>
      <c:barChart>
        <c:barDir val="col"/>
        <c:grouping val="stacked"/>
        <c:varyColors val="0"/>
        <c:ser>
          <c:idx val="0"/>
          <c:order val="0"/>
          <c:tx>
            <c:v>Thu nhập lãi</c:v>
          </c:tx>
          <c:spPr>
            <a:solidFill>
              <a:schemeClr val="accent1"/>
            </a:solidFill>
            <a:ln>
              <a:noFill/>
            </a:ln>
            <a:effectLst/>
          </c:spPr>
          <c:invertIfNegative val="0"/>
          <c:cat>
            <c:strRef>
              <c:f>Model!$BR$118:$BZ$118</c:f>
              <c:strCache>
                <c:ptCount val="9"/>
                <c:pt idx="0">
                  <c:v>1Q24</c:v>
                </c:pt>
                <c:pt idx="1">
                  <c:v>2Q24</c:v>
                </c:pt>
                <c:pt idx="2">
                  <c:v>3Q24</c:v>
                </c:pt>
                <c:pt idx="3">
                  <c:v>4Q24</c:v>
                </c:pt>
                <c:pt idx="4">
                  <c:v>1Q25</c:v>
                </c:pt>
                <c:pt idx="5">
                  <c:v>2Q25</c:v>
                </c:pt>
                <c:pt idx="6">
                  <c:v>3Q25</c:v>
                </c:pt>
                <c:pt idx="7">
                  <c:v>4Q25</c:v>
                </c:pt>
                <c:pt idx="8">
                  <c:v>1Q26</c:v>
                </c:pt>
              </c:strCache>
              <c:extLst/>
            </c:strRef>
          </c:cat>
          <c:val>
            <c:numRef>
              <c:f>Model!$BR$121:$BZ$121</c:f>
              <c:numCache>
                <c:formatCode>_(* #,##0_);_(* \(#,##0\);_(* "-"??_);_(@_)</c:formatCode>
                <c:ptCount val="9"/>
                <c:pt idx="0">
                  <c:v>5950.84</c:v>
                </c:pt>
                <c:pt idx="1">
                  <c:v>6116.5659999999998</c:v>
                </c:pt>
                <c:pt idx="2">
                  <c:v>6365.1080000000002</c:v>
                </c:pt>
                <c:pt idx="3">
                  <c:v>6099.1840000000002</c:v>
                </c:pt>
                <c:pt idx="4">
                  <c:v>6863.1729999999998</c:v>
                </c:pt>
                <c:pt idx="5">
                  <c:v>6585.0770000000002</c:v>
                </c:pt>
                <c:pt idx="6">
                  <c:v>7874.366</c:v>
                </c:pt>
                <c:pt idx="7">
                  <c:v>5358</c:v>
                </c:pt>
                <c:pt idx="8">
                  <c:v>6042.0420000000004</c:v>
                </c:pt>
              </c:numCache>
              <c:extLst/>
            </c:numRef>
          </c:val>
          <c:extLst>
            <c:ext xmlns:c16="http://schemas.microsoft.com/office/drawing/2014/chart" uri="{C3380CC4-5D6E-409C-BE32-E72D297353CC}">
              <c16:uniqueId val="{00000002-F6CE-429A-91BC-D56886437C0E}"/>
            </c:ext>
          </c:extLst>
        </c:ser>
        <c:ser>
          <c:idx val="1"/>
          <c:order val="1"/>
          <c:tx>
            <c:v>Thu nhập phí</c:v>
          </c:tx>
          <c:spPr>
            <a:solidFill>
              <a:schemeClr val="accent2"/>
            </a:solidFill>
            <a:ln>
              <a:noFill/>
            </a:ln>
            <a:effectLst/>
          </c:spPr>
          <c:invertIfNegative val="0"/>
          <c:cat>
            <c:strRef>
              <c:f>Model!$BR$118:$BZ$118</c:f>
              <c:strCache>
                <c:ptCount val="9"/>
                <c:pt idx="0">
                  <c:v>1Q24</c:v>
                </c:pt>
                <c:pt idx="1">
                  <c:v>2Q24</c:v>
                </c:pt>
                <c:pt idx="2">
                  <c:v>3Q24</c:v>
                </c:pt>
                <c:pt idx="3">
                  <c:v>4Q24</c:v>
                </c:pt>
                <c:pt idx="4">
                  <c:v>1Q25</c:v>
                </c:pt>
                <c:pt idx="5">
                  <c:v>2Q25</c:v>
                </c:pt>
                <c:pt idx="6">
                  <c:v>3Q25</c:v>
                </c:pt>
                <c:pt idx="7">
                  <c:v>4Q25</c:v>
                </c:pt>
                <c:pt idx="8">
                  <c:v>1Q26</c:v>
                </c:pt>
              </c:strCache>
              <c:extLst/>
            </c:strRef>
          </c:cat>
          <c:val>
            <c:numRef>
              <c:f>Model!$BR$124:$BZ$124</c:f>
              <c:numCache>
                <c:formatCode>0</c:formatCode>
                <c:ptCount val="9"/>
                <c:pt idx="0">
                  <c:v>578.28499999999997</c:v>
                </c:pt>
                <c:pt idx="1">
                  <c:v>680.52099999999996</c:v>
                </c:pt>
                <c:pt idx="2">
                  <c:v>755.96799999999996</c:v>
                </c:pt>
                <c:pt idx="3">
                  <c:v>963.65099999999995</c:v>
                </c:pt>
                <c:pt idx="4">
                  <c:v>727.81500000000005</c:v>
                </c:pt>
                <c:pt idx="5">
                  <c:v>919.149</c:v>
                </c:pt>
                <c:pt idx="6">
                  <c:v>673.21799999999996</c:v>
                </c:pt>
                <c:pt idx="7">
                  <c:v>758.35</c:v>
                </c:pt>
                <c:pt idx="8">
                  <c:v>749.61</c:v>
                </c:pt>
              </c:numCache>
              <c:extLst/>
            </c:numRef>
          </c:val>
          <c:extLst>
            <c:ext xmlns:c16="http://schemas.microsoft.com/office/drawing/2014/chart" uri="{C3380CC4-5D6E-409C-BE32-E72D297353CC}">
              <c16:uniqueId val="{00000003-F6CE-429A-91BC-D56886437C0E}"/>
            </c:ext>
          </c:extLst>
        </c:ser>
        <c:ser>
          <c:idx val="2"/>
          <c:order val="2"/>
          <c:tx>
            <c:v>Thu nhập khác</c:v>
          </c:tx>
          <c:spPr>
            <a:solidFill>
              <a:schemeClr val="accent3"/>
            </a:solidFill>
            <a:ln>
              <a:noFill/>
            </a:ln>
            <a:effectLst/>
          </c:spPr>
          <c:invertIfNegative val="0"/>
          <c:cat>
            <c:strRef>
              <c:f>Model!$BR$118:$BZ$118</c:f>
              <c:strCache>
                <c:ptCount val="9"/>
                <c:pt idx="0">
                  <c:v>1Q24</c:v>
                </c:pt>
                <c:pt idx="1">
                  <c:v>2Q24</c:v>
                </c:pt>
                <c:pt idx="2">
                  <c:v>3Q24</c:v>
                </c:pt>
                <c:pt idx="3">
                  <c:v>4Q24</c:v>
                </c:pt>
                <c:pt idx="4">
                  <c:v>1Q25</c:v>
                </c:pt>
                <c:pt idx="5">
                  <c:v>2Q25</c:v>
                </c:pt>
                <c:pt idx="6">
                  <c:v>3Q25</c:v>
                </c:pt>
                <c:pt idx="7">
                  <c:v>4Q25</c:v>
                </c:pt>
                <c:pt idx="8">
                  <c:v>1Q26</c:v>
                </c:pt>
              </c:strCache>
              <c:extLst/>
            </c:strRef>
          </c:cat>
          <c:val>
            <c:numRef>
              <c:f>Model!$BR$131:$BZ$131</c:f>
              <c:numCache>
                <c:formatCode>#,##0_);[Red]\(#,##0\)</c:formatCode>
                <c:ptCount val="9"/>
                <c:pt idx="0">
                  <c:v>345.66899999999998</c:v>
                </c:pt>
                <c:pt idx="1">
                  <c:v>357.29700000000003</c:v>
                </c:pt>
                <c:pt idx="2">
                  <c:v>116.82099999999998</c:v>
                </c:pt>
                <c:pt idx="3">
                  <c:v>347.20799999999997</c:v>
                </c:pt>
                <c:pt idx="4">
                  <c:v>205.452</c:v>
                </c:pt>
                <c:pt idx="5">
                  <c:v>265.154</c:v>
                </c:pt>
                <c:pt idx="6">
                  <c:v>248.935</c:v>
                </c:pt>
                <c:pt idx="7">
                  <c:v>1578</c:v>
                </c:pt>
                <c:pt idx="8">
                  <c:v>746.46100000000001</c:v>
                </c:pt>
              </c:numCache>
              <c:extLst/>
            </c:numRef>
          </c:val>
          <c:extLst>
            <c:ext xmlns:c16="http://schemas.microsoft.com/office/drawing/2014/chart" uri="{C3380CC4-5D6E-409C-BE32-E72D297353CC}">
              <c16:uniqueId val="{00000004-F6CE-429A-91BC-D56886437C0E}"/>
            </c:ext>
          </c:extLst>
        </c:ser>
        <c:dLbls>
          <c:showLegendKey val="0"/>
          <c:showVal val="0"/>
          <c:showCatName val="0"/>
          <c:showSerName val="0"/>
          <c:showPercent val="0"/>
          <c:showBubbleSize val="0"/>
        </c:dLbls>
        <c:gapWidth val="219"/>
        <c:overlap val="100"/>
        <c:axId val="1317633407"/>
        <c:axId val="1317637247"/>
      </c:barChart>
      <c:catAx>
        <c:axId val="1317633407"/>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crossAx val="1317637247"/>
        <c:crosses val="autoZero"/>
        <c:auto val="1"/>
        <c:lblAlgn val="ctr"/>
        <c:lblOffset val="100"/>
        <c:noMultiLvlLbl val="0"/>
      </c:catAx>
      <c:valAx>
        <c:axId val="1317637247"/>
        <c:scaling>
          <c:orientation val="minMax"/>
          <c:min val="0"/>
        </c:scaling>
        <c:delete val="0"/>
        <c:axPos val="l"/>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20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crossAx val="1317633407"/>
        <c:crosses val="autoZero"/>
        <c:crossBetween val="between"/>
        <c:majorUnit val="2000"/>
      </c:valAx>
      <c:valAx>
        <c:axId val="525273328"/>
        <c:scaling>
          <c:orientation val="minMax"/>
          <c:max val="0"/>
          <c:min val="-10500"/>
        </c:scaling>
        <c:delete val="1"/>
        <c:axPos val="r"/>
        <c:numFmt formatCode="#,##0_);[Red]\(#,##0\)" sourceLinked="1"/>
        <c:majorTickMark val="out"/>
        <c:minorTickMark val="none"/>
        <c:tickLblPos val="nextTo"/>
        <c:crossAx val="525272368"/>
        <c:crosses val="max"/>
        <c:crossBetween val="between"/>
      </c:valAx>
      <c:catAx>
        <c:axId val="525272368"/>
        <c:scaling>
          <c:orientation val="minMax"/>
        </c:scaling>
        <c:delete val="1"/>
        <c:axPos val="b"/>
        <c:numFmt formatCode="General" sourceLinked="1"/>
        <c:majorTickMark val="out"/>
        <c:minorTickMark val="none"/>
        <c:tickLblPos val="nextTo"/>
        <c:crossAx val="525273328"/>
        <c:crosses val="autoZero"/>
        <c:auto val="1"/>
        <c:lblAlgn val="ctr"/>
        <c:lblOffset val="100"/>
        <c:noMultiLvlLbl val="0"/>
      </c:catAx>
      <c:spPr>
        <a:noFill/>
        <a:ln>
          <a:noFill/>
        </a:ln>
        <a:effectLst/>
      </c:spPr>
    </c:plotArea>
    <c:legend>
      <c:legendPos val="b"/>
      <c:layout>
        <c:manualLayout>
          <c:xMode val="edge"/>
          <c:yMode val="edge"/>
          <c:x val="4.0548928885006323E-2"/>
          <c:y val="0.91802655457029514"/>
          <c:w val="0.90571145887405224"/>
          <c:h val="6.951277353541728E-2"/>
        </c:manualLayout>
      </c:layout>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Noto Sans" panose="020B0502040504020204" pitchFamily="34" charset="0"/>
              <a:ea typeface="Noto Sans" panose="020B0502040504020204" pitchFamily="34" charset="0"/>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sz="2000">
          <a:latin typeface="Noto Sans" panose="020B0502040504020204" pitchFamily="34" charset="0"/>
          <a:ea typeface="Noto Sans" panose="020B0502040504020204" pitchFamily="34" charset="0"/>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724121104795267"/>
          <c:y val="2.9411469877370994E-2"/>
          <c:w val="0.82497338835550704"/>
          <c:h val="0.67714723277235112"/>
        </c:manualLayout>
      </c:layout>
      <c:barChart>
        <c:barDir val="col"/>
        <c:grouping val="stacked"/>
        <c:varyColors val="0"/>
        <c:ser>
          <c:idx val="0"/>
          <c:order val="0"/>
          <c:tx>
            <c:v>Current</c:v>
          </c:tx>
          <c:spPr>
            <a:solidFill>
              <a:schemeClr val="accent1"/>
            </a:solidFill>
            <a:ln>
              <a:noFill/>
            </a:ln>
            <a:effectLst/>
          </c:spPr>
          <c:invertIfNegative val="0"/>
          <c:cat>
            <c:strRef>
              <c:f>NPL!$CX$3:$DF$3</c:f>
              <c:strCache>
                <c:ptCount val="9"/>
                <c:pt idx="0">
                  <c:v>1Q24</c:v>
                </c:pt>
                <c:pt idx="1">
                  <c:v>2Q24</c:v>
                </c:pt>
                <c:pt idx="2">
                  <c:v>3Q24</c:v>
                </c:pt>
                <c:pt idx="3">
                  <c:v>4Q24</c:v>
                </c:pt>
                <c:pt idx="4">
                  <c:v>1Q25</c:v>
                </c:pt>
                <c:pt idx="5">
                  <c:v>2Q25</c:v>
                </c:pt>
                <c:pt idx="6">
                  <c:v>3Q25</c:v>
                </c:pt>
                <c:pt idx="7">
                  <c:v>4Q25</c:v>
                </c:pt>
                <c:pt idx="8">
                  <c:v>1Q26</c:v>
                </c:pt>
              </c:strCache>
            </c:strRef>
          </c:cat>
          <c:val>
            <c:numRef>
              <c:f>NPL!$CX$26:$DF$26</c:f>
              <c:numCache>
                <c:formatCode>0.0%</c:formatCode>
                <c:ptCount val="9"/>
                <c:pt idx="0">
                  <c:v>0.96867386979992542</c:v>
                </c:pt>
                <c:pt idx="1">
                  <c:v>0.9686742014804447</c:v>
                </c:pt>
                <c:pt idx="2">
                  <c:v>0.96802948572360747</c:v>
                </c:pt>
                <c:pt idx="3">
                  <c:v>0.96831074263143813</c:v>
                </c:pt>
                <c:pt idx="4">
                  <c:v>0.9670642989261119</c:v>
                </c:pt>
                <c:pt idx="5">
                  <c:v>0.96808373856311913</c:v>
                </c:pt>
                <c:pt idx="6">
                  <c:v>0.95607417887835222</c:v>
                </c:pt>
                <c:pt idx="7">
                  <c:v>0.92848768986215691</c:v>
                </c:pt>
                <c:pt idx="8">
                  <c:v>0.92435551331432242</c:v>
                </c:pt>
              </c:numCache>
            </c:numRef>
          </c:val>
          <c:extLst>
            <c:ext xmlns:c16="http://schemas.microsoft.com/office/drawing/2014/chart" uri="{C3380CC4-5D6E-409C-BE32-E72D297353CC}">
              <c16:uniqueId val="{00000000-01F5-4EAB-A974-28A46133E6BF}"/>
            </c:ext>
          </c:extLst>
        </c:ser>
        <c:ser>
          <c:idx val="1"/>
          <c:order val="1"/>
          <c:tx>
            <c:v>Special mentioned</c:v>
          </c:tx>
          <c:spPr>
            <a:solidFill>
              <a:schemeClr val="accent2"/>
            </a:solidFill>
            <a:ln>
              <a:noFill/>
            </a:ln>
            <a:effectLst/>
          </c:spPr>
          <c:invertIfNegative val="0"/>
          <c:cat>
            <c:strRef>
              <c:f>NPL!$CX$3:$DF$3</c:f>
              <c:strCache>
                <c:ptCount val="9"/>
                <c:pt idx="0">
                  <c:v>1Q24</c:v>
                </c:pt>
                <c:pt idx="1">
                  <c:v>2Q24</c:v>
                </c:pt>
                <c:pt idx="2">
                  <c:v>3Q24</c:v>
                </c:pt>
                <c:pt idx="3">
                  <c:v>4Q24</c:v>
                </c:pt>
                <c:pt idx="4">
                  <c:v>1Q25</c:v>
                </c:pt>
                <c:pt idx="5">
                  <c:v>2Q25</c:v>
                </c:pt>
                <c:pt idx="6">
                  <c:v>3Q25</c:v>
                </c:pt>
                <c:pt idx="7">
                  <c:v>4Q25</c:v>
                </c:pt>
                <c:pt idx="8">
                  <c:v>1Q26</c:v>
                </c:pt>
              </c:strCache>
            </c:strRef>
          </c:cat>
          <c:val>
            <c:numRef>
              <c:f>NPL!$CX$27:$DF$27</c:f>
              <c:numCache>
                <c:formatCode>0.0%</c:formatCode>
                <c:ptCount val="9"/>
                <c:pt idx="0">
                  <c:v>8.5398195976531532E-3</c:v>
                </c:pt>
                <c:pt idx="1">
                  <c:v>7.0377638079667801E-3</c:v>
                </c:pt>
                <c:pt idx="2" formatCode="0.00%">
                  <c:v>7.2334139346053499E-3</c:v>
                </c:pt>
                <c:pt idx="3" formatCode="0.00%">
                  <c:v>7.6639693334646965E-3</c:v>
                </c:pt>
                <c:pt idx="4" formatCode="0.00%">
                  <c:v>7.860236033527649E-3</c:v>
                </c:pt>
                <c:pt idx="5" formatCode="0.00%">
                  <c:v>7.3013432686935258E-3</c:v>
                </c:pt>
                <c:pt idx="6" formatCode="0.00%">
                  <c:v>1.6427856619801156E-2</c:v>
                </c:pt>
                <c:pt idx="7" formatCode="0.00%">
                  <c:v>7.4362420040848011E-3</c:v>
                </c:pt>
                <c:pt idx="8" formatCode="0.00%">
                  <c:v>9.4550271093134346E-3</c:v>
                </c:pt>
              </c:numCache>
            </c:numRef>
          </c:val>
          <c:extLst>
            <c:ext xmlns:c16="http://schemas.microsoft.com/office/drawing/2014/chart" uri="{C3380CC4-5D6E-409C-BE32-E72D297353CC}">
              <c16:uniqueId val="{00000001-01F5-4EAB-A974-28A46133E6BF}"/>
            </c:ext>
          </c:extLst>
        </c:ser>
        <c:ser>
          <c:idx val="2"/>
          <c:order val="2"/>
          <c:tx>
            <c:v>Substandard</c:v>
          </c:tx>
          <c:spPr>
            <a:solidFill>
              <a:schemeClr val="accent3"/>
            </a:solidFill>
            <a:ln>
              <a:noFill/>
            </a:ln>
            <a:effectLst/>
          </c:spPr>
          <c:invertIfNegative val="0"/>
          <c:cat>
            <c:strRef>
              <c:f>NPL!$CX$3:$DF$3</c:f>
              <c:strCache>
                <c:ptCount val="9"/>
                <c:pt idx="0">
                  <c:v>1Q24</c:v>
                </c:pt>
                <c:pt idx="1">
                  <c:v>2Q24</c:v>
                </c:pt>
                <c:pt idx="2">
                  <c:v>3Q24</c:v>
                </c:pt>
                <c:pt idx="3">
                  <c:v>4Q24</c:v>
                </c:pt>
                <c:pt idx="4">
                  <c:v>1Q25</c:v>
                </c:pt>
                <c:pt idx="5">
                  <c:v>2Q25</c:v>
                </c:pt>
                <c:pt idx="6">
                  <c:v>3Q25</c:v>
                </c:pt>
                <c:pt idx="7">
                  <c:v>4Q25</c:v>
                </c:pt>
                <c:pt idx="8">
                  <c:v>1Q26</c:v>
                </c:pt>
              </c:strCache>
            </c:strRef>
          </c:cat>
          <c:val>
            <c:numRef>
              <c:f>NPL!$CX$28:$DF$28</c:f>
              <c:numCache>
                <c:formatCode>0.0%</c:formatCode>
                <c:ptCount val="9"/>
                <c:pt idx="0">
                  <c:v>2.6714082822271719E-3</c:v>
                </c:pt>
                <c:pt idx="1">
                  <c:v>3.3178211327105555E-3</c:v>
                </c:pt>
                <c:pt idx="2" formatCode="0.00%">
                  <c:v>2.9049786606152764E-3</c:v>
                </c:pt>
                <c:pt idx="3" formatCode="0.00%">
                  <c:v>2.7069114075516194E-3</c:v>
                </c:pt>
                <c:pt idx="4" formatCode="0.00%">
                  <c:v>2.5469036357862892E-3</c:v>
                </c:pt>
                <c:pt idx="5" formatCode="0.00%">
                  <c:v>3.0130279485376379E-3</c:v>
                </c:pt>
                <c:pt idx="6" formatCode="0.00%">
                  <c:v>3.8202208747078479E-3</c:v>
                </c:pt>
                <c:pt idx="7" formatCode="0.00%">
                  <c:v>1.1048003946204093E-2</c:v>
                </c:pt>
                <c:pt idx="8" formatCode="0.00%">
                  <c:v>5.0397456896001036E-3</c:v>
                </c:pt>
              </c:numCache>
            </c:numRef>
          </c:val>
          <c:extLst>
            <c:ext xmlns:c16="http://schemas.microsoft.com/office/drawing/2014/chart" uri="{C3380CC4-5D6E-409C-BE32-E72D297353CC}">
              <c16:uniqueId val="{00000002-01F5-4EAB-A974-28A46133E6BF}"/>
            </c:ext>
          </c:extLst>
        </c:ser>
        <c:ser>
          <c:idx val="3"/>
          <c:order val="3"/>
          <c:tx>
            <c:v>Doubtful</c:v>
          </c:tx>
          <c:spPr>
            <a:solidFill>
              <a:schemeClr val="accent4"/>
            </a:solidFill>
            <a:ln>
              <a:noFill/>
            </a:ln>
            <a:effectLst/>
          </c:spPr>
          <c:invertIfNegative val="0"/>
          <c:cat>
            <c:strRef>
              <c:f>NPL!$CX$3:$DF$3</c:f>
              <c:strCache>
                <c:ptCount val="9"/>
                <c:pt idx="0">
                  <c:v>1Q24</c:v>
                </c:pt>
                <c:pt idx="1">
                  <c:v>2Q24</c:v>
                </c:pt>
                <c:pt idx="2">
                  <c:v>3Q24</c:v>
                </c:pt>
                <c:pt idx="3">
                  <c:v>4Q24</c:v>
                </c:pt>
                <c:pt idx="4">
                  <c:v>1Q25</c:v>
                </c:pt>
                <c:pt idx="5">
                  <c:v>2Q25</c:v>
                </c:pt>
                <c:pt idx="6">
                  <c:v>3Q25</c:v>
                </c:pt>
                <c:pt idx="7">
                  <c:v>4Q25</c:v>
                </c:pt>
                <c:pt idx="8">
                  <c:v>1Q26</c:v>
                </c:pt>
              </c:strCache>
            </c:strRef>
          </c:cat>
          <c:val>
            <c:numRef>
              <c:f>NPL!$CX$29:$DF$29</c:f>
              <c:numCache>
                <c:formatCode>0.0%</c:formatCode>
                <c:ptCount val="9"/>
                <c:pt idx="0">
                  <c:v>7.5607511949850664E-3</c:v>
                </c:pt>
                <c:pt idx="1">
                  <c:v>4.6931426187219044E-3</c:v>
                </c:pt>
                <c:pt idx="2" formatCode="0.00%">
                  <c:v>4.6195578862888807E-3</c:v>
                </c:pt>
                <c:pt idx="3" formatCode="0.00%">
                  <c:v>4.8720092454820688E-3</c:v>
                </c:pt>
                <c:pt idx="4" formatCode="0.00%">
                  <c:v>4.8815527501039242E-3</c:v>
                </c:pt>
                <c:pt idx="5" formatCode="0.00%">
                  <c:v>3.8997650978073546E-3</c:v>
                </c:pt>
                <c:pt idx="6" formatCode="0.00%">
                  <c:v>4.6841125528688148E-3</c:v>
                </c:pt>
                <c:pt idx="7" formatCode="0.00%">
                  <c:v>5.2847054629352932E-3</c:v>
                </c:pt>
                <c:pt idx="8" formatCode="0.00%">
                  <c:v>1.2427820532866373E-2</c:v>
                </c:pt>
              </c:numCache>
            </c:numRef>
          </c:val>
          <c:extLst>
            <c:ext xmlns:c16="http://schemas.microsoft.com/office/drawing/2014/chart" uri="{C3380CC4-5D6E-409C-BE32-E72D297353CC}">
              <c16:uniqueId val="{00000003-01F5-4EAB-A974-28A46133E6BF}"/>
            </c:ext>
          </c:extLst>
        </c:ser>
        <c:ser>
          <c:idx val="4"/>
          <c:order val="4"/>
          <c:tx>
            <c:v>Bad</c:v>
          </c:tx>
          <c:spPr>
            <a:solidFill>
              <a:schemeClr val="accent5"/>
            </a:solidFill>
            <a:ln>
              <a:noFill/>
            </a:ln>
            <a:effectLst/>
          </c:spPr>
          <c:invertIfNegative val="0"/>
          <c:cat>
            <c:strRef>
              <c:f>NPL!$CX$3:$DF$3</c:f>
              <c:strCache>
                <c:ptCount val="9"/>
                <c:pt idx="0">
                  <c:v>1Q24</c:v>
                </c:pt>
                <c:pt idx="1">
                  <c:v>2Q24</c:v>
                </c:pt>
                <c:pt idx="2">
                  <c:v>3Q24</c:v>
                </c:pt>
                <c:pt idx="3">
                  <c:v>4Q24</c:v>
                </c:pt>
                <c:pt idx="4">
                  <c:v>1Q25</c:v>
                </c:pt>
                <c:pt idx="5">
                  <c:v>2Q25</c:v>
                </c:pt>
                <c:pt idx="6">
                  <c:v>3Q25</c:v>
                </c:pt>
                <c:pt idx="7">
                  <c:v>4Q25</c:v>
                </c:pt>
                <c:pt idx="8">
                  <c:v>1Q26</c:v>
                </c:pt>
              </c:strCache>
            </c:strRef>
          </c:cat>
          <c:val>
            <c:numRef>
              <c:f>NPL!$CX$30:$DF$30</c:f>
              <c:numCache>
                <c:formatCode>0.0%</c:formatCode>
                <c:ptCount val="9"/>
                <c:pt idx="0">
                  <c:v>1.2554151125209252E-2</c:v>
                </c:pt>
                <c:pt idx="1">
                  <c:v>1.6277070960155893E-2</c:v>
                </c:pt>
                <c:pt idx="2" formatCode="0.00%">
                  <c:v>1.7212563794883031E-2</c:v>
                </c:pt>
                <c:pt idx="3" formatCode="0.00%">
                  <c:v>1.6446367382063627E-2</c:v>
                </c:pt>
                <c:pt idx="4" formatCode="0.00%">
                  <c:v>1.76470086544703E-2</c:v>
                </c:pt>
                <c:pt idx="5" formatCode="0.00%">
                  <c:v>1.7702125121842254E-2</c:v>
                </c:pt>
                <c:pt idx="6" formatCode="0.00%">
                  <c:v>1.8993631074270129E-2</c:v>
                </c:pt>
                <c:pt idx="7" formatCode="0.00%">
                  <c:v>4.7743358724618878E-2</c:v>
                </c:pt>
                <c:pt idx="8" formatCode="0.00%">
                  <c:v>4.8721893353897761E-2</c:v>
                </c:pt>
              </c:numCache>
            </c:numRef>
          </c:val>
          <c:extLst>
            <c:ext xmlns:c16="http://schemas.microsoft.com/office/drawing/2014/chart" uri="{C3380CC4-5D6E-409C-BE32-E72D297353CC}">
              <c16:uniqueId val="{00000004-01F5-4EAB-A974-28A46133E6BF}"/>
            </c:ext>
          </c:extLst>
        </c:ser>
        <c:dLbls>
          <c:showLegendKey val="0"/>
          <c:showVal val="0"/>
          <c:showCatName val="0"/>
          <c:showSerName val="0"/>
          <c:showPercent val="0"/>
          <c:showBubbleSize val="0"/>
        </c:dLbls>
        <c:gapWidth val="150"/>
        <c:overlap val="100"/>
        <c:axId val="1988623407"/>
        <c:axId val="1988628687"/>
      </c:barChart>
      <c:catAx>
        <c:axId val="19886234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SVN-Gilroy" panose="00000500000000000000" pitchFamily="50" charset="0"/>
                <a:ea typeface="+mn-ea"/>
                <a:cs typeface="+mn-cs"/>
              </a:defRPr>
            </a:pPr>
            <a:endParaRPr lang="en-US"/>
          </a:p>
        </c:txPr>
        <c:crossAx val="1988628687"/>
        <c:crosses val="autoZero"/>
        <c:auto val="1"/>
        <c:lblAlgn val="ctr"/>
        <c:lblOffset val="100"/>
        <c:noMultiLvlLbl val="0"/>
      </c:catAx>
      <c:valAx>
        <c:axId val="1988628687"/>
        <c:scaling>
          <c:orientation val="minMax"/>
          <c:max val="1"/>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2400" b="0" i="0" u="none" strike="noStrike" kern="1200" baseline="0">
                <a:solidFill>
                  <a:schemeClr val="tx1">
                    <a:lumMod val="65000"/>
                    <a:lumOff val="35000"/>
                  </a:schemeClr>
                </a:solidFill>
                <a:latin typeface="SVN-Gilroy" panose="00000500000000000000" pitchFamily="50" charset="0"/>
                <a:ea typeface="+mn-ea"/>
                <a:cs typeface="+mn-cs"/>
              </a:defRPr>
            </a:pPr>
            <a:endParaRPr lang="en-US"/>
          </a:p>
        </c:txPr>
        <c:crossAx val="1988623407"/>
        <c:crosses val="autoZero"/>
        <c:crossBetween val="between"/>
      </c:valAx>
      <c:spPr>
        <a:noFill/>
        <a:ln>
          <a:noFill/>
        </a:ln>
        <a:effectLst/>
      </c:spPr>
    </c:plotArea>
    <c:legend>
      <c:legendPos val="b"/>
      <c:layout>
        <c:manualLayout>
          <c:xMode val="edge"/>
          <c:yMode val="edge"/>
          <c:x val="0"/>
          <c:y val="0.84843322188313053"/>
          <c:w val="0.98150263790250636"/>
          <c:h val="0.14259013223942341"/>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SVN-Gilroy" panose="00000500000000000000" pitchFamily="50"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a:latin typeface="SVN-Gilroy" panose="00000500000000000000" pitchFamily="50"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270CA04-D3AC-4836-B672-BD10C381E938}"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F043EA2E-4196-402C-9BC9-C3EA5C5CC5B0}">
      <dgm:prSet phldrT="[Text]" custT="1"/>
      <dgm:spPr/>
      <dgm:t>
        <a:bodyPr vert="vert270"/>
        <a:lstStyle/>
        <a:p>
          <a:pPr algn="r"/>
          <a:r>
            <a:rPr lang="en-US" sz="3200" b="1" dirty="0">
              <a:solidFill>
                <a:srgbClr val="F48120"/>
              </a:solidFill>
              <a:latin typeface="SVN-Gilroy" panose="00000500000000000000" pitchFamily="50" charset="0"/>
            </a:rPr>
            <a:t>1H26 (prelim.)</a:t>
          </a:r>
        </a:p>
      </dgm:t>
    </dgm:pt>
    <dgm:pt modelId="{418974FA-C7D1-46D3-8208-6B99BFDD87B0}" type="parTrans" cxnId="{93190291-1269-4815-BEF6-F5CF56EB8F41}">
      <dgm:prSet/>
      <dgm:spPr/>
      <dgm:t>
        <a:bodyPr/>
        <a:lstStyle/>
        <a:p>
          <a:endParaRPr lang="en-US" sz="3200">
            <a:solidFill>
              <a:schemeClr val="bg2">
                <a:lumMod val="25000"/>
              </a:schemeClr>
            </a:solidFill>
            <a:latin typeface="SVN-Gilroy" panose="00000500000000000000" pitchFamily="50" charset="0"/>
          </a:endParaRPr>
        </a:p>
      </dgm:t>
    </dgm:pt>
    <dgm:pt modelId="{C2C239A5-2D51-4505-8080-1CA8D13C5DB3}" type="sibTrans" cxnId="{93190291-1269-4815-BEF6-F5CF56EB8F41}">
      <dgm:prSet/>
      <dgm:spPr/>
      <dgm:t>
        <a:bodyPr/>
        <a:lstStyle/>
        <a:p>
          <a:endParaRPr lang="en-US" sz="3200">
            <a:solidFill>
              <a:schemeClr val="bg2">
                <a:lumMod val="25000"/>
              </a:schemeClr>
            </a:solidFill>
            <a:latin typeface="SVN-Gilroy" panose="00000500000000000000" pitchFamily="50" charset="0"/>
          </a:endParaRPr>
        </a:p>
      </dgm:t>
    </dgm:pt>
    <dgm:pt modelId="{B7118F00-7FEB-4E8C-A6F9-B6514EFDA034}">
      <dgm:prSet phldrT="[Text]" custT="1"/>
      <dgm:spPr/>
      <dgm:t>
        <a:bodyPr/>
        <a:lstStyle/>
        <a:p>
          <a:pPr>
            <a:buNone/>
          </a:pPr>
          <a:r>
            <a:rPr lang="en-US" sz="2900" dirty="0">
              <a:latin typeface="SVN-Gilroy" panose="00000500000000000000" pitchFamily="50" charset="0"/>
            </a:rPr>
            <a:t>2Q26 PBT guided at VND1,900–2,000bn (≈-50% YoY); 1H26 ~VND4.0–4.1tn:</a:t>
          </a:r>
        </a:p>
        <a:p>
          <a:pPr>
            <a:buFont typeface="Arial" panose="020B0604020202020204" pitchFamily="34" charset="0"/>
            <a:buChar char="•"/>
          </a:pPr>
          <a:r>
            <a:rPr lang="en-US" sz="2900" dirty="0">
              <a:latin typeface="SVN-Gilroy" panose="00000500000000000000" pitchFamily="50" charset="0"/>
            </a:rPr>
            <a:t>- NIM squeezed; NPL est. rising to ~5.6%</a:t>
          </a:r>
        </a:p>
        <a:p>
          <a:pPr>
            <a:buFont typeface="Arial" panose="020B0604020202020204" pitchFamily="34" charset="0"/>
            <a:buChar char="•"/>
          </a:pPr>
          <a:r>
            <a:rPr lang="en-US" sz="2900" dirty="0">
              <a:latin typeface="SVN-Gilroy" panose="00000500000000000000" pitchFamily="50" charset="0"/>
            </a:rPr>
            <a:t>- record provisioning &gt;VND4.7tn; official BCTC pending</a:t>
          </a:r>
        </a:p>
      </dgm:t>
    </dgm:pt>
    <dgm:pt modelId="{E7E99523-35F4-4B8A-8522-ED3D34CD219D}" type="parTrans" cxnId="{9C53D35C-BC8C-44A8-B269-22DB2A360D5F}">
      <dgm:prSet/>
      <dgm:spPr/>
      <dgm:t>
        <a:bodyPr/>
        <a:lstStyle/>
        <a:p>
          <a:endParaRPr lang="en-US" sz="3200">
            <a:solidFill>
              <a:schemeClr val="bg2">
                <a:lumMod val="25000"/>
              </a:schemeClr>
            </a:solidFill>
            <a:latin typeface="SVN-Gilroy" panose="00000500000000000000" pitchFamily="50" charset="0"/>
          </a:endParaRPr>
        </a:p>
      </dgm:t>
    </dgm:pt>
    <dgm:pt modelId="{BE2211A5-733F-4AFC-81A6-F3EFEADBA076}" type="sibTrans" cxnId="{9C53D35C-BC8C-44A8-B269-22DB2A360D5F}">
      <dgm:prSet/>
      <dgm:spPr/>
      <dgm:t>
        <a:bodyPr/>
        <a:lstStyle/>
        <a:p>
          <a:endParaRPr lang="en-US" sz="3200">
            <a:solidFill>
              <a:schemeClr val="bg2">
                <a:lumMod val="25000"/>
              </a:schemeClr>
            </a:solidFill>
            <a:latin typeface="SVN-Gilroy" panose="00000500000000000000" pitchFamily="50" charset="0"/>
          </a:endParaRPr>
        </a:p>
      </dgm:t>
    </dgm:pt>
    <dgm:pt modelId="{EC0346FF-A004-4169-BFD8-F5F84A6E5BF8}">
      <dgm:prSet phldrT="[Text]" custT="1"/>
      <dgm:spPr/>
      <dgm:t>
        <a:bodyPr vert="vert270"/>
        <a:lstStyle/>
        <a:p>
          <a:pPr algn="r"/>
          <a:r>
            <a:rPr lang="en-US" sz="3200" b="1" dirty="0">
              <a:solidFill>
                <a:srgbClr val="F48120"/>
              </a:solidFill>
              <a:latin typeface="SVN-Gilroy" panose="00000500000000000000" pitchFamily="50" charset="0"/>
            </a:rPr>
            <a:t>2026 target</a:t>
          </a:r>
        </a:p>
      </dgm:t>
    </dgm:pt>
    <dgm:pt modelId="{0F46AD0D-CC96-4ADE-A664-43D0A08B0DEC}" type="sibTrans" cxnId="{F9D77452-0DFF-4C95-B95D-76D26C3A319C}">
      <dgm:prSet/>
      <dgm:spPr/>
      <dgm:t>
        <a:bodyPr/>
        <a:lstStyle/>
        <a:p>
          <a:endParaRPr lang="en-US" sz="3200">
            <a:solidFill>
              <a:schemeClr val="bg2">
                <a:lumMod val="25000"/>
              </a:schemeClr>
            </a:solidFill>
            <a:latin typeface="SVN-Gilroy" panose="00000500000000000000" pitchFamily="50" charset="0"/>
          </a:endParaRPr>
        </a:p>
      </dgm:t>
    </dgm:pt>
    <dgm:pt modelId="{40254663-3182-4150-8563-CE48A854047E}" type="parTrans" cxnId="{F9D77452-0DFF-4C95-B95D-76D26C3A319C}">
      <dgm:prSet/>
      <dgm:spPr/>
      <dgm:t>
        <a:bodyPr/>
        <a:lstStyle/>
        <a:p>
          <a:endParaRPr lang="en-US" sz="3200">
            <a:solidFill>
              <a:schemeClr val="bg2">
                <a:lumMod val="25000"/>
              </a:schemeClr>
            </a:solidFill>
            <a:latin typeface="SVN-Gilroy" panose="00000500000000000000" pitchFamily="50" charset="0"/>
          </a:endParaRPr>
        </a:p>
      </dgm:t>
    </dgm:pt>
    <dgm:pt modelId="{F81811C9-FA20-4D45-B8AF-EBDE53D82F5E}">
      <dgm:prSet custT="1"/>
      <dgm:spPr/>
      <dgm:t>
        <a:bodyPr/>
        <a:lstStyle/>
        <a:p>
          <a:pPr>
            <a:buNone/>
          </a:pPr>
          <a:r>
            <a:rPr lang="en-US" sz="2900" dirty="0">
              <a:latin typeface="SVN-Gilroy" panose="00000500000000000000" pitchFamily="50" charset="0"/>
            </a:rPr>
            <a:t>The 2026 targets: </a:t>
          </a:r>
        </a:p>
        <a:p>
          <a:pPr>
            <a:buFont typeface="Arial" panose="020B0604020202020204" pitchFamily="34" charset="0"/>
            <a:buNone/>
          </a:pPr>
          <a:r>
            <a:rPr lang="en-US" sz="2900" dirty="0">
              <a:latin typeface="SVN-Gilroy" panose="00000500000000000000" pitchFamily="50" charset="0"/>
            </a:rPr>
            <a:t>- total assets of VND1.01mn bn (+10%)</a:t>
          </a:r>
        </a:p>
        <a:p>
          <a:pPr>
            <a:buFont typeface="Arial" panose="020B0604020202020204" pitchFamily="34" charset="0"/>
            <a:buNone/>
          </a:pPr>
          <a:r>
            <a:rPr lang="en-US" sz="2900" dirty="0">
              <a:latin typeface="SVN-Gilroy" panose="00000500000000000000" pitchFamily="50" charset="0"/>
            </a:rPr>
            <a:t>- credit growth of ~12%, PBT of VND8.1tn (+6%)</a:t>
          </a:r>
        </a:p>
        <a:p>
          <a:pPr>
            <a:buFont typeface="Arial" panose="020B0604020202020204" pitchFamily="34" charset="0"/>
            <a:buNone/>
          </a:pPr>
          <a:r>
            <a:rPr lang="en-US" sz="2900" dirty="0">
              <a:latin typeface="SVN-Gilroy" panose="00000500000000000000" pitchFamily="50" charset="0"/>
            </a:rPr>
            <a:t>- NPLs below 4.5%. </a:t>
          </a:r>
          <a:endParaRPr lang="en-US" sz="2900" b="0" dirty="0"/>
        </a:p>
      </dgm:t>
    </dgm:pt>
    <dgm:pt modelId="{99AF29C3-8602-4616-9666-4986D725BBE6}" type="parTrans" cxnId="{02DDB73E-FA92-470B-8C74-1A278BC728FD}">
      <dgm:prSet/>
      <dgm:spPr/>
      <dgm:t>
        <a:bodyPr/>
        <a:lstStyle/>
        <a:p>
          <a:endParaRPr lang="en-US"/>
        </a:p>
      </dgm:t>
    </dgm:pt>
    <dgm:pt modelId="{13422DB2-DB45-4A4F-B04E-B4CBBA477BAF}" type="sibTrans" cxnId="{02DDB73E-FA92-470B-8C74-1A278BC728FD}">
      <dgm:prSet/>
      <dgm:spPr/>
      <dgm:t>
        <a:bodyPr/>
        <a:lstStyle/>
        <a:p>
          <a:endParaRPr lang="en-US"/>
        </a:p>
      </dgm:t>
    </dgm:pt>
    <dgm:pt modelId="{9394690C-4DA7-4E12-A375-C402BFB51A8A}">
      <dgm:prSet phldrT="[Text]" custT="1"/>
      <dgm:spPr/>
      <dgm:t>
        <a:bodyPr vert="vert270"/>
        <a:lstStyle/>
        <a:p>
          <a:pPr algn="r"/>
          <a:r>
            <a:rPr lang="en-US" sz="3200" b="1" dirty="0">
              <a:solidFill>
                <a:srgbClr val="F48120"/>
              </a:solidFill>
              <a:latin typeface="SVN-Gilroy" panose="00000500000000000000" pitchFamily="50" charset="0"/>
            </a:rPr>
            <a:t> Our Forecast</a:t>
          </a:r>
        </a:p>
      </dgm:t>
    </dgm:pt>
    <dgm:pt modelId="{915B3AF5-FE0B-4065-999C-B6A69CCF7CFD}" type="sibTrans" cxnId="{0800F74F-7F7C-44C6-9EB0-165422B289D4}">
      <dgm:prSet/>
      <dgm:spPr/>
      <dgm:t>
        <a:bodyPr/>
        <a:lstStyle/>
        <a:p>
          <a:endParaRPr lang="en-US" sz="3200">
            <a:solidFill>
              <a:schemeClr val="bg2">
                <a:lumMod val="25000"/>
              </a:schemeClr>
            </a:solidFill>
            <a:latin typeface="SVN-Gilroy" panose="00000500000000000000" pitchFamily="50" charset="0"/>
          </a:endParaRPr>
        </a:p>
      </dgm:t>
    </dgm:pt>
    <dgm:pt modelId="{B8AD241D-B6D8-4F56-A8AB-5DDE1EAF3EC0}" type="parTrans" cxnId="{0800F74F-7F7C-44C6-9EB0-165422B289D4}">
      <dgm:prSet/>
      <dgm:spPr/>
      <dgm:t>
        <a:bodyPr/>
        <a:lstStyle/>
        <a:p>
          <a:endParaRPr lang="en-US" sz="3200">
            <a:solidFill>
              <a:schemeClr val="bg2">
                <a:lumMod val="25000"/>
              </a:schemeClr>
            </a:solidFill>
            <a:latin typeface="SVN-Gilroy" panose="00000500000000000000" pitchFamily="50" charset="0"/>
          </a:endParaRPr>
        </a:p>
      </dgm:t>
    </dgm:pt>
    <dgm:pt modelId="{7B83FE9A-4336-4300-A36D-1E2EF76EDF36}">
      <dgm:prSet phldrT="[Text]" custT="1"/>
      <dgm:spPr/>
      <dgm:t>
        <a:bodyPr/>
        <a:lstStyle/>
        <a:p>
          <a:pPr algn="l"/>
          <a:r>
            <a:rPr lang="en-US" sz="2900" b="0" dirty="0">
              <a:latin typeface="SVN-Gilroy" panose="00000500000000000000"/>
            </a:rPr>
            <a:t>FY26E NII +1.2% to VND27.0tn on </a:t>
          </a:r>
        </a:p>
        <a:p>
          <a:pPr algn="l"/>
          <a:r>
            <a:rPr lang="en-US" sz="2900" b="0" dirty="0">
              <a:latin typeface="SVN-Gilroy" panose="00000500000000000000"/>
            </a:rPr>
            <a:t>- 10.1% loan growth</a:t>
          </a:r>
        </a:p>
        <a:p>
          <a:pPr algn="l"/>
          <a:r>
            <a:rPr lang="en-US" sz="2900" b="0" dirty="0">
              <a:solidFill>
                <a:schemeClr val="tx1"/>
              </a:solidFill>
              <a:latin typeface="SVN-Gilroy" panose="00000500000000000000"/>
            </a:rPr>
            <a:t>- Provisioning of 10.5tn (-8.9% YoY)</a:t>
          </a:r>
        </a:p>
        <a:p>
          <a:pPr algn="l"/>
          <a:r>
            <a:rPr lang="en-US" sz="2900" b="0" dirty="0">
              <a:solidFill>
                <a:schemeClr val="tx1"/>
              </a:solidFill>
              <a:latin typeface="SVN-Gilroy" panose="00000500000000000000"/>
            </a:rPr>
            <a:t>- CIR at 42.9% (</a:t>
          </a:r>
          <a:r>
            <a:rPr lang="vi-VN" sz="2900" b="0" dirty="0">
              <a:solidFill>
                <a:schemeClr val="tx1"/>
              </a:solidFill>
              <a:latin typeface="SVN-Gilroy" panose="00000500000000000000"/>
            </a:rPr>
            <a:t>+</a:t>
          </a:r>
          <a:r>
            <a:rPr lang="en-US" sz="2900" b="0" dirty="0">
              <a:solidFill>
                <a:schemeClr val="tx1"/>
              </a:solidFill>
              <a:latin typeface="SVN-Gilroy" panose="00000500000000000000"/>
            </a:rPr>
            <a:t>2</a:t>
          </a:r>
          <a:r>
            <a:rPr lang="vi-VN" sz="2900" b="0" dirty="0">
              <a:solidFill>
                <a:schemeClr val="tx1"/>
              </a:solidFill>
              <a:latin typeface="SVN-Gilroy" panose="00000500000000000000"/>
            </a:rPr>
            <a:t>.</a:t>
          </a:r>
          <a:r>
            <a:rPr lang="en-US" sz="2900" b="0" dirty="0">
              <a:solidFill>
                <a:schemeClr val="tx1"/>
              </a:solidFill>
              <a:latin typeface="SVN-Gilroy" panose="00000500000000000000"/>
            </a:rPr>
            <a:t>2</a:t>
          </a:r>
          <a:r>
            <a:rPr lang="vi-VN" sz="2900" b="0" dirty="0">
              <a:solidFill>
                <a:schemeClr val="tx1"/>
              </a:solidFill>
              <a:latin typeface="SVN-Gilroy" panose="00000500000000000000"/>
            </a:rPr>
            <a:t>%p YoY)</a:t>
          </a:r>
          <a:endParaRPr lang="en-US" sz="2900" b="0" dirty="0">
            <a:solidFill>
              <a:schemeClr val="tx1"/>
            </a:solidFill>
            <a:latin typeface="SVN-Gilroy" panose="00000500000000000000"/>
          </a:endParaRPr>
        </a:p>
      </dgm:t>
    </dgm:pt>
    <dgm:pt modelId="{2CEA675D-DFB2-48DD-B6E7-9ABD72084365}" type="sibTrans" cxnId="{5E31326A-77FF-4662-981A-85912943EDA8}">
      <dgm:prSet/>
      <dgm:spPr/>
      <dgm:t>
        <a:bodyPr/>
        <a:lstStyle/>
        <a:p>
          <a:endParaRPr lang="en-US" sz="3200">
            <a:solidFill>
              <a:schemeClr val="bg2">
                <a:lumMod val="25000"/>
              </a:schemeClr>
            </a:solidFill>
            <a:latin typeface="SVN-Gilroy" panose="00000500000000000000" pitchFamily="50" charset="0"/>
          </a:endParaRPr>
        </a:p>
      </dgm:t>
    </dgm:pt>
    <dgm:pt modelId="{D4C5D6EC-16EC-4982-BA91-C9C9CD058C20}" type="parTrans" cxnId="{5E31326A-77FF-4662-981A-85912943EDA8}">
      <dgm:prSet/>
      <dgm:spPr/>
      <dgm:t>
        <a:bodyPr/>
        <a:lstStyle/>
        <a:p>
          <a:endParaRPr lang="en-US" sz="3200">
            <a:solidFill>
              <a:schemeClr val="bg2">
                <a:lumMod val="25000"/>
              </a:schemeClr>
            </a:solidFill>
            <a:latin typeface="SVN-Gilroy" panose="00000500000000000000" pitchFamily="50" charset="0"/>
          </a:endParaRPr>
        </a:p>
      </dgm:t>
    </dgm:pt>
    <dgm:pt modelId="{6511B27F-EEA1-4D85-ADA3-BB8A1C4A521F}" type="pres">
      <dgm:prSet presAssocID="{A270CA04-D3AC-4836-B672-BD10C381E938}" presName="vert0" presStyleCnt="0">
        <dgm:presLayoutVars>
          <dgm:dir/>
          <dgm:animOne val="branch"/>
          <dgm:animLvl val="lvl"/>
        </dgm:presLayoutVars>
      </dgm:prSet>
      <dgm:spPr/>
    </dgm:pt>
    <dgm:pt modelId="{E077197D-4B0C-4DCD-95A6-A131DE9108F9}" type="pres">
      <dgm:prSet presAssocID="{F043EA2E-4196-402C-9BC9-C3EA5C5CC5B0}" presName="thickLine" presStyleLbl="alignNode1" presStyleIdx="0" presStyleCnt="3"/>
      <dgm:spPr/>
    </dgm:pt>
    <dgm:pt modelId="{0445D92D-7E05-4267-8384-8CE229F72B43}" type="pres">
      <dgm:prSet presAssocID="{F043EA2E-4196-402C-9BC9-C3EA5C5CC5B0}" presName="horz1" presStyleCnt="0"/>
      <dgm:spPr/>
    </dgm:pt>
    <dgm:pt modelId="{E17A2724-0B5A-462E-B77B-58652340526B}" type="pres">
      <dgm:prSet presAssocID="{F043EA2E-4196-402C-9BC9-C3EA5C5CC5B0}" presName="tx1" presStyleLbl="revTx" presStyleIdx="0" presStyleCnt="6"/>
      <dgm:spPr/>
    </dgm:pt>
    <dgm:pt modelId="{984964C0-C857-4360-9C5A-82DD00195D7A}" type="pres">
      <dgm:prSet presAssocID="{F043EA2E-4196-402C-9BC9-C3EA5C5CC5B0}" presName="vert1" presStyleCnt="0"/>
      <dgm:spPr/>
    </dgm:pt>
    <dgm:pt modelId="{9FDEC3F5-3A19-4B1A-9069-7BCFA3642B50}" type="pres">
      <dgm:prSet presAssocID="{B7118F00-7FEB-4E8C-A6F9-B6514EFDA034}" presName="vertSpace2a" presStyleCnt="0"/>
      <dgm:spPr/>
    </dgm:pt>
    <dgm:pt modelId="{6E4C71E2-A522-46B2-8AED-0F9C40D9BCBC}" type="pres">
      <dgm:prSet presAssocID="{B7118F00-7FEB-4E8C-A6F9-B6514EFDA034}" presName="horz2" presStyleCnt="0"/>
      <dgm:spPr/>
    </dgm:pt>
    <dgm:pt modelId="{DB0CC87B-120A-4351-B2FC-71DB6ACEEAED}" type="pres">
      <dgm:prSet presAssocID="{B7118F00-7FEB-4E8C-A6F9-B6514EFDA034}" presName="horzSpace2" presStyleCnt="0"/>
      <dgm:spPr/>
    </dgm:pt>
    <dgm:pt modelId="{51A4165D-A36D-4DEC-9AE1-1258F91F63AF}" type="pres">
      <dgm:prSet presAssocID="{B7118F00-7FEB-4E8C-A6F9-B6514EFDA034}" presName="tx2" presStyleLbl="revTx" presStyleIdx="1" presStyleCnt="6"/>
      <dgm:spPr/>
    </dgm:pt>
    <dgm:pt modelId="{CB80B963-C887-438D-8979-8B355F0D9FF7}" type="pres">
      <dgm:prSet presAssocID="{B7118F00-7FEB-4E8C-A6F9-B6514EFDA034}" presName="vert2" presStyleCnt="0"/>
      <dgm:spPr/>
    </dgm:pt>
    <dgm:pt modelId="{7E155229-CA86-45BB-A8D5-F7883D161019}" type="pres">
      <dgm:prSet presAssocID="{B7118F00-7FEB-4E8C-A6F9-B6514EFDA034}" presName="thinLine2b" presStyleLbl="callout" presStyleIdx="0" presStyleCnt="3"/>
      <dgm:spPr/>
    </dgm:pt>
    <dgm:pt modelId="{389E8BA4-90B0-422C-BBCA-77C473774F59}" type="pres">
      <dgm:prSet presAssocID="{B7118F00-7FEB-4E8C-A6F9-B6514EFDA034}" presName="vertSpace2b" presStyleCnt="0"/>
      <dgm:spPr/>
    </dgm:pt>
    <dgm:pt modelId="{0D165F9C-C58D-47FA-82E9-EB9399B91F93}" type="pres">
      <dgm:prSet presAssocID="{EC0346FF-A004-4169-BFD8-F5F84A6E5BF8}" presName="thickLine" presStyleLbl="alignNode1" presStyleIdx="1" presStyleCnt="3"/>
      <dgm:spPr/>
    </dgm:pt>
    <dgm:pt modelId="{D7BC3CAF-3A0A-42D0-ABB6-BA45E18E859B}" type="pres">
      <dgm:prSet presAssocID="{EC0346FF-A004-4169-BFD8-F5F84A6E5BF8}" presName="horz1" presStyleCnt="0"/>
      <dgm:spPr/>
    </dgm:pt>
    <dgm:pt modelId="{80312583-44D2-4B9B-92DB-40EC84CD5BAB}" type="pres">
      <dgm:prSet presAssocID="{EC0346FF-A004-4169-BFD8-F5F84A6E5BF8}" presName="tx1" presStyleLbl="revTx" presStyleIdx="2" presStyleCnt="6"/>
      <dgm:spPr/>
    </dgm:pt>
    <dgm:pt modelId="{430BEB21-C986-4D1F-9243-FF631773F051}" type="pres">
      <dgm:prSet presAssocID="{EC0346FF-A004-4169-BFD8-F5F84A6E5BF8}" presName="vert1" presStyleCnt="0"/>
      <dgm:spPr/>
    </dgm:pt>
    <dgm:pt modelId="{B3F47804-E5B9-4CA3-B552-FC18EF89C360}" type="pres">
      <dgm:prSet presAssocID="{F81811C9-FA20-4D45-B8AF-EBDE53D82F5E}" presName="vertSpace2a" presStyleCnt="0"/>
      <dgm:spPr/>
    </dgm:pt>
    <dgm:pt modelId="{49FDA3A9-1888-4988-B8D1-8B7E371CA2D7}" type="pres">
      <dgm:prSet presAssocID="{F81811C9-FA20-4D45-B8AF-EBDE53D82F5E}" presName="horz2" presStyleCnt="0"/>
      <dgm:spPr/>
    </dgm:pt>
    <dgm:pt modelId="{33C9A926-70CD-48F2-87CC-130C9AD40C50}" type="pres">
      <dgm:prSet presAssocID="{F81811C9-FA20-4D45-B8AF-EBDE53D82F5E}" presName="horzSpace2" presStyleCnt="0"/>
      <dgm:spPr/>
    </dgm:pt>
    <dgm:pt modelId="{9E1D8196-0D28-4775-86F5-83D56A2A7A47}" type="pres">
      <dgm:prSet presAssocID="{F81811C9-FA20-4D45-B8AF-EBDE53D82F5E}" presName="tx2" presStyleLbl="revTx" presStyleIdx="3" presStyleCnt="6"/>
      <dgm:spPr/>
    </dgm:pt>
    <dgm:pt modelId="{69FF3A77-52CB-4E16-811A-C370524175C4}" type="pres">
      <dgm:prSet presAssocID="{F81811C9-FA20-4D45-B8AF-EBDE53D82F5E}" presName="vert2" presStyleCnt="0"/>
      <dgm:spPr/>
    </dgm:pt>
    <dgm:pt modelId="{FE381216-8BFF-4319-BE04-5AEAD29E7AC5}" type="pres">
      <dgm:prSet presAssocID="{F81811C9-FA20-4D45-B8AF-EBDE53D82F5E}" presName="thinLine2b" presStyleLbl="callout" presStyleIdx="1" presStyleCnt="3"/>
      <dgm:spPr/>
    </dgm:pt>
    <dgm:pt modelId="{26E966DC-94AF-44A2-A9AC-EE44225F30EB}" type="pres">
      <dgm:prSet presAssocID="{F81811C9-FA20-4D45-B8AF-EBDE53D82F5E}" presName="vertSpace2b" presStyleCnt="0"/>
      <dgm:spPr/>
    </dgm:pt>
    <dgm:pt modelId="{3E26720F-3CA2-4523-A55E-954B7C927416}" type="pres">
      <dgm:prSet presAssocID="{9394690C-4DA7-4E12-A375-C402BFB51A8A}" presName="thickLine" presStyleLbl="alignNode1" presStyleIdx="2" presStyleCnt="3"/>
      <dgm:spPr/>
    </dgm:pt>
    <dgm:pt modelId="{083B224C-33EF-4D34-8730-AC8033C0D9C4}" type="pres">
      <dgm:prSet presAssocID="{9394690C-4DA7-4E12-A375-C402BFB51A8A}" presName="horz1" presStyleCnt="0"/>
      <dgm:spPr/>
    </dgm:pt>
    <dgm:pt modelId="{2BFFF2C3-AEAF-4446-8495-D72F8576438F}" type="pres">
      <dgm:prSet presAssocID="{9394690C-4DA7-4E12-A375-C402BFB51A8A}" presName="tx1" presStyleLbl="revTx" presStyleIdx="4" presStyleCnt="6"/>
      <dgm:spPr/>
    </dgm:pt>
    <dgm:pt modelId="{69167CC8-01A7-4B0F-AAF0-CCB5D4F00296}" type="pres">
      <dgm:prSet presAssocID="{9394690C-4DA7-4E12-A375-C402BFB51A8A}" presName="vert1" presStyleCnt="0"/>
      <dgm:spPr/>
    </dgm:pt>
    <dgm:pt modelId="{E882B6A8-042D-4F53-A439-D971639C247E}" type="pres">
      <dgm:prSet presAssocID="{7B83FE9A-4336-4300-A36D-1E2EF76EDF36}" presName="vertSpace2a" presStyleCnt="0"/>
      <dgm:spPr/>
    </dgm:pt>
    <dgm:pt modelId="{EB407710-B73F-4B3B-8B81-1F0285AD3FDC}" type="pres">
      <dgm:prSet presAssocID="{7B83FE9A-4336-4300-A36D-1E2EF76EDF36}" presName="horz2" presStyleCnt="0"/>
      <dgm:spPr/>
    </dgm:pt>
    <dgm:pt modelId="{619C9760-3B32-4B80-8FA2-64DC768517C2}" type="pres">
      <dgm:prSet presAssocID="{7B83FE9A-4336-4300-A36D-1E2EF76EDF36}" presName="horzSpace2" presStyleCnt="0"/>
      <dgm:spPr/>
    </dgm:pt>
    <dgm:pt modelId="{3421DB87-7763-4E9E-80AB-3A4244DA1062}" type="pres">
      <dgm:prSet presAssocID="{7B83FE9A-4336-4300-A36D-1E2EF76EDF36}" presName="tx2" presStyleLbl="revTx" presStyleIdx="5" presStyleCnt="6"/>
      <dgm:spPr/>
    </dgm:pt>
    <dgm:pt modelId="{7E4E7C3A-4E97-440E-860E-650021CFBD33}" type="pres">
      <dgm:prSet presAssocID="{7B83FE9A-4336-4300-A36D-1E2EF76EDF36}" presName="vert2" presStyleCnt="0"/>
      <dgm:spPr/>
    </dgm:pt>
    <dgm:pt modelId="{8A374915-E3F2-4D55-80CD-735D6CFC31F4}" type="pres">
      <dgm:prSet presAssocID="{7B83FE9A-4336-4300-A36D-1E2EF76EDF36}" presName="thinLine2b" presStyleLbl="callout" presStyleIdx="2" presStyleCnt="3"/>
      <dgm:spPr/>
    </dgm:pt>
    <dgm:pt modelId="{ECB70442-5E5B-4625-99D5-7C35EDA0EE43}" type="pres">
      <dgm:prSet presAssocID="{7B83FE9A-4336-4300-A36D-1E2EF76EDF36}" presName="vertSpace2b" presStyleCnt="0"/>
      <dgm:spPr/>
    </dgm:pt>
  </dgm:ptLst>
  <dgm:cxnLst>
    <dgm:cxn modelId="{CB581B08-44B9-43C9-9E33-EFE21A6BC254}" type="presOf" srcId="{A270CA04-D3AC-4836-B672-BD10C381E938}" destId="{6511B27F-EEA1-4D85-ADA3-BB8A1C4A521F}" srcOrd="0" destOrd="0" presId="urn:microsoft.com/office/officeart/2008/layout/LinedList"/>
    <dgm:cxn modelId="{02DDB73E-FA92-470B-8C74-1A278BC728FD}" srcId="{EC0346FF-A004-4169-BFD8-F5F84A6E5BF8}" destId="{F81811C9-FA20-4D45-B8AF-EBDE53D82F5E}" srcOrd="0" destOrd="0" parTransId="{99AF29C3-8602-4616-9666-4986D725BBE6}" sibTransId="{13422DB2-DB45-4A4F-B04E-B4CBBA477BAF}"/>
    <dgm:cxn modelId="{9C53D35C-BC8C-44A8-B269-22DB2A360D5F}" srcId="{F043EA2E-4196-402C-9BC9-C3EA5C5CC5B0}" destId="{B7118F00-7FEB-4E8C-A6F9-B6514EFDA034}" srcOrd="0" destOrd="0" parTransId="{E7E99523-35F4-4B8A-8522-ED3D34CD219D}" sibTransId="{BE2211A5-733F-4AFC-81A6-F3EFEADBA076}"/>
    <dgm:cxn modelId="{5E31326A-77FF-4662-981A-85912943EDA8}" srcId="{9394690C-4DA7-4E12-A375-C402BFB51A8A}" destId="{7B83FE9A-4336-4300-A36D-1E2EF76EDF36}" srcOrd="0" destOrd="0" parTransId="{D4C5D6EC-16EC-4982-BA91-C9C9CD058C20}" sibTransId="{2CEA675D-DFB2-48DD-B6E7-9ABD72084365}"/>
    <dgm:cxn modelId="{0800F74F-7F7C-44C6-9EB0-165422B289D4}" srcId="{A270CA04-D3AC-4836-B672-BD10C381E938}" destId="{9394690C-4DA7-4E12-A375-C402BFB51A8A}" srcOrd="2" destOrd="0" parTransId="{B8AD241D-B6D8-4F56-A8AB-5DDE1EAF3EC0}" sibTransId="{915B3AF5-FE0B-4065-999C-B6A69CCF7CFD}"/>
    <dgm:cxn modelId="{F9D77452-0DFF-4C95-B95D-76D26C3A319C}" srcId="{A270CA04-D3AC-4836-B672-BD10C381E938}" destId="{EC0346FF-A004-4169-BFD8-F5F84A6E5BF8}" srcOrd="1" destOrd="0" parTransId="{40254663-3182-4150-8563-CE48A854047E}" sibTransId="{0F46AD0D-CC96-4ADE-A664-43D0A08B0DEC}"/>
    <dgm:cxn modelId="{93190291-1269-4815-BEF6-F5CF56EB8F41}" srcId="{A270CA04-D3AC-4836-B672-BD10C381E938}" destId="{F043EA2E-4196-402C-9BC9-C3EA5C5CC5B0}" srcOrd="0" destOrd="0" parTransId="{418974FA-C7D1-46D3-8208-6B99BFDD87B0}" sibTransId="{C2C239A5-2D51-4505-8080-1CA8D13C5DB3}"/>
    <dgm:cxn modelId="{9B41BD92-2161-48D2-9BCC-502E1AC4663D}" type="presOf" srcId="{B7118F00-7FEB-4E8C-A6F9-B6514EFDA034}" destId="{51A4165D-A36D-4DEC-9AE1-1258F91F63AF}" srcOrd="0" destOrd="0" presId="urn:microsoft.com/office/officeart/2008/layout/LinedList"/>
    <dgm:cxn modelId="{3FB3559B-9C51-4D6C-B644-243DE5BCD990}" type="presOf" srcId="{F81811C9-FA20-4D45-B8AF-EBDE53D82F5E}" destId="{9E1D8196-0D28-4775-86F5-83D56A2A7A47}" srcOrd="0" destOrd="0" presId="urn:microsoft.com/office/officeart/2008/layout/LinedList"/>
    <dgm:cxn modelId="{36B9BCC8-271C-4F59-9EB8-4C7DB1E37E9D}" type="presOf" srcId="{7B83FE9A-4336-4300-A36D-1E2EF76EDF36}" destId="{3421DB87-7763-4E9E-80AB-3A4244DA1062}" srcOrd="0" destOrd="0" presId="urn:microsoft.com/office/officeart/2008/layout/LinedList"/>
    <dgm:cxn modelId="{0F9A33E3-872E-435A-BE93-F28C636D87E7}" type="presOf" srcId="{F043EA2E-4196-402C-9BC9-C3EA5C5CC5B0}" destId="{E17A2724-0B5A-462E-B77B-58652340526B}" srcOrd="0" destOrd="0" presId="urn:microsoft.com/office/officeart/2008/layout/LinedList"/>
    <dgm:cxn modelId="{6A757AF5-41F1-4237-8F18-30C0168A6A3B}" type="presOf" srcId="{9394690C-4DA7-4E12-A375-C402BFB51A8A}" destId="{2BFFF2C3-AEAF-4446-8495-D72F8576438F}" srcOrd="0" destOrd="0" presId="urn:microsoft.com/office/officeart/2008/layout/LinedList"/>
    <dgm:cxn modelId="{AFE46EF8-C1B1-488F-A4EA-1DD6C4B31446}" type="presOf" srcId="{EC0346FF-A004-4169-BFD8-F5F84A6E5BF8}" destId="{80312583-44D2-4B9B-92DB-40EC84CD5BAB}" srcOrd="0" destOrd="0" presId="urn:microsoft.com/office/officeart/2008/layout/LinedList"/>
    <dgm:cxn modelId="{FAEC4F8A-D765-4F70-AEB9-ADB7773C3032}" type="presParOf" srcId="{6511B27F-EEA1-4D85-ADA3-BB8A1C4A521F}" destId="{E077197D-4B0C-4DCD-95A6-A131DE9108F9}" srcOrd="0" destOrd="0" presId="urn:microsoft.com/office/officeart/2008/layout/LinedList"/>
    <dgm:cxn modelId="{3E7441A1-4BB2-4D6C-B128-94DB3150F5EE}" type="presParOf" srcId="{6511B27F-EEA1-4D85-ADA3-BB8A1C4A521F}" destId="{0445D92D-7E05-4267-8384-8CE229F72B43}" srcOrd="1" destOrd="0" presId="urn:microsoft.com/office/officeart/2008/layout/LinedList"/>
    <dgm:cxn modelId="{5DF8CDF7-9543-45DA-A076-3EE3B7B0CB98}" type="presParOf" srcId="{0445D92D-7E05-4267-8384-8CE229F72B43}" destId="{E17A2724-0B5A-462E-B77B-58652340526B}" srcOrd="0" destOrd="0" presId="urn:microsoft.com/office/officeart/2008/layout/LinedList"/>
    <dgm:cxn modelId="{F33C25A9-CECC-4E0D-92EC-4770FB2EAED5}" type="presParOf" srcId="{0445D92D-7E05-4267-8384-8CE229F72B43}" destId="{984964C0-C857-4360-9C5A-82DD00195D7A}" srcOrd="1" destOrd="0" presId="urn:microsoft.com/office/officeart/2008/layout/LinedList"/>
    <dgm:cxn modelId="{775A5E6C-34C3-48D2-BB80-9DFB867C0181}" type="presParOf" srcId="{984964C0-C857-4360-9C5A-82DD00195D7A}" destId="{9FDEC3F5-3A19-4B1A-9069-7BCFA3642B50}" srcOrd="0" destOrd="0" presId="urn:microsoft.com/office/officeart/2008/layout/LinedList"/>
    <dgm:cxn modelId="{31AE8D67-1866-4106-965C-647C924EAB2F}" type="presParOf" srcId="{984964C0-C857-4360-9C5A-82DD00195D7A}" destId="{6E4C71E2-A522-46B2-8AED-0F9C40D9BCBC}" srcOrd="1" destOrd="0" presId="urn:microsoft.com/office/officeart/2008/layout/LinedList"/>
    <dgm:cxn modelId="{CC7F0A69-6C35-4238-993A-FB5565867851}" type="presParOf" srcId="{6E4C71E2-A522-46B2-8AED-0F9C40D9BCBC}" destId="{DB0CC87B-120A-4351-B2FC-71DB6ACEEAED}" srcOrd="0" destOrd="0" presId="urn:microsoft.com/office/officeart/2008/layout/LinedList"/>
    <dgm:cxn modelId="{5A5A4573-952E-4D86-B15C-50B09BBC6F8C}" type="presParOf" srcId="{6E4C71E2-A522-46B2-8AED-0F9C40D9BCBC}" destId="{51A4165D-A36D-4DEC-9AE1-1258F91F63AF}" srcOrd="1" destOrd="0" presId="urn:microsoft.com/office/officeart/2008/layout/LinedList"/>
    <dgm:cxn modelId="{04F1B9AE-5741-4D3F-A2FE-8D74DB2C929C}" type="presParOf" srcId="{6E4C71E2-A522-46B2-8AED-0F9C40D9BCBC}" destId="{CB80B963-C887-438D-8979-8B355F0D9FF7}" srcOrd="2" destOrd="0" presId="urn:microsoft.com/office/officeart/2008/layout/LinedList"/>
    <dgm:cxn modelId="{3570C4FC-559E-4B1E-8BD4-CA625981A04F}" type="presParOf" srcId="{984964C0-C857-4360-9C5A-82DD00195D7A}" destId="{7E155229-CA86-45BB-A8D5-F7883D161019}" srcOrd="2" destOrd="0" presId="urn:microsoft.com/office/officeart/2008/layout/LinedList"/>
    <dgm:cxn modelId="{300C297D-B86B-4FEE-B948-23AA162F162C}" type="presParOf" srcId="{984964C0-C857-4360-9C5A-82DD00195D7A}" destId="{389E8BA4-90B0-422C-BBCA-77C473774F59}" srcOrd="3" destOrd="0" presId="urn:microsoft.com/office/officeart/2008/layout/LinedList"/>
    <dgm:cxn modelId="{38F4A8EA-A4C5-448E-8C13-2DFBC774BD37}" type="presParOf" srcId="{6511B27F-EEA1-4D85-ADA3-BB8A1C4A521F}" destId="{0D165F9C-C58D-47FA-82E9-EB9399B91F93}" srcOrd="2" destOrd="0" presId="urn:microsoft.com/office/officeart/2008/layout/LinedList"/>
    <dgm:cxn modelId="{E6971411-B1D2-459F-A1D1-3201FA284C3F}" type="presParOf" srcId="{6511B27F-EEA1-4D85-ADA3-BB8A1C4A521F}" destId="{D7BC3CAF-3A0A-42D0-ABB6-BA45E18E859B}" srcOrd="3" destOrd="0" presId="urn:microsoft.com/office/officeart/2008/layout/LinedList"/>
    <dgm:cxn modelId="{97034E6B-4DD4-4C72-BE09-9C43F6A7C4EA}" type="presParOf" srcId="{D7BC3CAF-3A0A-42D0-ABB6-BA45E18E859B}" destId="{80312583-44D2-4B9B-92DB-40EC84CD5BAB}" srcOrd="0" destOrd="0" presId="urn:microsoft.com/office/officeart/2008/layout/LinedList"/>
    <dgm:cxn modelId="{573AD96F-C3CC-4E50-B08A-9E65DADD7CFA}" type="presParOf" srcId="{D7BC3CAF-3A0A-42D0-ABB6-BA45E18E859B}" destId="{430BEB21-C986-4D1F-9243-FF631773F051}" srcOrd="1" destOrd="0" presId="urn:microsoft.com/office/officeart/2008/layout/LinedList"/>
    <dgm:cxn modelId="{4F14E2DF-9543-4DA6-B4A1-1FEC76067EA8}" type="presParOf" srcId="{430BEB21-C986-4D1F-9243-FF631773F051}" destId="{B3F47804-E5B9-4CA3-B552-FC18EF89C360}" srcOrd="0" destOrd="0" presId="urn:microsoft.com/office/officeart/2008/layout/LinedList"/>
    <dgm:cxn modelId="{72985CC0-8E1E-412E-A8D8-474EFB4400E9}" type="presParOf" srcId="{430BEB21-C986-4D1F-9243-FF631773F051}" destId="{49FDA3A9-1888-4988-B8D1-8B7E371CA2D7}" srcOrd="1" destOrd="0" presId="urn:microsoft.com/office/officeart/2008/layout/LinedList"/>
    <dgm:cxn modelId="{D9695CC1-8767-429A-8B1F-A1B2C8C2DC09}" type="presParOf" srcId="{49FDA3A9-1888-4988-B8D1-8B7E371CA2D7}" destId="{33C9A926-70CD-48F2-87CC-130C9AD40C50}" srcOrd="0" destOrd="0" presId="urn:microsoft.com/office/officeart/2008/layout/LinedList"/>
    <dgm:cxn modelId="{22C770C7-B771-4E66-8D56-E0F4069347B8}" type="presParOf" srcId="{49FDA3A9-1888-4988-B8D1-8B7E371CA2D7}" destId="{9E1D8196-0D28-4775-86F5-83D56A2A7A47}" srcOrd="1" destOrd="0" presId="urn:microsoft.com/office/officeart/2008/layout/LinedList"/>
    <dgm:cxn modelId="{48BE56A9-2348-4723-AF45-97EB687A6806}" type="presParOf" srcId="{49FDA3A9-1888-4988-B8D1-8B7E371CA2D7}" destId="{69FF3A77-52CB-4E16-811A-C370524175C4}" srcOrd="2" destOrd="0" presId="urn:microsoft.com/office/officeart/2008/layout/LinedList"/>
    <dgm:cxn modelId="{D83B17BC-92E7-4B68-A866-B23F5D0C3155}" type="presParOf" srcId="{430BEB21-C986-4D1F-9243-FF631773F051}" destId="{FE381216-8BFF-4319-BE04-5AEAD29E7AC5}" srcOrd="2" destOrd="0" presId="urn:microsoft.com/office/officeart/2008/layout/LinedList"/>
    <dgm:cxn modelId="{BDAA1A7D-08F1-43D8-96BE-31203BEE91CA}" type="presParOf" srcId="{430BEB21-C986-4D1F-9243-FF631773F051}" destId="{26E966DC-94AF-44A2-A9AC-EE44225F30EB}" srcOrd="3" destOrd="0" presId="urn:microsoft.com/office/officeart/2008/layout/LinedList"/>
    <dgm:cxn modelId="{9A859151-C16C-4679-A1AB-05C1F0E91942}" type="presParOf" srcId="{6511B27F-EEA1-4D85-ADA3-BB8A1C4A521F}" destId="{3E26720F-3CA2-4523-A55E-954B7C927416}" srcOrd="4" destOrd="0" presId="urn:microsoft.com/office/officeart/2008/layout/LinedList"/>
    <dgm:cxn modelId="{1AD6003D-01A7-4542-B4AE-F04459B65168}" type="presParOf" srcId="{6511B27F-EEA1-4D85-ADA3-BB8A1C4A521F}" destId="{083B224C-33EF-4D34-8730-AC8033C0D9C4}" srcOrd="5" destOrd="0" presId="urn:microsoft.com/office/officeart/2008/layout/LinedList"/>
    <dgm:cxn modelId="{0292C224-91DF-416F-ADCD-92682945AC33}" type="presParOf" srcId="{083B224C-33EF-4D34-8730-AC8033C0D9C4}" destId="{2BFFF2C3-AEAF-4446-8495-D72F8576438F}" srcOrd="0" destOrd="0" presId="urn:microsoft.com/office/officeart/2008/layout/LinedList"/>
    <dgm:cxn modelId="{E1960CB9-1C4C-4183-8149-F186CA623B5F}" type="presParOf" srcId="{083B224C-33EF-4D34-8730-AC8033C0D9C4}" destId="{69167CC8-01A7-4B0F-AAF0-CCB5D4F00296}" srcOrd="1" destOrd="0" presId="urn:microsoft.com/office/officeart/2008/layout/LinedList"/>
    <dgm:cxn modelId="{DF2D22AE-91B2-48EE-8353-2A141A03D1E7}" type="presParOf" srcId="{69167CC8-01A7-4B0F-AAF0-CCB5D4F00296}" destId="{E882B6A8-042D-4F53-A439-D971639C247E}" srcOrd="0" destOrd="0" presId="urn:microsoft.com/office/officeart/2008/layout/LinedList"/>
    <dgm:cxn modelId="{1A30AD1C-713F-44D1-A2F5-C1D11E915880}" type="presParOf" srcId="{69167CC8-01A7-4B0F-AAF0-CCB5D4F00296}" destId="{EB407710-B73F-4B3B-8B81-1F0285AD3FDC}" srcOrd="1" destOrd="0" presId="urn:microsoft.com/office/officeart/2008/layout/LinedList"/>
    <dgm:cxn modelId="{0309ECE3-6196-4F29-AA5B-70EDA7CD1377}" type="presParOf" srcId="{EB407710-B73F-4B3B-8B81-1F0285AD3FDC}" destId="{619C9760-3B32-4B80-8FA2-64DC768517C2}" srcOrd="0" destOrd="0" presId="urn:microsoft.com/office/officeart/2008/layout/LinedList"/>
    <dgm:cxn modelId="{31D4E23F-C9B3-4A6E-A5AA-23747C7F07A7}" type="presParOf" srcId="{EB407710-B73F-4B3B-8B81-1F0285AD3FDC}" destId="{3421DB87-7763-4E9E-80AB-3A4244DA1062}" srcOrd="1" destOrd="0" presId="urn:microsoft.com/office/officeart/2008/layout/LinedList"/>
    <dgm:cxn modelId="{C3663FA0-4969-44A4-94B0-ACECAC195AEB}" type="presParOf" srcId="{EB407710-B73F-4B3B-8B81-1F0285AD3FDC}" destId="{7E4E7C3A-4E97-440E-860E-650021CFBD33}" srcOrd="2" destOrd="0" presId="urn:microsoft.com/office/officeart/2008/layout/LinedList"/>
    <dgm:cxn modelId="{7B1B8A06-2343-4538-96CD-4C08608D3773}" type="presParOf" srcId="{69167CC8-01A7-4B0F-AAF0-CCB5D4F00296}" destId="{8A374915-E3F2-4D55-80CD-735D6CFC31F4}" srcOrd="2" destOrd="0" presId="urn:microsoft.com/office/officeart/2008/layout/LinedList"/>
    <dgm:cxn modelId="{69CD1207-35B3-4C18-9160-101387AA2E6F}" type="presParOf" srcId="{69167CC8-01A7-4B0F-AAF0-CCB5D4F00296}" destId="{ECB70442-5E5B-4625-99D5-7C35EDA0EE43}"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270CA04-D3AC-4836-B672-BD10C381E938}" type="doc">
      <dgm:prSet loTypeId="urn:microsoft.com/office/officeart/2008/layout/LinedList" loCatId="list" qsTypeId="urn:microsoft.com/office/officeart/2005/8/quickstyle/simple5" qsCatId="simple" csTypeId="urn:microsoft.com/office/officeart/2005/8/colors/accent2_2" csCatId="accent2" phldr="1"/>
      <dgm:spPr/>
      <dgm:t>
        <a:bodyPr/>
        <a:lstStyle/>
        <a:p>
          <a:endParaRPr lang="en-US"/>
        </a:p>
      </dgm:t>
    </dgm:pt>
    <dgm:pt modelId="{F043EA2E-4196-402C-9BC9-C3EA5C5CC5B0}">
      <dgm:prSet phldrT="[Text]" custT="1"/>
      <dgm:spPr/>
      <dgm:t>
        <a:bodyPr vert="vert270"/>
        <a:lstStyle/>
        <a:p>
          <a:pPr algn="r"/>
          <a:r>
            <a:rPr lang="en-US" sz="3200" b="1" dirty="0">
              <a:solidFill>
                <a:srgbClr val="F48120"/>
              </a:solidFill>
              <a:latin typeface="SVN-Gilroy" panose="00000500000000000000" pitchFamily="50" charset="0"/>
            </a:rPr>
            <a:t>KQKD 1H26 (sơ bộ)</a:t>
          </a:r>
        </a:p>
      </dgm:t>
    </dgm:pt>
    <dgm:pt modelId="{418974FA-C7D1-46D3-8208-6B99BFDD87B0}" type="parTrans" cxnId="{93190291-1269-4815-BEF6-F5CF56EB8F41}">
      <dgm:prSet/>
      <dgm:spPr/>
      <dgm:t>
        <a:bodyPr/>
        <a:lstStyle/>
        <a:p>
          <a:endParaRPr lang="en-US" sz="3200">
            <a:solidFill>
              <a:schemeClr val="bg2">
                <a:lumMod val="25000"/>
              </a:schemeClr>
            </a:solidFill>
            <a:latin typeface="SVN-Gilroy" panose="00000500000000000000" pitchFamily="50" charset="0"/>
          </a:endParaRPr>
        </a:p>
      </dgm:t>
    </dgm:pt>
    <dgm:pt modelId="{C2C239A5-2D51-4505-8080-1CA8D13C5DB3}" type="sibTrans" cxnId="{93190291-1269-4815-BEF6-F5CF56EB8F41}">
      <dgm:prSet/>
      <dgm:spPr/>
      <dgm:t>
        <a:bodyPr/>
        <a:lstStyle/>
        <a:p>
          <a:endParaRPr lang="en-US" sz="3200">
            <a:solidFill>
              <a:schemeClr val="bg2">
                <a:lumMod val="25000"/>
              </a:schemeClr>
            </a:solidFill>
            <a:latin typeface="SVN-Gilroy" panose="00000500000000000000" pitchFamily="50" charset="0"/>
          </a:endParaRPr>
        </a:p>
      </dgm:t>
    </dgm:pt>
    <dgm:pt modelId="{B7118F00-7FEB-4E8C-A6F9-B6514EFDA034}">
      <dgm:prSet phldrT="[Text]" custT="1"/>
      <dgm:spPr/>
      <dgm:t>
        <a:bodyPr/>
        <a:lstStyle/>
        <a:p>
          <a:r>
            <a:rPr lang="vi-VN" sz="2900" dirty="0">
              <a:latin typeface="SVN-Gilroy" panose="00000500000000000000" pitchFamily="50" charset="0"/>
            </a:rPr>
            <a:t>LNTT Q2/26 ước 1,900–2,000 tỷ (≈-50% CK); 1H26 ~4.0–4.1 nghìn tỷ:</a:t>
          </a:r>
        </a:p>
        <a:p>
          <a:r>
            <a:rPr lang="en-US" sz="2900" dirty="0">
              <a:latin typeface="SVN-Gilroy" panose="00000500000000000000" pitchFamily="50" charset="0"/>
            </a:rPr>
            <a:t>- NIM thu hẹp; nợ xấu ước tăng lên ~5.6%</a:t>
          </a:r>
          <a:endParaRPr lang="vi-VN" sz="2900" dirty="0">
            <a:latin typeface="SVN-Gilroy" panose="00000500000000000000" pitchFamily="50" charset="0"/>
          </a:endParaRPr>
        </a:p>
        <a:p>
          <a:r>
            <a:rPr lang="en-US" sz="2900" dirty="0">
              <a:latin typeface="SVN-Gilroy" panose="00000500000000000000" pitchFamily="50" charset="0"/>
            </a:rPr>
            <a:t>- Dự phòng kỷ lục &gt;4,700 tỷ, nhóm cao nhất ngành</a:t>
          </a:r>
        </a:p>
        <a:p>
          <a:r>
            <a:rPr lang="en-US" sz="2900" dirty="0">
              <a:latin typeface="SVN-Gilroy" panose="00000500000000000000" pitchFamily="50" charset="0"/>
            </a:rPr>
            <a:t>- Số liệu chính thức sẽ công bố trong BCTC</a:t>
          </a:r>
          <a:endParaRPr lang="en-US" sz="2900" b="1" dirty="0">
            <a:latin typeface="SVN-Gilroy" panose="00000500000000000000" pitchFamily="50" charset="0"/>
          </a:endParaRPr>
        </a:p>
      </dgm:t>
    </dgm:pt>
    <dgm:pt modelId="{E7E99523-35F4-4B8A-8522-ED3D34CD219D}" type="parTrans" cxnId="{9C53D35C-BC8C-44A8-B269-22DB2A360D5F}">
      <dgm:prSet/>
      <dgm:spPr/>
      <dgm:t>
        <a:bodyPr/>
        <a:lstStyle/>
        <a:p>
          <a:endParaRPr lang="en-US" sz="3200">
            <a:solidFill>
              <a:schemeClr val="bg2">
                <a:lumMod val="25000"/>
              </a:schemeClr>
            </a:solidFill>
            <a:latin typeface="SVN-Gilroy" panose="00000500000000000000" pitchFamily="50" charset="0"/>
          </a:endParaRPr>
        </a:p>
      </dgm:t>
    </dgm:pt>
    <dgm:pt modelId="{BE2211A5-733F-4AFC-81A6-F3EFEADBA076}" type="sibTrans" cxnId="{9C53D35C-BC8C-44A8-B269-22DB2A360D5F}">
      <dgm:prSet/>
      <dgm:spPr/>
      <dgm:t>
        <a:bodyPr/>
        <a:lstStyle/>
        <a:p>
          <a:endParaRPr lang="en-US" sz="3200">
            <a:solidFill>
              <a:schemeClr val="bg2">
                <a:lumMod val="25000"/>
              </a:schemeClr>
            </a:solidFill>
            <a:latin typeface="SVN-Gilroy" panose="00000500000000000000" pitchFamily="50" charset="0"/>
          </a:endParaRPr>
        </a:p>
      </dgm:t>
    </dgm:pt>
    <dgm:pt modelId="{EC0346FF-A004-4169-BFD8-F5F84A6E5BF8}">
      <dgm:prSet phldrT="[Text]" custT="1"/>
      <dgm:spPr/>
      <dgm:t>
        <a:bodyPr vert="vert270"/>
        <a:lstStyle/>
        <a:p>
          <a:pPr algn="r"/>
          <a:r>
            <a:rPr lang="en-US" sz="3200" b="1" dirty="0">
              <a:solidFill>
                <a:srgbClr val="F48120"/>
              </a:solidFill>
              <a:latin typeface="SVN-Gilroy" panose="00000500000000000000" pitchFamily="50" charset="0"/>
            </a:rPr>
            <a:t>2026 ĐHCĐ</a:t>
          </a:r>
        </a:p>
      </dgm:t>
    </dgm:pt>
    <dgm:pt modelId="{0F46AD0D-CC96-4ADE-A664-43D0A08B0DEC}" type="sibTrans" cxnId="{F9D77452-0DFF-4C95-B95D-76D26C3A319C}">
      <dgm:prSet/>
      <dgm:spPr/>
      <dgm:t>
        <a:bodyPr/>
        <a:lstStyle/>
        <a:p>
          <a:endParaRPr lang="en-US" sz="3200">
            <a:solidFill>
              <a:schemeClr val="bg2">
                <a:lumMod val="25000"/>
              </a:schemeClr>
            </a:solidFill>
            <a:latin typeface="SVN-Gilroy" panose="00000500000000000000" pitchFamily="50" charset="0"/>
          </a:endParaRPr>
        </a:p>
      </dgm:t>
    </dgm:pt>
    <dgm:pt modelId="{40254663-3182-4150-8563-CE48A854047E}" type="parTrans" cxnId="{F9D77452-0DFF-4C95-B95D-76D26C3A319C}">
      <dgm:prSet/>
      <dgm:spPr/>
      <dgm:t>
        <a:bodyPr/>
        <a:lstStyle/>
        <a:p>
          <a:endParaRPr lang="en-US" sz="3200">
            <a:solidFill>
              <a:schemeClr val="bg2">
                <a:lumMod val="25000"/>
              </a:schemeClr>
            </a:solidFill>
            <a:latin typeface="SVN-Gilroy" panose="00000500000000000000" pitchFamily="50" charset="0"/>
          </a:endParaRPr>
        </a:p>
      </dgm:t>
    </dgm:pt>
    <dgm:pt modelId="{F81811C9-FA20-4D45-B8AF-EBDE53D82F5E}">
      <dgm:prSet custT="1"/>
      <dgm:spPr/>
      <dgm:t>
        <a:bodyPr/>
        <a:lstStyle/>
        <a:p>
          <a:pPr>
            <a:buFont typeface="Arial" panose="020B0604020202020204" pitchFamily="34" charset="0"/>
            <a:buChar char="•"/>
          </a:pPr>
          <a:r>
            <a:rPr lang="en-US" sz="2900" dirty="0">
              <a:latin typeface="SVN-Gilroy" panose="00000500000000000000" pitchFamily="50" charset="0"/>
            </a:rPr>
            <a:t>- TTS </a:t>
          </a:r>
          <a:r>
            <a:rPr lang="en-US" sz="2900" dirty="0" err="1">
              <a:latin typeface="SVN-Gilroy" panose="00000500000000000000" pitchFamily="50" charset="0"/>
            </a:rPr>
            <a:t>đạt</a:t>
          </a:r>
          <a:r>
            <a:rPr lang="en-US" sz="2900" dirty="0">
              <a:latin typeface="SVN-Gilroy" panose="00000500000000000000" pitchFamily="50" charset="0"/>
            </a:rPr>
            <a:t> 1.01 </a:t>
          </a:r>
          <a:r>
            <a:rPr lang="en-US" sz="2900" dirty="0" err="1">
              <a:latin typeface="SVN-Gilroy" panose="00000500000000000000" pitchFamily="50" charset="0"/>
            </a:rPr>
            <a:t>triệu</a:t>
          </a:r>
          <a:r>
            <a:rPr lang="en-US" sz="2900" dirty="0">
              <a:latin typeface="SVN-Gilroy" panose="00000500000000000000" pitchFamily="50" charset="0"/>
            </a:rPr>
            <a:t> </a:t>
          </a:r>
          <a:r>
            <a:rPr lang="en-US" sz="2900" dirty="0" err="1">
              <a:latin typeface="SVN-Gilroy" panose="00000500000000000000" pitchFamily="50" charset="0"/>
            </a:rPr>
            <a:t>tỷ</a:t>
          </a:r>
          <a:r>
            <a:rPr lang="en-US" sz="2900" dirty="0">
              <a:latin typeface="SVN-Gilroy" panose="00000500000000000000" pitchFamily="50" charset="0"/>
            </a:rPr>
            <a:t> (+10%)</a:t>
          </a:r>
        </a:p>
        <a:p>
          <a:pPr>
            <a:buFont typeface="Arial" panose="020B0604020202020204" pitchFamily="34" charset="0"/>
            <a:buChar char="•"/>
          </a:pPr>
          <a:r>
            <a:rPr lang="en-US" sz="2900" dirty="0">
              <a:latin typeface="SVN-Gilroy" panose="00000500000000000000" pitchFamily="50" charset="0"/>
            </a:rPr>
            <a:t>- TT </a:t>
          </a:r>
          <a:r>
            <a:rPr lang="en-US" sz="2900" dirty="0" err="1">
              <a:latin typeface="SVN-Gilroy" panose="00000500000000000000" pitchFamily="50" charset="0"/>
            </a:rPr>
            <a:t>Tín</a:t>
          </a:r>
          <a:r>
            <a:rPr lang="en-US" sz="2900" dirty="0">
              <a:latin typeface="SVN-Gilroy" panose="00000500000000000000" pitchFamily="50" charset="0"/>
            </a:rPr>
            <a:t> </a:t>
          </a:r>
          <a:r>
            <a:rPr lang="en-US" sz="2900" dirty="0" err="1">
              <a:latin typeface="SVN-Gilroy" panose="00000500000000000000" pitchFamily="50" charset="0"/>
            </a:rPr>
            <a:t>dụng</a:t>
          </a:r>
          <a:r>
            <a:rPr lang="en-US" sz="2900" dirty="0">
              <a:latin typeface="SVN-Gilroy" panose="00000500000000000000" pitchFamily="50" charset="0"/>
            </a:rPr>
            <a:t> </a:t>
          </a:r>
          <a:r>
            <a:rPr lang="en-US" sz="2900" dirty="0" err="1">
              <a:latin typeface="SVN-Gilroy" panose="00000500000000000000" pitchFamily="50" charset="0"/>
            </a:rPr>
            <a:t>đạt</a:t>
          </a:r>
          <a:r>
            <a:rPr lang="en-US" sz="2900" dirty="0">
              <a:latin typeface="SVN-Gilroy" panose="00000500000000000000" pitchFamily="50" charset="0"/>
            </a:rPr>
            <a:t> 12%, </a:t>
          </a:r>
        </a:p>
        <a:p>
          <a:pPr>
            <a:buFont typeface="Arial" panose="020B0604020202020204" pitchFamily="34" charset="0"/>
            <a:buChar char="•"/>
          </a:pPr>
          <a:r>
            <a:rPr lang="en-US" sz="2900" dirty="0">
              <a:latin typeface="SVN-Gilroy" panose="00000500000000000000" pitchFamily="50" charset="0"/>
            </a:rPr>
            <a:t>- LNTT </a:t>
          </a:r>
          <a:r>
            <a:rPr lang="en-US" sz="2900" dirty="0" err="1">
              <a:latin typeface="SVN-Gilroy" panose="00000500000000000000" pitchFamily="50" charset="0"/>
            </a:rPr>
            <a:t>đạt</a:t>
          </a:r>
          <a:r>
            <a:rPr lang="en-US" sz="2900" dirty="0">
              <a:latin typeface="SVN-Gilroy" panose="00000500000000000000" pitchFamily="50" charset="0"/>
            </a:rPr>
            <a:t> 8.1 </a:t>
          </a:r>
          <a:r>
            <a:rPr lang="en-US" sz="2900" dirty="0" err="1">
              <a:latin typeface="SVN-Gilroy" panose="00000500000000000000" pitchFamily="50" charset="0"/>
            </a:rPr>
            <a:t>nghìn</a:t>
          </a:r>
          <a:r>
            <a:rPr lang="en-US" sz="2900" dirty="0">
              <a:latin typeface="SVN-Gilroy" panose="00000500000000000000" pitchFamily="50" charset="0"/>
            </a:rPr>
            <a:t> </a:t>
          </a:r>
          <a:r>
            <a:rPr lang="en-US" sz="2900" dirty="0" err="1">
              <a:latin typeface="SVN-Gilroy" panose="00000500000000000000" pitchFamily="50" charset="0"/>
            </a:rPr>
            <a:t>tỷ</a:t>
          </a:r>
          <a:r>
            <a:rPr lang="en-US" sz="2900" dirty="0">
              <a:latin typeface="SVN-Gilroy" panose="00000500000000000000" pitchFamily="50" charset="0"/>
            </a:rPr>
            <a:t> (+6%), </a:t>
          </a:r>
        </a:p>
        <a:p>
          <a:pPr>
            <a:buFont typeface="Arial" panose="020B0604020202020204" pitchFamily="34" charset="0"/>
            <a:buChar char="•"/>
          </a:pPr>
          <a:r>
            <a:rPr lang="en-US" sz="2900" dirty="0">
              <a:latin typeface="SVN-Gilroy" panose="00000500000000000000" pitchFamily="50" charset="0"/>
            </a:rPr>
            <a:t>- </a:t>
          </a:r>
          <a:r>
            <a:rPr lang="en-US" sz="2900" dirty="0" err="1">
              <a:latin typeface="SVN-Gilroy" panose="00000500000000000000" pitchFamily="50" charset="0"/>
            </a:rPr>
            <a:t>Tỷ</a:t>
          </a:r>
          <a:r>
            <a:rPr lang="en-US" sz="2900" dirty="0">
              <a:latin typeface="SVN-Gilroy" panose="00000500000000000000" pitchFamily="50" charset="0"/>
            </a:rPr>
            <a:t> </a:t>
          </a:r>
          <a:r>
            <a:rPr lang="en-US" sz="2900" dirty="0" err="1">
              <a:latin typeface="SVN-Gilroy" panose="00000500000000000000" pitchFamily="50" charset="0"/>
            </a:rPr>
            <a:t>lệ</a:t>
          </a:r>
          <a:r>
            <a:rPr lang="en-US" sz="2900" dirty="0">
              <a:latin typeface="SVN-Gilroy" panose="00000500000000000000" pitchFamily="50" charset="0"/>
            </a:rPr>
            <a:t> </a:t>
          </a:r>
          <a:r>
            <a:rPr lang="en-US" sz="2900" dirty="0" err="1">
              <a:latin typeface="SVN-Gilroy" panose="00000500000000000000" pitchFamily="50" charset="0"/>
            </a:rPr>
            <a:t>nợ</a:t>
          </a:r>
          <a:r>
            <a:rPr lang="en-US" sz="2900" dirty="0">
              <a:latin typeface="SVN-Gilroy" panose="00000500000000000000" pitchFamily="50" charset="0"/>
            </a:rPr>
            <a:t> </a:t>
          </a:r>
          <a:r>
            <a:rPr lang="en-US" sz="2900" dirty="0" err="1">
              <a:latin typeface="SVN-Gilroy" panose="00000500000000000000" pitchFamily="50" charset="0"/>
            </a:rPr>
            <a:t>xấu</a:t>
          </a:r>
          <a:r>
            <a:rPr lang="en-US" sz="2900" dirty="0">
              <a:latin typeface="SVN-Gilroy" panose="00000500000000000000" pitchFamily="50" charset="0"/>
            </a:rPr>
            <a:t> </a:t>
          </a:r>
          <a:r>
            <a:rPr lang="en-US" sz="2900" dirty="0" err="1">
              <a:latin typeface="SVN-Gilroy" panose="00000500000000000000" pitchFamily="50" charset="0"/>
            </a:rPr>
            <a:t>dưới</a:t>
          </a:r>
          <a:r>
            <a:rPr lang="en-US" sz="2900" dirty="0">
              <a:latin typeface="SVN-Gilroy" panose="00000500000000000000" pitchFamily="50" charset="0"/>
            </a:rPr>
            <a:t> 4.5%. </a:t>
          </a:r>
          <a:endParaRPr lang="en-US" sz="2900" b="0" dirty="0"/>
        </a:p>
      </dgm:t>
    </dgm:pt>
    <dgm:pt modelId="{99AF29C3-8602-4616-9666-4986D725BBE6}" type="parTrans" cxnId="{02DDB73E-FA92-470B-8C74-1A278BC728FD}">
      <dgm:prSet/>
      <dgm:spPr/>
      <dgm:t>
        <a:bodyPr/>
        <a:lstStyle/>
        <a:p>
          <a:endParaRPr lang="en-US"/>
        </a:p>
      </dgm:t>
    </dgm:pt>
    <dgm:pt modelId="{13422DB2-DB45-4A4F-B04E-B4CBBA477BAF}" type="sibTrans" cxnId="{02DDB73E-FA92-470B-8C74-1A278BC728FD}">
      <dgm:prSet/>
      <dgm:spPr/>
      <dgm:t>
        <a:bodyPr/>
        <a:lstStyle/>
        <a:p>
          <a:endParaRPr lang="en-US"/>
        </a:p>
      </dgm:t>
    </dgm:pt>
    <dgm:pt modelId="{9394690C-4DA7-4E12-A375-C402BFB51A8A}">
      <dgm:prSet phldrT="[Text]" custT="1"/>
      <dgm:spPr/>
      <dgm:t>
        <a:bodyPr vert="vert270"/>
        <a:lstStyle/>
        <a:p>
          <a:pPr algn="r"/>
          <a:r>
            <a:rPr lang="en-US" sz="3200" b="1" dirty="0" err="1">
              <a:solidFill>
                <a:srgbClr val="F48120"/>
              </a:solidFill>
              <a:latin typeface="SVN-Gilroy" panose="00000500000000000000" pitchFamily="50" charset="0"/>
            </a:rPr>
            <a:t>Dự</a:t>
          </a:r>
          <a:r>
            <a:rPr lang="en-US" sz="3200" b="1" dirty="0">
              <a:solidFill>
                <a:srgbClr val="F48120"/>
              </a:solidFill>
              <a:latin typeface="SVN-Gilroy" panose="00000500000000000000" pitchFamily="50" charset="0"/>
            </a:rPr>
            <a:t> </a:t>
          </a:r>
          <a:r>
            <a:rPr lang="en-US" sz="3200" b="1" dirty="0" err="1">
              <a:solidFill>
                <a:srgbClr val="F48120"/>
              </a:solidFill>
              <a:latin typeface="SVN-Gilroy" panose="00000500000000000000" pitchFamily="50" charset="0"/>
            </a:rPr>
            <a:t>phóng</a:t>
          </a:r>
          <a:endParaRPr lang="en-US" sz="3200" b="1" dirty="0">
            <a:solidFill>
              <a:srgbClr val="F48120"/>
            </a:solidFill>
            <a:latin typeface="SVN-Gilroy" panose="00000500000000000000" pitchFamily="50" charset="0"/>
          </a:endParaRPr>
        </a:p>
      </dgm:t>
    </dgm:pt>
    <dgm:pt modelId="{915B3AF5-FE0B-4065-999C-B6A69CCF7CFD}" type="sibTrans" cxnId="{0800F74F-7F7C-44C6-9EB0-165422B289D4}">
      <dgm:prSet/>
      <dgm:spPr/>
      <dgm:t>
        <a:bodyPr/>
        <a:lstStyle/>
        <a:p>
          <a:endParaRPr lang="en-US" sz="3200">
            <a:solidFill>
              <a:schemeClr val="bg2">
                <a:lumMod val="25000"/>
              </a:schemeClr>
            </a:solidFill>
            <a:latin typeface="SVN-Gilroy" panose="00000500000000000000" pitchFamily="50" charset="0"/>
          </a:endParaRPr>
        </a:p>
      </dgm:t>
    </dgm:pt>
    <dgm:pt modelId="{B8AD241D-B6D8-4F56-A8AB-5DDE1EAF3EC0}" type="parTrans" cxnId="{0800F74F-7F7C-44C6-9EB0-165422B289D4}">
      <dgm:prSet/>
      <dgm:spPr/>
      <dgm:t>
        <a:bodyPr/>
        <a:lstStyle/>
        <a:p>
          <a:endParaRPr lang="en-US" sz="3200">
            <a:solidFill>
              <a:schemeClr val="bg2">
                <a:lumMod val="25000"/>
              </a:schemeClr>
            </a:solidFill>
            <a:latin typeface="SVN-Gilroy" panose="00000500000000000000" pitchFamily="50" charset="0"/>
          </a:endParaRPr>
        </a:p>
      </dgm:t>
    </dgm:pt>
    <dgm:pt modelId="{7B83FE9A-4336-4300-A36D-1E2EF76EDF36}">
      <dgm:prSet phldrT="[Text]" custT="1"/>
      <dgm:spPr/>
      <dgm:t>
        <a:bodyPr/>
        <a:lstStyle/>
        <a:p>
          <a:pPr algn="l"/>
          <a:r>
            <a:rPr lang="en-US" sz="2900" b="0" dirty="0">
              <a:latin typeface="SVN-Gilroy" panose="00000500000000000000"/>
            </a:rPr>
            <a:t>FY26E NII +1.2% </a:t>
          </a:r>
          <a:r>
            <a:rPr lang="vi-VN" sz="2900" b="0" dirty="0">
              <a:latin typeface="SVN-Gilroy" panose="00000500000000000000"/>
            </a:rPr>
            <a:t>đạt</a:t>
          </a:r>
          <a:r>
            <a:rPr lang="en-US" sz="2900" b="0" dirty="0">
              <a:latin typeface="SVN-Gilroy" panose="00000500000000000000"/>
            </a:rPr>
            <a:t> 27</a:t>
          </a:r>
          <a:r>
            <a:rPr lang="vi-VN" sz="2900" b="0" dirty="0">
              <a:latin typeface="SVN-Gilroy" panose="00000500000000000000"/>
            </a:rPr>
            <a:t>,</a:t>
          </a:r>
          <a:r>
            <a:rPr lang="en-US" sz="2900" b="0" dirty="0">
              <a:latin typeface="SVN-Gilroy" panose="00000500000000000000"/>
            </a:rPr>
            <a:t>010</a:t>
          </a:r>
          <a:r>
            <a:rPr lang="vi-VN" sz="2900" b="0" dirty="0">
              <a:latin typeface="SVN-Gilroy" panose="00000500000000000000"/>
            </a:rPr>
            <a:t> tỷ </a:t>
          </a:r>
          <a:r>
            <a:rPr lang="en-US" sz="2900" b="0" dirty="0">
              <a:latin typeface="SVN-Gilroy" panose="00000500000000000000"/>
            </a:rPr>
            <a:t> </a:t>
          </a:r>
        </a:p>
        <a:p>
          <a:pPr algn="l"/>
          <a:r>
            <a:rPr lang="en-US" sz="2900" b="0" dirty="0">
              <a:latin typeface="SVN-Gilroy" panose="00000500000000000000"/>
            </a:rPr>
            <a:t>- </a:t>
          </a:r>
          <a:r>
            <a:rPr lang="vi-VN" sz="2900" b="0" dirty="0">
              <a:latin typeface="SVN-Gilroy" panose="00000500000000000000"/>
            </a:rPr>
            <a:t>Tăng trưởng </a:t>
          </a:r>
          <a:r>
            <a:rPr lang="en-US" sz="2900" b="0" dirty="0" err="1">
              <a:latin typeface="SVN-Gilroy" panose="00000500000000000000"/>
            </a:rPr>
            <a:t>cho</a:t>
          </a:r>
          <a:r>
            <a:rPr lang="en-US" sz="2900" b="0" dirty="0">
              <a:latin typeface="SVN-Gilroy" panose="00000500000000000000"/>
            </a:rPr>
            <a:t> </a:t>
          </a:r>
          <a:r>
            <a:rPr lang="en-US" sz="2900" b="0" dirty="0" err="1">
              <a:latin typeface="SVN-Gilroy" panose="00000500000000000000"/>
            </a:rPr>
            <a:t>vay</a:t>
          </a:r>
          <a:r>
            <a:rPr lang="en-US" sz="2900" b="0" dirty="0">
              <a:latin typeface="SVN-Gilroy" panose="00000500000000000000"/>
            </a:rPr>
            <a:t> 10.1%</a:t>
          </a:r>
        </a:p>
        <a:p>
          <a:pPr algn="l"/>
          <a:r>
            <a:rPr lang="en-US" sz="2900" b="0" dirty="0">
              <a:solidFill>
                <a:schemeClr val="tx1"/>
              </a:solidFill>
              <a:latin typeface="SVN-Gilroy" panose="00000500000000000000"/>
            </a:rPr>
            <a:t>- </a:t>
          </a:r>
          <a:r>
            <a:rPr lang="vi-VN" sz="2900" b="0" dirty="0">
              <a:solidFill>
                <a:schemeClr val="tx1"/>
              </a:solidFill>
              <a:latin typeface="SVN-Gilroy" panose="00000500000000000000"/>
            </a:rPr>
            <a:t>CP dự phòng đạt</a:t>
          </a:r>
          <a:r>
            <a:rPr lang="en-US" sz="2900" b="0" dirty="0">
              <a:solidFill>
                <a:schemeClr val="tx1"/>
              </a:solidFill>
              <a:latin typeface="SVN-Gilroy" panose="00000500000000000000"/>
            </a:rPr>
            <a:t> 10.5</a:t>
          </a:r>
          <a:r>
            <a:rPr lang="vi-VN" sz="2900" b="0" dirty="0">
              <a:solidFill>
                <a:schemeClr val="tx1"/>
              </a:solidFill>
              <a:latin typeface="SVN-Gilroy" panose="00000500000000000000"/>
            </a:rPr>
            <a:t> nghìn tỷ</a:t>
          </a:r>
          <a:r>
            <a:rPr lang="en-US" sz="2900" b="0" dirty="0">
              <a:solidFill>
                <a:schemeClr val="tx1"/>
              </a:solidFill>
              <a:latin typeface="SVN-Gilroy" panose="00000500000000000000"/>
            </a:rPr>
            <a:t> (-8.9% </a:t>
          </a:r>
          <a:r>
            <a:rPr lang="vi-VN" sz="2900" b="0" dirty="0">
              <a:solidFill>
                <a:schemeClr val="tx1"/>
              </a:solidFill>
              <a:latin typeface="SVN-Gilroy" panose="00000500000000000000"/>
            </a:rPr>
            <a:t>CK</a:t>
          </a:r>
          <a:r>
            <a:rPr lang="en-US" sz="2900" b="0" dirty="0">
              <a:solidFill>
                <a:schemeClr val="tx1"/>
              </a:solidFill>
              <a:latin typeface="SVN-Gilroy" panose="00000500000000000000"/>
            </a:rPr>
            <a:t>)</a:t>
          </a:r>
        </a:p>
        <a:p>
          <a:pPr algn="l"/>
          <a:r>
            <a:rPr lang="en-US" sz="2900" b="0" dirty="0">
              <a:solidFill>
                <a:schemeClr val="tx1"/>
              </a:solidFill>
              <a:latin typeface="SVN-Gilroy" panose="00000500000000000000"/>
            </a:rPr>
            <a:t>- CIR </a:t>
          </a:r>
          <a:r>
            <a:rPr lang="vi-VN" sz="2900" b="0" dirty="0">
              <a:solidFill>
                <a:schemeClr val="tx1"/>
              </a:solidFill>
              <a:latin typeface="SVN-Gilroy" panose="00000500000000000000"/>
            </a:rPr>
            <a:t>đạt</a:t>
          </a:r>
          <a:r>
            <a:rPr lang="en-US" sz="2900" b="0" dirty="0">
              <a:solidFill>
                <a:schemeClr val="tx1"/>
              </a:solidFill>
              <a:latin typeface="SVN-Gilroy" panose="00000500000000000000"/>
            </a:rPr>
            <a:t> 42.9% (</a:t>
          </a:r>
          <a:r>
            <a:rPr lang="vi-VN" sz="2900" b="0" dirty="0">
              <a:solidFill>
                <a:schemeClr val="tx1"/>
              </a:solidFill>
              <a:latin typeface="SVN-Gilroy" panose="00000500000000000000"/>
            </a:rPr>
            <a:t>+</a:t>
          </a:r>
          <a:r>
            <a:rPr lang="en-US" sz="2900" b="0" dirty="0">
              <a:solidFill>
                <a:schemeClr val="tx1"/>
              </a:solidFill>
              <a:latin typeface="SVN-Gilroy" panose="00000500000000000000"/>
            </a:rPr>
            <a:t>2</a:t>
          </a:r>
          <a:r>
            <a:rPr lang="vi-VN" sz="2900" b="0" dirty="0">
              <a:solidFill>
                <a:schemeClr val="tx1"/>
              </a:solidFill>
              <a:latin typeface="SVN-Gilroy" panose="00000500000000000000"/>
            </a:rPr>
            <a:t>.</a:t>
          </a:r>
          <a:r>
            <a:rPr lang="en-US" sz="2900" b="0" dirty="0">
              <a:solidFill>
                <a:schemeClr val="tx1"/>
              </a:solidFill>
              <a:latin typeface="SVN-Gilroy" panose="00000500000000000000"/>
            </a:rPr>
            <a:t>2</a:t>
          </a:r>
          <a:r>
            <a:rPr lang="vi-VN" sz="2900" b="0" dirty="0">
              <a:solidFill>
                <a:schemeClr val="tx1"/>
              </a:solidFill>
              <a:latin typeface="SVN-Gilroy" panose="00000500000000000000"/>
            </a:rPr>
            <a:t>%p CK)</a:t>
          </a:r>
          <a:endParaRPr lang="en-US" sz="2900" b="0" dirty="0">
            <a:solidFill>
              <a:schemeClr val="tx1"/>
            </a:solidFill>
            <a:latin typeface="SVN-Gilroy" panose="00000500000000000000"/>
          </a:endParaRPr>
        </a:p>
      </dgm:t>
    </dgm:pt>
    <dgm:pt modelId="{2CEA675D-DFB2-48DD-B6E7-9ABD72084365}" type="sibTrans" cxnId="{5E31326A-77FF-4662-981A-85912943EDA8}">
      <dgm:prSet/>
      <dgm:spPr/>
      <dgm:t>
        <a:bodyPr/>
        <a:lstStyle/>
        <a:p>
          <a:endParaRPr lang="en-US" sz="3200">
            <a:solidFill>
              <a:schemeClr val="bg2">
                <a:lumMod val="25000"/>
              </a:schemeClr>
            </a:solidFill>
            <a:latin typeface="SVN-Gilroy" panose="00000500000000000000" pitchFamily="50" charset="0"/>
          </a:endParaRPr>
        </a:p>
      </dgm:t>
    </dgm:pt>
    <dgm:pt modelId="{D4C5D6EC-16EC-4982-BA91-C9C9CD058C20}" type="parTrans" cxnId="{5E31326A-77FF-4662-981A-85912943EDA8}">
      <dgm:prSet/>
      <dgm:spPr/>
      <dgm:t>
        <a:bodyPr/>
        <a:lstStyle/>
        <a:p>
          <a:endParaRPr lang="en-US" sz="3200">
            <a:solidFill>
              <a:schemeClr val="bg2">
                <a:lumMod val="25000"/>
              </a:schemeClr>
            </a:solidFill>
            <a:latin typeface="SVN-Gilroy" panose="00000500000000000000" pitchFamily="50" charset="0"/>
          </a:endParaRPr>
        </a:p>
      </dgm:t>
    </dgm:pt>
    <dgm:pt modelId="{6511B27F-EEA1-4D85-ADA3-BB8A1C4A521F}" type="pres">
      <dgm:prSet presAssocID="{A270CA04-D3AC-4836-B672-BD10C381E938}" presName="vert0" presStyleCnt="0">
        <dgm:presLayoutVars>
          <dgm:dir/>
          <dgm:animOne val="branch"/>
          <dgm:animLvl val="lvl"/>
        </dgm:presLayoutVars>
      </dgm:prSet>
      <dgm:spPr/>
    </dgm:pt>
    <dgm:pt modelId="{E077197D-4B0C-4DCD-95A6-A131DE9108F9}" type="pres">
      <dgm:prSet presAssocID="{F043EA2E-4196-402C-9BC9-C3EA5C5CC5B0}" presName="thickLine" presStyleLbl="alignNode1" presStyleIdx="0" presStyleCnt="3"/>
      <dgm:spPr/>
    </dgm:pt>
    <dgm:pt modelId="{0445D92D-7E05-4267-8384-8CE229F72B43}" type="pres">
      <dgm:prSet presAssocID="{F043EA2E-4196-402C-9BC9-C3EA5C5CC5B0}" presName="horz1" presStyleCnt="0"/>
      <dgm:spPr/>
    </dgm:pt>
    <dgm:pt modelId="{E17A2724-0B5A-462E-B77B-58652340526B}" type="pres">
      <dgm:prSet presAssocID="{F043EA2E-4196-402C-9BC9-C3EA5C5CC5B0}" presName="tx1" presStyleLbl="revTx" presStyleIdx="0" presStyleCnt="6"/>
      <dgm:spPr/>
    </dgm:pt>
    <dgm:pt modelId="{984964C0-C857-4360-9C5A-82DD00195D7A}" type="pres">
      <dgm:prSet presAssocID="{F043EA2E-4196-402C-9BC9-C3EA5C5CC5B0}" presName="vert1" presStyleCnt="0"/>
      <dgm:spPr/>
    </dgm:pt>
    <dgm:pt modelId="{9FDEC3F5-3A19-4B1A-9069-7BCFA3642B50}" type="pres">
      <dgm:prSet presAssocID="{B7118F00-7FEB-4E8C-A6F9-B6514EFDA034}" presName="vertSpace2a" presStyleCnt="0"/>
      <dgm:spPr/>
    </dgm:pt>
    <dgm:pt modelId="{6E4C71E2-A522-46B2-8AED-0F9C40D9BCBC}" type="pres">
      <dgm:prSet presAssocID="{B7118F00-7FEB-4E8C-A6F9-B6514EFDA034}" presName="horz2" presStyleCnt="0"/>
      <dgm:spPr/>
    </dgm:pt>
    <dgm:pt modelId="{DB0CC87B-120A-4351-B2FC-71DB6ACEEAED}" type="pres">
      <dgm:prSet presAssocID="{B7118F00-7FEB-4E8C-A6F9-B6514EFDA034}" presName="horzSpace2" presStyleCnt="0"/>
      <dgm:spPr/>
    </dgm:pt>
    <dgm:pt modelId="{51A4165D-A36D-4DEC-9AE1-1258F91F63AF}" type="pres">
      <dgm:prSet presAssocID="{B7118F00-7FEB-4E8C-A6F9-B6514EFDA034}" presName="tx2" presStyleLbl="revTx" presStyleIdx="1" presStyleCnt="6"/>
      <dgm:spPr/>
    </dgm:pt>
    <dgm:pt modelId="{CB80B963-C887-438D-8979-8B355F0D9FF7}" type="pres">
      <dgm:prSet presAssocID="{B7118F00-7FEB-4E8C-A6F9-B6514EFDA034}" presName="vert2" presStyleCnt="0"/>
      <dgm:spPr/>
    </dgm:pt>
    <dgm:pt modelId="{7E155229-CA86-45BB-A8D5-F7883D161019}" type="pres">
      <dgm:prSet presAssocID="{B7118F00-7FEB-4E8C-A6F9-B6514EFDA034}" presName="thinLine2b" presStyleLbl="callout" presStyleIdx="0" presStyleCnt="3"/>
      <dgm:spPr/>
    </dgm:pt>
    <dgm:pt modelId="{389E8BA4-90B0-422C-BBCA-77C473774F59}" type="pres">
      <dgm:prSet presAssocID="{B7118F00-7FEB-4E8C-A6F9-B6514EFDA034}" presName="vertSpace2b" presStyleCnt="0"/>
      <dgm:spPr/>
    </dgm:pt>
    <dgm:pt modelId="{0D165F9C-C58D-47FA-82E9-EB9399B91F93}" type="pres">
      <dgm:prSet presAssocID="{EC0346FF-A004-4169-BFD8-F5F84A6E5BF8}" presName="thickLine" presStyleLbl="alignNode1" presStyleIdx="1" presStyleCnt="3"/>
      <dgm:spPr/>
    </dgm:pt>
    <dgm:pt modelId="{D7BC3CAF-3A0A-42D0-ABB6-BA45E18E859B}" type="pres">
      <dgm:prSet presAssocID="{EC0346FF-A004-4169-BFD8-F5F84A6E5BF8}" presName="horz1" presStyleCnt="0"/>
      <dgm:spPr/>
    </dgm:pt>
    <dgm:pt modelId="{80312583-44D2-4B9B-92DB-40EC84CD5BAB}" type="pres">
      <dgm:prSet presAssocID="{EC0346FF-A004-4169-BFD8-F5F84A6E5BF8}" presName="tx1" presStyleLbl="revTx" presStyleIdx="2" presStyleCnt="6"/>
      <dgm:spPr/>
    </dgm:pt>
    <dgm:pt modelId="{430BEB21-C986-4D1F-9243-FF631773F051}" type="pres">
      <dgm:prSet presAssocID="{EC0346FF-A004-4169-BFD8-F5F84A6E5BF8}" presName="vert1" presStyleCnt="0"/>
      <dgm:spPr/>
    </dgm:pt>
    <dgm:pt modelId="{B3F47804-E5B9-4CA3-B552-FC18EF89C360}" type="pres">
      <dgm:prSet presAssocID="{F81811C9-FA20-4D45-B8AF-EBDE53D82F5E}" presName="vertSpace2a" presStyleCnt="0"/>
      <dgm:spPr/>
    </dgm:pt>
    <dgm:pt modelId="{49FDA3A9-1888-4988-B8D1-8B7E371CA2D7}" type="pres">
      <dgm:prSet presAssocID="{F81811C9-FA20-4D45-B8AF-EBDE53D82F5E}" presName="horz2" presStyleCnt="0"/>
      <dgm:spPr/>
    </dgm:pt>
    <dgm:pt modelId="{33C9A926-70CD-48F2-87CC-130C9AD40C50}" type="pres">
      <dgm:prSet presAssocID="{F81811C9-FA20-4D45-B8AF-EBDE53D82F5E}" presName="horzSpace2" presStyleCnt="0"/>
      <dgm:spPr/>
    </dgm:pt>
    <dgm:pt modelId="{9E1D8196-0D28-4775-86F5-83D56A2A7A47}" type="pres">
      <dgm:prSet presAssocID="{F81811C9-FA20-4D45-B8AF-EBDE53D82F5E}" presName="tx2" presStyleLbl="revTx" presStyleIdx="3" presStyleCnt="6"/>
      <dgm:spPr/>
    </dgm:pt>
    <dgm:pt modelId="{69FF3A77-52CB-4E16-811A-C370524175C4}" type="pres">
      <dgm:prSet presAssocID="{F81811C9-FA20-4D45-B8AF-EBDE53D82F5E}" presName="vert2" presStyleCnt="0"/>
      <dgm:spPr/>
    </dgm:pt>
    <dgm:pt modelId="{FE381216-8BFF-4319-BE04-5AEAD29E7AC5}" type="pres">
      <dgm:prSet presAssocID="{F81811C9-FA20-4D45-B8AF-EBDE53D82F5E}" presName="thinLine2b" presStyleLbl="callout" presStyleIdx="1" presStyleCnt="3"/>
      <dgm:spPr/>
    </dgm:pt>
    <dgm:pt modelId="{26E966DC-94AF-44A2-A9AC-EE44225F30EB}" type="pres">
      <dgm:prSet presAssocID="{F81811C9-FA20-4D45-B8AF-EBDE53D82F5E}" presName="vertSpace2b" presStyleCnt="0"/>
      <dgm:spPr/>
    </dgm:pt>
    <dgm:pt modelId="{3E26720F-3CA2-4523-A55E-954B7C927416}" type="pres">
      <dgm:prSet presAssocID="{9394690C-4DA7-4E12-A375-C402BFB51A8A}" presName="thickLine" presStyleLbl="alignNode1" presStyleIdx="2" presStyleCnt="3"/>
      <dgm:spPr/>
    </dgm:pt>
    <dgm:pt modelId="{083B224C-33EF-4D34-8730-AC8033C0D9C4}" type="pres">
      <dgm:prSet presAssocID="{9394690C-4DA7-4E12-A375-C402BFB51A8A}" presName="horz1" presStyleCnt="0"/>
      <dgm:spPr/>
    </dgm:pt>
    <dgm:pt modelId="{2BFFF2C3-AEAF-4446-8495-D72F8576438F}" type="pres">
      <dgm:prSet presAssocID="{9394690C-4DA7-4E12-A375-C402BFB51A8A}" presName="tx1" presStyleLbl="revTx" presStyleIdx="4" presStyleCnt="6"/>
      <dgm:spPr/>
    </dgm:pt>
    <dgm:pt modelId="{69167CC8-01A7-4B0F-AAF0-CCB5D4F00296}" type="pres">
      <dgm:prSet presAssocID="{9394690C-4DA7-4E12-A375-C402BFB51A8A}" presName="vert1" presStyleCnt="0"/>
      <dgm:spPr/>
    </dgm:pt>
    <dgm:pt modelId="{E882B6A8-042D-4F53-A439-D971639C247E}" type="pres">
      <dgm:prSet presAssocID="{7B83FE9A-4336-4300-A36D-1E2EF76EDF36}" presName="vertSpace2a" presStyleCnt="0"/>
      <dgm:spPr/>
    </dgm:pt>
    <dgm:pt modelId="{EB407710-B73F-4B3B-8B81-1F0285AD3FDC}" type="pres">
      <dgm:prSet presAssocID="{7B83FE9A-4336-4300-A36D-1E2EF76EDF36}" presName="horz2" presStyleCnt="0"/>
      <dgm:spPr/>
    </dgm:pt>
    <dgm:pt modelId="{619C9760-3B32-4B80-8FA2-64DC768517C2}" type="pres">
      <dgm:prSet presAssocID="{7B83FE9A-4336-4300-A36D-1E2EF76EDF36}" presName="horzSpace2" presStyleCnt="0"/>
      <dgm:spPr/>
    </dgm:pt>
    <dgm:pt modelId="{3421DB87-7763-4E9E-80AB-3A4244DA1062}" type="pres">
      <dgm:prSet presAssocID="{7B83FE9A-4336-4300-A36D-1E2EF76EDF36}" presName="tx2" presStyleLbl="revTx" presStyleIdx="5" presStyleCnt="6"/>
      <dgm:spPr/>
    </dgm:pt>
    <dgm:pt modelId="{7E4E7C3A-4E97-440E-860E-650021CFBD33}" type="pres">
      <dgm:prSet presAssocID="{7B83FE9A-4336-4300-A36D-1E2EF76EDF36}" presName="vert2" presStyleCnt="0"/>
      <dgm:spPr/>
    </dgm:pt>
    <dgm:pt modelId="{8A374915-E3F2-4D55-80CD-735D6CFC31F4}" type="pres">
      <dgm:prSet presAssocID="{7B83FE9A-4336-4300-A36D-1E2EF76EDF36}" presName="thinLine2b" presStyleLbl="callout" presStyleIdx="2" presStyleCnt="3"/>
      <dgm:spPr/>
    </dgm:pt>
    <dgm:pt modelId="{ECB70442-5E5B-4625-99D5-7C35EDA0EE43}" type="pres">
      <dgm:prSet presAssocID="{7B83FE9A-4336-4300-A36D-1E2EF76EDF36}" presName="vertSpace2b" presStyleCnt="0"/>
      <dgm:spPr/>
    </dgm:pt>
  </dgm:ptLst>
  <dgm:cxnLst>
    <dgm:cxn modelId="{CB581B08-44B9-43C9-9E33-EFE21A6BC254}" type="presOf" srcId="{A270CA04-D3AC-4836-B672-BD10C381E938}" destId="{6511B27F-EEA1-4D85-ADA3-BB8A1C4A521F}" srcOrd="0" destOrd="0" presId="urn:microsoft.com/office/officeart/2008/layout/LinedList"/>
    <dgm:cxn modelId="{02DDB73E-FA92-470B-8C74-1A278BC728FD}" srcId="{EC0346FF-A004-4169-BFD8-F5F84A6E5BF8}" destId="{F81811C9-FA20-4D45-B8AF-EBDE53D82F5E}" srcOrd="0" destOrd="0" parTransId="{99AF29C3-8602-4616-9666-4986D725BBE6}" sibTransId="{13422DB2-DB45-4A4F-B04E-B4CBBA477BAF}"/>
    <dgm:cxn modelId="{9C53D35C-BC8C-44A8-B269-22DB2A360D5F}" srcId="{F043EA2E-4196-402C-9BC9-C3EA5C5CC5B0}" destId="{B7118F00-7FEB-4E8C-A6F9-B6514EFDA034}" srcOrd="0" destOrd="0" parTransId="{E7E99523-35F4-4B8A-8522-ED3D34CD219D}" sibTransId="{BE2211A5-733F-4AFC-81A6-F3EFEADBA076}"/>
    <dgm:cxn modelId="{5E31326A-77FF-4662-981A-85912943EDA8}" srcId="{9394690C-4DA7-4E12-A375-C402BFB51A8A}" destId="{7B83FE9A-4336-4300-A36D-1E2EF76EDF36}" srcOrd="0" destOrd="0" parTransId="{D4C5D6EC-16EC-4982-BA91-C9C9CD058C20}" sibTransId="{2CEA675D-DFB2-48DD-B6E7-9ABD72084365}"/>
    <dgm:cxn modelId="{0800F74F-7F7C-44C6-9EB0-165422B289D4}" srcId="{A270CA04-D3AC-4836-B672-BD10C381E938}" destId="{9394690C-4DA7-4E12-A375-C402BFB51A8A}" srcOrd="2" destOrd="0" parTransId="{B8AD241D-B6D8-4F56-A8AB-5DDE1EAF3EC0}" sibTransId="{915B3AF5-FE0B-4065-999C-B6A69CCF7CFD}"/>
    <dgm:cxn modelId="{F9D77452-0DFF-4C95-B95D-76D26C3A319C}" srcId="{A270CA04-D3AC-4836-B672-BD10C381E938}" destId="{EC0346FF-A004-4169-BFD8-F5F84A6E5BF8}" srcOrd="1" destOrd="0" parTransId="{40254663-3182-4150-8563-CE48A854047E}" sibTransId="{0F46AD0D-CC96-4ADE-A664-43D0A08B0DEC}"/>
    <dgm:cxn modelId="{93190291-1269-4815-BEF6-F5CF56EB8F41}" srcId="{A270CA04-D3AC-4836-B672-BD10C381E938}" destId="{F043EA2E-4196-402C-9BC9-C3EA5C5CC5B0}" srcOrd="0" destOrd="0" parTransId="{418974FA-C7D1-46D3-8208-6B99BFDD87B0}" sibTransId="{C2C239A5-2D51-4505-8080-1CA8D13C5DB3}"/>
    <dgm:cxn modelId="{9B41BD92-2161-48D2-9BCC-502E1AC4663D}" type="presOf" srcId="{B7118F00-7FEB-4E8C-A6F9-B6514EFDA034}" destId="{51A4165D-A36D-4DEC-9AE1-1258F91F63AF}" srcOrd="0" destOrd="0" presId="urn:microsoft.com/office/officeart/2008/layout/LinedList"/>
    <dgm:cxn modelId="{3FB3559B-9C51-4D6C-B644-243DE5BCD990}" type="presOf" srcId="{F81811C9-FA20-4D45-B8AF-EBDE53D82F5E}" destId="{9E1D8196-0D28-4775-86F5-83D56A2A7A47}" srcOrd="0" destOrd="0" presId="urn:microsoft.com/office/officeart/2008/layout/LinedList"/>
    <dgm:cxn modelId="{36B9BCC8-271C-4F59-9EB8-4C7DB1E37E9D}" type="presOf" srcId="{7B83FE9A-4336-4300-A36D-1E2EF76EDF36}" destId="{3421DB87-7763-4E9E-80AB-3A4244DA1062}" srcOrd="0" destOrd="0" presId="urn:microsoft.com/office/officeart/2008/layout/LinedList"/>
    <dgm:cxn modelId="{0F9A33E3-872E-435A-BE93-F28C636D87E7}" type="presOf" srcId="{F043EA2E-4196-402C-9BC9-C3EA5C5CC5B0}" destId="{E17A2724-0B5A-462E-B77B-58652340526B}" srcOrd="0" destOrd="0" presId="urn:microsoft.com/office/officeart/2008/layout/LinedList"/>
    <dgm:cxn modelId="{6A757AF5-41F1-4237-8F18-30C0168A6A3B}" type="presOf" srcId="{9394690C-4DA7-4E12-A375-C402BFB51A8A}" destId="{2BFFF2C3-AEAF-4446-8495-D72F8576438F}" srcOrd="0" destOrd="0" presId="urn:microsoft.com/office/officeart/2008/layout/LinedList"/>
    <dgm:cxn modelId="{AFE46EF8-C1B1-488F-A4EA-1DD6C4B31446}" type="presOf" srcId="{EC0346FF-A004-4169-BFD8-F5F84A6E5BF8}" destId="{80312583-44D2-4B9B-92DB-40EC84CD5BAB}" srcOrd="0" destOrd="0" presId="urn:microsoft.com/office/officeart/2008/layout/LinedList"/>
    <dgm:cxn modelId="{FAEC4F8A-D765-4F70-AEB9-ADB7773C3032}" type="presParOf" srcId="{6511B27F-EEA1-4D85-ADA3-BB8A1C4A521F}" destId="{E077197D-4B0C-4DCD-95A6-A131DE9108F9}" srcOrd="0" destOrd="0" presId="urn:microsoft.com/office/officeart/2008/layout/LinedList"/>
    <dgm:cxn modelId="{3E7441A1-4BB2-4D6C-B128-94DB3150F5EE}" type="presParOf" srcId="{6511B27F-EEA1-4D85-ADA3-BB8A1C4A521F}" destId="{0445D92D-7E05-4267-8384-8CE229F72B43}" srcOrd="1" destOrd="0" presId="urn:microsoft.com/office/officeart/2008/layout/LinedList"/>
    <dgm:cxn modelId="{5DF8CDF7-9543-45DA-A076-3EE3B7B0CB98}" type="presParOf" srcId="{0445D92D-7E05-4267-8384-8CE229F72B43}" destId="{E17A2724-0B5A-462E-B77B-58652340526B}" srcOrd="0" destOrd="0" presId="urn:microsoft.com/office/officeart/2008/layout/LinedList"/>
    <dgm:cxn modelId="{F33C25A9-CECC-4E0D-92EC-4770FB2EAED5}" type="presParOf" srcId="{0445D92D-7E05-4267-8384-8CE229F72B43}" destId="{984964C0-C857-4360-9C5A-82DD00195D7A}" srcOrd="1" destOrd="0" presId="urn:microsoft.com/office/officeart/2008/layout/LinedList"/>
    <dgm:cxn modelId="{775A5E6C-34C3-48D2-BB80-9DFB867C0181}" type="presParOf" srcId="{984964C0-C857-4360-9C5A-82DD00195D7A}" destId="{9FDEC3F5-3A19-4B1A-9069-7BCFA3642B50}" srcOrd="0" destOrd="0" presId="urn:microsoft.com/office/officeart/2008/layout/LinedList"/>
    <dgm:cxn modelId="{31AE8D67-1866-4106-965C-647C924EAB2F}" type="presParOf" srcId="{984964C0-C857-4360-9C5A-82DD00195D7A}" destId="{6E4C71E2-A522-46B2-8AED-0F9C40D9BCBC}" srcOrd="1" destOrd="0" presId="urn:microsoft.com/office/officeart/2008/layout/LinedList"/>
    <dgm:cxn modelId="{CC7F0A69-6C35-4238-993A-FB5565867851}" type="presParOf" srcId="{6E4C71E2-A522-46B2-8AED-0F9C40D9BCBC}" destId="{DB0CC87B-120A-4351-B2FC-71DB6ACEEAED}" srcOrd="0" destOrd="0" presId="urn:microsoft.com/office/officeart/2008/layout/LinedList"/>
    <dgm:cxn modelId="{5A5A4573-952E-4D86-B15C-50B09BBC6F8C}" type="presParOf" srcId="{6E4C71E2-A522-46B2-8AED-0F9C40D9BCBC}" destId="{51A4165D-A36D-4DEC-9AE1-1258F91F63AF}" srcOrd="1" destOrd="0" presId="urn:microsoft.com/office/officeart/2008/layout/LinedList"/>
    <dgm:cxn modelId="{04F1B9AE-5741-4D3F-A2FE-8D74DB2C929C}" type="presParOf" srcId="{6E4C71E2-A522-46B2-8AED-0F9C40D9BCBC}" destId="{CB80B963-C887-438D-8979-8B355F0D9FF7}" srcOrd="2" destOrd="0" presId="urn:microsoft.com/office/officeart/2008/layout/LinedList"/>
    <dgm:cxn modelId="{3570C4FC-559E-4B1E-8BD4-CA625981A04F}" type="presParOf" srcId="{984964C0-C857-4360-9C5A-82DD00195D7A}" destId="{7E155229-CA86-45BB-A8D5-F7883D161019}" srcOrd="2" destOrd="0" presId="urn:microsoft.com/office/officeart/2008/layout/LinedList"/>
    <dgm:cxn modelId="{300C297D-B86B-4FEE-B948-23AA162F162C}" type="presParOf" srcId="{984964C0-C857-4360-9C5A-82DD00195D7A}" destId="{389E8BA4-90B0-422C-BBCA-77C473774F59}" srcOrd="3" destOrd="0" presId="urn:microsoft.com/office/officeart/2008/layout/LinedList"/>
    <dgm:cxn modelId="{38F4A8EA-A4C5-448E-8C13-2DFBC774BD37}" type="presParOf" srcId="{6511B27F-EEA1-4D85-ADA3-BB8A1C4A521F}" destId="{0D165F9C-C58D-47FA-82E9-EB9399B91F93}" srcOrd="2" destOrd="0" presId="urn:microsoft.com/office/officeart/2008/layout/LinedList"/>
    <dgm:cxn modelId="{E6971411-B1D2-459F-A1D1-3201FA284C3F}" type="presParOf" srcId="{6511B27F-EEA1-4D85-ADA3-BB8A1C4A521F}" destId="{D7BC3CAF-3A0A-42D0-ABB6-BA45E18E859B}" srcOrd="3" destOrd="0" presId="urn:microsoft.com/office/officeart/2008/layout/LinedList"/>
    <dgm:cxn modelId="{97034E6B-4DD4-4C72-BE09-9C43F6A7C4EA}" type="presParOf" srcId="{D7BC3CAF-3A0A-42D0-ABB6-BA45E18E859B}" destId="{80312583-44D2-4B9B-92DB-40EC84CD5BAB}" srcOrd="0" destOrd="0" presId="urn:microsoft.com/office/officeart/2008/layout/LinedList"/>
    <dgm:cxn modelId="{573AD96F-C3CC-4E50-B08A-9E65DADD7CFA}" type="presParOf" srcId="{D7BC3CAF-3A0A-42D0-ABB6-BA45E18E859B}" destId="{430BEB21-C986-4D1F-9243-FF631773F051}" srcOrd="1" destOrd="0" presId="urn:microsoft.com/office/officeart/2008/layout/LinedList"/>
    <dgm:cxn modelId="{4F14E2DF-9543-4DA6-B4A1-1FEC76067EA8}" type="presParOf" srcId="{430BEB21-C986-4D1F-9243-FF631773F051}" destId="{B3F47804-E5B9-4CA3-B552-FC18EF89C360}" srcOrd="0" destOrd="0" presId="urn:microsoft.com/office/officeart/2008/layout/LinedList"/>
    <dgm:cxn modelId="{72985CC0-8E1E-412E-A8D8-474EFB4400E9}" type="presParOf" srcId="{430BEB21-C986-4D1F-9243-FF631773F051}" destId="{49FDA3A9-1888-4988-B8D1-8B7E371CA2D7}" srcOrd="1" destOrd="0" presId="urn:microsoft.com/office/officeart/2008/layout/LinedList"/>
    <dgm:cxn modelId="{D9695CC1-8767-429A-8B1F-A1B2C8C2DC09}" type="presParOf" srcId="{49FDA3A9-1888-4988-B8D1-8B7E371CA2D7}" destId="{33C9A926-70CD-48F2-87CC-130C9AD40C50}" srcOrd="0" destOrd="0" presId="urn:microsoft.com/office/officeart/2008/layout/LinedList"/>
    <dgm:cxn modelId="{22C770C7-B771-4E66-8D56-E0F4069347B8}" type="presParOf" srcId="{49FDA3A9-1888-4988-B8D1-8B7E371CA2D7}" destId="{9E1D8196-0D28-4775-86F5-83D56A2A7A47}" srcOrd="1" destOrd="0" presId="urn:microsoft.com/office/officeart/2008/layout/LinedList"/>
    <dgm:cxn modelId="{48BE56A9-2348-4723-AF45-97EB687A6806}" type="presParOf" srcId="{49FDA3A9-1888-4988-B8D1-8B7E371CA2D7}" destId="{69FF3A77-52CB-4E16-811A-C370524175C4}" srcOrd="2" destOrd="0" presId="urn:microsoft.com/office/officeart/2008/layout/LinedList"/>
    <dgm:cxn modelId="{D83B17BC-92E7-4B68-A866-B23F5D0C3155}" type="presParOf" srcId="{430BEB21-C986-4D1F-9243-FF631773F051}" destId="{FE381216-8BFF-4319-BE04-5AEAD29E7AC5}" srcOrd="2" destOrd="0" presId="urn:microsoft.com/office/officeart/2008/layout/LinedList"/>
    <dgm:cxn modelId="{BDAA1A7D-08F1-43D8-96BE-31203BEE91CA}" type="presParOf" srcId="{430BEB21-C986-4D1F-9243-FF631773F051}" destId="{26E966DC-94AF-44A2-A9AC-EE44225F30EB}" srcOrd="3" destOrd="0" presId="urn:microsoft.com/office/officeart/2008/layout/LinedList"/>
    <dgm:cxn modelId="{9A859151-C16C-4679-A1AB-05C1F0E91942}" type="presParOf" srcId="{6511B27F-EEA1-4D85-ADA3-BB8A1C4A521F}" destId="{3E26720F-3CA2-4523-A55E-954B7C927416}" srcOrd="4" destOrd="0" presId="urn:microsoft.com/office/officeart/2008/layout/LinedList"/>
    <dgm:cxn modelId="{1AD6003D-01A7-4542-B4AE-F04459B65168}" type="presParOf" srcId="{6511B27F-EEA1-4D85-ADA3-BB8A1C4A521F}" destId="{083B224C-33EF-4D34-8730-AC8033C0D9C4}" srcOrd="5" destOrd="0" presId="urn:microsoft.com/office/officeart/2008/layout/LinedList"/>
    <dgm:cxn modelId="{0292C224-91DF-416F-ADCD-92682945AC33}" type="presParOf" srcId="{083B224C-33EF-4D34-8730-AC8033C0D9C4}" destId="{2BFFF2C3-AEAF-4446-8495-D72F8576438F}" srcOrd="0" destOrd="0" presId="urn:microsoft.com/office/officeart/2008/layout/LinedList"/>
    <dgm:cxn modelId="{E1960CB9-1C4C-4183-8149-F186CA623B5F}" type="presParOf" srcId="{083B224C-33EF-4D34-8730-AC8033C0D9C4}" destId="{69167CC8-01A7-4B0F-AAF0-CCB5D4F00296}" srcOrd="1" destOrd="0" presId="urn:microsoft.com/office/officeart/2008/layout/LinedList"/>
    <dgm:cxn modelId="{DF2D22AE-91B2-48EE-8353-2A141A03D1E7}" type="presParOf" srcId="{69167CC8-01A7-4B0F-AAF0-CCB5D4F00296}" destId="{E882B6A8-042D-4F53-A439-D971639C247E}" srcOrd="0" destOrd="0" presId="urn:microsoft.com/office/officeart/2008/layout/LinedList"/>
    <dgm:cxn modelId="{1A30AD1C-713F-44D1-A2F5-C1D11E915880}" type="presParOf" srcId="{69167CC8-01A7-4B0F-AAF0-CCB5D4F00296}" destId="{EB407710-B73F-4B3B-8B81-1F0285AD3FDC}" srcOrd="1" destOrd="0" presId="urn:microsoft.com/office/officeart/2008/layout/LinedList"/>
    <dgm:cxn modelId="{0309ECE3-6196-4F29-AA5B-70EDA7CD1377}" type="presParOf" srcId="{EB407710-B73F-4B3B-8B81-1F0285AD3FDC}" destId="{619C9760-3B32-4B80-8FA2-64DC768517C2}" srcOrd="0" destOrd="0" presId="urn:microsoft.com/office/officeart/2008/layout/LinedList"/>
    <dgm:cxn modelId="{31D4E23F-C9B3-4A6E-A5AA-23747C7F07A7}" type="presParOf" srcId="{EB407710-B73F-4B3B-8B81-1F0285AD3FDC}" destId="{3421DB87-7763-4E9E-80AB-3A4244DA1062}" srcOrd="1" destOrd="0" presId="urn:microsoft.com/office/officeart/2008/layout/LinedList"/>
    <dgm:cxn modelId="{C3663FA0-4969-44A4-94B0-ACECAC195AEB}" type="presParOf" srcId="{EB407710-B73F-4B3B-8B81-1F0285AD3FDC}" destId="{7E4E7C3A-4E97-440E-860E-650021CFBD33}" srcOrd="2" destOrd="0" presId="urn:microsoft.com/office/officeart/2008/layout/LinedList"/>
    <dgm:cxn modelId="{7B1B8A06-2343-4538-96CD-4C08608D3773}" type="presParOf" srcId="{69167CC8-01A7-4B0F-AAF0-CCB5D4F00296}" destId="{8A374915-E3F2-4D55-80CD-735D6CFC31F4}" srcOrd="2" destOrd="0" presId="urn:microsoft.com/office/officeart/2008/layout/LinedList"/>
    <dgm:cxn modelId="{69CD1207-35B3-4C18-9160-101387AA2E6F}" type="presParOf" srcId="{69167CC8-01A7-4B0F-AAF0-CCB5D4F00296}" destId="{ECB70442-5E5B-4625-99D5-7C35EDA0EE43}" srcOrd="3"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77197D-4B0C-4DCD-95A6-A131DE9108F9}">
      <dsp:nvSpPr>
        <dsp:cNvPr id="0" name=""/>
        <dsp:cNvSpPr/>
      </dsp:nvSpPr>
      <dsp:spPr>
        <a:xfrm>
          <a:off x="0" y="5215"/>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17A2724-0B5A-462E-B77B-58652340526B}">
      <dsp:nvSpPr>
        <dsp:cNvPr id="0" name=""/>
        <dsp:cNvSpPr/>
      </dsp:nvSpPr>
      <dsp:spPr>
        <a:xfrm>
          <a:off x="0" y="5215"/>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1H26 (prelim.)</a:t>
          </a:r>
        </a:p>
      </dsp:txBody>
      <dsp:txXfrm>
        <a:off x="0" y="5215"/>
        <a:ext cx="1593243" cy="3556652"/>
      </dsp:txXfrm>
    </dsp:sp>
    <dsp:sp modelId="{51A4165D-A36D-4DEC-9AE1-1258F91F63AF}">
      <dsp:nvSpPr>
        <dsp:cNvPr id="0" name=""/>
        <dsp:cNvSpPr/>
      </dsp:nvSpPr>
      <dsp:spPr>
        <a:xfrm>
          <a:off x="1712736" y="166723"/>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latin typeface="SVN-Gilroy" panose="00000500000000000000" pitchFamily="50" charset="0"/>
            </a:rPr>
            <a:t>2Q26 PBT guided at VND1,900–2,000bn (≈-50% YoY); 1H26 ~VND4.0–4.1tn:</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NIM squeezed; NPL est. rising to ~5.6%</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record provisioning &gt;VND4.7tn; official BCTC pending</a:t>
          </a:r>
        </a:p>
      </dsp:txBody>
      <dsp:txXfrm>
        <a:off x="1712736" y="166723"/>
        <a:ext cx="6253481" cy="3230163"/>
      </dsp:txXfrm>
    </dsp:sp>
    <dsp:sp modelId="{7E155229-CA86-45BB-A8D5-F7883D161019}">
      <dsp:nvSpPr>
        <dsp:cNvPr id="0" name=""/>
        <dsp:cNvSpPr/>
      </dsp:nvSpPr>
      <dsp:spPr>
        <a:xfrm>
          <a:off x="1593243" y="3396886"/>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0D165F9C-C58D-47FA-82E9-EB9399B91F93}">
      <dsp:nvSpPr>
        <dsp:cNvPr id="0" name=""/>
        <dsp:cNvSpPr/>
      </dsp:nvSpPr>
      <dsp:spPr>
        <a:xfrm>
          <a:off x="0" y="3561867"/>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0312583-44D2-4B9B-92DB-40EC84CD5BAB}">
      <dsp:nvSpPr>
        <dsp:cNvPr id="0" name=""/>
        <dsp:cNvSpPr/>
      </dsp:nvSpPr>
      <dsp:spPr>
        <a:xfrm>
          <a:off x="0" y="3561867"/>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2026 target</a:t>
          </a:r>
        </a:p>
      </dsp:txBody>
      <dsp:txXfrm>
        <a:off x="0" y="3561867"/>
        <a:ext cx="1593243" cy="3556652"/>
      </dsp:txXfrm>
    </dsp:sp>
    <dsp:sp modelId="{9E1D8196-0D28-4775-86F5-83D56A2A7A47}">
      <dsp:nvSpPr>
        <dsp:cNvPr id="0" name=""/>
        <dsp:cNvSpPr/>
      </dsp:nvSpPr>
      <dsp:spPr>
        <a:xfrm>
          <a:off x="1712736" y="3723375"/>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dirty="0">
              <a:latin typeface="SVN-Gilroy" panose="00000500000000000000" pitchFamily="50" charset="0"/>
            </a:rPr>
            <a:t>The 2026 targets: </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total assets of VND1.01mn bn (+10%)</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credit growth of ~12%, PBT of VND8.1tn (+6%)</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NPLs below 4.5%. </a:t>
          </a:r>
          <a:endParaRPr lang="en-US" sz="2900" b="0" kern="1200" dirty="0"/>
        </a:p>
      </dsp:txBody>
      <dsp:txXfrm>
        <a:off x="1712736" y="3723375"/>
        <a:ext cx="6253481" cy="3230163"/>
      </dsp:txXfrm>
    </dsp:sp>
    <dsp:sp modelId="{FE381216-8BFF-4319-BE04-5AEAD29E7AC5}">
      <dsp:nvSpPr>
        <dsp:cNvPr id="0" name=""/>
        <dsp:cNvSpPr/>
      </dsp:nvSpPr>
      <dsp:spPr>
        <a:xfrm>
          <a:off x="1593243" y="6953538"/>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3E26720F-3CA2-4523-A55E-954B7C927416}">
      <dsp:nvSpPr>
        <dsp:cNvPr id="0" name=""/>
        <dsp:cNvSpPr/>
      </dsp:nvSpPr>
      <dsp:spPr>
        <a:xfrm>
          <a:off x="0" y="7118520"/>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BFFF2C3-AEAF-4446-8495-D72F8576438F}">
      <dsp:nvSpPr>
        <dsp:cNvPr id="0" name=""/>
        <dsp:cNvSpPr/>
      </dsp:nvSpPr>
      <dsp:spPr>
        <a:xfrm>
          <a:off x="0" y="7118520"/>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 Our Forecast</a:t>
          </a:r>
        </a:p>
      </dsp:txBody>
      <dsp:txXfrm>
        <a:off x="0" y="7118520"/>
        <a:ext cx="1593243" cy="3556652"/>
      </dsp:txXfrm>
    </dsp:sp>
    <dsp:sp modelId="{3421DB87-7763-4E9E-80AB-3A4244DA1062}">
      <dsp:nvSpPr>
        <dsp:cNvPr id="0" name=""/>
        <dsp:cNvSpPr/>
      </dsp:nvSpPr>
      <dsp:spPr>
        <a:xfrm>
          <a:off x="1712736" y="7280028"/>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0" kern="1200" dirty="0">
              <a:latin typeface="SVN-Gilroy" panose="00000500000000000000"/>
            </a:rPr>
            <a:t>FY26E NII +1.2% to VND27.0tn on </a:t>
          </a:r>
        </a:p>
        <a:p>
          <a:pPr marL="0" lvl="0" indent="0" algn="l" defTabSz="1289050">
            <a:lnSpc>
              <a:spcPct val="90000"/>
            </a:lnSpc>
            <a:spcBef>
              <a:spcPct val="0"/>
            </a:spcBef>
            <a:spcAft>
              <a:spcPct val="35000"/>
            </a:spcAft>
            <a:buNone/>
          </a:pPr>
          <a:r>
            <a:rPr lang="en-US" sz="2900" b="0" kern="1200" dirty="0">
              <a:latin typeface="SVN-Gilroy" panose="00000500000000000000"/>
            </a:rPr>
            <a:t>- 10.1% loan growth</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a:rPr>
            <a:t>- Provisioning of 10.5tn (-8.9% YoY)</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a:rPr>
            <a:t>- CIR at 42.9% (</a:t>
          </a:r>
          <a:r>
            <a:rPr lang="vi-VN" sz="2900" b="0" kern="1200" dirty="0">
              <a:solidFill>
                <a:schemeClr val="tx1"/>
              </a:solidFill>
              <a:latin typeface="SVN-Gilroy" panose="00000500000000000000"/>
            </a:rPr>
            <a:t>+</a:t>
          </a:r>
          <a:r>
            <a:rPr lang="en-US" sz="2900" b="0" kern="1200" dirty="0">
              <a:solidFill>
                <a:schemeClr val="tx1"/>
              </a:solidFill>
              <a:latin typeface="SVN-Gilroy" panose="00000500000000000000"/>
            </a:rPr>
            <a:t>2</a:t>
          </a:r>
          <a:r>
            <a:rPr lang="vi-VN" sz="2900" b="0" kern="1200" dirty="0">
              <a:solidFill>
                <a:schemeClr val="tx1"/>
              </a:solidFill>
              <a:latin typeface="SVN-Gilroy" panose="00000500000000000000"/>
            </a:rPr>
            <a:t>.</a:t>
          </a:r>
          <a:r>
            <a:rPr lang="en-US" sz="2900" b="0" kern="1200" dirty="0">
              <a:solidFill>
                <a:schemeClr val="tx1"/>
              </a:solidFill>
              <a:latin typeface="SVN-Gilroy" panose="00000500000000000000"/>
            </a:rPr>
            <a:t>2</a:t>
          </a:r>
          <a:r>
            <a:rPr lang="vi-VN" sz="2900" b="0" kern="1200" dirty="0">
              <a:solidFill>
                <a:schemeClr val="tx1"/>
              </a:solidFill>
              <a:latin typeface="SVN-Gilroy" panose="00000500000000000000"/>
            </a:rPr>
            <a:t>%p YoY)</a:t>
          </a:r>
          <a:endParaRPr lang="en-US" sz="2900" b="0" kern="1200" dirty="0">
            <a:solidFill>
              <a:schemeClr val="tx1"/>
            </a:solidFill>
            <a:latin typeface="SVN-Gilroy" panose="00000500000000000000"/>
          </a:endParaRPr>
        </a:p>
      </dsp:txBody>
      <dsp:txXfrm>
        <a:off x="1712736" y="7280028"/>
        <a:ext cx="6253481" cy="3230163"/>
      </dsp:txXfrm>
    </dsp:sp>
    <dsp:sp modelId="{8A374915-E3F2-4D55-80CD-735D6CFC31F4}">
      <dsp:nvSpPr>
        <dsp:cNvPr id="0" name=""/>
        <dsp:cNvSpPr/>
      </dsp:nvSpPr>
      <dsp:spPr>
        <a:xfrm>
          <a:off x="1593243" y="10510191"/>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77197D-4B0C-4DCD-95A6-A131DE9108F9}">
      <dsp:nvSpPr>
        <dsp:cNvPr id="0" name=""/>
        <dsp:cNvSpPr/>
      </dsp:nvSpPr>
      <dsp:spPr>
        <a:xfrm>
          <a:off x="0" y="5215"/>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E17A2724-0B5A-462E-B77B-58652340526B}">
      <dsp:nvSpPr>
        <dsp:cNvPr id="0" name=""/>
        <dsp:cNvSpPr/>
      </dsp:nvSpPr>
      <dsp:spPr>
        <a:xfrm>
          <a:off x="0" y="5215"/>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KQKD 1H26 (sơ bộ)</a:t>
          </a:r>
        </a:p>
      </dsp:txBody>
      <dsp:txXfrm>
        <a:off x="0" y="5215"/>
        <a:ext cx="1593243" cy="3556652"/>
      </dsp:txXfrm>
    </dsp:sp>
    <dsp:sp modelId="{51A4165D-A36D-4DEC-9AE1-1258F91F63AF}">
      <dsp:nvSpPr>
        <dsp:cNvPr id="0" name=""/>
        <dsp:cNvSpPr/>
      </dsp:nvSpPr>
      <dsp:spPr>
        <a:xfrm>
          <a:off x="1712736" y="166723"/>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vi-VN" sz="2900" kern="1200" dirty="0">
              <a:latin typeface="SVN-Gilroy" panose="00000500000000000000" pitchFamily="50" charset="0"/>
            </a:rPr>
            <a:t>LNTT Q2/26 ước 1,900–2,000 tỷ (≈-50% CK); 1H26 ~4.0–4.1 nghìn tỷ:</a:t>
          </a:r>
        </a:p>
        <a:p>
          <a:pPr marL="0" lvl="0" indent="0" algn="l" defTabSz="1289050">
            <a:lnSpc>
              <a:spcPct val="90000"/>
            </a:lnSpc>
            <a:spcBef>
              <a:spcPct val="0"/>
            </a:spcBef>
            <a:spcAft>
              <a:spcPct val="35000"/>
            </a:spcAft>
            <a:buNone/>
          </a:pPr>
          <a:r>
            <a:rPr lang="en-US" sz="2900" kern="1200" dirty="0">
              <a:latin typeface="SVN-Gilroy" panose="00000500000000000000" pitchFamily="50" charset="0"/>
            </a:rPr>
            <a:t>- NIM thu hẹp; nợ xấu ước tăng lên ~5.6%</a:t>
          </a:r>
          <a:endParaRPr lang="vi-VN" sz="2900" kern="1200" dirty="0">
            <a:latin typeface="SVN-Gilroy" panose="00000500000000000000" pitchFamily="50" charset="0"/>
          </a:endParaRPr>
        </a:p>
        <a:p>
          <a:pPr marL="0" lvl="0" indent="0" algn="l" defTabSz="1289050">
            <a:lnSpc>
              <a:spcPct val="90000"/>
            </a:lnSpc>
            <a:spcBef>
              <a:spcPct val="0"/>
            </a:spcBef>
            <a:spcAft>
              <a:spcPct val="35000"/>
            </a:spcAft>
            <a:buNone/>
          </a:pPr>
          <a:r>
            <a:rPr lang="en-US" sz="2900" kern="1200" dirty="0">
              <a:latin typeface="SVN-Gilroy" panose="00000500000000000000" pitchFamily="50" charset="0"/>
            </a:rPr>
            <a:t>- Dự phòng kỷ lục &gt;4,700 tỷ, nhóm cao nhất ngành</a:t>
          </a:r>
        </a:p>
        <a:p>
          <a:pPr marL="0" lvl="0" indent="0" algn="l" defTabSz="1289050">
            <a:lnSpc>
              <a:spcPct val="90000"/>
            </a:lnSpc>
            <a:spcBef>
              <a:spcPct val="0"/>
            </a:spcBef>
            <a:spcAft>
              <a:spcPct val="35000"/>
            </a:spcAft>
            <a:buNone/>
          </a:pPr>
          <a:r>
            <a:rPr lang="en-US" sz="2900" kern="1200" dirty="0">
              <a:latin typeface="SVN-Gilroy" panose="00000500000000000000" pitchFamily="50" charset="0"/>
            </a:rPr>
            <a:t>- Số liệu chính thức sẽ công bố trong BCTC</a:t>
          </a:r>
          <a:endParaRPr lang="en-US" sz="2900" b="1" kern="1200" dirty="0">
            <a:latin typeface="SVN-Gilroy" panose="00000500000000000000" pitchFamily="50" charset="0"/>
          </a:endParaRPr>
        </a:p>
      </dsp:txBody>
      <dsp:txXfrm>
        <a:off x="1712736" y="166723"/>
        <a:ext cx="6253481" cy="3230163"/>
      </dsp:txXfrm>
    </dsp:sp>
    <dsp:sp modelId="{7E155229-CA86-45BB-A8D5-F7883D161019}">
      <dsp:nvSpPr>
        <dsp:cNvPr id="0" name=""/>
        <dsp:cNvSpPr/>
      </dsp:nvSpPr>
      <dsp:spPr>
        <a:xfrm>
          <a:off x="1593243" y="3396886"/>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0D165F9C-C58D-47FA-82E9-EB9399B91F93}">
      <dsp:nvSpPr>
        <dsp:cNvPr id="0" name=""/>
        <dsp:cNvSpPr/>
      </dsp:nvSpPr>
      <dsp:spPr>
        <a:xfrm>
          <a:off x="0" y="3561867"/>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80312583-44D2-4B9B-92DB-40EC84CD5BAB}">
      <dsp:nvSpPr>
        <dsp:cNvPr id="0" name=""/>
        <dsp:cNvSpPr/>
      </dsp:nvSpPr>
      <dsp:spPr>
        <a:xfrm>
          <a:off x="0" y="3561867"/>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a:solidFill>
                <a:srgbClr val="F48120"/>
              </a:solidFill>
              <a:latin typeface="SVN-Gilroy" panose="00000500000000000000" pitchFamily="50" charset="0"/>
            </a:rPr>
            <a:t>2026 ĐHCĐ</a:t>
          </a:r>
        </a:p>
      </dsp:txBody>
      <dsp:txXfrm>
        <a:off x="0" y="3561867"/>
        <a:ext cx="1593243" cy="3556652"/>
      </dsp:txXfrm>
    </dsp:sp>
    <dsp:sp modelId="{9E1D8196-0D28-4775-86F5-83D56A2A7A47}">
      <dsp:nvSpPr>
        <dsp:cNvPr id="0" name=""/>
        <dsp:cNvSpPr/>
      </dsp:nvSpPr>
      <dsp:spPr>
        <a:xfrm>
          <a:off x="1712736" y="3723375"/>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TTS </a:t>
          </a:r>
          <a:r>
            <a:rPr lang="en-US" sz="2900" kern="1200" dirty="0" err="1">
              <a:latin typeface="SVN-Gilroy" panose="00000500000000000000" pitchFamily="50" charset="0"/>
            </a:rPr>
            <a:t>đạt</a:t>
          </a:r>
          <a:r>
            <a:rPr lang="en-US" sz="2900" kern="1200" dirty="0">
              <a:latin typeface="SVN-Gilroy" panose="00000500000000000000" pitchFamily="50" charset="0"/>
            </a:rPr>
            <a:t> 1.01 </a:t>
          </a:r>
          <a:r>
            <a:rPr lang="en-US" sz="2900" kern="1200" dirty="0" err="1">
              <a:latin typeface="SVN-Gilroy" panose="00000500000000000000" pitchFamily="50" charset="0"/>
            </a:rPr>
            <a:t>triệu</a:t>
          </a:r>
          <a:r>
            <a:rPr lang="en-US" sz="2900" kern="1200" dirty="0">
              <a:latin typeface="SVN-Gilroy" panose="00000500000000000000" pitchFamily="50" charset="0"/>
            </a:rPr>
            <a:t> </a:t>
          </a:r>
          <a:r>
            <a:rPr lang="en-US" sz="2900" kern="1200" dirty="0" err="1">
              <a:latin typeface="SVN-Gilroy" panose="00000500000000000000" pitchFamily="50" charset="0"/>
            </a:rPr>
            <a:t>tỷ</a:t>
          </a:r>
          <a:r>
            <a:rPr lang="en-US" sz="2900" kern="1200" dirty="0">
              <a:latin typeface="SVN-Gilroy" panose="00000500000000000000" pitchFamily="50" charset="0"/>
            </a:rPr>
            <a:t> (+10%)</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TT </a:t>
          </a:r>
          <a:r>
            <a:rPr lang="en-US" sz="2900" kern="1200" dirty="0" err="1">
              <a:latin typeface="SVN-Gilroy" panose="00000500000000000000" pitchFamily="50" charset="0"/>
            </a:rPr>
            <a:t>Tín</a:t>
          </a:r>
          <a:r>
            <a:rPr lang="en-US" sz="2900" kern="1200" dirty="0">
              <a:latin typeface="SVN-Gilroy" panose="00000500000000000000" pitchFamily="50" charset="0"/>
            </a:rPr>
            <a:t> </a:t>
          </a:r>
          <a:r>
            <a:rPr lang="en-US" sz="2900" kern="1200" dirty="0" err="1">
              <a:latin typeface="SVN-Gilroy" panose="00000500000000000000" pitchFamily="50" charset="0"/>
            </a:rPr>
            <a:t>dụng</a:t>
          </a:r>
          <a:r>
            <a:rPr lang="en-US" sz="2900" kern="1200" dirty="0">
              <a:latin typeface="SVN-Gilroy" panose="00000500000000000000" pitchFamily="50" charset="0"/>
            </a:rPr>
            <a:t> </a:t>
          </a:r>
          <a:r>
            <a:rPr lang="en-US" sz="2900" kern="1200" dirty="0" err="1">
              <a:latin typeface="SVN-Gilroy" panose="00000500000000000000" pitchFamily="50" charset="0"/>
            </a:rPr>
            <a:t>đạt</a:t>
          </a:r>
          <a:r>
            <a:rPr lang="en-US" sz="2900" kern="1200" dirty="0">
              <a:latin typeface="SVN-Gilroy" panose="00000500000000000000" pitchFamily="50" charset="0"/>
            </a:rPr>
            <a:t> 12%, </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LNTT </a:t>
          </a:r>
          <a:r>
            <a:rPr lang="en-US" sz="2900" kern="1200" dirty="0" err="1">
              <a:latin typeface="SVN-Gilroy" panose="00000500000000000000" pitchFamily="50" charset="0"/>
            </a:rPr>
            <a:t>đạt</a:t>
          </a:r>
          <a:r>
            <a:rPr lang="en-US" sz="2900" kern="1200" dirty="0">
              <a:latin typeface="SVN-Gilroy" panose="00000500000000000000" pitchFamily="50" charset="0"/>
            </a:rPr>
            <a:t> 8.1 </a:t>
          </a:r>
          <a:r>
            <a:rPr lang="en-US" sz="2900" kern="1200" dirty="0" err="1">
              <a:latin typeface="SVN-Gilroy" panose="00000500000000000000" pitchFamily="50" charset="0"/>
            </a:rPr>
            <a:t>nghìn</a:t>
          </a:r>
          <a:r>
            <a:rPr lang="en-US" sz="2900" kern="1200" dirty="0">
              <a:latin typeface="SVN-Gilroy" panose="00000500000000000000" pitchFamily="50" charset="0"/>
            </a:rPr>
            <a:t> </a:t>
          </a:r>
          <a:r>
            <a:rPr lang="en-US" sz="2900" kern="1200" dirty="0" err="1">
              <a:latin typeface="SVN-Gilroy" panose="00000500000000000000" pitchFamily="50" charset="0"/>
            </a:rPr>
            <a:t>tỷ</a:t>
          </a:r>
          <a:r>
            <a:rPr lang="en-US" sz="2900" kern="1200" dirty="0">
              <a:latin typeface="SVN-Gilroy" panose="00000500000000000000" pitchFamily="50" charset="0"/>
            </a:rPr>
            <a:t> (+6%), </a:t>
          </a:r>
        </a:p>
        <a:p>
          <a:pPr marL="0" lvl="0" indent="0" algn="l" defTabSz="1289050">
            <a:lnSpc>
              <a:spcPct val="90000"/>
            </a:lnSpc>
            <a:spcBef>
              <a:spcPct val="0"/>
            </a:spcBef>
            <a:spcAft>
              <a:spcPct val="35000"/>
            </a:spcAft>
            <a:buFont typeface="Arial" panose="020B0604020202020204" pitchFamily="34" charset="0"/>
            <a:buNone/>
          </a:pPr>
          <a:r>
            <a:rPr lang="en-US" sz="2900" kern="1200" dirty="0">
              <a:latin typeface="SVN-Gilroy" panose="00000500000000000000" pitchFamily="50" charset="0"/>
            </a:rPr>
            <a:t>- </a:t>
          </a:r>
          <a:r>
            <a:rPr lang="en-US" sz="2900" kern="1200" dirty="0" err="1">
              <a:latin typeface="SVN-Gilroy" panose="00000500000000000000" pitchFamily="50" charset="0"/>
            </a:rPr>
            <a:t>Tỷ</a:t>
          </a:r>
          <a:r>
            <a:rPr lang="en-US" sz="2900" kern="1200" dirty="0">
              <a:latin typeface="SVN-Gilroy" panose="00000500000000000000" pitchFamily="50" charset="0"/>
            </a:rPr>
            <a:t> </a:t>
          </a:r>
          <a:r>
            <a:rPr lang="en-US" sz="2900" kern="1200" dirty="0" err="1">
              <a:latin typeface="SVN-Gilroy" panose="00000500000000000000" pitchFamily="50" charset="0"/>
            </a:rPr>
            <a:t>lệ</a:t>
          </a:r>
          <a:r>
            <a:rPr lang="en-US" sz="2900" kern="1200" dirty="0">
              <a:latin typeface="SVN-Gilroy" panose="00000500000000000000" pitchFamily="50" charset="0"/>
            </a:rPr>
            <a:t> </a:t>
          </a:r>
          <a:r>
            <a:rPr lang="en-US" sz="2900" kern="1200" dirty="0" err="1">
              <a:latin typeface="SVN-Gilroy" panose="00000500000000000000" pitchFamily="50" charset="0"/>
            </a:rPr>
            <a:t>nợ</a:t>
          </a:r>
          <a:r>
            <a:rPr lang="en-US" sz="2900" kern="1200" dirty="0">
              <a:latin typeface="SVN-Gilroy" panose="00000500000000000000" pitchFamily="50" charset="0"/>
            </a:rPr>
            <a:t> </a:t>
          </a:r>
          <a:r>
            <a:rPr lang="en-US" sz="2900" kern="1200" dirty="0" err="1">
              <a:latin typeface="SVN-Gilroy" panose="00000500000000000000" pitchFamily="50" charset="0"/>
            </a:rPr>
            <a:t>xấu</a:t>
          </a:r>
          <a:r>
            <a:rPr lang="en-US" sz="2900" kern="1200" dirty="0">
              <a:latin typeface="SVN-Gilroy" panose="00000500000000000000" pitchFamily="50" charset="0"/>
            </a:rPr>
            <a:t> </a:t>
          </a:r>
          <a:r>
            <a:rPr lang="en-US" sz="2900" kern="1200" dirty="0" err="1">
              <a:latin typeface="SVN-Gilroy" panose="00000500000000000000" pitchFamily="50" charset="0"/>
            </a:rPr>
            <a:t>dưới</a:t>
          </a:r>
          <a:r>
            <a:rPr lang="en-US" sz="2900" kern="1200" dirty="0">
              <a:latin typeface="SVN-Gilroy" panose="00000500000000000000" pitchFamily="50" charset="0"/>
            </a:rPr>
            <a:t> 4.5%. </a:t>
          </a:r>
          <a:endParaRPr lang="en-US" sz="2900" b="0" kern="1200" dirty="0"/>
        </a:p>
      </dsp:txBody>
      <dsp:txXfrm>
        <a:off x="1712736" y="3723375"/>
        <a:ext cx="6253481" cy="3230163"/>
      </dsp:txXfrm>
    </dsp:sp>
    <dsp:sp modelId="{FE381216-8BFF-4319-BE04-5AEAD29E7AC5}">
      <dsp:nvSpPr>
        <dsp:cNvPr id="0" name=""/>
        <dsp:cNvSpPr/>
      </dsp:nvSpPr>
      <dsp:spPr>
        <a:xfrm>
          <a:off x="1593243" y="6953538"/>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 modelId="{3E26720F-3CA2-4523-A55E-954B7C927416}">
      <dsp:nvSpPr>
        <dsp:cNvPr id="0" name=""/>
        <dsp:cNvSpPr/>
      </dsp:nvSpPr>
      <dsp:spPr>
        <a:xfrm>
          <a:off x="0" y="7118520"/>
          <a:ext cx="7966218" cy="0"/>
        </a:xfrm>
        <a:prstGeom prst="lin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sp>
    <dsp:sp modelId="{2BFFF2C3-AEAF-4446-8495-D72F8576438F}">
      <dsp:nvSpPr>
        <dsp:cNvPr id="0" name=""/>
        <dsp:cNvSpPr/>
      </dsp:nvSpPr>
      <dsp:spPr>
        <a:xfrm>
          <a:off x="0" y="7118520"/>
          <a:ext cx="1593243" cy="35566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vert270" wrap="square" lIns="121920" tIns="121920" rIns="121920" bIns="121920" numCol="1" spcCol="1270" anchor="t" anchorCtr="0">
          <a:noAutofit/>
        </a:bodyPr>
        <a:lstStyle/>
        <a:p>
          <a:pPr marL="0" lvl="0" indent="0" algn="r" defTabSz="1422400">
            <a:lnSpc>
              <a:spcPct val="90000"/>
            </a:lnSpc>
            <a:spcBef>
              <a:spcPct val="0"/>
            </a:spcBef>
            <a:spcAft>
              <a:spcPct val="35000"/>
            </a:spcAft>
            <a:buNone/>
          </a:pPr>
          <a:r>
            <a:rPr lang="en-US" sz="3200" b="1" kern="1200" dirty="0" err="1">
              <a:solidFill>
                <a:srgbClr val="F48120"/>
              </a:solidFill>
              <a:latin typeface="SVN-Gilroy" panose="00000500000000000000" pitchFamily="50" charset="0"/>
            </a:rPr>
            <a:t>Dự</a:t>
          </a:r>
          <a:r>
            <a:rPr lang="en-US" sz="3200" b="1" kern="1200" dirty="0">
              <a:solidFill>
                <a:srgbClr val="F48120"/>
              </a:solidFill>
              <a:latin typeface="SVN-Gilroy" panose="00000500000000000000" pitchFamily="50" charset="0"/>
            </a:rPr>
            <a:t> </a:t>
          </a:r>
          <a:r>
            <a:rPr lang="en-US" sz="3200" b="1" kern="1200" dirty="0" err="1">
              <a:solidFill>
                <a:srgbClr val="F48120"/>
              </a:solidFill>
              <a:latin typeface="SVN-Gilroy" panose="00000500000000000000" pitchFamily="50" charset="0"/>
            </a:rPr>
            <a:t>phóng</a:t>
          </a:r>
          <a:endParaRPr lang="en-US" sz="3200" b="1" kern="1200" dirty="0">
            <a:solidFill>
              <a:srgbClr val="F48120"/>
            </a:solidFill>
            <a:latin typeface="SVN-Gilroy" panose="00000500000000000000" pitchFamily="50" charset="0"/>
          </a:endParaRPr>
        </a:p>
      </dsp:txBody>
      <dsp:txXfrm>
        <a:off x="0" y="7118520"/>
        <a:ext cx="1593243" cy="3556652"/>
      </dsp:txXfrm>
    </dsp:sp>
    <dsp:sp modelId="{3421DB87-7763-4E9E-80AB-3A4244DA1062}">
      <dsp:nvSpPr>
        <dsp:cNvPr id="0" name=""/>
        <dsp:cNvSpPr/>
      </dsp:nvSpPr>
      <dsp:spPr>
        <a:xfrm>
          <a:off x="1712736" y="7280028"/>
          <a:ext cx="6253481" cy="3230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b="0" kern="1200" dirty="0">
              <a:latin typeface="SVN-Gilroy" panose="00000500000000000000"/>
            </a:rPr>
            <a:t>FY26E NII +1.2% </a:t>
          </a:r>
          <a:r>
            <a:rPr lang="vi-VN" sz="2900" b="0" kern="1200" dirty="0">
              <a:latin typeface="SVN-Gilroy" panose="00000500000000000000"/>
            </a:rPr>
            <a:t>đạt</a:t>
          </a:r>
          <a:r>
            <a:rPr lang="en-US" sz="2900" b="0" kern="1200" dirty="0">
              <a:latin typeface="SVN-Gilroy" panose="00000500000000000000"/>
            </a:rPr>
            <a:t> 27</a:t>
          </a:r>
          <a:r>
            <a:rPr lang="vi-VN" sz="2900" b="0" kern="1200" dirty="0">
              <a:latin typeface="SVN-Gilroy" panose="00000500000000000000"/>
            </a:rPr>
            <a:t>,</a:t>
          </a:r>
          <a:r>
            <a:rPr lang="en-US" sz="2900" b="0" kern="1200" dirty="0">
              <a:latin typeface="SVN-Gilroy" panose="00000500000000000000"/>
            </a:rPr>
            <a:t>010</a:t>
          </a:r>
          <a:r>
            <a:rPr lang="vi-VN" sz="2900" b="0" kern="1200" dirty="0">
              <a:latin typeface="SVN-Gilroy" panose="00000500000000000000"/>
            </a:rPr>
            <a:t> tỷ </a:t>
          </a:r>
          <a:r>
            <a:rPr lang="en-US" sz="2900" b="0" kern="1200" dirty="0">
              <a:latin typeface="SVN-Gilroy" panose="00000500000000000000"/>
            </a:rPr>
            <a:t> </a:t>
          </a:r>
        </a:p>
        <a:p>
          <a:pPr marL="0" lvl="0" indent="0" algn="l" defTabSz="1289050">
            <a:lnSpc>
              <a:spcPct val="90000"/>
            </a:lnSpc>
            <a:spcBef>
              <a:spcPct val="0"/>
            </a:spcBef>
            <a:spcAft>
              <a:spcPct val="35000"/>
            </a:spcAft>
            <a:buNone/>
          </a:pPr>
          <a:r>
            <a:rPr lang="en-US" sz="2900" b="0" kern="1200" dirty="0">
              <a:latin typeface="SVN-Gilroy" panose="00000500000000000000"/>
            </a:rPr>
            <a:t>- </a:t>
          </a:r>
          <a:r>
            <a:rPr lang="vi-VN" sz="2900" b="0" kern="1200" dirty="0">
              <a:latin typeface="SVN-Gilroy" panose="00000500000000000000"/>
            </a:rPr>
            <a:t>Tăng trưởng </a:t>
          </a:r>
          <a:r>
            <a:rPr lang="en-US" sz="2900" b="0" kern="1200" dirty="0" err="1">
              <a:latin typeface="SVN-Gilroy" panose="00000500000000000000"/>
            </a:rPr>
            <a:t>cho</a:t>
          </a:r>
          <a:r>
            <a:rPr lang="en-US" sz="2900" b="0" kern="1200" dirty="0">
              <a:latin typeface="SVN-Gilroy" panose="00000500000000000000"/>
            </a:rPr>
            <a:t> </a:t>
          </a:r>
          <a:r>
            <a:rPr lang="en-US" sz="2900" b="0" kern="1200" dirty="0" err="1">
              <a:latin typeface="SVN-Gilroy" panose="00000500000000000000"/>
            </a:rPr>
            <a:t>vay</a:t>
          </a:r>
          <a:r>
            <a:rPr lang="en-US" sz="2900" b="0" kern="1200" dirty="0">
              <a:latin typeface="SVN-Gilroy" panose="00000500000000000000"/>
            </a:rPr>
            <a:t> 10.1%</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a:rPr>
            <a:t>- </a:t>
          </a:r>
          <a:r>
            <a:rPr lang="vi-VN" sz="2900" b="0" kern="1200" dirty="0">
              <a:solidFill>
                <a:schemeClr val="tx1"/>
              </a:solidFill>
              <a:latin typeface="SVN-Gilroy" panose="00000500000000000000"/>
            </a:rPr>
            <a:t>CP dự phòng đạt</a:t>
          </a:r>
          <a:r>
            <a:rPr lang="en-US" sz="2900" b="0" kern="1200" dirty="0">
              <a:solidFill>
                <a:schemeClr val="tx1"/>
              </a:solidFill>
              <a:latin typeface="SVN-Gilroy" panose="00000500000000000000"/>
            </a:rPr>
            <a:t> 10.5</a:t>
          </a:r>
          <a:r>
            <a:rPr lang="vi-VN" sz="2900" b="0" kern="1200" dirty="0">
              <a:solidFill>
                <a:schemeClr val="tx1"/>
              </a:solidFill>
              <a:latin typeface="SVN-Gilroy" panose="00000500000000000000"/>
            </a:rPr>
            <a:t> nghìn tỷ</a:t>
          </a:r>
          <a:r>
            <a:rPr lang="en-US" sz="2900" b="0" kern="1200" dirty="0">
              <a:solidFill>
                <a:schemeClr val="tx1"/>
              </a:solidFill>
              <a:latin typeface="SVN-Gilroy" panose="00000500000000000000"/>
            </a:rPr>
            <a:t> (-8.9% </a:t>
          </a:r>
          <a:r>
            <a:rPr lang="vi-VN" sz="2900" b="0" kern="1200" dirty="0">
              <a:solidFill>
                <a:schemeClr val="tx1"/>
              </a:solidFill>
              <a:latin typeface="SVN-Gilroy" panose="00000500000000000000"/>
            </a:rPr>
            <a:t>CK</a:t>
          </a:r>
          <a:r>
            <a:rPr lang="en-US" sz="2900" b="0" kern="1200" dirty="0">
              <a:solidFill>
                <a:schemeClr val="tx1"/>
              </a:solidFill>
              <a:latin typeface="SVN-Gilroy" panose="00000500000000000000"/>
            </a:rPr>
            <a:t>)</a:t>
          </a:r>
        </a:p>
        <a:p>
          <a:pPr marL="0" lvl="0" indent="0" algn="l" defTabSz="1289050">
            <a:lnSpc>
              <a:spcPct val="90000"/>
            </a:lnSpc>
            <a:spcBef>
              <a:spcPct val="0"/>
            </a:spcBef>
            <a:spcAft>
              <a:spcPct val="35000"/>
            </a:spcAft>
            <a:buNone/>
          </a:pPr>
          <a:r>
            <a:rPr lang="en-US" sz="2900" b="0" kern="1200" dirty="0">
              <a:solidFill>
                <a:schemeClr val="tx1"/>
              </a:solidFill>
              <a:latin typeface="SVN-Gilroy" panose="00000500000000000000"/>
            </a:rPr>
            <a:t>- CIR </a:t>
          </a:r>
          <a:r>
            <a:rPr lang="vi-VN" sz="2900" b="0" kern="1200" dirty="0">
              <a:solidFill>
                <a:schemeClr val="tx1"/>
              </a:solidFill>
              <a:latin typeface="SVN-Gilroy" panose="00000500000000000000"/>
            </a:rPr>
            <a:t>đạt</a:t>
          </a:r>
          <a:r>
            <a:rPr lang="en-US" sz="2900" b="0" kern="1200" dirty="0">
              <a:solidFill>
                <a:schemeClr val="tx1"/>
              </a:solidFill>
              <a:latin typeface="SVN-Gilroy" panose="00000500000000000000"/>
            </a:rPr>
            <a:t> 42.9% (</a:t>
          </a:r>
          <a:r>
            <a:rPr lang="vi-VN" sz="2900" b="0" kern="1200" dirty="0">
              <a:solidFill>
                <a:schemeClr val="tx1"/>
              </a:solidFill>
              <a:latin typeface="SVN-Gilroy" panose="00000500000000000000"/>
            </a:rPr>
            <a:t>+</a:t>
          </a:r>
          <a:r>
            <a:rPr lang="en-US" sz="2900" b="0" kern="1200" dirty="0">
              <a:solidFill>
                <a:schemeClr val="tx1"/>
              </a:solidFill>
              <a:latin typeface="SVN-Gilroy" panose="00000500000000000000"/>
            </a:rPr>
            <a:t>2</a:t>
          </a:r>
          <a:r>
            <a:rPr lang="vi-VN" sz="2900" b="0" kern="1200" dirty="0">
              <a:solidFill>
                <a:schemeClr val="tx1"/>
              </a:solidFill>
              <a:latin typeface="SVN-Gilroy" panose="00000500000000000000"/>
            </a:rPr>
            <a:t>.</a:t>
          </a:r>
          <a:r>
            <a:rPr lang="en-US" sz="2900" b="0" kern="1200" dirty="0">
              <a:solidFill>
                <a:schemeClr val="tx1"/>
              </a:solidFill>
              <a:latin typeface="SVN-Gilroy" panose="00000500000000000000"/>
            </a:rPr>
            <a:t>2</a:t>
          </a:r>
          <a:r>
            <a:rPr lang="vi-VN" sz="2900" b="0" kern="1200" dirty="0">
              <a:solidFill>
                <a:schemeClr val="tx1"/>
              </a:solidFill>
              <a:latin typeface="SVN-Gilroy" panose="00000500000000000000"/>
            </a:rPr>
            <a:t>%p CK)</a:t>
          </a:r>
          <a:endParaRPr lang="en-US" sz="2900" b="0" kern="1200" dirty="0">
            <a:solidFill>
              <a:schemeClr val="tx1"/>
            </a:solidFill>
            <a:latin typeface="SVN-Gilroy" panose="00000500000000000000"/>
          </a:endParaRPr>
        </a:p>
      </dsp:txBody>
      <dsp:txXfrm>
        <a:off x="1712736" y="7280028"/>
        <a:ext cx="6253481" cy="3230163"/>
      </dsp:txXfrm>
    </dsp:sp>
    <dsp:sp modelId="{8A374915-E3F2-4D55-80CD-735D6CFC31F4}">
      <dsp:nvSpPr>
        <dsp:cNvPr id="0" name=""/>
        <dsp:cNvSpPr/>
      </dsp:nvSpPr>
      <dsp:spPr>
        <a:xfrm>
          <a:off x="1593243" y="10510191"/>
          <a:ext cx="6372974" cy="0"/>
        </a:xfrm>
        <a:prstGeom prst="line">
          <a:avLst/>
        </a:prstGeom>
        <a:noFill/>
        <a:ln w="12700" cap="flat" cmpd="sng" algn="ctr">
          <a:solidFill>
            <a:schemeClr val="accent2">
              <a:tint val="50000"/>
              <a:hueOff val="0"/>
              <a:satOff val="0"/>
              <a:lumOff val="0"/>
              <a:alphaOff val="0"/>
            </a:schemeClr>
          </a:solidFill>
          <a:prstDash val="solid"/>
          <a:miter lim="800000"/>
        </a:ln>
        <a:effectLst/>
      </dsp:spPr>
      <dsp:style>
        <a:lnRef idx="1">
          <a:scrgbClr r="0" g="0" b="0"/>
        </a:lnRef>
        <a:fillRef idx="0">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761CF3-D2B1-41E7-B7AD-014CE5A9FC8F}" type="datetimeFigureOut">
              <a:rPr lang="en-US" smtClean="0"/>
              <a:t>6/25/2026</a:t>
            </a:fld>
            <a:endParaRPr lang="en-US" dirty="0"/>
          </a:p>
        </p:txBody>
      </p:sp>
      <p:sp>
        <p:nvSpPr>
          <p:cNvPr id="4" name="Slide Image Placeholder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A3BF73-1B2E-4727-90FE-C4A7E363EF2B}" type="slidenum">
              <a:rPr lang="en-US" smtClean="0"/>
              <a:t>‹#›</a:t>
            </a:fld>
            <a:endParaRPr lang="en-US" dirty="0"/>
          </a:p>
        </p:txBody>
      </p:sp>
    </p:spTree>
    <p:extLst>
      <p:ext uri="{BB962C8B-B14F-4D97-AF65-F5344CB8AC3E}">
        <p14:creationId xmlns:p14="http://schemas.microsoft.com/office/powerpoint/2010/main" val="4245830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Do not remove" hidden="1">
            <a:extLst>
              <a:ext uri="{FF2B5EF4-FFF2-40B4-BE49-F238E27FC236}">
                <a16:creationId xmlns:a16="http://schemas.microsoft.com/office/drawing/2014/main" id="{3A4335E7-334C-4156-45DE-F50C889C63C9}"/>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71525" y="2244726"/>
            <a:ext cx="8743950" cy="4775200"/>
          </a:xfrm>
        </p:spPr>
        <p:txBody>
          <a:bodyPr anchor="b"/>
          <a:lstStyle>
            <a:lvl1pPr algn="ctr">
              <a:defRPr sz="6750"/>
            </a:lvl1pPr>
          </a:lstStyle>
          <a:p>
            <a:r>
              <a:rPr lang="en-US"/>
              <a:t>Click to edit Master title style</a:t>
            </a:r>
            <a:endParaRPr lang="en-US" dirty="0"/>
          </a:p>
        </p:txBody>
      </p:sp>
      <p:sp>
        <p:nvSpPr>
          <p:cNvPr id="3" name="Subtitle 2"/>
          <p:cNvSpPr>
            <a:spLocks noGrp="1"/>
          </p:cNvSpPr>
          <p:nvPr>
            <p:ph type="subTitle" idx="1"/>
          </p:nvPr>
        </p:nvSpPr>
        <p:spPr>
          <a:xfrm>
            <a:off x="1285875" y="7204076"/>
            <a:ext cx="7715250" cy="3311524"/>
          </a:xfrm>
        </p:spPr>
        <p:txBody>
          <a:bodyPr/>
          <a:lstStyle>
            <a:lvl1pPr marL="0" indent="0" algn="ctr">
              <a:buNone/>
              <a:defRPr sz="2700"/>
            </a:lvl1pPr>
            <a:lvl2pPr marL="514350" indent="0" algn="ctr">
              <a:buNone/>
              <a:defRPr sz="2250"/>
            </a:lvl2pPr>
            <a:lvl3pPr marL="1028700" indent="0" algn="ctr">
              <a:buNone/>
              <a:defRPr sz="2025"/>
            </a:lvl3pPr>
            <a:lvl4pPr marL="1543050" indent="0" algn="ctr">
              <a:buNone/>
              <a:defRPr sz="1800"/>
            </a:lvl4pPr>
            <a:lvl5pPr marL="2057400" indent="0" algn="ctr">
              <a:buNone/>
              <a:defRPr sz="1800"/>
            </a:lvl5pPr>
            <a:lvl6pPr marL="2571750" indent="0" algn="ctr">
              <a:buNone/>
              <a:defRPr sz="1800"/>
            </a:lvl6pPr>
            <a:lvl7pPr marL="3086100" indent="0" algn="ctr">
              <a:buNone/>
              <a:defRPr sz="1800"/>
            </a:lvl7pPr>
            <a:lvl8pPr marL="3600450" indent="0" algn="ctr">
              <a:buNone/>
              <a:defRPr sz="1800"/>
            </a:lvl8pPr>
            <a:lvl9pPr marL="41148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916295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Do not remove" hidden="1">
            <a:extLst>
              <a:ext uri="{FF2B5EF4-FFF2-40B4-BE49-F238E27FC236}">
                <a16:creationId xmlns:a16="http://schemas.microsoft.com/office/drawing/2014/main" id="{F592DA13-A42C-57EE-91EC-244E159F5EA2}"/>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2209676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4" y="3419479"/>
            <a:ext cx="8872538" cy="5705474"/>
          </a:xfrm>
        </p:spPr>
        <p:txBody>
          <a:bodyPr anchor="b"/>
          <a:lstStyle>
            <a:lvl1pPr>
              <a:defRPr sz="6750"/>
            </a:lvl1pPr>
          </a:lstStyle>
          <a:p>
            <a:r>
              <a:rPr lang="en-US"/>
              <a:t>Click to edit Master title style</a:t>
            </a:r>
            <a:endParaRPr lang="en-US" dirty="0"/>
          </a:p>
        </p:txBody>
      </p:sp>
      <p:sp>
        <p:nvSpPr>
          <p:cNvPr id="3" name="Text Placeholder 2"/>
          <p:cNvSpPr>
            <a:spLocks noGrp="1"/>
          </p:cNvSpPr>
          <p:nvPr>
            <p:ph type="body" idx="1"/>
          </p:nvPr>
        </p:nvSpPr>
        <p:spPr>
          <a:xfrm>
            <a:off x="701874" y="9178929"/>
            <a:ext cx="8872538" cy="3000374"/>
          </a:xfrm>
        </p:spPr>
        <p:txBody>
          <a:bodyPr/>
          <a:lstStyle>
            <a:lvl1pPr marL="0" indent="0">
              <a:buNone/>
              <a:defRPr sz="2700">
                <a:solidFill>
                  <a:schemeClr val="tx1">
                    <a:tint val="82000"/>
                  </a:schemeClr>
                </a:solidFill>
              </a:defRPr>
            </a:lvl1pPr>
            <a:lvl2pPr marL="514350" indent="0">
              <a:buNone/>
              <a:defRPr sz="2250">
                <a:solidFill>
                  <a:schemeClr val="tx1">
                    <a:tint val="82000"/>
                  </a:schemeClr>
                </a:solidFill>
              </a:defRPr>
            </a:lvl2pPr>
            <a:lvl3pPr marL="1028700" indent="0">
              <a:buNone/>
              <a:defRPr sz="2025">
                <a:solidFill>
                  <a:schemeClr val="tx1">
                    <a:tint val="82000"/>
                  </a:schemeClr>
                </a:solidFill>
              </a:defRPr>
            </a:lvl3pPr>
            <a:lvl4pPr marL="1543050" indent="0">
              <a:buNone/>
              <a:defRPr sz="1800">
                <a:solidFill>
                  <a:schemeClr val="tx1">
                    <a:tint val="82000"/>
                  </a:schemeClr>
                </a:solidFill>
              </a:defRPr>
            </a:lvl4pPr>
            <a:lvl5pPr marL="2057400" indent="0">
              <a:buNone/>
              <a:defRPr sz="1800">
                <a:solidFill>
                  <a:schemeClr val="tx1">
                    <a:tint val="82000"/>
                  </a:schemeClr>
                </a:solidFill>
              </a:defRPr>
            </a:lvl5pPr>
            <a:lvl6pPr marL="2571750" indent="0">
              <a:buNone/>
              <a:defRPr sz="1800">
                <a:solidFill>
                  <a:schemeClr val="tx1">
                    <a:tint val="82000"/>
                  </a:schemeClr>
                </a:solidFill>
              </a:defRPr>
            </a:lvl6pPr>
            <a:lvl7pPr marL="3086100" indent="0">
              <a:buNone/>
              <a:defRPr sz="1800">
                <a:solidFill>
                  <a:schemeClr val="tx1">
                    <a:tint val="82000"/>
                  </a:schemeClr>
                </a:solidFill>
              </a:defRPr>
            </a:lvl7pPr>
            <a:lvl8pPr marL="3600450" indent="0">
              <a:buNone/>
              <a:defRPr sz="1800">
                <a:solidFill>
                  <a:schemeClr val="tx1">
                    <a:tint val="82000"/>
                  </a:schemeClr>
                </a:solidFill>
              </a:defRPr>
            </a:lvl8pPr>
            <a:lvl9pPr marL="4114800" indent="0">
              <a:buNone/>
              <a:defRPr sz="18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4256298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07231"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207794" y="3651250"/>
            <a:ext cx="4371975" cy="87026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405823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730253"/>
            <a:ext cx="8872538" cy="2651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08572" y="3362326"/>
            <a:ext cx="4351883"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4" name="Content Placeholder 3"/>
          <p:cNvSpPr>
            <a:spLocks noGrp="1"/>
          </p:cNvSpPr>
          <p:nvPr>
            <p:ph sz="half" idx="2"/>
          </p:nvPr>
        </p:nvSpPr>
        <p:spPr>
          <a:xfrm>
            <a:off x="708572" y="5010150"/>
            <a:ext cx="4351883"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207794" y="3362326"/>
            <a:ext cx="4373315" cy="1647824"/>
          </a:xfrm>
        </p:spPr>
        <p:txBody>
          <a:bodyPr anchor="b"/>
          <a:lstStyle>
            <a:lvl1pPr marL="0" indent="0">
              <a:buNone/>
              <a:defRPr sz="2700" b="1"/>
            </a:lvl1pPr>
            <a:lvl2pPr marL="514350" indent="0">
              <a:buNone/>
              <a:defRPr sz="2250" b="1"/>
            </a:lvl2pPr>
            <a:lvl3pPr marL="1028700" indent="0">
              <a:buNone/>
              <a:defRPr sz="2025" b="1"/>
            </a:lvl3pPr>
            <a:lvl4pPr marL="1543050" indent="0">
              <a:buNone/>
              <a:defRPr sz="1800" b="1"/>
            </a:lvl4pPr>
            <a:lvl5pPr marL="2057400" indent="0">
              <a:buNone/>
              <a:defRPr sz="1800" b="1"/>
            </a:lvl5pPr>
            <a:lvl6pPr marL="2571750" indent="0">
              <a:buNone/>
              <a:defRPr sz="1800" b="1"/>
            </a:lvl6pPr>
            <a:lvl7pPr marL="3086100" indent="0">
              <a:buNone/>
              <a:defRPr sz="1800" b="1"/>
            </a:lvl7pPr>
            <a:lvl8pPr marL="3600450" indent="0">
              <a:buNone/>
              <a:defRPr sz="1800" b="1"/>
            </a:lvl8pPr>
            <a:lvl9pPr marL="4114800" indent="0">
              <a:buNone/>
              <a:defRPr sz="1800" b="1"/>
            </a:lvl9pPr>
          </a:lstStyle>
          <a:p>
            <a:pPr lvl="0"/>
            <a:r>
              <a:rPr lang="en-US"/>
              <a:t>Click to edit Master text styles</a:t>
            </a:r>
          </a:p>
        </p:txBody>
      </p:sp>
      <p:sp>
        <p:nvSpPr>
          <p:cNvPr id="6" name="Content Placeholder 5"/>
          <p:cNvSpPr>
            <a:spLocks noGrp="1"/>
          </p:cNvSpPr>
          <p:nvPr>
            <p:ph sz="quarter" idx="4"/>
          </p:nvPr>
        </p:nvSpPr>
        <p:spPr>
          <a:xfrm>
            <a:off x="5207794" y="5010150"/>
            <a:ext cx="4373315" cy="7369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2199026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2511743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2586127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373315" y="1974853"/>
            <a:ext cx="5207794" cy="9747250"/>
          </a:xfrm>
        </p:spPr>
        <p:txBody>
          <a:bodyPr/>
          <a:lstStyle>
            <a:lvl1pPr>
              <a:defRPr sz="3600"/>
            </a:lvl1pPr>
            <a:lvl2pPr>
              <a:defRPr sz="3150"/>
            </a:lvl2pPr>
            <a:lvl3pPr>
              <a:defRPr sz="2700"/>
            </a:lvl3pPr>
            <a:lvl4pPr>
              <a:defRPr sz="2250"/>
            </a:lvl4pPr>
            <a:lvl5pPr>
              <a:defRPr sz="2250"/>
            </a:lvl5pPr>
            <a:lvl6pPr>
              <a:defRPr sz="2250"/>
            </a:lvl6pPr>
            <a:lvl7pPr>
              <a:defRPr sz="2250"/>
            </a:lvl7pPr>
            <a:lvl8pPr>
              <a:defRPr sz="2250"/>
            </a:lvl8pPr>
            <a:lvl9pPr>
              <a:defRPr sz="22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42757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1" y="914400"/>
            <a:ext cx="3317825" cy="3200400"/>
          </a:xfrm>
        </p:spPr>
        <p:txBody>
          <a:bodyPr anchor="b"/>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373315" y="1974853"/>
            <a:ext cx="5207794" cy="9747250"/>
          </a:xfrm>
        </p:spPr>
        <p:txBody>
          <a:bodyPr anchor="t"/>
          <a:lstStyle>
            <a:lvl1pPr marL="0" indent="0">
              <a:buNone/>
              <a:defRPr sz="3600"/>
            </a:lvl1pPr>
            <a:lvl2pPr marL="514350" indent="0">
              <a:buNone/>
              <a:defRPr sz="3150"/>
            </a:lvl2pPr>
            <a:lvl3pPr marL="1028700" indent="0">
              <a:buNone/>
              <a:defRPr sz="2700"/>
            </a:lvl3pPr>
            <a:lvl4pPr marL="1543050" indent="0">
              <a:buNone/>
              <a:defRPr sz="2250"/>
            </a:lvl4pPr>
            <a:lvl5pPr marL="2057400" indent="0">
              <a:buNone/>
              <a:defRPr sz="2250"/>
            </a:lvl5pPr>
            <a:lvl6pPr marL="2571750" indent="0">
              <a:buNone/>
              <a:defRPr sz="2250"/>
            </a:lvl6pPr>
            <a:lvl7pPr marL="3086100" indent="0">
              <a:buNone/>
              <a:defRPr sz="2250"/>
            </a:lvl7pPr>
            <a:lvl8pPr marL="3600450" indent="0">
              <a:buNone/>
              <a:defRPr sz="2250"/>
            </a:lvl8pPr>
            <a:lvl9pPr marL="4114800" indent="0">
              <a:buNone/>
              <a:defRPr sz="2250"/>
            </a:lvl9pPr>
          </a:lstStyle>
          <a:p>
            <a:r>
              <a:rPr lang="en-US" dirty="0"/>
              <a:t>Click icon to add picture</a:t>
            </a:r>
          </a:p>
        </p:txBody>
      </p:sp>
      <p:sp>
        <p:nvSpPr>
          <p:cNvPr id="4" name="Text Placeholder 3"/>
          <p:cNvSpPr>
            <a:spLocks noGrp="1"/>
          </p:cNvSpPr>
          <p:nvPr>
            <p:ph type="body" sz="half" idx="2"/>
          </p:nvPr>
        </p:nvSpPr>
        <p:spPr>
          <a:xfrm>
            <a:off x="708571" y="4114800"/>
            <a:ext cx="3317825" cy="7623176"/>
          </a:xfrm>
        </p:spPr>
        <p:txBody>
          <a:bodyPr/>
          <a:lstStyle>
            <a:lvl1pPr marL="0" indent="0">
              <a:buNone/>
              <a:defRPr sz="1800"/>
            </a:lvl1pPr>
            <a:lvl2pPr marL="514350" indent="0">
              <a:buNone/>
              <a:defRPr sz="1575"/>
            </a:lvl2pPr>
            <a:lvl3pPr marL="1028700" indent="0">
              <a:buNone/>
              <a:defRPr sz="1350"/>
            </a:lvl3pPr>
            <a:lvl4pPr marL="1543050" indent="0">
              <a:buNone/>
              <a:defRPr sz="1125"/>
            </a:lvl4pPr>
            <a:lvl5pPr marL="2057400" indent="0">
              <a:buNone/>
              <a:defRPr sz="1125"/>
            </a:lvl5pPr>
            <a:lvl6pPr marL="2571750" indent="0">
              <a:buNone/>
              <a:defRPr sz="1125"/>
            </a:lvl6pPr>
            <a:lvl7pPr marL="3086100" indent="0">
              <a:buNone/>
              <a:defRPr sz="1125"/>
            </a:lvl7pPr>
            <a:lvl8pPr marL="3600450" indent="0">
              <a:buNone/>
              <a:defRPr sz="1125"/>
            </a:lvl8pPr>
            <a:lvl9pPr marL="4114800" indent="0">
              <a:buNone/>
              <a:defRPr sz="1125"/>
            </a:lvl9pPr>
          </a:lstStyle>
          <a:p>
            <a:pPr lvl="0"/>
            <a:r>
              <a:rPr lang="en-US"/>
              <a:t>Click to edit Master text styles</a:t>
            </a:r>
          </a:p>
        </p:txBody>
      </p:sp>
      <p:sp>
        <p:nvSpPr>
          <p:cNvPr id="5" name="Date Placeholder 4"/>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1705083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1612048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730250"/>
            <a:ext cx="2218134" cy="1162367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07232" y="730250"/>
            <a:ext cx="6525816" cy="116236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30F98B-F79A-4E11-A094-899AA88A9F47}" type="datetimeFigureOut">
              <a:rPr lang="en-US" smtClean="0"/>
              <a:t>6/25/2026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A9438696-DA09-4C38-ADC7-5AEF933EFFF5}" type="slidenum">
              <a:rPr lang="en-US" smtClean="0"/>
              <a:t>‹#›</a:t>
            </a:fld>
            <a:endParaRPr lang="en-US" dirty="0"/>
          </a:p>
        </p:txBody>
      </p:sp>
    </p:spTree>
    <p:extLst>
      <p:ext uri="{BB962C8B-B14F-4D97-AF65-F5344CB8AC3E}">
        <p14:creationId xmlns:p14="http://schemas.microsoft.com/office/powerpoint/2010/main" val="353171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07231" y="730253"/>
            <a:ext cx="8872538" cy="2651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07231" y="3651250"/>
            <a:ext cx="8872538"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07231" y="12712703"/>
            <a:ext cx="2314575" cy="730250"/>
          </a:xfrm>
          <a:prstGeom prst="rect">
            <a:avLst/>
          </a:prstGeom>
        </p:spPr>
        <p:txBody>
          <a:bodyPr vert="horz" lIns="91440" tIns="45720" rIns="91440" bIns="45720" rtlCol="0" anchor="ctr"/>
          <a:lstStyle>
            <a:lvl1pPr algn="l">
              <a:defRPr sz="1350">
                <a:solidFill>
                  <a:schemeClr val="tx1">
                    <a:tint val="82000"/>
                  </a:schemeClr>
                </a:solidFill>
              </a:defRPr>
            </a:lvl1pPr>
          </a:lstStyle>
          <a:p>
            <a:fld id="{2D30F98B-F79A-4E11-A094-899AA88A9F47}" type="datetimeFigureOut">
              <a:rPr lang="en-US" smtClean="0"/>
              <a:t>6/25/2026</a:t>
            </a:fld>
            <a:endParaRPr lang="en-US" dirty="0"/>
          </a:p>
        </p:txBody>
      </p:sp>
      <p:sp>
        <p:nvSpPr>
          <p:cNvPr id="5" name="Footer Placeholder 4"/>
          <p:cNvSpPr>
            <a:spLocks noGrp="1"/>
          </p:cNvSpPr>
          <p:nvPr>
            <p:ph type="ftr" sz="quarter" idx="3"/>
          </p:nvPr>
        </p:nvSpPr>
        <p:spPr>
          <a:xfrm>
            <a:off x="3407569" y="12712703"/>
            <a:ext cx="3471863" cy="730250"/>
          </a:xfrm>
          <a:prstGeom prst="rect">
            <a:avLst/>
          </a:prstGeom>
        </p:spPr>
        <p:txBody>
          <a:bodyPr vert="horz" lIns="91440" tIns="45720" rIns="91440" bIns="45720" rtlCol="0" anchor="ctr"/>
          <a:lstStyle>
            <a:lvl1pPr algn="ctr">
              <a:defRPr sz="135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7265194" y="12712703"/>
            <a:ext cx="2314575" cy="730250"/>
          </a:xfrm>
          <a:prstGeom prst="rect">
            <a:avLst/>
          </a:prstGeom>
        </p:spPr>
        <p:txBody>
          <a:bodyPr vert="horz" lIns="91440" tIns="45720" rIns="91440" bIns="45720" rtlCol="0" anchor="ctr"/>
          <a:lstStyle>
            <a:lvl1pPr algn="r">
              <a:defRPr sz="1350">
                <a:solidFill>
                  <a:schemeClr val="tx1">
                    <a:tint val="82000"/>
                  </a:schemeClr>
                </a:solidFill>
              </a:defRPr>
            </a:lvl1pPr>
          </a:lstStyle>
          <a:p>
            <a:fld id="{A9438696-DA09-4C38-ADC7-5AEF933EFFF5}" type="slidenum">
              <a:rPr lang="en-US" smtClean="0"/>
              <a:t>‹#›</a:t>
            </a:fld>
            <a:endParaRPr lang="en-US" dirty="0"/>
          </a:p>
        </p:txBody>
      </p:sp>
    </p:spTree>
    <p:extLst>
      <p:ext uri="{BB962C8B-B14F-4D97-AF65-F5344CB8AC3E}">
        <p14:creationId xmlns:p14="http://schemas.microsoft.com/office/powerpoint/2010/main" val="367626982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28700" rtl="0" eaLnBrk="1" latinLnBrk="0" hangingPunct="1">
        <a:lnSpc>
          <a:spcPct val="90000"/>
        </a:lnSpc>
        <a:spcBef>
          <a:spcPct val="0"/>
        </a:spcBef>
        <a:buNone/>
        <a:defRPr sz="4950" kern="1200">
          <a:solidFill>
            <a:schemeClr val="tx1"/>
          </a:solidFill>
          <a:latin typeface="+mj-lt"/>
          <a:ea typeface="+mj-ea"/>
          <a:cs typeface="+mj-cs"/>
        </a:defRPr>
      </a:lvl1pPr>
    </p:titleStyle>
    <p:bodyStyle>
      <a:lvl1pPr marL="257175" indent="-257175" algn="l" defTabSz="1028700" rtl="0" eaLnBrk="1" latinLnBrk="0" hangingPunct="1">
        <a:lnSpc>
          <a:spcPct val="90000"/>
        </a:lnSpc>
        <a:spcBef>
          <a:spcPts val="1125"/>
        </a:spcBef>
        <a:buFont typeface="Arial" panose="020B0604020202020204" pitchFamily="34" charset="0"/>
        <a:buChar char="•"/>
        <a:defRPr sz="3150" kern="1200">
          <a:solidFill>
            <a:schemeClr val="tx1"/>
          </a:solidFill>
          <a:latin typeface="+mn-lt"/>
          <a:ea typeface="+mn-ea"/>
          <a:cs typeface="+mn-cs"/>
        </a:defRPr>
      </a:lvl1pPr>
      <a:lvl2pPr marL="771525" indent="-257175" algn="l" defTabSz="1028700" rtl="0" eaLnBrk="1" latinLnBrk="0" hangingPunct="1">
        <a:lnSpc>
          <a:spcPct val="90000"/>
        </a:lnSpc>
        <a:spcBef>
          <a:spcPts val="563"/>
        </a:spcBef>
        <a:buFont typeface="Arial" panose="020B0604020202020204" pitchFamily="34" charset="0"/>
        <a:buChar char="•"/>
        <a:defRPr sz="2700" kern="1200">
          <a:solidFill>
            <a:schemeClr val="tx1"/>
          </a:solidFill>
          <a:latin typeface="+mn-lt"/>
          <a:ea typeface="+mn-ea"/>
          <a:cs typeface="+mn-cs"/>
        </a:defRPr>
      </a:lvl2pPr>
      <a:lvl3pPr marL="1285875" indent="-257175" algn="l" defTabSz="1028700" rtl="0" eaLnBrk="1" latinLnBrk="0" hangingPunct="1">
        <a:lnSpc>
          <a:spcPct val="90000"/>
        </a:lnSpc>
        <a:spcBef>
          <a:spcPts val="563"/>
        </a:spcBef>
        <a:buFont typeface="Arial" panose="020B0604020202020204" pitchFamily="34" charset="0"/>
        <a:buChar char="•"/>
        <a:defRPr sz="2250" kern="1200">
          <a:solidFill>
            <a:schemeClr val="tx1"/>
          </a:solidFill>
          <a:latin typeface="+mn-lt"/>
          <a:ea typeface="+mn-ea"/>
          <a:cs typeface="+mn-cs"/>
        </a:defRPr>
      </a:lvl3pPr>
      <a:lvl4pPr marL="18002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4pPr>
      <a:lvl5pPr marL="23145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5pPr>
      <a:lvl6pPr marL="28289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6pPr>
      <a:lvl7pPr marL="33432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7pPr>
      <a:lvl8pPr marL="385762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8pPr>
      <a:lvl9pPr marL="4371975" indent="-257175" algn="l" defTabSz="1028700" rtl="0" eaLnBrk="1" latinLnBrk="0" hangingPunct="1">
        <a:lnSpc>
          <a:spcPct val="90000"/>
        </a:lnSpc>
        <a:spcBef>
          <a:spcPts val="563"/>
        </a:spcBef>
        <a:buFont typeface="Arial" panose="020B0604020202020204" pitchFamily="34" charset="0"/>
        <a:buChar char="•"/>
        <a:defRPr sz="2025" kern="1200">
          <a:solidFill>
            <a:schemeClr val="tx1"/>
          </a:solidFill>
          <a:latin typeface="+mn-lt"/>
          <a:ea typeface="+mn-ea"/>
          <a:cs typeface="+mn-cs"/>
        </a:defRPr>
      </a:lvl9pPr>
    </p:bodyStyle>
    <p:otherStyle>
      <a:defPPr>
        <a:defRPr lang="en-US"/>
      </a:defPPr>
      <a:lvl1pPr marL="0" algn="l" defTabSz="1028700" rtl="0" eaLnBrk="1" latinLnBrk="0" hangingPunct="1">
        <a:defRPr sz="2025" kern="1200">
          <a:solidFill>
            <a:schemeClr val="tx1"/>
          </a:solidFill>
          <a:latin typeface="+mn-lt"/>
          <a:ea typeface="+mn-ea"/>
          <a:cs typeface="+mn-cs"/>
        </a:defRPr>
      </a:lvl1pPr>
      <a:lvl2pPr marL="514350" algn="l" defTabSz="1028700" rtl="0" eaLnBrk="1" latinLnBrk="0" hangingPunct="1">
        <a:defRPr sz="2025" kern="1200">
          <a:solidFill>
            <a:schemeClr val="tx1"/>
          </a:solidFill>
          <a:latin typeface="+mn-lt"/>
          <a:ea typeface="+mn-ea"/>
          <a:cs typeface="+mn-cs"/>
        </a:defRPr>
      </a:lvl2pPr>
      <a:lvl3pPr marL="1028700" algn="l" defTabSz="1028700" rtl="0" eaLnBrk="1" latinLnBrk="0" hangingPunct="1">
        <a:defRPr sz="2025" kern="1200">
          <a:solidFill>
            <a:schemeClr val="tx1"/>
          </a:solidFill>
          <a:latin typeface="+mn-lt"/>
          <a:ea typeface="+mn-ea"/>
          <a:cs typeface="+mn-cs"/>
        </a:defRPr>
      </a:lvl3pPr>
      <a:lvl4pPr marL="1543050" algn="l" defTabSz="1028700" rtl="0" eaLnBrk="1" latinLnBrk="0" hangingPunct="1">
        <a:defRPr sz="2025" kern="1200">
          <a:solidFill>
            <a:schemeClr val="tx1"/>
          </a:solidFill>
          <a:latin typeface="+mn-lt"/>
          <a:ea typeface="+mn-ea"/>
          <a:cs typeface="+mn-cs"/>
        </a:defRPr>
      </a:lvl4pPr>
      <a:lvl5pPr marL="2057400" algn="l" defTabSz="1028700" rtl="0" eaLnBrk="1" latinLnBrk="0" hangingPunct="1">
        <a:defRPr sz="2025" kern="1200">
          <a:solidFill>
            <a:schemeClr val="tx1"/>
          </a:solidFill>
          <a:latin typeface="+mn-lt"/>
          <a:ea typeface="+mn-ea"/>
          <a:cs typeface="+mn-cs"/>
        </a:defRPr>
      </a:lvl5pPr>
      <a:lvl6pPr marL="2571750" algn="l" defTabSz="1028700" rtl="0" eaLnBrk="1" latinLnBrk="0" hangingPunct="1">
        <a:defRPr sz="2025" kern="1200">
          <a:solidFill>
            <a:schemeClr val="tx1"/>
          </a:solidFill>
          <a:latin typeface="+mn-lt"/>
          <a:ea typeface="+mn-ea"/>
          <a:cs typeface="+mn-cs"/>
        </a:defRPr>
      </a:lvl6pPr>
      <a:lvl7pPr marL="3086100" algn="l" defTabSz="1028700" rtl="0" eaLnBrk="1" latinLnBrk="0" hangingPunct="1">
        <a:defRPr sz="2025" kern="1200">
          <a:solidFill>
            <a:schemeClr val="tx1"/>
          </a:solidFill>
          <a:latin typeface="+mn-lt"/>
          <a:ea typeface="+mn-ea"/>
          <a:cs typeface="+mn-cs"/>
        </a:defRPr>
      </a:lvl7pPr>
      <a:lvl8pPr marL="3600450" algn="l" defTabSz="1028700" rtl="0" eaLnBrk="1" latinLnBrk="0" hangingPunct="1">
        <a:defRPr sz="2025" kern="1200">
          <a:solidFill>
            <a:schemeClr val="tx1"/>
          </a:solidFill>
          <a:latin typeface="+mn-lt"/>
          <a:ea typeface="+mn-ea"/>
          <a:cs typeface="+mn-cs"/>
        </a:defRPr>
      </a:lvl8pPr>
      <a:lvl9pPr marL="4114800" algn="l" defTabSz="1028700" rtl="0" eaLnBrk="1" latinLnBrk="0" hangingPunct="1">
        <a:defRPr sz="202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080A-1BF5-AFC3-122C-56F736CB63A5}"/>
            </a:ext>
          </a:extLst>
        </p:cNvPr>
        <p:cNvGrpSpPr/>
        <p:nvPr/>
      </p:nvGrpSpPr>
      <p:grpSpPr>
        <a:xfrm>
          <a:off x="0" y="0"/>
          <a:ext cx="0" cy="0"/>
          <a:chOff x="0" y="0"/>
          <a:chExt cx="0" cy="0"/>
        </a:xfrm>
      </p:grpSpPr>
      <p:pic>
        <p:nvPicPr>
          <p:cNvPr id="8" name="Picture 7" descr="A white rectangular object with a pink border&#10;&#10;Description automatically generated">
            <a:extLst>
              <a:ext uri="{FF2B5EF4-FFF2-40B4-BE49-F238E27FC236}">
                <a16:creationId xmlns:a16="http://schemas.microsoft.com/office/drawing/2014/main" id="{77D9D435-ED2C-E0FB-DAAF-33E9371BEAA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6" name="TextBox 5">
            <a:extLst>
              <a:ext uri="{FF2B5EF4-FFF2-40B4-BE49-F238E27FC236}">
                <a16:creationId xmlns:a16="http://schemas.microsoft.com/office/drawing/2014/main" id="{A914B5F8-E1EB-70B1-B389-060E2921B1F7}"/>
              </a:ext>
            </a:extLst>
          </p:cNvPr>
          <p:cNvSpPr txBox="1"/>
          <p:nvPr/>
        </p:nvSpPr>
        <p:spPr>
          <a:xfrm>
            <a:off x="559467" y="399526"/>
            <a:ext cx="6501244" cy="738664"/>
          </a:xfrm>
          <a:prstGeom prst="rect">
            <a:avLst/>
          </a:prstGeom>
          <a:noFill/>
        </p:spPr>
        <p:txBody>
          <a:bodyPr wrap="square" rtlCol="0">
            <a:spAutoFit/>
          </a:bodyPr>
          <a:lstStyle/>
          <a:p>
            <a:r>
              <a:rPr lang="en-US" sz="4200" dirty="0">
                <a:solidFill>
                  <a:srgbClr val="F38120"/>
                </a:solidFill>
                <a:latin typeface="SVN-Gilroy XBold" panose="00000900000000000000" pitchFamily="50" charset="0"/>
              </a:rPr>
              <a:t>Bank</a:t>
            </a:r>
          </a:p>
        </p:txBody>
      </p:sp>
      <p:sp>
        <p:nvSpPr>
          <p:cNvPr id="7" name="TextBox 6">
            <a:extLst>
              <a:ext uri="{FF2B5EF4-FFF2-40B4-BE49-F238E27FC236}">
                <a16:creationId xmlns:a16="http://schemas.microsoft.com/office/drawing/2014/main" id="{6A96A606-D1B5-EE58-A08A-3B9212285C6D}"/>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24.07.2026</a:t>
            </a:r>
          </a:p>
        </p:txBody>
      </p:sp>
      <p:sp>
        <p:nvSpPr>
          <p:cNvPr id="2" name="TextBox 1">
            <a:extLst>
              <a:ext uri="{FF2B5EF4-FFF2-40B4-BE49-F238E27FC236}">
                <a16:creationId xmlns:a16="http://schemas.microsoft.com/office/drawing/2014/main" id="{D5708BFA-DD95-5F7F-DB97-C61B49917AE0}"/>
              </a:ext>
            </a:extLst>
          </p:cNvPr>
          <p:cNvSpPr txBox="1"/>
          <p:nvPr/>
        </p:nvSpPr>
        <p:spPr>
          <a:xfrm>
            <a:off x="1156713" y="5284665"/>
            <a:ext cx="7973568" cy="1938992"/>
          </a:xfrm>
          <a:prstGeom prst="rect">
            <a:avLst/>
          </a:prstGeom>
          <a:noFill/>
        </p:spPr>
        <p:txBody>
          <a:bodyPr wrap="square" rtlCol="0">
            <a:spAutoFit/>
          </a:bodyPr>
          <a:lstStyle/>
          <a:p>
            <a:pPr algn="ctr"/>
            <a:r>
              <a:rPr lang="fi-FI" sz="6000" dirty="0">
                <a:solidFill>
                  <a:srgbClr val="F38120"/>
                </a:solidFill>
                <a:latin typeface="SVN-Gilroy XBold" panose="00000900000000000000" pitchFamily="50" charset="0"/>
              </a:rPr>
              <a:t>Sai Gon Thuong Tin JSCB </a:t>
            </a:r>
            <a:r>
              <a:rPr lang="en-US" sz="6000" dirty="0">
                <a:solidFill>
                  <a:srgbClr val="F38120"/>
                </a:solidFill>
                <a:latin typeface="SVN-Gilroy XBold" panose="00000900000000000000" pitchFamily="50" charset="0"/>
              </a:rPr>
              <a:t>(HOSE: STB)</a:t>
            </a:r>
          </a:p>
        </p:txBody>
      </p:sp>
      <p:sp>
        <p:nvSpPr>
          <p:cNvPr id="4" name="TextBox 3">
            <a:extLst>
              <a:ext uri="{FF2B5EF4-FFF2-40B4-BE49-F238E27FC236}">
                <a16:creationId xmlns:a16="http://schemas.microsoft.com/office/drawing/2014/main" id="{2E1692FE-8D2A-CF6A-866B-0B0422273BDD}"/>
              </a:ext>
            </a:extLst>
          </p:cNvPr>
          <p:cNvSpPr txBox="1"/>
          <p:nvPr/>
        </p:nvSpPr>
        <p:spPr>
          <a:xfrm>
            <a:off x="653000" y="7574513"/>
            <a:ext cx="8980991" cy="661720"/>
          </a:xfrm>
          <a:prstGeom prst="rect">
            <a:avLst/>
          </a:prstGeom>
          <a:noFill/>
        </p:spPr>
        <p:txBody>
          <a:bodyPr wrap="square" rtlCol="0">
            <a:spAutoFit/>
          </a:bodyPr>
          <a:lstStyle/>
          <a:p>
            <a:pPr algn="ctr"/>
            <a:r>
              <a:rPr lang="en-US" sz="3700" b="1" dirty="0">
                <a:solidFill>
                  <a:srgbClr val="01437C"/>
                </a:solidFill>
                <a:latin typeface="SVN-Gilroy" panose="00000500000000000000" pitchFamily="50" charset="0"/>
                <a:ea typeface="Karla" pitchFamily="2" charset="0"/>
                <a:cs typeface="Poppins" panose="00000500000000000000" pitchFamily="2" charset="0"/>
              </a:rPr>
              <a:t>Cleaning up the books</a:t>
            </a:r>
          </a:p>
        </p:txBody>
      </p:sp>
      <p:grpSp>
        <p:nvGrpSpPr>
          <p:cNvPr id="13" name="Group 12">
            <a:extLst>
              <a:ext uri="{FF2B5EF4-FFF2-40B4-BE49-F238E27FC236}">
                <a16:creationId xmlns:a16="http://schemas.microsoft.com/office/drawing/2014/main" id="{638356BC-700A-EB7E-38C5-8059B2064F78}"/>
              </a:ext>
            </a:extLst>
          </p:cNvPr>
          <p:cNvGrpSpPr/>
          <p:nvPr/>
        </p:nvGrpSpPr>
        <p:grpSpPr>
          <a:xfrm>
            <a:off x="3336461" y="8625441"/>
            <a:ext cx="4109367" cy="1451113"/>
            <a:chOff x="3336461" y="8784465"/>
            <a:chExt cx="4109367" cy="1451113"/>
          </a:xfrm>
        </p:grpSpPr>
        <p:sp>
          <p:nvSpPr>
            <p:cNvPr id="5" name="Rectangle: Rounded Corners 4">
              <a:extLst>
                <a:ext uri="{FF2B5EF4-FFF2-40B4-BE49-F238E27FC236}">
                  <a16:creationId xmlns:a16="http://schemas.microsoft.com/office/drawing/2014/main" id="{3E669CBE-92BA-A572-7180-B81BDB62D11B}"/>
                </a:ext>
              </a:extLst>
            </p:cNvPr>
            <p:cNvSpPr/>
            <p:nvPr/>
          </p:nvSpPr>
          <p:spPr>
            <a:xfrm>
              <a:off x="3336461" y="8784465"/>
              <a:ext cx="4109367" cy="993913"/>
            </a:xfrm>
            <a:prstGeom prst="round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sz="3700" dirty="0">
                  <a:latin typeface="SVN-Gilroy" panose="00000500000000000000" pitchFamily="50" charset="0"/>
                </a:rPr>
                <a:t>TRADING BUY</a:t>
              </a:r>
            </a:p>
          </p:txBody>
        </p:sp>
        <p:sp>
          <p:nvSpPr>
            <p:cNvPr id="9" name="Arrow: Up 8">
              <a:extLst>
                <a:ext uri="{FF2B5EF4-FFF2-40B4-BE49-F238E27FC236}">
                  <a16:creationId xmlns:a16="http://schemas.microsoft.com/office/drawing/2014/main" id="{D86E1F36-EC74-E9A6-0608-6AD7488EF5C5}"/>
                </a:ext>
              </a:extLst>
            </p:cNvPr>
            <p:cNvSpPr/>
            <p:nvPr/>
          </p:nvSpPr>
          <p:spPr>
            <a:xfrm rot="19258989">
              <a:off x="6493332" y="9321178"/>
              <a:ext cx="914400" cy="914400"/>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graphicFrame>
        <p:nvGraphicFramePr>
          <p:cNvPr id="12" name="Table 11">
            <a:extLst>
              <a:ext uri="{FF2B5EF4-FFF2-40B4-BE49-F238E27FC236}">
                <a16:creationId xmlns:a16="http://schemas.microsoft.com/office/drawing/2014/main" id="{3184D3A0-7F48-33BE-E1E4-8C878D3CB804}"/>
              </a:ext>
            </a:extLst>
          </p:cNvPr>
          <p:cNvGraphicFramePr>
            <a:graphicFrameLocks noGrp="1"/>
          </p:cNvGraphicFramePr>
          <p:nvPr>
            <p:extLst>
              <p:ext uri="{D42A27DB-BD31-4B8C-83A1-F6EECF244321}">
                <p14:modId xmlns:p14="http://schemas.microsoft.com/office/powerpoint/2010/main" val="3335103435"/>
              </p:ext>
            </p:extLst>
          </p:nvPr>
        </p:nvGraphicFramePr>
        <p:xfrm>
          <a:off x="2679752" y="10155689"/>
          <a:ext cx="4927489" cy="1847279"/>
        </p:xfrm>
        <a:graphic>
          <a:graphicData uri="http://schemas.openxmlformats.org/drawingml/2006/table">
            <a:tbl>
              <a:tblPr firstRow="1" bandRow="1">
                <a:tableStyleId>{2D5ABB26-0587-4C30-8999-92F81FD0307C}</a:tableStyleId>
              </a:tblPr>
              <a:tblGrid>
                <a:gridCol w="3273112">
                  <a:extLst>
                    <a:ext uri="{9D8B030D-6E8A-4147-A177-3AD203B41FA5}">
                      <a16:colId xmlns:a16="http://schemas.microsoft.com/office/drawing/2014/main" val="3602970718"/>
                    </a:ext>
                  </a:extLst>
                </a:gridCol>
                <a:gridCol w="1654377">
                  <a:extLst>
                    <a:ext uri="{9D8B030D-6E8A-4147-A177-3AD203B41FA5}">
                      <a16:colId xmlns:a16="http://schemas.microsoft.com/office/drawing/2014/main" val="3703199259"/>
                    </a:ext>
                  </a:extLst>
                </a:gridCol>
              </a:tblGrid>
              <a:tr h="785023">
                <a:tc>
                  <a:txBody>
                    <a:bodyPr/>
                    <a:lstStyle/>
                    <a:p>
                      <a:pPr marL="0" algn="l" defTabSz="1028700" rtl="0" eaLnBrk="1" latinLnBrk="0" hangingPunct="1">
                        <a:lnSpc>
                          <a:spcPct val="150000"/>
                        </a:lnSpc>
                        <a:spcBef>
                          <a:spcPts val="600"/>
                        </a:spcBef>
                        <a:spcAft>
                          <a:spcPts val="600"/>
                        </a:spcAft>
                      </a:pPr>
                      <a:r>
                        <a:rPr lang="en-US" sz="3700" b="0" kern="1200" dirty="0">
                          <a:solidFill>
                            <a:srgbClr val="00427A"/>
                          </a:solidFill>
                          <a:latin typeface="SVN-Gilroy" panose="00000500000000000000" pitchFamily="50" charset="0"/>
                          <a:ea typeface="+mn-ea"/>
                          <a:cs typeface="Poppins" panose="00000500000000000000" pitchFamily="2" charset="0"/>
                        </a:rPr>
                        <a:t>Target price</a:t>
                      </a:r>
                    </a:p>
                  </a:txBody>
                  <a:tcPr marT="91440" marB="91440" anchor="ctr">
                    <a:noFill/>
                  </a:tcPr>
                </a:tc>
                <a:tc>
                  <a:txBody>
                    <a:bodyPr/>
                    <a:lstStyle/>
                    <a:p>
                      <a:pPr marL="0" algn="ctr" defTabSz="1028700" rtl="0" eaLnBrk="1" latinLnBrk="0" hangingPunct="1">
                        <a:lnSpc>
                          <a:spcPct val="150000"/>
                        </a:lnSpc>
                        <a:spcBef>
                          <a:spcPts val="600"/>
                        </a:spcBef>
                        <a:spcAft>
                          <a:spcPts val="600"/>
                        </a:spcAft>
                      </a:pPr>
                      <a:endParaRPr lang="en-US" sz="37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extLst>
                  <a:ext uri="{0D108BD9-81ED-4DB2-BD59-A6C34878D82A}">
                    <a16:rowId xmlns:a16="http://schemas.microsoft.com/office/drawing/2014/main" val="555997262"/>
                  </a:ext>
                </a:extLst>
              </a:tr>
              <a:tr h="783782">
                <a:tc>
                  <a:txBody>
                    <a:bodyPr/>
                    <a:lstStyle/>
                    <a:p>
                      <a:pPr marL="0" algn="l" defTabSz="1028700" rtl="0" eaLnBrk="1" latinLnBrk="0" hangingPunct="1">
                        <a:lnSpc>
                          <a:spcPct val="150000"/>
                        </a:lnSpc>
                        <a:spcBef>
                          <a:spcPts val="600"/>
                        </a:spcBef>
                        <a:spcAft>
                          <a:spcPts val="600"/>
                        </a:spcAft>
                      </a:pPr>
                      <a:r>
                        <a:rPr lang="en-US" sz="3700" b="1" kern="1200" dirty="0">
                          <a:solidFill>
                            <a:srgbClr val="00427A"/>
                          </a:solidFill>
                          <a:latin typeface="SVN-Gilroy" panose="00000500000000000000" pitchFamily="50" charset="0"/>
                        </a:rPr>
                        <a:t>77,800</a:t>
                      </a:r>
                      <a:endParaRPr lang="en-US" sz="37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tc>
                  <a:txBody>
                    <a:bodyPr/>
                    <a:lstStyle/>
                    <a:p>
                      <a:pPr marL="0" algn="ctr" defTabSz="1028700" rtl="0" eaLnBrk="1" latinLnBrk="0" hangingPunct="1">
                        <a:lnSpc>
                          <a:spcPct val="150000"/>
                        </a:lnSpc>
                        <a:spcBef>
                          <a:spcPts val="600"/>
                        </a:spcBef>
                        <a:spcAft>
                          <a:spcPts val="600"/>
                        </a:spcAft>
                      </a:pPr>
                      <a:r>
                        <a:rPr lang="en-US" sz="3700" b="1" kern="1200" dirty="0">
                          <a:solidFill>
                            <a:srgbClr val="92D050"/>
                          </a:solidFill>
                          <a:latin typeface="SVN-Gilroy" panose="00000500000000000000" pitchFamily="50" charset="0"/>
                        </a:rPr>
                        <a:t>+8</a:t>
                      </a:r>
                      <a:r>
                        <a:rPr lang="vi-VN" sz="3700" b="1" kern="1200" dirty="0">
                          <a:solidFill>
                            <a:srgbClr val="92D050"/>
                          </a:solidFill>
                          <a:latin typeface="SVN-Gilroy" panose="00000500000000000000" pitchFamily="50" charset="0"/>
                        </a:rPr>
                        <a:t>.</a:t>
                      </a:r>
                      <a:r>
                        <a:rPr lang="en-US" sz="3700" b="1" kern="1200">
                          <a:solidFill>
                            <a:srgbClr val="92D050"/>
                          </a:solidFill>
                          <a:latin typeface="SVN-Gilroy" panose="00000500000000000000" pitchFamily="50" charset="0"/>
                        </a:rPr>
                        <a:t>2%</a:t>
                      </a:r>
                      <a:endParaRPr lang="en-US" sz="3700" b="1" kern="1200" dirty="0">
                        <a:solidFill>
                          <a:srgbClr val="92D050"/>
                        </a:solidFill>
                        <a:latin typeface="SVN-Gilroy" panose="00000500000000000000" pitchFamily="50" charset="0"/>
                        <a:ea typeface="+mn-ea"/>
                        <a:cs typeface="Poppins" panose="00000500000000000000" pitchFamily="2" charset="0"/>
                      </a:endParaRPr>
                    </a:p>
                  </a:txBody>
                  <a:tcPr marT="91440" marB="91440" anchor="ctr">
                    <a:noFill/>
                  </a:tcPr>
                </a:tc>
                <a:extLst>
                  <a:ext uri="{0D108BD9-81ED-4DB2-BD59-A6C34878D82A}">
                    <a16:rowId xmlns:a16="http://schemas.microsoft.com/office/drawing/2014/main" val="2189032345"/>
                  </a:ext>
                </a:extLst>
              </a:tr>
            </a:tbl>
          </a:graphicData>
        </a:graphic>
      </p:graphicFrame>
    </p:spTree>
    <p:extLst>
      <p:ext uri="{BB962C8B-B14F-4D97-AF65-F5344CB8AC3E}">
        <p14:creationId xmlns:p14="http://schemas.microsoft.com/office/powerpoint/2010/main" val="722161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97D09-3026-2DE1-CD02-82EDFE1FB9CB}"/>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05B1F78C-46BE-0FE1-FEA3-BE72525FC1F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35EF953F-CE10-643C-FB02-B284A77E1800}"/>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VN-Gilroy" panose="00000500000000000000"/>
            </a:endParaRPr>
          </a:p>
        </p:txBody>
      </p:sp>
      <p:sp>
        <p:nvSpPr>
          <p:cNvPr id="9" name="TextBox 8">
            <a:extLst>
              <a:ext uri="{FF2B5EF4-FFF2-40B4-BE49-F238E27FC236}">
                <a16:creationId xmlns:a16="http://schemas.microsoft.com/office/drawing/2014/main" id="{537BAE47-B734-117C-D56E-92361811686A}"/>
              </a:ext>
            </a:extLst>
          </p:cNvPr>
          <p:cNvSpPr txBox="1"/>
          <p:nvPr/>
        </p:nvSpPr>
        <p:spPr>
          <a:xfrm>
            <a:off x="586539" y="928966"/>
            <a:ext cx="9113922" cy="707886"/>
          </a:xfrm>
          <a:prstGeom prst="rect">
            <a:avLst/>
          </a:prstGeom>
          <a:noFill/>
        </p:spPr>
        <p:txBody>
          <a:bodyPr wrap="square" rtlCol="0">
            <a:spAutoFit/>
          </a:bodyPr>
          <a:lstStyle/>
          <a:p>
            <a:pPr algn="ctr"/>
            <a:r>
              <a:rPr lang="en-US" sz="4000" b="1" dirty="0">
                <a:solidFill>
                  <a:schemeClr val="bg1"/>
                </a:solidFill>
                <a:latin typeface="SVN-Gilroy" panose="00000500000000000000"/>
              </a:rPr>
              <a:t>STB – Cost pressure persists in 2Q26</a:t>
            </a:r>
          </a:p>
        </p:txBody>
      </p:sp>
      <p:graphicFrame>
        <p:nvGraphicFramePr>
          <p:cNvPr id="7" name="Diagram 6">
            <a:extLst>
              <a:ext uri="{FF2B5EF4-FFF2-40B4-BE49-F238E27FC236}">
                <a16:creationId xmlns:a16="http://schemas.microsoft.com/office/drawing/2014/main" id="{08CB3599-E917-48DA-589A-D171A6355B7A}"/>
              </a:ext>
            </a:extLst>
          </p:cNvPr>
          <p:cNvGraphicFramePr/>
          <p:nvPr>
            <p:extLst>
              <p:ext uri="{D42A27DB-BD31-4B8C-83A1-F6EECF244321}">
                <p14:modId xmlns:p14="http://schemas.microsoft.com/office/powerpoint/2010/main" val="3615404311"/>
              </p:ext>
            </p:extLst>
          </p:nvPr>
        </p:nvGraphicFramePr>
        <p:xfrm>
          <a:off x="1157904" y="2106646"/>
          <a:ext cx="7966218" cy="106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5204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C2F5CD-0DF0-86A3-9973-9620C3A7FA6A}"/>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3D82AB80-5214-19B2-693E-5BBA64E8F5EB}"/>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0F328F6D-83BA-7DB8-19A1-787FA50BE62B}"/>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extBox 8">
            <a:extLst>
              <a:ext uri="{FF2B5EF4-FFF2-40B4-BE49-F238E27FC236}">
                <a16:creationId xmlns:a16="http://schemas.microsoft.com/office/drawing/2014/main" id="{27E2C0A1-4ED4-7E57-DAC3-492DC3227AD0}"/>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STB – PL</a:t>
            </a:r>
            <a:endParaRPr lang="vi-VN" sz="4000" dirty="0">
              <a:solidFill>
                <a:schemeClr val="bg1"/>
              </a:solidFill>
              <a:latin typeface="SVN-Gilroy XBold" panose="00000900000000000000" pitchFamily="50" charset="0"/>
            </a:endParaRPr>
          </a:p>
        </p:txBody>
      </p:sp>
      <p:graphicFrame>
        <p:nvGraphicFramePr>
          <p:cNvPr id="3" name="Chart 2">
            <a:extLst>
              <a:ext uri="{FF2B5EF4-FFF2-40B4-BE49-F238E27FC236}">
                <a16:creationId xmlns:a16="http://schemas.microsoft.com/office/drawing/2014/main" id="{116A76E6-26D9-4522-BFAF-92943CC6C745}"/>
              </a:ext>
            </a:extLst>
          </p:cNvPr>
          <p:cNvGraphicFramePr>
            <a:graphicFrameLocks/>
          </p:cNvGraphicFramePr>
          <p:nvPr>
            <p:extLst>
              <p:ext uri="{D42A27DB-BD31-4B8C-83A1-F6EECF244321}">
                <p14:modId xmlns:p14="http://schemas.microsoft.com/office/powerpoint/2010/main" val="1795417282"/>
              </p:ext>
            </p:extLst>
          </p:nvPr>
        </p:nvGraphicFramePr>
        <p:xfrm>
          <a:off x="1506072" y="2515317"/>
          <a:ext cx="7548281" cy="92761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989923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4E14D9-BEE8-CC7C-1851-6C232C138BF7}"/>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FF40A54B-6E59-24DE-02F9-38073E6865BB}"/>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B72C17AE-9D31-4C6C-17FA-ED3A3E7116E3}"/>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8CAB150F-AF6B-9800-7D0B-070E0208DA3B}"/>
              </a:ext>
            </a:extLst>
          </p:cNvPr>
          <p:cNvSpPr txBox="1"/>
          <p:nvPr/>
        </p:nvSpPr>
        <p:spPr>
          <a:xfrm>
            <a:off x="1156713" y="2331311"/>
            <a:ext cx="7973568" cy="523220"/>
          </a:xfrm>
          <a:prstGeom prst="rect">
            <a:avLst/>
          </a:prstGeom>
          <a:noFill/>
        </p:spPr>
        <p:txBody>
          <a:bodyPr wrap="square" rtlCol="0">
            <a:spAutoFit/>
          </a:bodyPr>
          <a:lstStyle/>
          <a:p>
            <a:pPr algn="ctr"/>
            <a:r>
              <a:rPr lang="en-US" sz="2800" b="1" dirty="0">
                <a:solidFill>
                  <a:srgbClr val="01437C"/>
                </a:solidFill>
                <a:latin typeface="SVN-Gilroy" panose="00000500000000000000" pitchFamily="50" charset="0"/>
                <a:ea typeface="Karla" pitchFamily="2" charset="0"/>
                <a:cs typeface="Poppins" panose="00000500000000000000" pitchFamily="2" charset="0"/>
              </a:rPr>
              <a:t>Doubtful debt rose in 1Q26</a:t>
            </a:r>
          </a:p>
        </p:txBody>
      </p:sp>
      <p:sp>
        <p:nvSpPr>
          <p:cNvPr id="9" name="TextBox 8">
            <a:extLst>
              <a:ext uri="{FF2B5EF4-FFF2-40B4-BE49-F238E27FC236}">
                <a16:creationId xmlns:a16="http://schemas.microsoft.com/office/drawing/2014/main" id="{21F70AF1-0D3E-6E6B-F5A2-64B9FBAF6F42}"/>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STB – NPL</a:t>
            </a:r>
            <a:endParaRPr lang="vi-VN" sz="4000" dirty="0">
              <a:solidFill>
                <a:schemeClr val="bg1"/>
              </a:solidFill>
              <a:latin typeface="SVN-Gilroy XBold" panose="00000900000000000000" pitchFamily="50" charset="0"/>
            </a:endParaRPr>
          </a:p>
        </p:txBody>
      </p:sp>
      <p:graphicFrame>
        <p:nvGraphicFramePr>
          <p:cNvPr id="5" name="Chart 4">
            <a:extLst>
              <a:ext uri="{FF2B5EF4-FFF2-40B4-BE49-F238E27FC236}">
                <a16:creationId xmlns:a16="http://schemas.microsoft.com/office/drawing/2014/main" id="{6D15E9AF-A285-A826-C3F4-5533A410BF46}"/>
              </a:ext>
            </a:extLst>
          </p:cNvPr>
          <p:cNvGraphicFramePr>
            <a:graphicFrameLocks/>
          </p:cNvGraphicFramePr>
          <p:nvPr>
            <p:extLst>
              <p:ext uri="{D42A27DB-BD31-4B8C-83A1-F6EECF244321}">
                <p14:modId xmlns:p14="http://schemas.microsoft.com/office/powerpoint/2010/main" val="3087662176"/>
              </p:ext>
            </p:extLst>
          </p:nvPr>
        </p:nvGraphicFramePr>
        <p:xfrm>
          <a:off x="1289491" y="3165423"/>
          <a:ext cx="7708018" cy="923165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135250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1080A-1BF5-AFC3-122C-56F736CB63A5}"/>
            </a:ext>
          </a:extLst>
        </p:cNvPr>
        <p:cNvGrpSpPr/>
        <p:nvPr/>
      </p:nvGrpSpPr>
      <p:grpSpPr>
        <a:xfrm>
          <a:off x="0" y="0"/>
          <a:ext cx="0" cy="0"/>
          <a:chOff x="0" y="0"/>
          <a:chExt cx="0" cy="0"/>
        </a:xfrm>
      </p:grpSpPr>
      <p:pic>
        <p:nvPicPr>
          <p:cNvPr id="8" name="Picture 7" descr="A white rectangular object with a pink border&#10;&#10;Description automatically generated">
            <a:extLst>
              <a:ext uri="{FF2B5EF4-FFF2-40B4-BE49-F238E27FC236}">
                <a16:creationId xmlns:a16="http://schemas.microsoft.com/office/drawing/2014/main" id="{77D9D435-ED2C-E0FB-DAAF-33E9371BEAA5}"/>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6" name="TextBox 5">
            <a:extLst>
              <a:ext uri="{FF2B5EF4-FFF2-40B4-BE49-F238E27FC236}">
                <a16:creationId xmlns:a16="http://schemas.microsoft.com/office/drawing/2014/main" id="{A914B5F8-E1EB-70B1-B389-060E2921B1F7}"/>
              </a:ext>
            </a:extLst>
          </p:cNvPr>
          <p:cNvSpPr txBox="1"/>
          <p:nvPr/>
        </p:nvSpPr>
        <p:spPr>
          <a:xfrm>
            <a:off x="559467" y="399526"/>
            <a:ext cx="6501244" cy="738664"/>
          </a:xfrm>
          <a:prstGeom prst="rect">
            <a:avLst/>
          </a:prstGeom>
          <a:noFill/>
        </p:spPr>
        <p:txBody>
          <a:bodyPr wrap="square" rtlCol="0">
            <a:spAutoFit/>
          </a:bodyPr>
          <a:lstStyle/>
          <a:p>
            <a:r>
              <a:rPr lang="en-US" sz="4200" dirty="0">
                <a:solidFill>
                  <a:srgbClr val="F38120"/>
                </a:solidFill>
                <a:latin typeface="SVN-Gilroy XBold" panose="00000900000000000000" pitchFamily="50" charset="0"/>
              </a:rPr>
              <a:t>Ngân </a:t>
            </a:r>
            <a:r>
              <a:rPr lang="en-US" sz="4200" dirty="0" err="1">
                <a:solidFill>
                  <a:srgbClr val="F38120"/>
                </a:solidFill>
                <a:latin typeface="SVN-Gilroy XBold" panose="00000900000000000000" pitchFamily="50" charset="0"/>
              </a:rPr>
              <a:t>hàng</a:t>
            </a:r>
            <a:r>
              <a:rPr lang="en-US" sz="4200" dirty="0">
                <a:solidFill>
                  <a:srgbClr val="F38120"/>
                </a:solidFill>
                <a:latin typeface="SVN-Gilroy XBold" panose="00000900000000000000" pitchFamily="50" charset="0"/>
              </a:rPr>
              <a:t>	</a:t>
            </a:r>
          </a:p>
        </p:txBody>
      </p:sp>
      <p:sp>
        <p:nvSpPr>
          <p:cNvPr id="7" name="TextBox 6">
            <a:extLst>
              <a:ext uri="{FF2B5EF4-FFF2-40B4-BE49-F238E27FC236}">
                <a16:creationId xmlns:a16="http://schemas.microsoft.com/office/drawing/2014/main" id="{6A96A606-D1B5-EE58-A08A-3B9212285C6D}"/>
              </a:ext>
            </a:extLst>
          </p:cNvPr>
          <p:cNvSpPr txBox="1"/>
          <p:nvPr/>
        </p:nvSpPr>
        <p:spPr>
          <a:xfrm>
            <a:off x="559467" y="1016162"/>
            <a:ext cx="4584033" cy="646331"/>
          </a:xfrm>
          <a:prstGeom prst="rect">
            <a:avLst/>
          </a:prstGeom>
          <a:noFill/>
        </p:spPr>
        <p:txBody>
          <a:bodyPr wrap="square" rtlCol="0">
            <a:spAutoFit/>
          </a:bodyPr>
          <a:lstStyle/>
          <a:p>
            <a:r>
              <a:rPr lang="en-US" sz="3600" dirty="0">
                <a:solidFill>
                  <a:srgbClr val="01437C"/>
                </a:solidFill>
                <a:latin typeface="SVN-Gilroy SemiBold" panose="00000700000000000000" pitchFamily="50" charset="0"/>
              </a:rPr>
              <a:t>24.07.2026</a:t>
            </a:r>
          </a:p>
        </p:txBody>
      </p:sp>
      <p:sp>
        <p:nvSpPr>
          <p:cNvPr id="2" name="TextBox 1">
            <a:extLst>
              <a:ext uri="{FF2B5EF4-FFF2-40B4-BE49-F238E27FC236}">
                <a16:creationId xmlns:a16="http://schemas.microsoft.com/office/drawing/2014/main" id="{D5708BFA-DD95-5F7F-DB97-C61B49917AE0}"/>
              </a:ext>
            </a:extLst>
          </p:cNvPr>
          <p:cNvSpPr txBox="1"/>
          <p:nvPr/>
        </p:nvSpPr>
        <p:spPr>
          <a:xfrm>
            <a:off x="1156710" y="4050087"/>
            <a:ext cx="7973568" cy="2862322"/>
          </a:xfrm>
          <a:prstGeom prst="rect">
            <a:avLst/>
          </a:prstGeom>
          <a:noFill/>
        </p:spPr>
        <p:txBody>
          <a:bodyPr wrap="square" rtlCol="0">
            <a:spAutoFit/>
          </a:bodyPr>
          <a:lstStyle/>
          <a:p>
            <a:pPr algn="ctr"/>
            <a:r>
              <a:rPr lang="en-US" sz="6000" dirty="0">
                <a:solidFill>
                  <a:srgbClr val="F38120"/>
                </a:solidFill>
                <a:latin typeface="SVN-Gilroy XBold" panose="00000900000000000000" pitchFamily="50" charset="0"/>
              </a:rPr>
              <a:t>Ngân </a:t>
            </a:r>
            <a:r>
              <a:rPr lang="en-US" sz="6000" dirty="0" err="1">
                <a:solidFill>
                  <a:srgbClr val="F38120"/>
                </a:solidFill>
                <a:latin typeface="SVN-Gilroy XBold" panose="00000900000000000000" pitchFamily="50" charset="0"/>
              </a:rPr>
              <a:t>hàng</a:t>
            </a:r>
            <a:r>
              <a:rPr lang="en-US" sz="6000" dirty="0">
                <a:solidFill>
                  <a:srgbClr val="F38120"/>
                </a:solidFill>
                <a:latin typeface="SVN-Gilroy XBold" panose="00000900000000000000" pitchFamily="50" charset="0"/>
              </a:rPr>
              <a:t> </a:t>
            </a:r>
            <a:r>
              <a:rPr lang="en-US" sz="6000" dirty="0" err="1">
                <a:solidFill>
                  <a:srgbClr val="F38120"/>
                </a:solidFill>
                <a:latin typeface="SVN-Gilroy XBold" panose="00000900000000000000" pitchFamily="50" charset="0"/>
              </a:rPr>
              <a:t>Sacombank</a:t>
            </a:r>
            <a:endParaRPr lang="en-US" sz="6000" dirty="0">
              <a:solidFill>
                <a:srgbClr val="F38120"/>
              </a:solidFill>
              <a:latin typeface="SVN-Gilroy XBold" panose="00000900000000000000" pitchFamily="50" charset="0"/>
            </a:endParaRPr>
          </a:p>
          <a:p>
            <a:pPr algn="ctr"/>
            <a:r>
              <a:rPr lang="en-US" sz="6000" dirty="0">
                <a:solidFill>
                  <a:srgbClr val="F38120"/>
                </a:solidFill>
                <a:latin typeface="SVN-Gilroy XBold" panose="00000900000000000000" pitchFamily="50" charset="0"/>
              </a:rPr>
              <a:t>(HOSE: STB)</a:t>
            </a:r>
          </a:p>
        </p:txBody>
      </p:sp>
      <p:sp>
        <p:nvSpPr>
          <p:cNvPr id="4" name="TextBox 3">
            <a:extLst>
              <a:ext uri="{FF2B5EF4-FFF2-40B4-BE49-F238E27FC236}">
                <a16:creationId xmlns:a16="http://schemas.microsoft.com/office/drawing/2014/main" id="{2E1692FE-8D2A-CF6A-866B-0B0422273BDD}"/>
              </a:ext>
            </a:extLst>
          </p:cNvPr>
          <p:cNvSpPr txBox="1"/>
          <p:nvPr/>
        </p:nvSpPr>
        <p:spPr>
          <a:xfrm>
            <a:off x="652999" y="7126168"/>
            <a:ext cx="8980991" cy="1231106"/>
          </a:xfrm>
          <a:prstGeom prst="rect">
            <a:avLst/>
          </a:prstGeom>
          <a:noFill/>
        </p:spPr>
        <p:txBody>
          <a:bodyPr wrap="square" rtlCol="0">
            <a:spAutoFit/>
          </a:bodyPr>
          <a:lstStyle/>
          <a:p>
            <a:pPr algn="ctr"/>
            <a:r>
              <a:rPr lang="vi-VN" sz="3700" b="1" dirty="0">
                <a:solidFill>
                  <a:srgbClr val="01437C"/>
                </a:solidFill>
                <a:latin typeface="SVN-Gilroy" panose="00000500000000000000" pitchFamily="50" charset="0"/>
                <a:ea typeface="Karla" pitchFamily="2" charset="0"/>
                <a:cs typeface="Poppins" panose="00000500000000000000" pitchFamily="2" charset="0"/>
              </a:rPr>
              <a:t>Thu hồi tài sản tồn đọng cải thiện dự phóng</a:t>
            </a:r>
          </a:p>
        </p:txBody>
      </p:sp>
      <p:grpSp>
        <p:nvGrpSpPr>
          <p:cNvPr id="13" name="Group 12">
            <a:extLst>
              <a:ext uri="{FF2B5EF4-FFF2-40B4-BE49-F238E27FC236}">
                <a16:creationId xmlns:a16="http://schemas.microsoft.com/office/drawing/2014/main" id="{638356BC-700A-EB7E-38C5-8059B2064F78}"/>
              </a:ext>
            </a:extLst>
          </p:cNvPr>
          <p:cNvGrpSpPr/>
          <p:nvPr/>
        </p:nvGrpSpPr>
        <p:grpSpPr>
          <a:xfrm>
            <a:off x="3336461" y="8625441"/>
            <a:ext cx="4109367" cy="1451113"/>
            <a:chOff x="3336461" y="8784465"/>
            <a:chExt cx="4109367" cy="1451113"/>
          </a:xfrm>
        </p:grpSpPr>
        <p:sp>
          <p:nvSpPr>
            <p:cNvPr id="5" name="Rectangle: Rounded Corners 4">
              <a:extLst>
                <a:ext uri="{FF2B5EF4-FFF2-40B4-BE49-F238E27FC236}">
                  <a16:creationId xmlns:a16="http://schemas.microsoft.com/office/drawing/2014/main" id="{3E669CBE-92BA-A572-7180-B81BDB62D11B}"/>
                </a:ext>
              </a:extLst>
            </p:cNvPr>
            <p:cNvSpPr/>
            <p:nvPr/>
          </p:nvSpPr>
          <p:spPr>
            <a:xfrm>
              <a:off x="3336461" y="8784465"/>
              <a:ext cx="4109367" cy="993913"/>
            </a:xfrm>
            <a:prstGeom prst="round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r>
                <a:rPr lang="en-US" sz="3700" dirty="0">
                  <a:latin typeface="SVN-Gilroy" panose="00000500000000000000" pitchFamily="50" charset="0"/>
                </a:rPr>
                <a:t>NẮM GIỮ</a:t>
              </a:r>
            </a:p>
          </p:txBody>
        </p:sp>
        <p:sp>
          <p:nvSpPr>
            <p:cNvPr id="9" name="Arrow: Up 8">
              <a:extLst>
                <a:ext uri="{FF2B5EF4-FFF2-40B4-BE49-F238E27FC236}">
                  <a16:creationId xmlns:a16="http://schemas.microsoft.com/office/drawing/2014/main" id="{D86E1F36-EC74-E9A6-0608-6AD7488EF5C5}"/>
                </a:ext>
              </a:extLst>
            </p:cNvPr>
            <p:cNvSpPr/>
            <p:nvPr/>
          </p:nvSpPr>
          <p:spPr>
            <a:xfrm rot="19258989">
              <a:off x="6493332" y="9321178"/>
              <a:ext cx="914400" cy="914400"/>
            </a:xfrm>
            <a:prstGeom prst="upArrow">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pSp>
      <p:graphicFrame>
        <p:nvGraphicFramePr>
          <p:cNvPr id="12" name="Table 11">
            <a:extLst>
              <a:ext uri="{FF2B5EF4-FFF2-40B4-BE49-F238E27FC236}">
                <a16:creationId xmlns:a16="http://schemas.microsoft.com/office/drawing/2014/main" id="{3184D3A0-7F48-33BE-E1E4-8C878D3CB804}"/>
              </a:ext>
            </a:extLst>
          </p:cNvPr>
          <p:cNvGraphicFramePr>
            <a:graphicFrameLocks noGrp="1"/>
          </p:cNvGraphicFramePr>
          <p:nvPr>
            <p:extLst>
              <p:ext uri="{D42A27DB-BD31-4B8C-83A1-F6EECF244321}">
                <p14:modId xmlns:p14="http://schemas.microsoft.com/office/powerpoint/2010/main" val="2480756689"/>
              </p:ext>
            </p:extLst>
          </p:nvPr>
        </p:nvGraphicFramePr>
        <p:xfrm>
          <a:off x="2679752" y="10155689"/>
          <a:ext cx="4927489" cy="1847279"/>
        </p:xfrm>
        <a:graphic>
          <a:graphicData uri="http://schemas.openxmlformats.org/drawingml/2006/table">
            <a:tbl>
              <a:tblPr firstRow="1" bandRow="1">
                <a:tableStyleId>{2D5ABB26-0587-4C30-8999-92F81FD0307C}</a:tableStyleId>
              </a:tblPr>
              <a:tblGrid>
                <a:gridCol w="3273112">
                  <a:extLst>
                    <a:ext uri="{9D8B030D-6E8A-4147-A177-3AD203B41FA5}">
                      <a16:colId xmlns:a16="http://schemas.microsoft.com/office/drawing/2014/main" val="3602970718"/>
                    </a:ext>
                  </a:extLst>
                </a:gridCol>
                <a:gridCol w="1654377">
                  <a:extLst>
                    <a:ext uri="{9D8B030D-6E8A-4147-A177-3AD203B41FA5}">
                      <a16:colId xmlns:a16="http://schemas.microsoft.com/office/drawing/2014/main" val="3703199259"/>
                    </a:ext>
                  </a:extLst>
                </a:gridCol>
              </a:tblGrid>
              <a:tr h="785023">
                <a:tc>
                  <a:txBody>
                    <a:bodyPr/>
                    <a:lstStyle/>
                    <a:p>
                      <a:pPr marL="0" algn="l" defTabSz="1028700" rtl="0" eaLnBrk="1" latinLnBrk="0" hangingPunct="1">
                        <a:lnSpc>
                          <a:spcPct val="150000"/>
                        </a:lnSpc>
                        <a:spcBef>
                          <a:spcPts val="600"/>
                        </a:spcBef>
                        <a:spcAft>
                          <a:spcPts val="600"/>
                        </a:spcAft>
                      </a:pPr>
                      <a:r>
                        <a:rPr lang="en-US" sz="3700" b="0" kern="1200" dirty="0" err="1">
                          <a:solidFill>
                            <a:srgbClr val="00427A"/>
                          </a:solidFill>
                          <a:latin typeface="SVN-Gilroy" panose="00000500000000000000" pitchFamily="50" charset="0"/>
                          <a:ea typeface="+mn-ea"/>
                          <a:cs typeface="Poppins" panose="00000500000000000000" pitchFamily="2" charset="0"/>
                        </a:rPr>
                        <a:t>Giá</a:t>
                      </a:r>
                      <a:r>
                        <a:rPr lang="en-US" sz="3700" b="0" kern="1200" dirty="0">
                          <a:solidFill>
                            <a:srgbClr val="00427A"/>
                          </a:solidFill>
                          <a:latin typeface="SVN-Gilroy" panose="00000500000000000000" pitchFamily="50" charset="0"/>
                          <a:ea typeface="+mn-ea"/>
                          <a:cs typeface="Poppins" panose="00000500000000000000" pitchFamily="2" charset="0"/>
                        </a:rPr>
                        <a:t> </a:t>
                      </a:r>
                      <a:r>
                        <a:rPr lang="en-US" sz="3700" b="0" kern="1200" dirty="0" err="1">
                          <a:solidFill>
                            <a:srgbClr val="00427A"/>
                          </a:solidFill>
                          <a:latin typeface="SVN-Gilroy" panose="00000500000000000000" pitchFamily="50" charset="0"/>
                          <a:ea typeface="+mn-ea"/>
                          <a:cs typeface="Poppins" panose="00000500000000000000" pitchFamily="2" charset="0"/>
                        </a:rPr>
                        <a:t>mục</a:t>
                      </a:r>
                      <a:r>
                        <a:rPr lang="en-US" sz="3700" b="0" kern="1200" dirty="0">
                          <a:solidFill>
                            <a:srgbClr val="00427A"/>
                          </a:solidFill>
                          <a:latin typeface="SVN-Gilroy" panose="00000500000000000000" pitchFamily="50" charset="0"/>
                          <a:ea typeface="+mn-ea"/>
                          <a:cs typeface="Poppins" panose="00000500000000000000" pitchFamily="2" charset="0"/>
                        </a:rPr>
                        <a:t> </a:t>
                      </a:r>
                      <a:r>
                        <a:rPr lang="en-US" sz="3700" b="0" kern="1200" dirty="0" err="1">
                          <a:solidFill>
                            <a:srgbClr val="00427A"/>
                          </a:solidFill>
                          <a:latin typeface="SVN-Gilroy" panose="00000500000000000000" pitchFamily="50" charset="0"/>
                          <a:ea typeface="+mn-ea"/>
                          <a:cs typeface="Poppins" panose="00000500000000000000" pitchFamily="2" charset="0"/>
                        </a:rPr>
                        <a:t>tiêu</a:t>
                      </a:r>
                      <a:endParaRPr lang="en-US" sz="37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tc>
                  <a:txBody>
                    <a:bodyPr/>
                    <a:lstStyle/>
                    <a:p>
                      <a:pPr marL="0" algn="ctr" defTabSz="1028700" rtl="0" eaLnBrk="1" latinLnBrk="0" hangingPunct="1">
                        <a:lnSpc>
                          <a:spcPct val="150000"/>
                        </a:lnSpc>
                        <a:spcBef>
                          <a:spcPts val="600"/>
                        </a:spcBef>
                        <a:spcAft>
                          <a:spcPts val="600"/>
                        </a:spcAft>
                      </a:pPr>
                      <a:endParaRPr lang="en-US" sz="3700" b="0"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extLst>
                  <a:ext uri="{0D108BD9-81ED-4DB2-BD59-A6C34878D82A}">
                    <a16:rowId xmlns:a16="http://schemas.microsoft.com/office/drawing/2014/main" val="555997262"/>
                  </a:ext>
                </a:extLst>
              </a:tr>
              <a:tr h="783782">
                <a:tc>
                  <a:txBody>
                    <a:bodyPr/>
                    <a:lstStyle/>
                    <a:p>
                      <a:pPr marL="0" marR="0" lvl="0" indent="0" algn="l" defTabSz="1028700" rtl="0" eaLnBrk="1" fontAlgn="auto" latinLnBrk="0" hangingPunct="1">
                        <a:lnSpc>
                          <a:spcPct val="150000"/>
                        </a:lnSpc>
                        <a:spcBef>
                          <a:spcPts val="600"/>
                        </a:spcBef>
                        <a:spcAft>
                          <a:spcPts val="600"/>
                        </a:spcAft>
                        <a:buClrTx/>
                        <a:buSzTx/>
                        <a:buFontTx/>
                        <a:buNone/>
                        <a:tabLst/>
                        <a:defRPr/>
                      </a:pPr>
                      <a:r>
                        <a:rPr lang="en-US" sz="3700" b="1" kern="1200" dirty="0">
                          <a:solidFill>
                            <a:srgbClr val="00427A"/>
                          </a:solidFill>
                          <a:latin typeface="SVN-Gilroy" panose="00000500000000000000" pitchFamily="50" charset="0"/>
                        </a:rPr>
                        <a:t>77,800</a:t>
                      </a:r>
                      <a:endParaRPr lang="en-US" sz="3700" b="1" kern="1200" dirty="0">
                        <a:solidFill>
                          <a:srgbClr val="00427A"/>
                        </a:solidFill>
                        <a:latin typeface="SVN-Gilroy" panose="00000500000000000000" pitchFamily="50" charset="0"/>
                        <a:ea typeface="+mn-ea"/>
                        <a:cs typeface="Poppins" panose="00000500000000000000" pitchFamily="2" charset="0"/>
                      </a:endParaRPr>
                    </a:p>
                  </a:txBody>
                  <a:tcPr marT="91440" marB="91440" anchor="ctr">
                    <a:noFill/>
                  </a:tcPr>
                </a:tc>
                <a:tc>
                  <a:txBody>
                    <a:bodyPr/>
                    <a:lstStyle/>
                    <a:p>
                      <a:pPr marL="0" algn="ctr" defTabSz="1028700" rtl="0" eaLnBrk="1" latinLnBrk="0" hangingPunct="1">
                        <a:lnSpc>
                          <a:spcPct val="150000"/>
                        </a:lnSpc>
                        <a:spcBef>
                          <a:spcPts val="600"/>
                        </a:spcBef>
                        <a:spcAft>
                          <a:spcPts val="600"/>
                        </a:spcAft>
                      </a:pPr>
                      <a:r>
                        <a:rPr lang="en-US" sz="3700" b="1" kern="1200" dirty="0">
                          <a:solidFill>
                            <a:srgbClr val="92D050"/>
                          </a:solidFill>
                          <a:latin typeface="SVN-Gilroy" panose="00000500000000000000" pitchFamily="50" charset="0"/>
                        </a:rPr>
                        <a:t>+8</a:t>
                      </a:r>
                      <a:r>
                        <a:rPr lang="vi-VN" sz="3700" b="1" kern="1200" dirty="0">
                          <a:solidFill>
                            <a:srgbClr val="92D050"/>
                          </a:solidFill>
                          <a:latin typeface="SVN-Gilroy" panose="00000500000000000000" pitchFamily="50" charset="0"/>
                        </a:rPr>
                        <a:t>.</a:t>
                      </a:r>
                      <a:r>
                        <a:rPr lang="en-US" sz="3700" b="1" kern="1200" dirty="0">
                          <a:solidFill>
                            <a:srgbClr val="92D050"/>
                          </a:solidFill>
                          <a:latin typeface="SVN-Gilroy" panose="00000500000000000000" pitchFamily="50" charset="0"/>
                        </a:rPr>
                        <a:t>2%</a:t>
                      </a:r>
                      <a:endParaRPr lang="en-US" sz="3700" b="1" kern="1200" dirty="0">
                        <a:solidFill>
                          <a:srgbClr val="92D050"/>
                        </a:solidFill>
                        <a:latin typeface="SVN-Gilroy" panose="00000500000000000000" pitchFamily="50" charset="0"/>
                        <a:ea typeface="+mn-ea"/>
                        <a:cs typeface="Poppins" panose="00000500000000000000" pitchFamily="2" charset="0"/>
                      </a:endParaRPr>
                    </a:p>
                  </a:txBody>
                  <a:tcPr marT="91440" marB="91440" anchor="ctr">
                    <a:noFill/>
                  </a:tcPr>
                </a:tc>
                <a:extLst>
                  <a:ext uri="{0D108BD9-81ED-4DB2-BD59-A6C34878D82A}">
                    <a16:rowId xmlns:a16="http://schemas.microsoft.com/office/drawing/2014/main" val="2189032345"/>
                  </a:ext>
                </a:extLst>
              </a:tr>
            </a:tbl>
          </a:graphicData>
        </a:graphic>
      </p:graphicFrame>
    </p:spTree>
    <p:extLst>
      <p:ext uri="{BB962C8B-B14F-4D97-AF65-F5344CB8AC3E}">
        <p14:creationId xmlns:p14="http://schemas.microsoft.com/office/powerpoint/2010/main" val="560312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E4A3F-2B5C-7B07-831F-DA3546F3BEE5}"/>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C9B4F700-88BB-0988-36C9-87813DA1553F}"/>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7DB94B15-0319-C70E-4033-62EB79BE63CC}"/>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SVN-Gilroy" panose="00000500000000000000"/>
            </a:endParaRPr>
          </a:p>
        </p:txBody>
      </p:sp>
      <p:sp>
        <p:nvSpPr>
          <p:cNvPr id="9" name="TextBox 8">
            <a:extLst>
              <a:ext uri="{FF2B5EF4-FFF2-40B4-BE49-F238E27FC236}">
                <a16:creationId xmlns:a16="http://schemas.microsoft.com/office/drawing/2014/main" id="{B562BEC1-79E2-8338-9430-A10B33B7B57A}"/>
              </a:ext>
            </a:extLst>
          </p:cNvPr>
          <p:cNvSpPr txBox="1"/>
          <p:nvPr/>
        </p:nvSpPr>
        <p:spPr>
          <a:xfrm>
            <a:off x="586539" y="928966"/>
            <a:ext cx="9113922" cy="707886"/>
          </a:xfrm>
          <a:prstGeom prst="rect">
            <a:avLst/>
          </a:prstGeom>
          <a:noFill/>
        </p:spPr>
        <p:txBody>
          <a:bodyPr wrap="square" rtlCol="0">
            <a:spAutoFit/>
          </a:bodyPr>
          <a:lstStyle/>
          <a:p>
            <a:pPr algn="ctr"/>
            <a:r>
              <a:rPr lang="en-US" sz="4000" b="1" dirty="0">
                <a:solidFill>
                  <a:schemeClr val="bg1"/>
                </a:solidFill>
                <a:latin typeface="SVN-Gilroy" panose="00000500000000000000"/>
              </a:rPr>
              <a:t>STB – Áp lực chi phí kéo dài sang Q2/26</a:t>
            </a:r>
          </a:p>
        </p:txBody>
      </p:sp>
      <p:graphicFrame>
        <p:nvGraphicFramePr>
          <p:cNvPr id="7" name="Diagram 6">
            <a:extLst>
              <a:ext uri="{FF2B5EF4-FFF2-40B4-BE49-F238E27FC236}">
                <a16:creationId xmlns:a16="http://schemas.microsoft.com/office/drawing/2014/main" id="{205E25D2-D159-C77A-CB3A-F440A258B219}"/>
              </a:ext>
            </a:extLst>
          </p:cNvPr>
          <p:cNvGraphicFramePr/>
          <p:nvPr>
            <p:extLst>
              <p:ext uri="{D42A27DB-BD31-4B8C-83A1-F6EECF244321}">
                <p14:modId xmlns:p14="http://schemas.microsoft.com/office/powerpoint/2010/main" val="3863712867"/>
              </p:ext>
            </p:extLst>
          </p:nvPr>
        </p:nvGraphicFramePr>
        <p:xfrm>
          <a:off x="1157904" y="2106646"/>
          <a:ext cx="7966218" cy="106803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4505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C23B8-9F0D-A93F-F0B5-42A470B8B4FA}"/>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E28BF981-17E9-B1F5-F8D5-3BFE81077E0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55EAFF75-477A-37F1-48F6-130C019EA774}"/>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extBox 8">
            <a:extLst>
              <a:ext uri="{FF2B5EF4-FFF2-40B4-BE49-F238E27FC236}">
                <a16:creationId xmlns:a16="http://schemas.microsoft.com/office/drawing/2014/main" id="{743DB708-16AB-33EF-48F6-9A48114CA976}"/>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STB – KQKD</a:t>
            </a:r>
            <a:endParaRPr lang="vi-VN" sz="4000" dirty="0">
              <a:solidFill>
                <a:schemeClr val="bg1"/>
              </a:solidFill>
              <a:latin typeface="SVN-Gilroy XBold" panose="00000900000000000000" pitchFamily="50" charset="0"/>
            </a:endParaRPr>
          </a:p>
        </p:txBody>
      </p:sp>
      <p:graphicFrame>
        <p:nvGraphicFramePr>
          <p:cNvPr id="3" name="Chart 2">
            <a:extLst>
              <a:ext uri="{FF2B5EF4-FFF2-40B4-BE49-F238E27FC236}">
                <a16:creationId xmlns:a16="http://schemas.microsoft.com/office/drawing/2014/main" id="{116A76E6-26D9-4522-BFAF-92943CC6C745}"/>
              </a:ext>
            </a:extLst>
          </p:cNvPr>
          <p:cNvGraphicFramePr>
            <a:graphicFrameLocks/>
          </p:cNvGraphicFramePr>
          <p:nvPr>
            <p:extLst>
              <p:ext uri="{D42A27DB-BD31-4B8C-83A1-F6EECF244321}">
                <p14:modId xmlns:p14="http://schemas.microsoft.com/office/powerpoint/2010/main" val="3714064585"/>
              </p:ext>
            </p:extLst>
          </p:nvPr>
        </p:nvGraphicFramePr>
        <p:xfrm>
          <a:off x="1369356" y="2515316"/>
          <a:ext cx="7548281" cy="95362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14508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13ADD-9686-0378-E194-9EE5584D02A5}"/>
            </a:ext>
          </a:extLst>
        </p:cNvPr>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B7EC03AC-15B2-D8AC-C155-7C6CCD98BAA8}"/>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4" name="Freeform: Shape 3">
            <a:extLst>
              <a:ext uri="{FF2B5EF4-FFF2-40B4-BE49-F238E27FC236}">
                <a16:creationId xmlns:a16="http://schemas.microsoft.com/office/drawing/2014/main" id="{6DCBD965-DE48-E44E-F4B3-3C1A1DF1B222}"/>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 name="TextBox 2">
            <a:extLst>
              <a:ext uri="{FF2B5EF4-FFF2-40B4-BE49-F238E27FC236}">
                <a16:creationId xmlns:a16="http://schemas.microsoft.com/office/drawing/2014/main" id="{FD45C076-54C8-6AE3-9565-821A5035C5A5}"/>
              </a:ext>
            </a:extLst>
          </p:cNvPr>
          <p:cNvSpPr txBox="1"/>
          <p:nvPr/>
        </p:nvSpPr>
        <p:spPr>
          <a:xfrm>
            <a:off x="1156713" y="2331311"/>
            <a:ext cx="7973568" cy="523220"/>
          </a:xfrm>
          <a:prstGeom prst="rect">
            <a:avLst/>
          </a:prstGeom>
          <a:noFill/>
        </p:spPr>
        <p:txBody>
          <a:bodyPr wrap="square" rtlCol="0">
            <a:spAutoFit/>
          </a:bodyPr>
          <a:lstStyle/>
          <a:p>
            <a:pPr algn="ctr"/>
            <a:r>
              <a:rPr lang="en-US" sz="2800" b="1" dirty="0" err="1">
                <a:solidFill>
                  <a:srgbClr val="01437C"/>
                </a:solidFill>
                <a:latin typeface="SVN-Gilroy" panose="00000500000000000000" pitchFamily="50" charset="0"/>
                <a:ea typeface="Karla" pitchFamily="2" charset="0"/>
                <a:cs typeface="Poppins" panose="00000500000000000000" pitchFamily="2" charset="0"/>
              </a:rPr>
              <a:t>Nợ</a:t>
            </a:r>
            <a:r>
              <a:rPr lang="en-US" sz="2800" b="1" dirty="0">
                <a:solidFill>
                  <a:srgbClr val="01437C"/>
                </a:solidFill>
                <a:latin typeface="SVN-Gilroy" panose="00000500000000000000" pitchFamily="50" charset="0"/>
                <a:ea typeface="Karla" pitchFamily="2" charset="0"/>
                <a:cs typeface="Poppins" panose="00000500000000000000" pitchFamily="2" charset="0"/>
              </a:rPr>
              <a:t> </a:t>
            </a:r>
            <a:r>
              <a:rPr lang="en-US" sz="2800" b="1" dirty="0" err="1">
                <a:solidFill>
                  <a:srgbClr val="01437C"/>
                </a:solidFill>
                <a:latin typeface="SVN-Gilroy" panose="00000500000000000000" pitchFamily="50" charset="0"/>
                <a:ea typeface="Karla" pitchFamily="2" charset="0"/>
                <a:cs typeface="Poppins" panose="00000500000000000000" pitchFamily="2" charset="0"/>
              </a:rPr>
              <a:t>xấu</a:t>
            </a:r>
            <a:r>
              <a:rPr lang="en-US" sz="2800" b="1" dirty="0">
                <a:solidFill>
                  <a:srgbClr val="01437C"/>
                </a:solidFill>
                <a:latin typeface="SVN-Gilroy" panose="00000500000000000000" pitchFamily="50" charset="0"/>
                <a:ea typeface="Karla" pitchFamily="2" charset="0"/>
                <a:cs typeface="Poppins" panose="00000500000000000000" pitchFamily="2" charset="0"/>
              </a:rPr>
              <a:t> </a:t>
            </a:r>
            <a:r>
              <a:rPr lang="en-US" sz="2800" b="1" dirty="0" err="1">
                <a:solidFill>
                  <a:srgbClr val="01437C"/>
                </a:solidFill>
                <a:latin typeface="SVN-Gilroy" panose="00000500000000000000" pitchFamily="50" charset="0"/>
                <a:ea typeface="Karla" pitchFamily="2" charset="0"/>
                <a:cs typeface="Poppins" panose="00000500000000000000" pitchFamily="2" charset="0"/>
              </a:rPr>
              <a:t>nhóm</a:t>
            </a:r>
            <a:r>
              <a:rPr lang="en-US" sz="2800" b="1" dirty="0">
                <a:solidFill>
                  <a:srgbClr val="01437C"/>
                </a:solidFill>
                <a:latin typeface="SVN-Gilroy" panose="00000500000000000000" pitchFamily="50" charset="0"/>
                <a:ea typeface="Karla" pitchFamily="2" charset="0"/>
                <a:cs typeface="Poppins" panose="00000500000000000000" pitchFamily="2" charset="0"/>
              </a:rPr>
              <a:t> 4 </a:t>
            </a:r>
            <a:r>
              <a:rPr lang="en-US" sz="2800" b="1" dirty="0" err="1">
                <a:solidFill>
                  <a:srgbClr val="01437C"/>
                </a:solidFill>
                <a:latin typeface="SVN-Gilroy" panose="00000500000000000000" pitchFamily="50" charset="0"/>
                <a:ea typeface="Karla" pitchFamily="2" charset="0"/>
                <a:cs typeface="Poppins" panose="00000500000000000000" pitchFamily="2" charset="0"/>
              </a:rPr>
              <a:t>tăng</a:t>
            </a:r>
            <a:r>
              <a:rPr lang="en-US" sz="2800" b="1" dirty="0">
                <a:solidFill>
                  <a:srgbClr val="01437C"/>
                </a:solidFill>
                <a:latin typeface="SVN-Gilroy" panose="00000500000000000000" pitchFamily="50" charset="0"/>
                <a:ea typeface="Karla" pitchFamily="2" charset="0"/>
                <a:cs typeface="Poppins" panose="00000500000000000000" pitchFamily="2" charset="0"/>
              </a:rPr>
              <a:t> </a:t>
            </a:r>
            <a:r>
              <a:rPr lang="en-US" sz="2800" b="1" dirty="0" err="1">
                <a:solidFill>
                  <a:srgbClr val="01437C"/>
                </a:solidFill>
                <a:latin typeface="SVN-Gilroy" panose="00000500000000000000" pitchFamily="50" charset="0"/>
                <a:ea typeface="Karla" pitchFamily="2" charset="0"/>
                <a:cs typeface="Poppins" panose="00000500000000000000" pitchFamily="2" charset="0"/>
              </a:rPr>
              <a:t>đáng</a:t>
            </a:r>
            <a:r>
              <a:rPr lang="en-US" sz="2800" b="1" dirty="0">
                <a:solidFill>
                  <a:srgbClr val="01437C"/>
                </a:solidFill>
                <a:latin typeface="SVN-Gilroy" panose="00000500000000000000" pitchFamily="50" charset="0"/>
                <a:ea typeface="Karla" pitchFamily="2" charset="0"/>
                <a:cs typeface="Poppins" panose="00000500000000000000" pitchFamily="2" charset="0"/>
              </a:rPr>
              <a:t> </a:t>
            </a:r>
            <a:r>
              <a:rPr lang="en-US" sz="2800" b="1" dirty="0" err="1">
                <a:solidFill>
                  <a:srgbClr val="01437C"/>
                </a:solidFill>
                <a:latin typeface="SVN-Gilroy" panose="00000500000000000000" pitchFamily="50" charset="0"/>
                <a:ea typeface="Karla" pitchFamily="2" charset="0"/>
                <a:cs typeface="Poppins" panose="00000500000000000000" pitchFamily="2" charset="0"/>
              </a:rPr>
              <a:t>kể</a:t>
            </a:r>
            <a:r>
              <a:rPr lang="en-US" sz="2800" b="1" dirty="0">
                <a:solidFill>
                  <a:srgbClr val="01437C"/>
                </a:solidFill>
                <a:latin typeface="SVN-Gilroy" panose="00000500000000000000" pitchFamily="50" charset="0"/>
                <a:ea typeface="Karla" pitchFamily="2" charset="0"/>
                <a:cs typeface="Poppins" panose="00000500000000000000" pitchFamily="2" charset="0"/>
              </a:rPr>
              <a:t> </a:t>
            </a:r>
            <a:r>
              <a:rPr lang="en-US" sz="2800" b="1" dirty="0" err="1">
                <a:solidFill>
                  <a:srgbClr val="01437C"/>
                </a:solidFill>
                <a:latin typeface="SVN-Gilroy" panose="00000500000000000000" pitchFamily="50" charset="0"/>
                <a:ea typeface="Karla" pitchFamily="2" charset="0"/>
                <a:cs typeface="Poppins" panose="00000500000000000000" pitchFamily="2" charset="0"/>
              </a:rPr>
              <a:t>trong</a:t>
            </a:r>
            <a:r>
              <a:rPr lang="en-US" sz="2800" b="1" dirty="0">
                <a:solidFill>
                  <a:srgbClr val="01437C"/>
                </a:solidFill>
                <a:latin typeface="SVN-Gilroy" panose="00000500000000000000" pitchFamily="50" charset="0"/>
                <a:ea typeface="Karla" pitchFamily="2" charset="0"/>
                <a:cs typeface="Poppins" panose="00000500000000000000" pitchFamily="2" charset="0"/>
              </a:rPr>
              <a:t> Q1/26</a:t>
            </a:r>
          </a:p>
        </p:txBody>
      </p:sp>
      <p:sp>
        <p:nvSpPr>
          <p:cNvPr id="9" name="TextBox 8">
            <a:extLst>
              <a:ext uri="{FF2B5EF4-FFF2-40B4-BE49-F238E27FC236}">
                <a16:creationId xmlns:a16="http://schemas.microsoft.com/office/drawing/2014/main" id="{4E78A27F-5BFD-98DA-1E4B-CB2CCE4EE4E9}"/>
              </a:ext>
            </a:extLst>
          </p:cNvPr>
          <p:cNvSpPr txBox="1"/>
          <p:nvPr/>
        </p:nvSpPr>
        <p:spPr>
          <a:xfrm>
            <a:off x="586539" y="928966"/>
            <a:ext cx="9113922" cy="707886"/>
          </a:xfrm>
          <a:prstGeom prst="rect">
            <a:avLst/>
          </a:prstGeom>
          <a:noFill/>
        </p:spPr>
        <p:txBody>
          <a:bodyPr wrap="square" rtlCol="0">
            <a:spAutoFit/>
          </a:bodyPr>
          <a:lstStyle/>
          <a:p>
            <a:pPr algn="ctr"/>
            <a:r>
              <a:rPr lang="en-US" sz="4000" dirty="0">
                <a:solidFill>
                  <a:schemeClr val="bg1"/>
                </a:solidFill>
                <a:latin typeface="SVN-Gilroy XBold" panose="00000900000000000000" pitchFamily="50" charset="0"/>
              </a:rPr>
              <a:t>STB – </a:t>
            </a:r>
            <a:r>
              <a:rPr lang="en-US" sz="4000" dirty="0" err="1">
                <a:solidFill>
                  <a:schemeClr val="bg1"/>
                </a:solidFill>
                <a:latin typeface="SVN-Gilroy XBold" panose="00000900000000000000" pitchFamily="50" charset="0"/>
              </a:rPr>
              <a:t>Tỷ</a:t>
            </a:r>
            <a:r>
              <a:rPr lang="en-US" sz="4000" dirty="0">
                <a:solidFill>
                  <a:schemeClr val="bg1"/>
                </a:solidFill>
                <a:latin typeface="SVN-Gilroy XBold" panose="00000900000000000000" pitchFamily="50" charset="0"/>
              </a:rPr>
              <a:t> </a:t>
            </a:r>
            <a:r>
              <a:rPr lang="en-US" sz="4000" dirty="0" err="1">
                <a:solidFill>
                  <a:schemeClr val="bg1"/>
                </a:solidFill>
                <a:latin typeface="SVN-Gilroy XBold" panose="00000900000000000000" pitchFamily="50" charset="0"/>
              </a:rPr>
              <a:t>lệ</a:t>
            </a:r>
            <a:r>
              <a:rPr lang="en-US" sz="4000" dirty="0">
                <a:solidFill>
                  <a:schemeClr val="bg1"/>
                </a:solidFill>
                <a:latin typeface="SVN-Gilroy XBold" panose="00000900000000000000" pitchFamily="50" charset="0"/>
              </a:rPr>
              <a:t> </a:t>
            </a:r>
            <a:r>
              <a:rPr lang="en-US" sz="4000" dirty="0" err="1">
                <a:solidFill>
                  <a:schemeClr val="bg1"/>
                </a:solidFill>
                <a:latin typeface="SVN-Gilroy XBold" panose="00000900000000000000" pitchFamily="50" charset="0"/>
              </a:rPr>
              <a:t>nợ</a:t>
            </a:r>
            <a:r>
              <a:rPr lang="en-US" sz="4000" dirty="0">
                <a:solidFill>
                  <a:schemeClr val="bg1"/>
                </a:solidFill>
                <a:latin typeface="SVN-Gilroy XBold" panose="00000900000000000000" pitchFamily="50" charset="0"/>
              </a:rPr>
              <a:t> </a:t>
            </a:r>
            <a:r>
              <a:rPr lang="en-US" sz="4000" dirty="0" err="1">
                <a:solidFill>
                  <a:schemeClr val="bg1"/>
                </a:solidFill>
                <a:latin typeface="SVN-Gilroy XBold" panose="00000900000000000000" pitchFamily="50" charset="0"/>
              </a:rPr>
              <a:t>xấu</a:t>
            </a:r>
            <a:endParaRPr lang="vi-VN" sz="4000" dirty="0">
              <a:solidFill>
                <a:schemeClr val="bg1"/>
              </a:solidFill>
              <a:latin typeface="SVN-Gilroy XBold" panose="00000900000000000000" pitchFamily="50" charset="0"/>
            </a:endParaRPr>
          </a:p>
        </p:txBody>
      </p:sp>
      <p:graphicFrame>
        <p:nvGraphicFramePr>
          <p:cNvPr id="5" name="Chart 4">
            <a:extLst>
              <a:ext uri="{FF2B5EF4-FFF2-40B4-BE49-F238E27FC236}">
                <a16:creationId xmlns:a16="http://schemas.microsoft.com/office/drawing/2014/main" id="{5D9FB402-23D0-C29F-2BD0-9AB9F038BBCF}"/>
              </a:ext>
            </a:extLst>
          </p:cNvPr>
          <p:cNvGraphicFramePr>
            <a:graphicFrameLocks/>
          </p:cNvGraphicFramePr>
          <p:nvPr>
            <p:extLst>
              <p:ext uri="{D42A27DB-BD31-4B8C-83A1-F6EECF244321}">
                <p14:modId xmlns:p14="http://schemas.microsoft.com/office/powerpoint/2010/main" val="3924693177"/>
              </p:ext>
            </p:extLst>
          </p:nvPr>
        </p:nvGraphicFramePr>
        <p:xfrm>
          <a:off x="1289491" y="3165424"/>
          <a:ext cx="7708018" cy="8488694"/>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70BB23A5-EC1E-341E-EF08-A57BD2521AED}"/>
              </a:ext>
            </a:extLst>
          </p:cNvPr>
          <p:cNvSpPr txBox="1"/>
          <p:nvPr/>
        </p:nvSpPr>
        <p:spPr>
          <a:xfrm>
            <a:off x="1429871" y="11654118"/>
            <a:ext cx="7440705" cy="923330"/>
          </a:xfrm>
          <a:prstGeom prst="rect">
            <a:avLst/>
          </a:prstGeom>
          <a:noFill/>
        </p:spPr>
        <p:txBody>
          <a:bodyPr wrap="square" rtlCol="0">
            <a:spAutoFit/>
          </a:bodyPr>
          <a:lstStyle/>
          <a:p>
            <a:r>
              <a:rPr lang="en-US" dirty="0" err="1"/>
              <a:t>Chú</a:t>
            </a:r>
            <a:r>
              <a:rPr lang="en-US" dirty="0"/>
              <a:t> </a:t>
            </a:r>
            <a:r>
              <a:rPr lang="en-US" dirty="0" err="1"/>
              <a:t>thích</a:t>
            </a:r>
            <a:r>
              <a:rPr lang="en-US" dirty="0"/>
              <a:t>: Current (</a:t>
            </a:r>
            <a:r>
              <a:rPr lang="en-US" dirty="0" err="1"/>
              <a:t>nợ</a:t>
            </a:r>
            <a:r>
              <a:rPr lang="en-US" dirty="0"/>
              <a:t> </a:t>
            </a:r>
            <a:r>
              <a:rPr lang="en-US" dirty="0" err="1"/>
              <a:t>đủ</a:t>
            </a:r>
            <a:r>
              <a:rPr lang="en-US" dirty="0"/>
              <a:t> </a:t>
            </a:r>
            <a:r>
              <a:rPr lang="en-US" dirty="0" err="1"/>
              <a:t>tiêu</a:t>
            </a:r>
            <a:r>
              <a:rPr lang="en-US" dirty="0"/>
              <a:t> </a:t>
            </a:r>
            <a:r>
              <a:rPr lang="en-US" dirty="0" err="1"/>
              <a:t>chuẩn</a:t>
            </a:r>
            <a:r>
              <a:rPr lang="en-US" dirty="0"/>
              <a:t>), Special mentioned (</a:t>
            </a:r>
            <a:r>
              <a:rPr lang="en-US" dirty="0" err="1"/>
              <a:t>nợ</a:t>
            </a:r>
            <a:r>
              <a:rPr lang="en-US" dirty="0"/>
              <a:t> </a:t>
            </a:r>
            <a:r>
              <a:rPr lang="en-US" dirty="0" err="1"/>
              <a:t>cần</a:t>
            </a:r>
            <a:r>
              <a:rPr lang="en-US" dirty="0"/>
              <a:t> </a:t>
            </a:r>
            <a:r>
              <a:rPr lang="en-US" dirty="0" err="1"/>
              <a:t>chú</a:t>
            </a:r>
            <a:r>
              <a:rPr lang="en-US" dirty="0"/>
              <a:t> ý), Substandard (</a:t>
            </a:r>
            <a:r>
              <a:rPr lang="en-US" dirty="0" err="1"/>
              <a:t>nợ</a:t>
            </a:r>
            <a:r>
              <a:rPr lang="en-US" dirty="0"/>
              <a:t> </a:t>
            </a:r>
            <a:r>
              <a:rPr lang="en-US" dirty="0" err="1"/>
              <a:t>dưới</a:t>
            </a:r>
            <a:r>
              <a:rPr lang="en-US" dirty="0"/>
              <a:t> </a:t>
            </a:r>
            <a:r>
              <a:rPr lang="en-US" dirty="0" err="1"/>
              <a:t>tiêu</a:t>
            </a:r>
            <a:r>
              <a:rPr lang="en-US" dirty="0"/>
              <a:t> </a:t>
            </a:r>
            <a:r>
              <a:rPr lang="en-US" dirty="0" err="1"/>
              <a:t>chuẩn</a:t>
            </a:r>
            <a:r>
              <a:rPr lang="en-US" dirty="0"/>
              <a:t>), Doubtful (</a:t>
            </a:r>
            <a:r>
              <a:rPr lang="en-US" dirty="0" err="1"/>
              <a:t>nợ</a:t>
            </a:r>
            <a:r>
              <a:rPr lang="en-US" dirty="0"/>
              <a:t> </a:t>
            </a:r>
            <a:r>
              <a:rPr lang="en-US" dirty="0" err="1"/>
              <a:t>nghi</a:t>
            </a:r>
            <a:r>
              <a:rPr lang="en-US" dirty="0"/>
              <a:t> </a:t>
            </a:r>
            <a:r>
              <a:rPr lang="en-US" dirty="0" err="1"/>
              <a:t>ngờ</a:t>
            </a:r>
            <a:r>
              <a:rPr lang="en-US" dirty="0"/>
              <a:t>), Bad (</a:t>
            </a:r>
            <a:r>
              <a:rPr lang="en-US" dirty="0" err="1"/>
              <a:t>nợ</a:t>
            </a:r>
            <a:r>
              <a:rPr lang="en-US" dirty="0"/>
              <a:t> </a:t>
            </a:r>
            <a:r>
              <a:rPr lang="en-US" dirty="0" err="1"/>
              <a:t>xấu</a:t>
            </a: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mất</a:t>
            </a:r>
            <a:r>
              <a:rPr lang="en-US" dirty="0"/>
              <a:t> </a:t>
            </a:r>
            <a:r>
              <a:rPr lang="en-US" dirty="0" err="1"/>
              <a:t>vốn</a:t>
            </a:r>
            <a:r>
              <a:rPr lang="en-US" dirty="0"/>
              <a:t>) </a:t>
            </a:r>
          </a:p>
        </p:txBody>
      </p:sp>
    </p:spTree>
    <p:extLst>
      <p:ext uri="{BB962C8B-B14F-4D97-AF65-F5344CB8AC3E}">
        <p14:creationId xmlns:p14="http://schemas.microsoft.com/office/powerpoint/2010/main" val="16061874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white rectangle with pink border&#10;&#10;Description automatically generated">
            <a:extLst>
              <a:ext uri="{FF2B5EF4-FFF2-40B4-BE49-F238E27FC236}">
                <a16:creationId xmlns:a16="http://schemas.microsoft.com/office/drawing/2014/main" id="{99A5E3AE-A009-A8E7-962F-EA45E1A61DD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0" y="0"/>
            <a:ext cx="10287000" cy="13716000"/>
          </a:xfrm>
          <a:prstGeom prst="rect">
            <a:avLst/>
          </a:prstGeom>
        </p:spPr>
      </p:pic>
      <p:sp>
        <p:nvSpPr>
          <p:cNvPr id="7" name="Freeform: Shape 6">
            <a:extLst>
              <a:ext uri="{FF2B5EF4-FFF2-40B4-BE49-F238E27FC236}">
                <a16:creationId xmlns:a16="http://schemas.microsoft.com/office/drawing/2014/main" id="{16941308-AB60-A39B-071E-73E41CEB7201}"/>
              </a:ext>
            </a:extLst>
          </p:cNvPr>
          <p:cNvSpPr/>
          <p:nvPr/>
        </p:nvSpPr>
        <p:spPr>
          <a:xfrm>
            <a:off x="586534" y="668818"/>
            <a:ext cx="9113926" cy="1177680"/>
          </a:xfrm>
          <a:custGeom>
            <a:avLst/>
            <a:gdLst>
              <a:gd name="connsiteX0" fmla="*/ 525894 w 9113926"/>
              <a:gd name="connsiteY0" fmla="*/ 0 h 1177680"/>
              <a:gd name="connsiteX1" fmla="*/ 8588032 w 9113926"/>
              <a:gd name="connsiteY1" fmla="*/ 0 h 1177680"/>
              <a:gd name="connsiteX2" fmla="*/ 9113925 w 9113926"/>
              <a:gd name="connsiteY2" fmla="*/ 525893 h 1177680"/>
              <a:gd name="connsiteX3" fmla="*/ 9113925 w 9113926"/>
              <a:gd name="connsiteY3" fmla="*/ 609084 h 1177680"/>
              <a:gd name="connsiteX4" fmla="*/ 9113926 w 9113926"/>
              <a:gd name="connsiteY4" fmla="*/ 609084 h 1177680"/>
              <a:gd name="connsiteX5" fmla="*/ 9113926 w 9113926"/>
              <a:gd name="connsiteY5" fmla="*/ 1177679 h 1177680"/>
              <a:gd name="connsiteX6" fmla="*/ 8588042 w 9113926"/>
              <a:gd name="connsiteY6" fmla="*/ 1177679 h 1177680"/>
              <a:gd name="connsiteX7" fmla="*/ 8588032 w 9113926"/>
              <a:gd name="connsiteY7" fmla="*/ 1177680 h 1177680"/>
              <a:gd name="connsiteX8" fmla="*/ 525894 w 9113926"/>
              <a:gd name="connsiteY8" fmla="*/ 1177680 h 1177680"/>
              <a:gd name="connsiteX9" fmla="*/ 525884 w 9113926"/>
              <a:gd name="connsiteY9" fmla="*/ 1177679 h 1177680"/>
              <a:gd name="connsiteX10" fmla="*/ 0 w 9113926"/>
              <a:gd name="connsiteY10" fmla="*/ 1177679 h 1177680"/>
              <a:gd name="connsiteX11" fmla="*/ 0 w 9113926"/>
              <a:gd name="connsiteY11" fmla="*/ 609084 h 1177680"/>
              <a:gd name="connsiteX12" fmla="*/ 1 w 9113926"/>
              <a:gd name="connsiteY12" fmla="*/ 609084 h 1177680"/>
              <a:gd name="connsiteX13" fmla="*/ 1 w 9113926"/>
              <a:gd name="connsiteY13" fmla="*/ 525893 h 1177680"/>
              <a:gd name="connsiteX14" fmla="*/ 525894 w 9113926"/>
              <a:gd name="connsiteY14" fmla="*/ 0 h 117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113926" h="1177680">
                <a:moveTo>
                  <a:pt x="525894" y="0"/>
                </a:moveTo>
                <a:lnTo>
                  <a:pt x="8588032" y="0"/>
                </a:lnTo>
                <a:cubicBezTo>
                  <a:pt x="8878475" y="0"/>
                  <a:pt x="9113925" y="235450"/>
                  <a:pt x="9113925" y="525893"/>
                </a:cubicBezTo>
                <a:lnTo>
                  <a:pt x="9113925" y="609084"/>
                </a:lnTo>
                <a:lnTo>
                  <a:pt x="9113926" y="609084"/>
                </a:lnTo>
                <a:lnTo>
                  <a:pt x="9113926" y="1177679"/>
                </a:lnTo>
                <a:lnTo>
                  <a:pt x="8588042" y="1177679"/>
                </a:lnTo>
                <a:lnTo>
                  <a:pt x="8588032" y="1177680"/>
                </a:lnTo>
                <a:lnTo>
                  <a:pt x="525894" y="1177680"/>
                </a:lnTo>
                <a:lnTo>
                  <a:pt x="525884" y="1177679"/>
                </a:lnTo>
                <a:lnTo>
                  <a:pt x="0" y="1177679"/>
                </a:lnTo>
                <a:lnTo>
                  <a:pt x="0" y="609084"/>
                </a:lnTo>
                <a:lnTo>
                  <a:pt x="1" y="609084"/>
                </a:lnTo>
                <a:lnTo>
                  <a:pt x="1" y="525893"/>
                </a:lnTo>
                <a:cubicBezTo>
                  <a:pt x="1" y="235450"/>
                  <a:pt x="235451" y="0"/>
                  <a:pt x="525894" y="0"/>
                </a:cubicBezTo>
                <a:close/>
              </a:path>
            </a:pathLst>
          </a:custGeom>
          <a:gradFill>
            <a:gsLst>
              <a:gs pos="0">
                <a:srgbClr val="F48120"/>
              </a:gs>
              <a:gs pos="100000">
                <a:srgbClr val="FE6700"/>
              </a:gs>
            </a:gsLst>
            <a:lin ang="5400000" scaled="1"/>
          </a:gradFill>
          <a:ln>
            <a:solidFill>
              <a:srgbClr val="FFE6AB"/>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TextBox 10">
            <a:extLst>
              <a:ext uri="{FF2B5EF4-FFF2-40B4-BE49-F238E27FC236}">
                <a16:creationId xmlns:a16="http://schemas.microsoft.com/office/drawing/2014/main" id="{E683FF53-4C6F-B5AF-CE2B-073989E45009}"/>
              </a:ext>
            </a:extLst>
          </p:cNvPr>
          <p:cNvSpPr txBox="1"/>
          <p:nvPr/>
        </p:nvSpPr>
        <p:spPr>
          <a:xfrm>
            <a:off x="586538" y="903715"/>
            <a:ext cx="9113922" cy="707886"/>
          </a:xfrm>
          <a:prstGeom prst="rect">
            <a:avLst/>
          </a:prstGeom>
          <a:noFill/>
        </p:spPr>
        <p:txBody>
          <a:bodyPr wrap="square" rtlCol="0">
            <a:spAutoFit/>
          </a:bodyPr>
          <a:lstStyle/>
          <a:p>
            <a:pPr algn="ctr"/>
            <a:r>
              <a:rPr lang="en-US" sz="4000">
                <a:solidFill>
                  <a:schemeClr val="bg1"/>
                </a:solidFill>
                <a:latin typeface="SVN-Gilroy XBold" panose="00000900000000000000" pitchFamily="50" charset="0"/>
              </a:rPr>
              <a:t>Phụ lục</a:t>
            </a:r>
            <a:endParaRPr lang="en-US" sz="4000" dirty="0">
              <a:solidFill>
                <a:schemeClr val="bg1"/>
              </a:solidFill>
              <a:latin typeface="SVN-Gilroy XBold" panose="00000900000000000000" pitchFamily="50" charset="0"/>
            </a:endParaRPr>
          </a:p>
        </p:txBody>
      </p:sp>
      <p:sp>
        <p:nvSpPr>
          <p:cNvPr id="3" name="TextBox 2">
            <a:extLst>
              <a:ext uri="{FF2B5EF4-FFF2-40B4-BE49-F238E27FC236}">
                <a16:creationId xmlns:a16="http://schemas.microsoft.com/office/drawing/2014/main" id="{89705891-05F2-9904-B826-2445E5A1027A}"/>
              </a:ext>
            </a:extLst>
          </p:cNvPr>
          <p:cNvSpPr txBox="1"/>
          <p:nvPr/>
        </p:nvSpPr>
        <p:spPr>
          <a:xfrm>
            <a:off x="586534" y="2032904"/>
            <a:ext cx="9113926" cy="10720884"/>
          </a:xfrm>
          <a:prstGeom prst="rect">
            <a:avLst/>
          </a:prstGeom>
          <a:noFill/>
          <a:ln>
            <a:noFill/>
          </a:ln>
        </p:spPr>
        <p:txBody>
          <a:bodyPr wrap="square" rtlCol="0">
            <a:spAutoFit/>
          </a:bodyPr>
          <a:lstStyle/>
          <a:p>
            <a:pPr marR="38108" algn="just" defTabSz="914583" hangingPunct="0">
              <a:spcBef>
                <a:spcPts val="600"/>
              </a:spcBef>
              <a:spcAft>
                <a:spcPts val="400"/>
              </a:spcAft>
            </a:pPr>
            <a:r>
              <a:rPr lang="en-US" sz="1300" b="1" u="sng">
                <a:solidFill>
                  <a:prstClr val="black"/>
                </a:solidFill>
                <a:latin typeface="Noto Sans" panose="020B0502040504020204"/>
                <a:ea typeface="Malgun Gothic" panose="020B0503020000020004" pitchFamily="34" charset="-127"/>
                <a:cs typeface="Noto Sans" panose="020B0502040504020204"/>
              </a:rPr>
              <a:t>Xác nhận của chuyên viên phân tích</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Chuyên viên phân tích chịu trách nhiệm thực hiện báo cáo này xác nhận rằng (i) những quan điểm được trình bày trong báo cáo này phản ánh đúng quan điểm cá nhân các tổ chức phát hành và chứng khoán trong báo cáo và (ii) không có phần thù lao nào của chuyên viên phân tích đã, đang, hoặc sẽ trực tiếp hay gián tiếp có liên quan đến các khuyến nghị hay quan điểm thể hiện trong báo cáo này. Tương tự như các nhân viên trong công ty, Chuyên viên phân tích nhận được thù lao dựa trên doanh thu và lợi nhuận tổng thể của Chứng Khoán Mirae Asset, trong đó bao gồm doanh thu từ các đơn vị kinh doanh khác như bộ phận Môi giới tổ chức, Ngân hàng đầu tư hoặc Tư vấn doanh nghiệp. Tại thời điểm phát hành báo cáo, Chuyên viên phân tích không biết về bất kỳ xung đột lợi ích thực tế, trọng yếu nào của Chuyên viên phân tích hoặc Chứng Khoán Mirae Asset.</a:t>
            </a:r>
          </a:p>
          <a:p>
            <a:pPr marR="38108" algn="just" defTabSz="914583" hangingPunct="0">
              <a:spcBef>
                <a:spcPts val="600"/>
              </a:spcBef>
              <a:spcAft>
                <a:spcPts val="400"/>
              </a:spcAft>
            </a:pPr>
            <a:r>
              <a:rPr lang="en-US" sz="1300" b="1" u="sng">
                <a:solidFill>
                  <a:prstClr val="black"/>
                </a:solidFill>
                <a:latin typeface="Noto Sans" panose="020B0502040504020204"/>
                <a:ea typeface="Malgun Gothic" panose="020B0503020000020004" pitchFamily="34" charset="-127"/>
                <a:cs typeface="Noto Sans" panose="020B0502040504020204"/>
              </a:rPr>
              <a:t>Tuyên bố miễn trừ trách nhiệm</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Báo cáo này được công bố bởi Công ty Cổ phần Chứng khoán Mirae Asset (Việt Nam) (sau đây gọi tắt là MAS), là công ty chứng khoán được đăng ký tại nước Cộng hòa xã hội chủ nghĩa Việt Nam và là thành viên của Sở giao dịch chứng khoán Việt Nam. Thông tin và ý kiến trong tài liệu này đã được tổng hợp từ các nguồn được cho là đáng tin cậy, nhưng những thông tin đó chưa được xác minh độc lập và MAS không cam đoan, đại diện hoặc bảo đảm, rõ ràng hay ngụ ý, về tính công bằng, chính xác, đầy đủ hoặc tính đúng đắn của thông tin và ý kiến trong tài liệu này hoặc của bất kỳ bản dịch nào sang tiếng Anh từ tiếng Việt. Trong trường hợp bản dịch tiếng Anh của một báo cáo được chuẩn bị bằng tiếng Việt, bản gốc của báo cáo bằng tiếng Việt có thể đã được cung cấp cho nhà đầu tư trước khi thực hiện báo cáo này.</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Đối tượng tiếp nhận được nhắm đến của báo cáo này là các nhà đầu tư tổ chức chuyên nghiệp, những người có kiến thức đáng kể về môi trường kinh doanh địa phương, các thông lệ chung, luật và nguyên tắc kế toán, và không có việc cá nhân nào tiếp nhận hoặc sử dụng báo cáo này sẽ vi phạm bất kỳ luật hoặc quy định hoặc đối tượng của MAS và các chi nhánh đối với các yêu cầu về đăng ký hoặc cấp phép ở bất kỳ khu vực tài phán nào sẽ nhận được hoặc sử dụng bất kỳ thông tin nào từ đây.</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Báo cáo này chỉ dành cho mục đích thông tin chung, không phải và sẽ không được hiểu là một lời đề nghị hoặc một lời mời chào để thực hiện các giao dịch bất kỳ chứng khoán hoặc công cụ tài chính nào khác. Báo cáo không cấu thành lời khuyên đầu tư cho bất kỳ người nào và người đó sẽ không được coi là khách hàng của MAS chỉ vì nhận được báo cáo này. Báo cáo này không tính đến các mục tiêu đầu tư cụ thể, tình hình tài chính hoặc nhu cầu của các khách hàng cá nhân. Báo cáo không được dựa vào để thay thế cho việc thực hiện phán quyết độc lập. Thông tin và ý kiến trong tài liệu này là kể từ ngày của tài liệu này và có thể thay đổi mà không cần thông báo trước. Giá và giá trị của các khoản đầu tư được đề cập trong báo cáo này và thu nhập từ chúng có thể giảm giá hoặc tăng giá, và các nhà đầu tư có thể phải chịu lỗ cho các khoản đầu tư. Hiệu suất trong quá khứ không phải là biểu thị cho hiệu suất trong tương lai. Lợi nhuận trong tương lai không được đảm bảo và có thể xảy ra mất vốn ban đầu. MAS, các chi nhánh và giám đốc, cán bộ, nhân viên và đại lý của họ không chịu bất kỳ trách nhiệm pháp lý nào đối với bất kỳ tổn thất nào phát sinh từ việc sử dụng tài liệu này.</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MAS có thể đã đưa ra các báo cáo khác không nhất quán và đưa ra kết luận khác với các ý kiến được trình bày trong báo cáo này. Các báo cáo có thể phản ánh các giả định, quan điểm và phương pháp phân tích khác nhau của các nhà phân tích đã chuẩn bị chúng. MAS có thể đưa ra các quyết định đầu tư không phù hợp với các ý kiến và quan điểm được trình bày trong báo cáo nghiên cứu này. MAS, các chi nhánh của MAS và giám đốc, cán bộ, nhân viên và đại lý của họ có thể có các vị trí dài hoặc ngắn trong bất kỳ chứng khoán chủ đề nào vào bất kỳ lúc nào và có thể thực hiện mua hoặc bán, hoặc đề nghị mua hoặc bán bất kỳ chứng khoán nào như vậy hoặc các công cụ tài chính khác tùy từng thời điểm trên thị trường mở hoặc theo cách khác, trong từng trường hợp, với tư cách là bên giao đại lý hoặc bên đại lý. MAS và các chi nhánh của nó có thể đã có, hoặc có thể mong đợi tham gia vào các mối quan hệ kinh doanh với các công ty chủ thể để cung cấp các dịch vụ ngân hàng đầu tư, tạo thị trường hoặc các dịch vụ tài chính khác được cho phép theo luật và quy định hiện hành.</a:t>
            </a:r>
          </a:p>
          <a:p>
            <a:pPr marR="38108" algn="just" defTabSz="914583" hangingPunct="0">
              <a:spcBef>
                <a:spcPts val="600"/>
              </a:spcBef>
              <a:spcAft>
                <a:spcPts val="400"/>
              </a:spcAft>
            </a:pPr>
            <a:r>
              <a:rPr lang="vi-VN" sz="1300">
                <a:solidFill>
                  <a:prstClr val="black"/>
                </a:solidFill>
                <a:latin typeface="Noto Sans" panose="020B0502040504020204"/>
                <a:ea typeface="Malgun Gothic" panose="020B0503020000020004" pitchFamily="34" charset="-127"/>
                <a:cs typeface="Noto Sans" panose="020B0502040504020204"/>
              </a:rPr>
              <a:t>Không một phần nào của tài liệu này có thể được sao chép hoặc tái tạo theo bất kỳ cách thức hoặc hình thức nào hoặc được phân phối lại hoặc xuất bản, toàn bộ hoặc một phần, mà không có sự đồng ý trước bằng văn bản của MAS.</a:t>
            </a:r>
          </a:p>
          <a:p>
            <a:pPr>
              <a:spcBef>
                <a:spcPts val="600"/>
              </a:spcBef>
            </a:pPr>
            <a:endParaRPr lang="en-US" sz="1300" dirty="0"/>
          </a:p>
        </p:txBody>
      </p:sp>
    </p:spTree>
    <p:extLst>
      <p:ext uri="{BB962C8B-B14F-4D97-AF65-F5344CB8AC3E}">
        <p14:creationId xmlns:p14="http://schemas.microsoft.com/office/powerpoint/2010/main" val="21357387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미래에셋대우1">
    <a:dk1>
      <a:srgbClr val="000000"/>
    </a:dk1>
    <a:lt1>
      <a:sysClr val="window" lastClr="FFFFFF"/>
    </a:lt1>
    <a:dk2>
      <a:srgbClr val="F58220"/>
    </a:dk2>
    <a:lt2>
      <a:srgbClr val="C00000"/>
    </a:lt2>
    <a:accent1>
      <a:srgbClr val="F0B26B"/>
    </a:accent1>
    <a:accent2>
      <a:srgbClr val="C2AC97"/>
    </a:accent2>
    <a:accent3>
      <a:srgbClr val="043B72"/>
    </a:accent3>
    <a:accent4>
      <a:srgbClr val="0086B8"/>
    </a:accent4>
    <a:accent5>
      <a:srgbClr val="8DC8E8"/>
    </a:accent5>
    <a:accent6>
      <a:srgbClr val="84888B"/>
    </a:accent6>
    <a:hlink>
      <a:srgbClr val="FFFFFF"/>
    </a:hlink>
    <a:folHlink>
      <a:srgbClr val="FFFFFF"/>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미래에셋대우1">
    <a:dk1>
      <a:srgbClr val="000000"/>
    </a:dk1>
    <a:lt1>
      <a:sysClr val="window" lastClr="FFFFFF"/>
    </a:lt1>
    <a:dk2>
      <a:srgbClr val="F58220"/>
    </a:dk2>
    <a:lt2>
      <a:srgbClr val="C00000"/>
    </a:lt2>
    <a:accent1>
      <a:srgbClr val="F0B26B"/>
    </a:accent1>
    <a:accent2>
      <a:srgbClr val="C2AC97"/>
    </a:accent2>
    <a:accent3>
      <a:srgbClr val="043B72"/>
    </a:accent3>
    <a:accent4>
      <a:srgbClr val="0086B8"/>
    </a:accent4>
    <a:accent5>
      <a:srgbClr val="8DC8E8"/>
    </a:accent5>
    <a:accent6>
      <a:srgbClr val="84888B"/>
    </a:accent6>
    <a:hlink>
      <a:srgbClr val="FFFFFF"/>
    </a:hlink>
    <a:folHlink>
      <a:srgbClr val="FFFFFF"/>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明朝"/>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5159</TotalTime>
  <Words>1480</Words>
  <Application>Microsoft Office PowerPoint</Application>
  <PresentationFormat>Custom</PresentationFormat>
  <Paragraphs>66</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Aptos Display</vt:lpstr>
      <vt:lpstr>Arial</vt:lpstr>
      <vt:lpstr>Noto Sans</vt:lpstr>
      <vt:lpstr>SVN-Gilroy</vt:lpstr>
      <vt:lpstr>SVN-Gilroy SemiBold</vt:lpstr>
      <vt:lpstr>SVN-Gilroy XBold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HQ 37</dc:creator>
  <cp:lastModifiedBy>Quan, Ton Dat</cp:lastModifiedBy>
  <cp:revision>415</cp:revision>
  <dcterms:created xsi:type="dcterms:W3CDTF">2024-07-22T08:52:42Z</dcterms:created>
  <dcterms:modified xsi:type="dcterms:W3CDTF">2026-06-25T03:50:04Z</dcterms:modified>
</cp:coreProperties>
</file>