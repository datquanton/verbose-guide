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21-Tr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Frontpage!$Q$3</c:f>
              <c:strCache>
                <c:ptCount val="1"/>
                <c:pt idx="0">
                  <c:v>VN-Index</c:v>
                </c:pt>
              </c:strCache>
            </c:strRef>
          </c:tx>
          <c:spPr>
            <a:ln w="12700" cap="rnd">
              <a:solidFill>
                <a:srgbClr val="002060"/>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Frontpage!$Q$4:$Q$370</c:f>
              <c:numCache>
                <c:formatCode>_(* #,##0_);_(* \(#,##0\);_(* "-"??_);_(@_)</c:formatCode>
                <c:ptCount val="367"/>
                <c:pt idx="0">
                  <c:v>100</c:v>
                </c:pt>
                <c:pt idx="1">
                  <c:v>101.12125907200522</c:v>
                </c:pt>
                <c:pt idx="2">
                  <c:v>101.27619668922776</c:v>
                </c:pt>
                <c:pt idx="3">
                  <c:v>101.96281497186659</c:v>
                </c:pt>
                <c:pt idx="4">
                  <c:v>103.54725597325287</c:v>
                </c:pt>
                <c:pt idx="5">
                  <c:v>103.34339068743374</c:v>
                </c:pt>
                <c:pt idx="6">
                  <c:v>103.34339068743374</c:v>
                </c:pt>
                <c:pt idx="7">
                  <c:v>103.34339068743374</c:v>
                </c:pt>
                <c:pt idx="8">
                  <c:v>104.64486667210309</c:v>
                </c:pt>
                <c:pt idx="9">
                  <c:v>105.47419065481532</c:v>
                </c:pt>
                <c:pt idx="10">
                  <c:v>106.80339231835603</c:v>
                </c:pt>
                <c:pt idx="11">
                  <c:v>107.08635733507299</c:v>
                </c:pt>
                <c:pt idx="12">
                  <c:v>106.12329772486342</c:v>
                </c:pt>
                <c:pt idx="13">
                  <c:v>106.12329772486342</c:v>
                </c:pt>
                <c:pt idx="14">
                  <c:v>106.12329772486342</c:v>
                </c:pt>
                <c:pt idx="15">
                  <c:v>105.70741254179239</c:v>
                </c:pt>
                <c:pt idx="16">
                  <c:v>107.24537225801191</c:v>
                </c:pt>
                <c:pt idx="17">
                  <c:v>107.88958656120036</c:v>
                </c:pt>
                <c:pt idx="18">
                  <c:v>107.13854684824268</c:v>
                </c:pt>
                <c:pt idx="19">
                  <c:v>107.18910543912583</c:v>
                </c:pt>
                <c:pt idx="20">
                  <c:v>107.18910543912583</c:v>
                </c:pt>
                <c:pt idx="21">
                  <c:v>107.18910543912583</c:v>
                </c:pt>
                <c:pt idx="22">
                  <c:v>108.66101280273995</c:v>
                </c:pt>
                <c:pt idx="23">
                  <c:v>109.25629943733182</c:v>
                </c:pt>
                <c:pt idx="24">
                  <c:v>109.42428443284678</c:v>
                </c:pt>
                <c:pt idx="25">
                  <c:v>109.4234689717035</c:v>
                </c:pt>
                <c:pt idx="26">
                  <c:v>108.66835195302944</c:v>
                </c:pt>
                <c:pt idx="27">
                  <c:v>108.66835195302944</c:v>
                </c:pt>
                <c:pt idx="28">
                  <c:v>108.66835195302944</c:v>
                </c:pt>
                <c:pt idx="29">
                  <c:v>108.97007257604174</c:v>
                </c:pt>
                <c:pt idx="30">
                  <c:v>109.86300252792955</c:v>
                </c:pt>
                <c:pt idx="31">
                  <c:v>109.73986789529479</c:v>
                </c:pt>
                <c:pt idx="32">
                  <c:v>109.44222457799886</c:v>
                </c:pt>
                <c:pt idx="33">
                  <c:v>108.4473619832015</c:v>
                </c:pt>
                <c:pt idx="34">
                  <c:v>108.4473619832015</c:v>
                </c:pt>
                <c:pt idx="35">
                  <c:v>108.4473619832015</c:v>
                </c:pt>
                <c:pt idx="36">
                  <c:v>106.87189105439126</c:v>
                </c:pt>
                <c:pt idx="37">
                  <c:v>107.33344206148578</c:v>
                </c:pt>
                <c:pt idx="38">
                  <c:v>107.24944956372831</c:v>
                </c:pt>
                <c:pt idx="39">
                  <c:v>107.88469379434072</c:v>
                </c:pt>
                <c:pt idx="40">
                  <c:v>107.27309793688332</c:v>
                </c:pt>
                <c:pt idx="41">
                  <c:v>107.27309793688332</c:v>
                </c:pt>
                <c:pt idx="42">
                  <c:v>107.27309793688332</c:v>
                </c:pt>
                <c:pt idx="43">
                  <c:v>109.11767104297481</c:v>
                </c:pt>
                <c:pt idx="44">
                  <c:v>109.89888281823372</c:v>
                </c:pt>
                <c:pt idx="45">
                  <c:v>109.82875315991191</c:v>
                </c:pt>
                <c:pt idx="46">
                  <c:v>110.253608415559</c:v>
                </c:pt>
                <c:pt idx="47">
                  <c:v>110.0342493680176</c:v>
                </c:pt>
                <c:pt idx="48">
                  <c:v>110.0342493680176</c:v>
                </c:pt>
                <c:pt idx="49">
                  <c:v>110.0342493680176</c:v>
                </c:pt>
                <c:pt idx="50">
                  <c:v>110.75430155753079</c:v>
                </c:pt>
                <c:pt idx="51">
                  <c:v>111.45478267960532</c:v>
                </c:pt>
                <c:pt idx="52">
                  <c:v>111.45315175731876</c:v>
                </c:pt>
                <c:pt idx="53">
                  <c:v>111.36508195384491</c:v>
                </c:pt>
                <c:pt idx="54">
                  <c:v>111.83560303351545</c:v>
                </c:pt>
                <c:pt idx="55">
                  <c:v>111.83560303351545</c:v>
                </c:pt>
                <c:pt idx="56">
                  <c:v>111.83560303351545</c:v>
                </c:pt>
                <c:pt idx="57">
                  <c:v>112.21316154285248</c:v>
                </c:pt>
                <c:pt idx="58">
                  <c:v>112.35749816521243</c:v>
                </c:pt>
                <c:pt idx="59">
                  <c:v>112.90793443692408</c:v>
                </c:pt>
                <c:pt idx="60">
                  <c:v>112.69346815624237</c:v>
                </c:pt>
                <c:pt idx="61">
                  <c:v>113.1020141890239</c:v>
                </c:pt>
                <c:pt idx="62">
                  <c:v>113.1020141890239</c:v>
                </c:pt>
                <c:pt idx="63">
                  <c:v>113.1020141890239</c:v>
                </c:pt>
                <c:pt idx="64">
                  <c:v>114.33254505422816</c:v>
                </c:pt>
                <c:pt idx="65">
                  <c:v>115.42526298621871</c:v>
                </c:pt>
                <c:pt idx="66">
                  <c:v>116.71858435945528</c:v>
                </c:pt>
                <c:pt idx="67">
                  <c:v>117.88632471662726</c:v>
                </c:pt>
                <c:pt idx="68">
                  <c:v>118.8746636222784</c:v>
                </c:pt>
                <c:pt idx="69">
                  <c:v>118.8746636222784</c:v>
                </c:pt>
                <c:pt idx="70">
                  <c:v>118.8746636222784</c:v>
                </c:pt>
                <c:pt idx="71">
                  <c:v>119.90703742966649</c:v>
                </c:pt>
                <c:pt idx="72">
                  <c:v>119.11033189268532</c:v>
                </c:pt>
                <c:pt idx="73">
                  <c:v>120.31884530702112</c:v>
                </c:pt>
                <c:pt idx="74">
                  <c:v>121.50452580934518</c:v>
                </c:pt>
                <c:pt idx="75">
                  <c:v>122.09736606050723</c:v>
                </c:pt>
                <c:pt idx="76">
                  <c:v>122.09736606050723</c:v>
                </c:pt>
                <c:pt idx="77">
                  <c:v>122.09736606050723</c:v>
                </c:pt>
                <c:pt idx="78">
                  <c:v>121.10005708228002</c:v>
                </c:pt>
                <c:pt idx="79">
                  <c:v>123.09712142216425</c:v>
                </c:pt>
                <c:pt idx="80">
                  <c:v>123.32300415885183</c:v>
                </c:pt>
                <c:pt idx="81">
                  <c:v>124.03327081464568</c:v>
                </c:pt>
                <c:pt idx="82">
                  <c:v>124.85770203049826</c:v>
                </c:pt>
                <c:pt idx="83">
                  <c:v>124.85770203049826</c:v>
                </c:pt>
                <c:pt idx="84">
                  <c:v>124.85770203049826</c:v>
                </c:pt>
                <c:pt idx="85">
                  <c:v>127.00154937617224</c:v>
                </c:pt>
                <c:pt idx="86">
                  <c:v>121.78178259805921</c:v>
                </c:pt>
                <c:pt idx="87">
                  <c:v>122.94136834379843</c:v>
                </c:pt>
                <c:pt idx="88">
                  <c:v>122.52466769958413</c:v>
                </c:pt>
                <c:pt idx="89">
                  <c:v>121.92856560384899</c:v>
                </c:pt>
                <c:pt idx="90">
                  <c:v>121.92856560384899</c:v>
                </c:pt>
                <c:pt idx="91">
                  <c:v>121.92856560384899</c:v>
                </c:pt>
                <c:pt idx="92">
                  <c:v>124.61795645437496</c:v>
                </c:pt>
                <c:pt idx="93">
                  <c:v>126.16407078202725</c:v>
                </c:pt>
                <c:pt idx="94">
                  <c:v>128.32993557856969</c:v>
                </c:pt>
                <c:pt idx="95">
                  <c:v>128.99045910462365</c:v>
                </c:pt>
                <c:pt idx="96">
                  <c:v>129.24651390361251</c:v>
                </c:pt>
                <c:pt idx="97">
                  <c:v>129.24651390361251</c:v>
                </c:pt>
                <c:pt idx="98">
                  <c:v>129.24651390361251</c:v>
                </c:pt>
                <c:pt idx="99">
                  <c:v>130.21772812525484</c:v>
                </c:pt>
                <c:pt idx="100">
                  <c:v>131.14409198401697</c:v>
                </c:pt>
                <c:pt idx="101">
                  <c:v>131.41971785044441</c:v>
                </c:pt>
                <c:pt idx="102">
                  <c:v>133.79189431623584</c:v>
                </c:pt>
                <c:pt idx="103">
                  <c:v>132.92016635407325</c:v>
                </c:pt>
                <c:pt idx="104">
                  <c:v>132.92016635407325</c:v>
                </c:pt>
                <c:pt idx="105">
                  <c:v>132.92016635407325</c:v>
                </c:pt>
                <c:pt idx="106">
                  <c:v>133.43961510234038</c:v>
                </c:pt>
                <c:pt idx="107">
                  <c:v>134.89358232080241</c:v>
                </c:pt>
                <c:pt idx="108">
                  <c:v>135.72209084237136</c:v>
                </c:pt>
                <c:pt idx="109">
                  <c:v>137.64984098507708</c:v>
                </c:pt>
                <c:pt idx="110">
                  <c:v>134.18168474272201</c:v>
                </c:pt>
                <c:pt idx="111">
                  <c:v>134.18168474272201</c:v>
                </c:pt>
                <c:pt idx="112">
                  <c:v>134.18168474272201</c:v>
                </c:pt>
                <c:pt idx="113">
                  <c:v>131.61787490826063</c:v>
                </c:pt>
                <c:pt idx="114">
                  <c:v>135.9887466362228</c:v>
                </c:pt>
                <c:pt idx="115">
                  <c:v>136.4087091250102</c:v>
                </c:pt>
                <c:pt idx="116">
                  <c:v>137.06760172877762</c:v>
                </c:pt>
                <c:pt idx="117">
                  <c:v>137.17768898311996</c:v>
                </c:pt>
                <c:pt idx="118">
                  <c:v>137.17768898311996</c:v>
                </c:pt>
                <c:pt idx="119">
                  <c:v>137.17768898311996</c:v>
                </c:pt>
                <c:pt idx="120">
                  <c:v>137.17768898311996</c:v>
                </c:pt>
                <c:pt idx="121">
                  <c:v>137.17768898311996</c:v>
                </c:pt>
                <c:pt idx="122">
                  <c:v>137.10348201908181</c:v>
                </c:pt>
                <c:pt idx="123">
                  <c:v>138.32585827285331</c:v>
                </c:pt>
                <c:pt idx="124">
                  <c:v>135.93492620076654</c:v>
                </c:pt>
                <c:pt idx="125">
                  <c:v>135.93492620076654</c:v>
                </c:pt>
                <c:pt idx="126">
                  <c:v>135.93492620076654</c:v>
                </c:pt>
                <c:pt idx="127">
                  <c:v>132.47410910870096</c:v>
                </c:pt>
                <c:pt idx="128">
                  <c:v>133.51708391095164</c:v>
                </c:pt>
                <c:pt idx="129">
                  <c:v>134.00146783005792</c:v>
                </c:pt>
                <c:pt idx="130">
                  <c:v>135.18307102666557</c:v>
                </c:pt>
                <c:pt idx="131">
                  <c:v>135.95857457392157</c:v>
                </c:pt>
                <c:pt idx="132">
                  <c:v>135.95857457392157</c:v>
                </c:pt>
                <c:pt idx="133">
                  <c:v>135.95857457392157</c:v>
                </c:pt>
                <c:pt idx="134">
                  <c:v>137.39704803066135</c:v>
                </c:pt>
                <c:pt idx="135">
                  <c:v>137.07086357335075</c:v>
                </c:pt>
                <c:pt idx="136">
                  <c:v>136.26111065807714</c:v>
                </c:pt>
                <c:pt idx="137">
                  <c:v>135.78895865612003</c:v>
                </c:pt>
                <c:pt idx="138">
                  <c:v>135.25401614613065</c:v>
                </c:pt>
                <c:pt idx="139">
                  <c:v>135.25401614613065</c:v>
                </c:pt>
                <c:pt idx="140">
                  <c:v>135.25401614613065</c:v>
                </c:pt>
                <c:pt idx="141">
                  <c:v>133.28304656283129</c:v>
                </c:pt>
                <c:pt idx="142">
                  <c:v>133.34909891543668</c:v>
                </c:pt>
                <c:pt idx="143">
                  <c:v>135.15942265351057</c:v>
                </c:pt>
                <c:pt idx="144">
                  <c:v>135.86316562015818</c:v>
                </c:pt>
                <c:pt idx="145">
                  <c:v>135.42363206393216</c:v>
                </c:pt>
                <c:pt idx="146">
                  <c:v>135.42363206393216</c:v>
                </c:pt>
                <c:pt idx="147">
                  <c:v>135.42363206393216</c:v>
                </c:pt>
                <c:pt idx="148">
                  <c:v>135.894968604746</c:v>
                </c:pt>
                <c:pt idx="149">
                  <c:v>135.50517817825983</c:v>
                </c:pt>
                <c:pt idx="150">
                  <c:v>135.77835766125744</c:v>
                </c:pt>
                <c:pt idx="151">
                  <c:v>134.77207861045423</c:v>
                </c:pt>
                <c:pt idx="152">
                  <c:v>134.21022588273667</c:v>
                </c:pt>
                <c:pt idx="153">
                  <c:v>134.21022588273667</c:v>
                </c:pt>
                <c:pt idx="154">
                  <c:v>134.21022588273667</c:v>
                </c:pt>
                <c:pt idx="155">
                  <c:v>138.26143684253447</c:v>
                </c:pt>
                <c:pt idx="156">
                  <c:v>137.42966647639241</c:v>
                </c:pt>
                <c:pt idx="157">
                  <c:v>138.45143928891787</c:v>
                </c:pt>
                <c:pt idx="158">
                  <c:v>139.97145885998532</c:v>
                </c:pt>
                <c:pt idx="159">
                  <c:v>142.50591209328874</c:v>
                </c:pt>
                <c:pt idx="160">
                  <c:v>142.50591209328874</c:v>
                </c:pt>
                <c:pt idx="161">
                  <c:v>142.50591209328874</c:v>
                </c:pt>
                <c:pt idx="162">
                  <c:v>143.9386773220256</c:v>
                </c:pt>
                <c:pt idx="163">
                  <c:v>143.60760009785534</c:v>
                </c:pt>
                <c:pt idx="164">
                  <c:v>143.35399168229634</c:v>
                </c:pt>
                <c:pt idx="165">
                  <c:v>144.07975209981245</c:v>
                </c:pt>
                <c:pt idx="166">
                  <c:v>141.17181766288837</c:v>
                </c:pt>
                <c:pt idx="167">
                  <c:v>141.17181766288837</c:v>
                </c:pt>
                <c:pt idx="168">
                  <c:v>141.17181766288837</c:v>
                </c:pt>
                <c:pt idx="169">
                  <c:v>133.44450786920004</c:v>
                </c:pt>
                <c:pt idx="170">
                  <c:v>135.64625295604665</c:v>
                </c:pt>
                <c:pt idx="171">
                  <c:v>136.87515289896436</c:v>
                </c:pt>
                <c:pt idx="172">
                  <c:v>137.57318763760907</c:v>
                </c:pt>
                <c:pt idx="173">
                  <c:v>137.25678871401777</c:v>
                </c:pt>
                <c:pt idx="174">
                  <c:v>137.25678871401777</c:v>
                </c:pt>
                <c:pt idx="175">
                  <c:v>137.25678871401777</c:v>
                </c:pt>
                <c:pt idx="176">
                  <c:v>134.75821577101851</c:v>
                </c:pt>
                <c:pt idx="177">
                  <c:v>137.03824512761969</c:v>
                </c:pt>
                <c:pt idx="178">
                  <c:v>137.47288591698606</c:v>
                </c:pt>
                <c:pt idx="179">
                  <c:v>136.14694609801842</c:v>
                </c:pt>
                <c:pt idx="180">
                  <c:v>133.70708635733507</c:v>
                </c:pt>
                <c:pt idx="181">
                  <c:v>133.70708635733507</c:v>
                </c:pt>
                <c:pt idx="182">
                  <c:v>133.70708635733507</c:v>
                </c:pt>
                <c:pt idx="183">
                  <c:v>131.86006686781374</c:v>
                </c:pt>
                <c:pt idx="184">
                  <c:v>134.71254994699504</c:v>
                </c:pt>
                <c:pt idx="185">
                  <c:v>134.9498491396885</c:v>
                </c:pt>
                <c:pt idx="186">
                  <c:v>133.95090923917476</c:v>
                </c:pt>
                <c:pt idx="187">
                  <c:v>130.40039142134876</c:v>
                </c:pt>
                <c:pt idx="188">
                  <c:v>130.40039142134876</c:v>
                </c:pt>
                <c:pt idx="189">
                  <c:v>130.40039142134876</c:v>
                </c:pt>
                <c:pt idx="190">
                  <c:v>128.88689553942754</c:v>
                </c:pt>
                <c:pt idx="191">
                  <c:v>129.95270325368995</c:v>
                </c:pt>
                <c:pt idx="192">
                  <c:v>133.07184212672266</c:v>
                </c:pt>
                <c:pt idx="193">
                  <c:v>133.03759275870505</c:v>
                </c:pt>
                <c:pt idx="194">
                  <c:v>133.36540813830223</c:v>
                </c:pt>
                <c:pt idx="195">
                  <c:v>133.36540813830223</c:v>
                </c:pt>
                <c:pt idx="196">
                  <c:v>133.36540813830223</c:v>
                </c:pt>
                <c:pt idx="197">
                  <c:v>134.9115224659545</c:v>
                </c:pt>
                <c:pt idx="198">
                  <c:v>135.36002609475659</c:v>
                </c:pt>
                <c:pt idx="199">
                  <c:v>134.46954252629862</c:v>
                </c:pt>
                <c:pt idx="200">
                  <c:v>135.03954986544892</c:v>
                </c:pt>
                <c:pt idx="201">
                  <c:v>134.95311098426163</c:v>
                </c:pt>
                <c:pt idx="202">
                  <c:v>134.95311098426163</c:v>
                </c:pt>
                <c:pt idx="203">
                  <c:v>134.95311098426163</c:v>
                </c:pt>
                <c:pt idx="204">
                  <c:v>136.01728777623748</c:v>
                </c:pt>
                <c:pt idx="205">
                  <c:v>135.39590638506073</c:v>
                </c:pt>
                <c:pt idx="206">
                  <c:v>137.0268286716138</c:v>
                </c:pt>
                <c:pt idx="207">
                  <c:v>137.3497512843513</c:v>
                </c:pt>
                <c:pt idx="208">
                  <c:v>137.89366386691674</c:v>
                </c:pt>
                <c:pt idx="209">
                  <c:v>137.89366386691674</c:v>
                </c:pt>
                <c:pt idx="210">
                  <c:v>137.89366386691674</c:v>
                </c:pt>
                <c:pt idx="211">
                  <c:v>138.76457636793609</c:v>
                </c:pt>
                <c:pt idx="212">
                  <c:v>140.01957106743862</c:v>
                </c:pt>
                <c:pt idx="213">
                  <c:v>141.2191144091984</c:v>
                </c:pt>
                <c:pt idx="214">
                  <c:v>141.66517165457066</c:v>
                </c:pt>
                <c:pt idx="215">
                  <c:v>141.99787980102747</c:v>
                </c:pt>
                <c:pt idx="216">
                  <c:v>141.99787980102747</c:v>
                </c:pt>
                <c:pt idx="217">
                  <c:v>141.99787980102747</c:v>
                </c:pt>
                <c:pt idx="218">
                  <c:v>143.01068254097692</c:v>
                </c:pt>
                <c:pt idx="219">
                  <c:v>142.47492456984426</c:v>
                </c:pt>
                <c:pt idx="220">
                  <c:v>140.17613960694771</c:v>
                </c:pt>
                <c:pt idx="221">
                  <c:v>138.53869363124849</c:v>
                </c:pt>
                <c:pt idx="222">
                  <c:v>134.29748022506729</c:v>
                </c:pt>
                <c:pt idx="223">
                  <c:v>134.29748022506729</c:v>
                </c:pt>
                <c:pt idx="224">
                  <c:v>134.29748022506729</c:v>
                </c:pt>
                <c:pt idx="225">
                  <c:v>134.22571964445896</c:v>
                </c:pt>
                <c:pt idx="226">
                  <c:v>136.93060425670717</c:v>
                </c:pt>
                <c:pt idx="227">
                  <c:v>136.48046970561853</c:v>
                </c:pt>
                <c:pt idx="228">
                  <c:v>136.75120280518632</c:v>
                </c:pt>
                <c:pt idx="229">
                  <c:v>138.97985810976107</c:v>
                </c:pt>
                <c:pt idx="230">
                  <c:v>138.97985810976107</c:v>
                </c:pt>
                <c:pt idx="231">
                  <c:v>138.97985810976107</c:v>
                </c:pt>
                <c:pt idx="232">
                  <c:v>142.789692571149</c:v>
                </c:pt>
                <c:pt idx="233">
                  <c:v>144.51194650574902</c:v>
                </c:pt>
                <c:pt idx="234">
                  <c:v>145.38204354562504</c:v>
                </c:pt>
                <c:pt idx="235">
                  <c:v>142.12264535594878</c:v>
                </c:pt>
                <c:pt idx="236">
                  <c:v>141.05846856397292</c:v>
                </c:pt>
                <c:pt idx="237">
                  <c:v>141.05846856397292</c:v>
                </c:pt>
                <c:pt idx="238">
                  <c:v>141.05846856397292</c:v>
                </c:pt>
                <c:pt idx="239">
                  <c:v>143.10038326673734</c:v>
                </c:pt>
                <c:pt idx="240">
                  <c:v>144.08382940552883</c:v>
                </c:pt>
                <c:pt idx="241">
                  <c:v>145.51822555655224</c:v>
                </c:pt>
                <c:pt idx="242">
                  <c:v>145.51822555655224</c:v>
                </c:pt>
                <c:pt idx="243">
                  <c:v>145.51822555655224</c:v>
                </c:pt>
                <c:pt idx="244">
                  <c:v>145.51822555655224</c:v>
                </c:pt>
                <c:pt idx="245">
                  <c:v>145.51822555655224</c:v>
                </c:pt>
                <c:pt idx="246">
                  <c:v>145.83707086357336</c:v>
                </c:pt>
                <c:pt idx="247">
                  <c:v>148.10976106988502</c:v>
                </c:pt>
                <c:pt idx="248">
                  <c:v>151.80461551007093</c:v>
                </c:pt>
                <c:pt idx="249">
                  <c:v>151.31370790181847</c:v>
                </c:pt>
                <c:pt idx="250">
                  <c:v>152.31998695262172</c:v>
                </c:pt>
                <c:pt idx="251">
                  <c:v>152.31998695262172</c:v>
                </c:pt>
                <c:pt idx="252">
                  <c:v>152.31998695262172</c:v>
                </c:pt>
                <c:pt idx="253">
                  <c:v>153.08896681073148</c:v>
                </c:pt>
                <c:pt idx="254">
                  <c:v>155.17654733751937</c:v>
                </c:pt>
                <c:pt idx="255">
                  <c:v>154.48422082687762</c:v>
                </c:pt>
                <c:pt idx="256">
                  <c:v>152.06719399820599</c:v>
                </c:pt>
                <c:pt idx="257">
                  <c:v>153.23574981652126</c:v>
                </c:pt>
                <c:pt idx="258">
                  <c:v>153.23574981652126</c:v>
                </c:pt>
                <c:pt idx="259">
                  <c:v>153.23574981652126</c:v>
                </c:pt>
                <c:pt idx="260">
                  <c:v>154.65954497268206</c:v>
                </c:pt>
                <c:pt idx="261">
                  <c:v>154.43040039142136</c:v>
                </c:pt>
                <c:pt idx="262">
                  <c:v>153.75030579792875</c:v>
                </c:pt>
                <c:pt idx="263">
                  <c:v>153.52931582810078</c:v>
                </c:pt>
                <c:pt idx="264">
                  <c:v>152.55565522302862</c:v>
                </c:pt>
                <c:pt idx="265">
                  <c:v>152.55565522302862</c:v>
                </c:pt>
                <c:pt idx="266">
                  <c:v>152.55565522302862</c:v>
                </c:pt>
                <c:pt idx="267">
                  <c:v>150.34820190817908</c:v>
                </c:pt>
                <c:pt idx="268">
                  <c:v>149.27016227676754</c:v>
                </c:pt>
                <c:pt idx="269">
                  <c:v>147.02030498246759</c:v>
                </c:pt>
                <c:pt idx="270">
                  <c:v>148.00456658240236</c:v>
                </c:pt>
                <c:pt idx="271">
                  <c:v>149.15110494984913</c:v>
                </c:pt>
                <c:pt idx="272">
                  <c:v>149.15110494984913</c:v>
                </c:pt>
                <c:pt idx="273">
                  <c:v>149.15110494984913</c:v>
                </c:pt>
                <c:pt idx="274">
                  <c:v>147.31305553290386</c:v>
                </c:pt>
                <c:pt idx="275">
                  <c:v>147.87572372176467</c:v>
                </c:pt>
                <c:pt idx="276">
                  <c:v>146.08415558998615</c:v>
                </c:pt>
                <c:pt idx="277">
                  <c:v>145.36084155589987</c:v>
                </c:pt>
                <c:pt idx="278">
                  <c:v>143.15338824105032</c:v>
                </c:pt>
                <c:pt idx="279">
                  <c:v>143.15338824105032</c:v>
                </c:pt>
                <c:pt idx="280">
                  <c:v>143.15338824105032</c:v>
                </c:pt>
                <c:pt idx="281">
                  <c:v>143.09875234445079</c:v>
                </c:pt>
                <c:pt idx="282">
                  <c:v>143.03433091413194</c:v>
                </c:pt>
                <c:pt idx="283">
                  <c:v>146.52613552964203</c:v>
                </c:pt>
                <c:pt idx="284">
                  <c:v>147.93199054065073</c:v>
                </c:pt>
                <c:pt idx="285">
                  <c:v>148.74745168392727</c:v>
                </c:pt>
                <c:pt idx="286">
                  <c:v>148.74745168392727</c:v>
                </c:pt>
                <c:pt idx="287">
                  <c:v>148.74745168392727</c:v>
                </c:pt>
                <c:pt idx="288">
                  <c:v>148.74745168392727</c:v>
                </c:pt>
                <c:pt idx="289">
                  <c:v>148.74745168392727</c:v>
                </c:pt>
                <c:pt idx="290">
                  <c:v>148.74745168392727</c:v>
                </c:pt>
                <c:pt idx="291">
                  <c:v>148.74745168392727</c:v>
                </c:pt>
                <c:pt idx="292">
                  <c:v>148.74745168392727</c:v>
                </c:pt>
                <c:pt idx="293">
                  <c:v>148.74745168392727</c:v>
                </c:pt>
                <c:pt idx="294">
                  <c:v>148.74745168392727</c:v>
                </c:pt>
                <c:pt idx="295">
                  <c:v>151.68718910543916</c:v>
                </c:pt>
                <c:pt idx="296">
                  <c:v>152.29715404060997</c:v>
                </c:pt>
                <c:pt idx="297">
                  <c:v>151.74997961347142</c:v>
                </c:pt>
                <c:pt idx="298">
                  <c:v>153.27733833482836</c:v>
                </c:pt>
                <c:pt idx="299">
                  <c:v>153.33360515371444</c:v>
                </c:pt>
                <c:pt idx="300">
                  <c:v>153.33360515371444</c:v>
                </c:pt>
                <c:pt idx="301">
                  <c:v>153.33360515371444</c:v>
                </c:pt>
                <c:pt idx="302">
                  <c:v>150.54228166027889</c:v>
                </c:pt>
                <c:pt idx="303">
                  <c:v>147.85452173203947</c:v>
                </c:pt>
                <c:pt idx="304">
                  <c:v>148.27285329854033</c:v>
                </c:pt>
                <c:pt idx="305">
                  <c:v>147.47696322270244</c:v>
                </c:pt>
                <c:pt idx="306">
                  <c:v>144.16048275299681</c:v>
                </c:pt>
                <c:pt idx="307">
                  <c:v>144.16048275299681</c:v>
                </c:pt>
                <c:pt idx="308">
                  <c:v>144.16048275299681</c:v>
                </c:pt>
                <c:pt idx="309">
                  <c:v>134.77860229960044</c:v>
                </c:pt>
                <c:pt idx="310">
                  <c:v>136.73081627660443</c:v>
                </c:pt>
                <c:pt idx="311">
                  <c:v>140.93941123705457</c:v>
                </c:pt>
                <c:pt idx="312">
                  <c:v>139.41205251569761</c:v>
                </c:pt>
                <c:pt idx="313">
                  <c:v>138.32178096713693</c:v>
                </c:pt>
                <c:pt idx="314">
                  <c:v>138.32178096713693</c:v>
                </c:pt>
                <c:pt idx="315">
                  <c:v>138.32178096713693</c:v>
                </c:pt>
                <c:pt idx="316">
                  <c:v>138.07469624072414</c:v>
                </c:pt>
                <c:pt idx="317">
                  <c:v>139.46750387344042</c:v>
                </c:pt>
                <c:pt idx="318">
                  <c:v>139.75617711816034</c:v>
                </c:pt>
                <c:pt idx="319">
                  <c:v>138.55744923754386</c:v>
                </c:pt>
                <c:pt idx="320">
                  <c:v>134.37250265024872</c:v>
                </c:pt>
                <c:pt idx="321">
                  <c:v>134.37250265024872</c:v>
                </c:pt>
                <c:pt idx="322">
                  <c:v>134.37250265024872</c:v>
                </c:pt>
                <c:pt idx="323">
                  <c:v>129.75373073473051</c:v>
                </c:pt>
                <c:pt idx="324">
                  <c:v>131.6782190328631</c:v>
                </c:pt>
                <c:pt idx="325">
                  <c:v>135.21895131696974</c:v>
                </c:pt>
                <c:pt idx="326">
                  <c:v>134.11318600668679</c:v>
                </c:pt>
                <c:pt idx="327">
                  <c:v>136.41034004729676</c:v>
                </c:pt>
                <c:pt idx="328">
                  <c:v>136.41034004729676</c:v>
                </c:pt>
                <c:pt idx="329">
                  <c:v>136.41034004729676</c:v>
                </c:pt>
                <c:pt idx="330">
                  <c:v>135.57367691429502</c:v>
                </c:pt>
                <c:pt idx="331">
                  <c:v>136.54815298051048</c:v>
                </c:pt>
                <c:pt idx="332">
                  <c:v>138.86732447198892</c:v>
                </c:pt>
                <c:pt idx="333">
                  <c:v>138.20598548479165</c:v>
                </c:pt>
                <c:pt idx="334">
                  <c:v>137.32691837233958</c:v>
                </c:pt>
                <c:pt idx="335">
                  <c:v>137.32691837233958</c:v>
                </c:pt>
                <c:pt idx="336">
                  <c:v>137.32691837233958</c:v>
                </c:pt>
                <c:pt idx="337">
                  <c:v>136.58892603767433</c:v>
                </c:pt>
                <c:pt idx="338">
                  <c:v>136.79686862920983</c:v>
                </c:pt>
                <c:pt idx="339">
                  <c:v>143.23982712223761</c:v>
                </c:pt>
                <c:pt idx="340">
                  <c:v>141.61950583054718</c:v>
                </c:pt>
                <c:pt idx="341">
                  <c:v>142.70570007339151</c:v>
                </c:pt>
                <c:pt idx="342">
                  <c:v>142.70570007339151</c:v>
                </c:pt>
                <c:pt idx="343">
                  <c:v>142.70570007339151</c:v>
                </c:pt>
                <c:pt idx="344">
                  <c:v>143.43635325776728</c:v>
                </c:pt>
                <c:pt idx="345">
                  <c:v>144.79735790589581</c:v>
                </c:pt>
                <c:pt idx="346">
                  <c:v>146.83601076408709</c:v>
                </c:pt>
                <c:pt idx="347">
                  <c:v>148.40006523689146</c:v>
                </c:pt>
                <c:pt idx="348">
                  <c:v>148.18315257277993</c:v>
                </c:pt>
                <c:pt idx="349">
                  <c:v>148.18315257277993</c:v>
                </c:pt>
                <c:pt idx="350">
                  <c:v>148.18315257277993</c:v>
                </c:pt>
                <c:pt idx="351">
                  <c:v>149.80918209247329</c:v>
                </c:pt>
                <c:pt idx="352">
                  <c:v>149.51316969746392</c:v>
                </c:pt>
                <c:pt idx="353">
                  <c:v>151.45559814074861</c:v>
                </c:pt>
                <c:pt idx="354">
                  <c:v>152.52059039386774</c:v>
                </c:pt>
                <c:pt idx="355">
                  <c:v>151.12859822229473</c:v>
                </c:pt>
                <c:pt idx="356">
                  <c:v>151.12859822229473</c:v>
                </c:pt>
                <c:pt idx="357">
                  <c:v>151.12859822229473</c:v>
                </c:pt>
                <c:pt idx="358">
                  <c:v>151.12859822229473</c:v>
                </c:pt>
                <c:pt idx="359">
                  <c:v>152.96746310038327</c:v>
                </c:pt>
                <c:pt idx="360">
                  <c:v>151.19465057490012</c:v>
                </c:pt>
                <c:pt idx="361">
                  <c:v>151.19465057490012</c:v>
                </c:pt>
                <c:pt idx="362">
                  <c:v>151.19465057490012</c:v>
                </c:pt>
                <c:pt idx="363">
                  <c:v>151.19465057490012</c:v>
                </c:pt>
                <c:pt idx="364">
                  <c:v>151.19465057490012</c:v>
                </c:pt>
                <c:pt idx="365">
                  <c:v>151.19138873032699</c:v>
                </c:pt>
                <c:pt idx="366">
                  <c:v>152.88673244719888</c:v>
                </c:pt>
              </c:numCache>
            </c:numRef>
          </c:val>
          <c:smooth val="1"/>
          <c:extLst>
            <c:ext xmlns:c16="http://schemas.microsoft.com/office/drawing/2014/chart" uri="{C3380CC4-5D6E-409C-BE32-E72D297353CC}">
              <c16:uniqueId val="{00000000-5D0B-404D-8B9D-9E14986AA7A2}"/>
            </c:ext>
          </c:extLst>
        </c:ser>
        <c:ser>
          <c:idx val="1"/>
          <c:order val="1"/>
          <c:tx>
            <c:strRef>
              <c:f>Frontpage!$R$3</c:f>
              <c:strCache>
                <c:ptCount val="1"/>
                <c:pt idx="0">
                  <c:v>EIB VN</c:v>
                </c:pt>
              </c:strCache>
            </c:strRef>
          </c:tx>
          <c:spPr>
            <a:ln w="12700" cap="rnd">
              <a:solidFill>
                <a:srgbClr val="EF7011"/>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Frontpage!$R$4:$R$370</c:f>
              <c:numCache>
                <c:formatCode>_(* #,##0_);_(* \(#,##0\);_(* "-"??_);_(@_)</c:formatCode>
                <c:ptCount val="367"/>
                <c:pt idx="0">
                  <c:v>100</c:v>
                </c:pt>
                <c:pt idx="1">
                  <c:v>101.58311345646437</c:v>
                </c:pt>
                <c:pt idx="2">
                  <c:v>100.26385224274405</c:v>
                </c:pt>
                <c:pt idx="3">
                  <c:v>100.26385224274405</c:v>
                </c:pt>
                <c:pt idx="4">
                  <c:v>101.58311345646437</c:v>
                </c:pt>
                <c:pt idx="5">
                  <c:v>100.79155672823219</c:v>
                </c:pt>
                <c:pt idx="6">
                  <c:v>100.79155672823219</c:v>
                </c:pt>
                <c:pt idx="7">
                  <c:v>100.79155672823219</c:v>
                </c:pt>
                <c:pt idx="8">
                  <c:v>101.58311345646437</c:v>
                </c:pt>
                <c:pt idx="9">
                  <c:v>103.95778364116094</c:v>
                </c:pt>
                <c:pt idx="10">
                  <c:v>105.0131926121372</c:v>
                </c:pt>
                <c:pt idx="11">
                  <c:v>104.74934036939314</c:v>
                </c:pt>
                <c:pt idx="12">
                  <c:v>102.63852242744062</c:v>
                </c:pt>
                <c:pt idx="13">
                  <c:v>102.63852242744062</c:v>
                </c:pt>
                <c:pt idx="14">
                  <c:v>102.63852242744062</c:v>
                </c:pt>
                <c:pt idx="15">
                  <c:v>102.11081794195252</c:v>
                </c:pt>
                <c:pt idx="16">
                  <c:v>105.0131926121372</c:v>
                </c:pt>
                <c:pt idx="17">
                  <c:v>106.86015831134566</c:v>
                </c:pt>
                <c:pt idx="18">
                  <c:v>111.34564643799472</c:v>
                </c:pt>
                <c:pt idx="19">
                  <c:v>112.92875989445909</c:v>
                </c:pt>
                <c:pt idx="20">
                  <c:v>112.92875989445909</c:v>
                </c:pt>
                <c:pt idx="21">
                  <c:v>112.92875989445909</c:v>
                </c:pt>
                <c:pt idx="22">
                  <c:v>115.56728232189974</c:v>
                </c:pt>
                <c:pt idx="23">
                  <c:v>116.35883905013193</c:v>
                </c:pt>
                <c:pt idx="24">
                  <c:v>114.77572559366756</c:v>
                </c:pt>
                <c:pt idx="25">
                  <c:v>120.84432717678099</c:v>
                </c:pt>
                <c:pt idx="26">
                  <c:v>119.78891820580475</c:v>
                </c:pt>
                <c:pt idx="27">
                  <c:v>119.78891820580475</c:v>
                </c:pt>
                <c:pt idx="28">
                  <c:v>119.78891820580475</c:v>
                </c:pt>
                <c:pt idx="29">
                  <c:v>122.95514511873351</c:v>
                </c:pt>
                <c:pt idx="30">
                  <c:v>122.16358839050132</c:v>
                </c:pt>
                <c:pt idx="31">
                  <c:v>130.07915567282322</c:v>
                </c:pt>
                <c:pt idx="32">
                  <c:v>128.23218997361479</c:v>
                </c:pt>
                <c:pt idx="33">
                  <c:v>127.17678100263852</c:v>
                </c:pt>
                <c:pt idx="34">
                  <c:v>127.17678100263852</c:v>
                </c:pt>
                <c:pt idx="35">
                  <c:v>127.17678100263852</c:v>
                </c:pt>
                <c:pt idx="36">
                  <c:v>121.89973614775727</c:v>
                </c:pt>
                <c:pt idx="37">
                  <c:v>120.84432717678099</c:v>
                </c:pt>
                <c:pt idx="38">
                  <c:v>119.78891820580475</c:v>
                </c:pt>
                <c:pt idx="39">
                  <c:v>121.89973614775727</c:v>
                </c:pt>
                <c:pt idx="40">
                  <c:v>119.5250659630607</c:v>
                </c:pt>
                <c:pt idx="41">
                  <c:v>119.5250659630607</c:v>
                </c:pt>
                <c:pt idx="42">
                  <c:v>119.5250659630607</c:v>
                </c:pt>
                <c:pt idx="43">
                  <c:v>122.95514511873351</c:v>
                </c:pt>
                <c:pt idx="44">
                  <c:v>123.74670184696571</c:v>
                </c:pt>
                <c:pt idx="45">
                  <c:v>121.63588390501319</c:v>
                </c:pt>
                <c:pt idx="46">
                  <c:v>122.16358839050132</c:v>
                </c:pt>
                <c:pt idx="47">
                  <c:v>124.01055408970976</c:v>
                </c:pt>
                <c:pt idx="48">
                  <c:v>124.01055408970976</c:v>
                </c:pt>
                <c:pt idx="49">
                  <c:v>124.01055408970976</c:v>
                </c:pt>
                <c:pt idx="50">
                  <c:v>120.84432717678099</c:v>
                </c:pt>
                <c:pt idx="51">
                  <c:v>123.21899736147756</c:v>
                </c:pt>
                <c:pt idx="52">
                  <c:v>123.21899736147756</c:v>
                </c:pt>
                <c:pt idx="53">
                  <c:v>122.69129287598946</c:v>
                </c:pt>
                <c:pt idx="54">
                  <c:v>121.10817941952507</c:v>
                </c:pt>
                <c:pt idx="55">
                  <c:v>121.10817941952507</c:v>
                </c:pt>
                <c:pt idx="56">
                  <c:v>121.10817941952507</c:v>
                </c:pt>
                <c:pt idx="57">
                  <c:v>120.58047493403694</c:v>
                </c:pt>
                <c:pt idx="58">
                  <c:v>118.99736147757255</c:v>
                </c:pt>
                <c:pt idx="59">
                  <c:v>119.5250659630607</c:v>
                </c:pt>
                <c:pt idx="60">
                  <c:v>122.42744063324538</c:v>
                </c:pt>
                <c:pt idx="61">
                  <c:v>123.48284960422164</c:v>
                </c:pt>
                <c:pt idx="62">
                  <c:v>123.48284960422164</c:v>
                </c:pt>
                <c:pt idx="63">
                  <c:v>123.48284960422164</c:v>
                </c:pt>
                <c:pt idx="64">
                  <c:v>124.80211081794195</c:v>
                </c:pt>
                <c:pt idx="65">
                  <c:v>125.32981530343008</c:v>
                </c:pt>
                <c:pt idx="66">
                  <c:v>125.32981530343008</c:v>
                </c:pt>
                <c:pt idx="67">
                  <c:v>125.06596306068603</c:v>
                </c:pt>
                <c:pt idx="68">
                  <c:v>129.28759894459102</c:v>
                </c:pt>
                <c:pt idx="69">
                  <c:v>129.28759894459102</c:v>
                </c:pt>
                <c:pt idx="70">
                  <c:v>129.28759894459102</c:v>
                </c:pt>
                <c:pt idx="71">
                  <c:v>133.50923482849603</c:v>
                </c:pt>
                <c:pt idx="72">
                  <c:v>129.81530343007915</c:v>
                </c:pt>
                <c:pt idx="73">
                  <c:v>130.34300791556728</c:v>
                </c:pt>
                <c:pt idx="74">
                  <c:v>129.55145118733509</c:v>
                </c:pt>
                <c:pt idx="75">
                  <c:v>132.71767810026384</c:v>
                </c:pt>
                <c:pt idx="76">
                  <c:v>132.71767810026384</c:v>
                </c:pt>
                <c:pt idx="77">
                  <c:v>132.71767810026384</c:v>
                </c:pt>
                <c:pt idx="78">
                  <c:v>134.03693931398416</c:v>
                </c:pt>
                <c:pt idx="79">
                  <c:v>143.2717678100264</c:v>
                </c:pt>
                <c:pt idx="80">
                  <c:v>142.21635883905012</c:v>
                </c:pt>
                <c:pt idx="81">
                  <c:v>142.74406332453827</c:v>
                </c:pt>
                <c:pt idx="82">
                  <c:v>146.17414248021109</c:v>
                </c:pt>
                <c:pt idx="83">
                  <c:v>146.17414248021109</c:v>
                </c:pt>
                <c:pt idx="84">
                  <c:v>146.17414248021109</c:v>
                </c:pt>
                <c:pt idx="85">
                  <c:v>154.88126649076517</c:v>
                </c:pt>
                <c:pt idx="86">
                  <c:v>144.0633245382586</c:v>
                </c:pt>
                <c:pt idx="87">
                  <c:v>140.36939313984169</c:v>
                </c:pt>
                <c:pt idx="88">
                  <c:v>142.48021108179421</c:v>
                </c:pt>
                <c:pt idx="89">
                  <c:v>138.25857519788917</c:v>
                </c:pt>
                <c:pt idx="90">
                  <c:v>138.25857519788917</c:v>
                </c:pt>
                <c:pt idx="91">
                  <c:v>138.25857519788917</c:v>
                </c:pt>
                <c:pt idx="92">
                  <c:v>142.74406332453827</c:v>
                </c:pt>
                <c:pt idx="93">
                  <c:v>141.68865435356201</c:v>
                </c:pt>
                <c:pt idx="94">
                  <c:v>144.5910290237467</c:v>
                </c:pt>
                <c:pt idx="95">
                  <c:v>143.00791556728231</c:v>
                </c:pt>
                <c:pt idx="96">
                  <c:v>140.89709762532982</c:v>
                </c:pt>
                <c:pt idx="97">
                  <c:v>140.89709762532982</c:v>
                </c:pt>
                <c:pt idx="98">
                  <c:v>140.89709762532982</c:v>
                </c:pt>
                <c:pt idx="99">
                  <c:v>147.22955145118735</c:v>
                </c:pt>
                <c:pt idx="100">
                  <c:v>145.64643799472296</c:v>
                </c:pt>
                <c:pt idx="101">
                  <c:v>146.17414248021109</c:v>
                </c:pt>
                <c:pt idx="102">
                  <c:v>149.34036939313984</c:v>
                </c:pt>
                <c:pt idx="103">
                  <c:v>156.7282321899736</c:v>
                </c:pt>
                <c:pt idx="104">
                  <c:v>156.7282321899736</c:v>
                </c:pt>
                <c:pt idx="105">
                  <c:v>156.7282321899736</c:v>
                </c:pt>
                <c:pt idx="106">
                  <c:v>160.94986807387863</c:v>
                </c:pt>
                <c:pt idx="107">
                  <c:v>164.11609498680738</c:v>
                </c:pt>
                <c:pt idx="108">
                  <c:v>159.36675461741424</c:v>
                </c:pt>
                <c:pt idx="109">
                  <c:v>164.11609498680738</c:v>
                </c:pt>
                <c:pt idx="110">
                  <c:v>152.77044854881265</c:v>
                </c:pt>
                <c:pt idx="111">
                  <c:v>152.77044854881265</c:v>
                </c:pt>
                <c:pt idx="112">
                  <c:v>152.77044854881265</c:v>
                </c:pt>
                <c:pt idx="113">
                  <c:v>142.21635883905012</c:v>
                </c:pt>
                <c:pt idx="114">
                  <c:v>150.92348284960423</c:v>
                </c:pt>
                <c:pt idx="115">
                  <c:v>149.34036939313984</c:v>
                </c:pt>
                <c:pt idx="116">
                  <c:v>154.35356200527704</c:v>
                </c:pt>
                <c:pt idx="117">
                  <c:v>156.7282321899736</c:v>
                </c:pt>
                <c:pt idx="118">
                  <c:v>156.7282321899736</c:v>
                </c:pt>
                <c:pt idx="119">
                  <c:v>156.7282321899736</c:v>
                </c:pt>
                <c:pt idx="120">
                  <c:v>156.7282321899736</c:v>
                </c:pt>
                <c:pt idx="121">
                  <c:v>156.7282321899736</c:v>
                </c:pt>
                <c:pt idx="122">
                  <c:v>159.36675461741424</c:v>
                </c:pt>
                <c:pt idx="123">
                  <c:v>157.25593667546173</c:v>
                </c:pt>
                <c:pt idx="124">
                  <c:v>151.71503957783642</c:v>
                </c:pt>
                <c:pt idx="125">
                  <c:v>151.71503957783642</c:v>
                </c:pt>
                <c:pt idx="126">
                  <c:v>151.71503957783642</c:v>
                </c:pt>
                <c:pt idx="127">
                  <c:v>141.16094986807389</c:v>
                </c:pt>
                <c:pt idx="128">
                  <c:v>143.53562005277044</c:v>
                </c:pt>
                <c:pt idx="129">
                  <c:v>141.95250659630608</c:v>
                </c:pt>
                <c:pt idx="130">
                  <c:v>142.48021108179421</c:v>
                </c:pt>
                <c:pt idx="131">
                  <c:v>143.53562005277044</c:v>
                </c:pt>
                <c:pt idx="132">
                  <c:v>143.53562005277044</c:v>
                </c:pt>
                <c:pt idx="133">
                  <c:v>143.53562005277044</c:v>
                </c:pt>
                <c:pt idx="134">
                  <c:v>145.11873350923483</c:v>
                </c:pt>
                <c:pt idx="135">
                  <c:v>145.11873350923483</c:v>
                </c:pt>
                <c:pt idx="136">
                  <c:v>141.42480211081795</c:v>
                </c:pt>
                <c:pt idx="137">
                  <c:v>140.63324538258576</c:v>
                </c:pt>
                <c:pt idx="138">
                  <c:v>137.73087071240107</c:v>
                </c:pt>
                <c:pt idx="139">
                  <c:v>137.73087071240107</c:v>
                </c:pt>
                <c:pt idx="140">
                  <c:v>137.73087071240107</c:v>
                </c:pt>
                <c:pt idx="141">
                  <c:v>131.92612137203164</c:v>
                </c:pt>
                <c:pt idx="142">
                  <c:v>132.98153034300793</c:v>
                </c:pt>
                <c:pt idx="143">
                  <c:v>137.20316622691294</c:v>
                </c:pt>
                <c:pt idx="144">
                  <c:v>138.25857519788917</c:v>
                </c:pt>
                <c:pt idx="145">
                  <c:v>135.62005277044855</c:v>
                </c:pt>
                <c:pt idx="146">
                  <c:v>135.62005277044855</c:v>
                </c:pt>
                <c:pt idx="147">
                  <c:v>135.62005277044855</c:v>
                </c:pt>
                <c:pt idx="148">
                  <c:v>135.35620052770449</c:v>
                </c:pt>
                <c:pt idx="149">
                  <c:v>137.20316622691294</c:v>
                </c:pt>
                <c:pt idx="150">
                  <c:v>138.7862796833773</c:v>
                </c:pt>
                <c:pt idx="151">
                  <c:v>135.35620052770449</c:v>
                </c:pt>
                <c:pt idx="152">
                  <c:v>132.98153034300793</c:v>
                </c:pt>
                <c:pt idx="153">
                  <c:v>132.98153034300793</c:v>
                </c:pt>
                <c:pt idx="154">
                  <c:v>132.98153034300793</c:v>
                </c:pt>
                <c:pt idx="155">
                  <c:v>138.7862796833773</c:v>
                </c:pt>
                <c:pt idx="156">
                  <c:v>135.35620052770449</c:v>
                </c:pt>
                <c:pt idx="157">
                  <c:v>137.20316622691294</c:v>
                </c:pt>
                <c:pt idx="158">
                  <c:v>141.16094986807389</c:v>
                </c:pt>
                <c:pt idx="159">
                  <c:v>141.42480211081795</c:v>
                </c:pt>
                <c:pt idx="160">
                  <c:v>141.42480211081795</c:v>
                </c:pt>
                <c:pt idx="161">
                  <c:v>141.42480211081795</c:v>
                </c:pt>
                <c:pt idx="162">
                  <c:v>139.84168865435356</c:v>
                </c:pt>
                <c:pt idx="163">
                  <c:v>139.84168865435356</c:v>
                </c:pt>
                <c:pt idx="164">
                  <c:v>141.16094986807389</c:v>
                </c:pt>
                <c:pt idx="165">
                  <c:v>140.36939313984169</c:v>
                </c:pt>
                <c:pt idx="166">
                  <c:v>136.14775725593668</c:v>
                </c:pt>
                <c:pt idx="167">
                  <c:v>136.14775725593668</c:v>
                </c:pt>
                <c:pt idx="168">
                  <c:v>136.14775725593668</c:v>
                </c:pt>
                <c:pt idx="169">
                  <c:v>126.64907651715041</c:v>
                </c:pt>
                <c:pt idx="170">
                  <c:v>125.59366754617413</c:v>
                </c:pt>
                <c:pt idx="171">
                  <c:v>123.48284960422164</c:v>
                </c:pt>
                <c:pt idx="172">
                  <c:v>121.89973614775727</c:v>
                </c:pt>
                <c:pt idx="173">
                  <c:v>119.26121372031662</c:v>
                </c:pt>
                <c:pt idx="174">
                  <c:v>119.26121372031662</c:v>
                </c:pt>
                <c:pt idx="175">
                  <c:v>119.26121372031662</c:v>
                </c:pt>
                <c:pt idx="176">
                  <c:v>118.46965699208442</c:v>
                </c:pt>
                <c:pt idx="177">
                  <c:v>120.58047493403694</c:v>
                </c:pt>
                <c:pt idx="178">
                  <c:v>122.42744063324538</c:v>
                </c:pt>
                <c:pt idx="179">
                  <c:v>119.5250659630607</c:v>
                </c:pt>
                <c:pt idx="180">
                  <c:v>116.88654353562005</c:v>
                </c:pt>
                <c:pt idx="181">
                  <c:v>116.88654353562005</c:v>
                </c:pt>
                <c:pt idx="182">
                  <c:v>116.88654353562005</c:v>
                </c:pt>
                <c:pt idx="183">
                  <c:v>113.45646437994723</c:v>
                </c:pt>
                <c:pt idx="184">
                  <c:v>118.7335092348285</c:v>
                </c:pt>
                <c:pt idx="185">
                  <c:v>117.67810026385223</c:v>
                </c:pt>
                <c:pt idx="186">
                  <c:v>114.77572559366756</c:v>
                </c:pt>
                <c:pt idx="187">
                  <c:v>113.19261213720317</c:v>
                </c:pt>
                <c:pt idx="188">
                  <c:v>113.19261213720317</c:v>
                </c:pt>
                <c:pt idx="189">
                  <c:v>113.19261213720317</c:v>
                </c:pt>
                <c:pt idx="190">
                  <c:v>109.76253298153034</c:v>
                </c:pt>
                <c:pt idx="191">
                  <c:v>110.29023746701847</c:v>
                </c:pt>
                <c:pt idx="192">
                  <c:v>113.98416886543536</c:v>
                </c:pt>
                <c:pt idx="193">
                  <c:v>112.66490765171504</c:v>
                </c:pt>
                <c:pt idx="194">
                  <c:v>112.66490765171504</c:v>
                </c:pt>
                <c:pt idx="195">
                  <c:v>112.66490765171504</c:v>
                </c:pt>
                <c:pt idx="196">
                  <c:v>112.66490765171504</c:v>
                </c:pt>
                <c:pt idx="197">
                  <c:v>116.88654353562005</c:v>
                </c:pt>
                <c:pt idx="198">
                  <c:v>118.7335092348285</c:v>
                </c:pt>
                <c:pt idx="199">
                  <c:v>118.7335092348285</c:v>
                </c:pt>
                <c:pt idx="200">
                  <c:v>118.46965699208442</c:v>
                </c:pt>
                <c:pt idx="201">
                  <c:v>117.67810026385223</c:v>
                </c:pt>
                <c:pt idx="202">
                  <c:v>117.67810026385223</c:v>
                </c:pt>
                <c:pt idx="203">
                  <c:v>117.67810026385223</c:v>
                </c:pt>
                <c:pt idx="204">
                  <c:v>116.88654353562005</c:v>
                </c:pt>
                <c:pt idx="205">
                  <c:v>111.08179419525067</c:v>
                </c:pt>
                <c:pt idx="206">
                  <c:v>117.15039577836413</c:v>
                </c:pt>
                <c:pt idx="207">
                  <c:v>117.41424802110818</c:v>
                </c:pt>
                <c:pt idx="208">
                  <c:v>116.09498680738785</c:v>
                </c:pt>
                <c:pt idx="209">
                  <c:v>116.09498680738785</c:v>
                </c:pt>
                <c:pt idx="210">
                  <c:v>116.09498680738785</c:v>
                </c:pt>
                <c:pt idx="211">
                  <c:v>114.77572559366756</c:v>
                </c:pt>
                <c:pt idx="212">
                  <c:v>117.41424802110818</c:v>
                </c:pt>
                <c:pt idx="213">
                  <c:v>118.99736147757255</c:v>
                </c:pt>
                <c:pt idx="214">
                  <c:v>118.7335092348285</c:v>
                </c:pt>
                <c:pt idx="215">
                  <c:v>120.05277044854881</c:v>
                </c:pt>
                <c:pt idx="216">
                  <c:v>120.05277044854881</c:v>
                </c:pt>
                <c:pt idx="217">
                  <c:v>120.05277044854881</c:v>
                </c:pt>
                <c:pt idx="218">
                  <c:v>117.67810026385223</c:v>
                </c:pt>
                <c:pt idx="219">
                  <c:v>118.99736147757255</c:v>
                </c:pt>
                <c:pt idx="220">
                  <c:v>118.46965699208442</c:v>
                </c:pt>
                <c:pt idx="221">
                  <c:v>117.41424802110818</c:v>
                </c:pt>
                <c:pt idx="222">
                  <c:v>109.23482849604223</c:v>
                </c:pt>
                <c:pt idx="223">
                  <c:v>109.23482849604223</c:v>
                </c:pt>
                <c:pt idx="224">
                  <c:v>109.23482849604223</c:v>
                </c:pt>
                <c:pt idx="225">
                  <c:v>106.33245382585753</c:v>
                </c:pt>
                <c:pt idx="226">
                  <c:v>113.72031662269129</c:v>
                </c:pt>
                <c:pt idx="227">
                  <c:v>114.24802110817942</c:v>
                </c:pt>
                <c:pt idx="228">
                  <c:v>113.19261213720317</c:v>
                </c:pt>
                <c:pt idx="229">
                  <c:v>113.45646437994723</c:v>
                </c:pt>
                <c:pt idx="230">
                  <c:v>113.45646437994723</c:v>
                </c:pt>
                <c:pt idx="231">
                  <c:v>113.45646437994723</c:v>
                </c:pt>
                <c:pt idx="232">
                  <c:v>118.7335092348285</c:v>
                </c:pt>
                <c:pt idx="233">
                  <c:v>118.46965699208442</c:v>
                </c:pt>
                <c:pt idx="234">
                  <c:v>118.20580474934037</c:v>
                </c:pt>
                <c:pt idx="235">
                  <c:v>116.09498680738785</c:v>
                </c:pt>
                <c:pt idx="236">
                  <c:v>113.72031662269129</c:v>
                </c:pt>
                <c:pt idx="237">
                  <c:v>113.72031662269129</c:v>
                </c:pt>
                <c:pt idx="238">
                  <c:v>113.72031662269129</c:v>
                </c:pt>
                <c:pt idx="239">
                  <c:v>112.40105540897099</c:v>
                </c:pt>
                <c:pt idx="240">
                  <c:v>114.24802110817942</c:v>
                </c:pt>
                <c:pt idx="241">
                  <c:v>112.40105540897099</c:v>
                </c:pt>
                <c:pt idx="242">
                  <c:v>112.40105540897099</c:v>
                </c:pt>
                <c:pt idx="243">
                  <c:v>112.40105540897099</c:v>
                </c:pt>
                <c:pt idx="244">
                  <c:v>112.40105540897099</c:v>
                </c:pt>
                <c:pt idx="245">
                  <c:v>112.40105540897099</c:v>
                </c:pt>
                <c:pt idx="246">
                  <c:v>110.55408970976252</c:v>
                </c:pt>
                <c:pt idx="247">
                  <c:v>111.87335092348285</c:v>
                </c:pt>
                <c:pt idx="248">
                  <c:v>114.77572559366756</c:v>
                </c:pt>
                <c:pt idx="249">
                  <c:v>115.30343007915566</c:v>
                </c:pt>
                <c:pt idx="250">
                  <c:v>112.40105540897099</c:v>
                </c:pt>
                <c:pt idx="251">
                  <c:v>112.40105540897099</c:v>
                </c:pt>
                <c:pt idx="252">
                  <c:v>112.40105540897099</c:v>
                </c:pt>
                <c:pt idx="253">
                  <c:v>116.09498680738785</c:v>
                </c:pt>
                <c:pt idx="254">
                  <c:v>124.01055408970976</c:v>
                </c:pt>
                <c:pt idx="255">
                  <c:v>121.63588390501319</c:v>
                </c:pt>
                <c:pt idx="256">
                  <c:v>121.89973614775727</c:v>
                </c:pt>
                <c:pt idx="257">
                  <c:v>121.37203166226914</c:v>
                </c:pt>
                <c:pt idx="258">
                  <c:v>121.37203166226914</c:v>
                </c:pt>
                <c:pt idx="259">
                  <c:v>121.37203166226914</c:v>
                </c:pt>
                <c:pt idx="260">
                  <c:v>121.89973614775727</c:v>
                </c:pt>
                <c:pt idx="261">
                  <c:v>120.84432717678099</c:v>
                </c:pt>
                <c:pt idx="262">
                  <c:v>117.15039577836413</c:v>
                </c:pt>
                <c:pt idx="263">
                  <c:v>118.20580474934037</c:v>
                </c:pt>
                <c:pt idx="264">
                  <c:v>118.99736147757255</c:v>
                </c:pt>
                <c:pt idx="265">
                  <c:v>118.99736147757255</c:v>
                </c:pt>
                <c:pt idx="266">
                  <c:v>118.99736147757255</c:v>
                </c:pt>
                <c:pt idx="267">
                  <c:v>113.98416886543536</c:v>
                </c:pt>
                <c:pt idx="268">
                  <c:v>110.8179419525066</c:v>
                </c:pt>
                <c:pt idx="269">
                  <c:v>110.02638522427442</c:v>
                </c:pt>
                <c:pt idx="270">
                  <c:v>110.55408970976252</c:v>
                </c:pt>
                <c:pt idx="271">
                  <c:v>110.02638522427442</c:v>
                </c:pt>
                <c:pt idx="272">
                  <c:v>110.02638522427442</c:v>
                </c:pt>
                <c:pt idx="273">
                  <c:v>110.02638522427442</c:v>
                </c:pt>
                <c:pt idx="274">
                  <c:v>108.97097625329815</c:v>
                </c:pt>
                <c:pt idx="275">
                  <c:v>113.45646437994723</c:v>
                </c:pt>
                <c:pt idx="276">
                  <c:v>113.19261213720317</c:v>
                </c:pt>
                <c:pt idx="277">
                  <c:v>110.8179419525066</c:v>
                </c:pt>
                <c:pt idx="278">
                  <c:v>108.7071240105541</c:v>
                </c:pt>
                <c:pt idx="279">
                  <c:v>108.7071240105541</c:v>
                </c:pt>
                <c:pt idx="280">
                  <c:v>108.7071240105541</c:v>
                </c:pt>
                <c:pt idx="281">
                  <c:v>108.17941952506595</c:v>
                </c:pt>
                <c:pt idx="282">
                  <c:v>105.54089709762533</c:v>
                </c:pt>
                <c:pt idx="283">
                  <c:v>112.92875989445909</c:v>
                </c:pt>
                <c:pt idx="284">
                  <c:v>117.94195250659631</c:v>
                </c:pt>
                <c:pt idx="285">
                  <c:v>121.89973614775727</c:v>
                </c:pt>
                <c:pt idx="286">
                  <c:v>121.89973614775727</c:v>
                </c:pt>
                <c:pt idx="287">
                  <c:v>121.89973614775727</c:v>
                </c:pt>
                <c:pt idx="288">
                  <c:v>121.89973614775727</c:v>
                </c:pt>
                <c:pt idx="289">
                  <c:v>121.89973614775727</c:v>
                </c:pt>
                <c:pt idx="290">
                  <c:v>121.89973614775727</c:v>
                </c:pt>
                <c:pt idx="291">
                  <c:v>121.89973614775727</c:v>
                </c:pt>
                <c:pt idx="292">
                  <c:v>121.89973614775727</c:v>
                </c:pt>
                <c:pt idx="293">
                  <c:v>121.89973614775727</c:v>
                </c:pt>
                <c:pt idx="294">
                  <c:v>121.89973614775727</c:v>
                </c:pt>
                <c:pt idx="295">
                  <c:v>123.48284960422164</c:v>
                </c:pt>
                <c:pt idx="296">
                  <c:v>127.70448548812665</c:v>
                </c:pt>
                <c:pt idx="297">
                  <c:v>124.53825857519789</c:v>
                </c:pt>
                <c:pt idx="298">
                  <c:v>126.12137203166228</c:v>
                </c:pt>
                <c:pt idx="299">
                  <c:v>123.48284960422164</c:v>
                </c:pt>
                <c:pt idx="300">
                  <c:v>123.48284960422164</c:v>
                </c:pt>
                <c:pt idx="301">
                  <c:v>123.48284960422164</c:v>
                </c:pt>
                <c:pt idx="302">
                  <c:v>119.78891820580475</c:v>
                </c:pt>
                <c:pt idx="303">
                  <c:v>120.31662269129288</c:v>
                </c:pt>
                <c:pt idx="304">
                  <c:v>118.7335092348285</c:v>
                </c:pt>
                <c:pt idx="305">
                  <c:v>117.94195250659631</c:v>
                </c:pt>
                <c:pt idx="306">
                  <c:v>116.35883905013193</c:v>
                </c:pt>
                <c:pt idx="307">
                  <c:v>116.35883905013193</c:v>
                </c:pt>
                <c:pt idx="308">
                  <c:v>116.35883905013193</c:v>
                </c:pt>
                <c:pt idx="309">
                  <c:v>108.44327176781003</c:v>
                </c:pt>
                <c:pt idx="310">
                  <c:v>111.08179419525067</c:v>
                </c:pt>
                <c:pt idx="311">
                  <c:v>118.46965699208442</c:v>
                </c:pt>
                <c:pt idx="312">
                  <c:v>118.99736147757255</c:v>
                </c:pt>
                <c:pt idx="313">
                  <c:v>118.7335092348285</c:v>
                </c:pt>
                <c:pt idx="314">
                  <c:v>118.7335092348285</c:v>
                </c:pt>
                <c:pt idx="315">
                  <c:v>118.7335092348285</c:v>
                </c:pt>
                <c:pt idx="316">
                  <c:v>117.94195250659631</c:v>
                </c:pt>
                <c:pt idx="317">
                  <c:v>121.37203166226914</c:v>
                </c:pt>
                <c:pt idx="318">
                  <c:v>120.58047493403694</c:v>
                </c:pt>
                <c:pt idx="319">
                  <c:v>117.94195250659631</c:v>
                </c:pt>
                <c:pt idx="320">
                  <c:v>117.41424802110818</c:v>
                </c:pt>
                <c:pt idx="321">
                  <c:v>117.41424802110818</c:v>
                </c:pt>
                <c:pt idx="322">
                  <c:v>117.41424802110818</c:v>
                </c:pt>
                <c:pt idx="323">
                  <c:v>112.13720316622691</c:v>
                </c:pt>
                <c:pt idx="324">
                  <c:v>116.88654353562005</c:v>
                </c:pt>
                <c:pt idx="325">
                  <c:v>118.99736147757255</c:v>
                </c:pt>
                <c:pt idx="326">
                  <c:v>118.20580474934037</c:v>
                </c:pt>
                <c:pt idx="327">
                  <c:v>120.05277044854881</c:v>
                </c:pt>
                <c:pt idx="328">
                  <c:v>120.05277044854881</c:v>
                </c:pt>
                <c:pt idx="329">
                  <c:v>120.05277044854881</c:v>
                </c:pt>
                <c:pt idx="330">
                  <c:v>121.37203166226914</c:v>
                </c:pt>
                <c:pt idx="331">
                  <c:v>124.53825857519789</c:v>
                </c:pt>
                <c:pt idx="332">
                  <c:v>123.48284960422164</c:v>
                </c:pt>
                <c:pt idx="333">
                  <c:v>120.58047493403694</c:v>
                </c:pt>
                <c:pt idx="334">
                  <c:v>116.88654353562005</c:v>
                </c:pt>
                <c:pt idx="335">
                  <c:v>116.88654353562005</c:v>
                </c:pt>
                <c:pt idx="336">
                  <c:v>116.88654353562005</c:v>
                </c:pt>
                <c:pt idx="337">
                  <c:v>116.62269129287598</c:v>
                </c:pt>
                <c:pt idx="338">
                  <c:v>116.62269129287598</c:v>
                </c:pt>
                <c:pt idx="339">
                  <c:v>121.63588390501319</c:v>
                </c:pt>
                <c:pt idx="340">
                  <c:v>119.26121372031662</c:v>
                </c:pt>
                <c:pt idx="341">
                  <c:v>121.89973614775727</c:v>
                </c:pt>
                <c:pt idx="342">
                  <c:v>121.89973614775727</c:v>
                </c:pt>
                <c:pt idx="343">
                  <c:v>121.89973614775727</c:v>
                </c:pt>
                <c:pt idx="344">
                  <c:v>121.10817941952507</c:v>
                </c:pt>
                <c:pt idx="345">
                  <c:v>121.37203166226914</c:v>
                </c:pt>
                <c:pt idx="346">
                  <c:v>119.78891820580475</c:v>
                </c:pt>
                <c:pt idx="347">
                  <c:v>117.94195250659631</c:v>
                </c:pt>
                <c:pt idx="348">
                  <c:v>118.20580474934037</c:v>
                </c:pt>
                <c:pt idx="349">
                  <c:v>118.20580474934037</c:v>
                </c:pt>
                <c:pt idx="350">
                  <c:v>118.20580474934037</c:v>
                </c:pt>
                <c:pt idx="351">
                  <c:v>118.99736147757255</c:v>
                </c:pt>
                <c:pt idx="352">
                  <c:v>121.10817941952507</c:v>
                </c:pt>
                <c:pt idx="353">
                  <c:v>119.5250659630607</c:v>
                </c:pt>
                <c:pt idx="354">
                  <c:v>118.20580474934037</c:v>
                </c:pt>
                <c:pt idx="355">
                  <c:v>117.94195250659631</c:v>
                </c:pt>
                <c:pt idx="356">
                  <c:v>117.94195250659631</c:v>
                </c:pt>
                <c:pt idx="357">
                  <c:v>117.94195250659631</c:v>
                </c:pt>
                <c:pt idx="358">
                  <c:v>117.94195250659631</c:v>
                </c:pt>
                <c:pt idx="359">
                  <c:v>115.30343007915566</c:v>
                </c:pt>
                <c:pt idx="360">
                  <c:v>114.77572559366756</c:v>
                </c:pt>
                <c:pt idx="361">
                  <c:v>114.77572559366756</c:v>
                </c:pt>
                <c:pt idx="362">
                  <c:v>114.77572559366756</c:v>
                </c:pt>
                <c:pt idx="363">
                  <c:v>114.77572559366756</c:v>
                </c:pt>
                <c:pt idx="364">
                  <c:v>114.77572559366756</c:v>
                </c:pt>
                <c:pt idx="365">
                  <c:v>115.30343007915566</c:v>
                </c:pt>
                <c:pt idx="366">
                  <c:v>113.45646437994723</c:v>
                </c:pt>
              </c:numCache>
            </c:numRef>
          </c:val>
          <c:smooth val="1"/>
          <c:extLst>
            <c:ext xmlns:c16="http://schemas.microsoft.com/office/drawing/2014/chart" uri="{C3380CC4-5D6E-409C-BE32-E72D297353CC}">
              <c16:uniqueId val="{00000001-5D0B-404D-8B9D-9E14986AA7A2}"/>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b="0"/>
                </a:pPr>
                <a:r>
                  <a:rPr lang="en-US" b="0" dirty="0"/>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min val="60"/>
        </c:scaling>
        <c:delete val="0"/>
        <c:axPos val="l"/>
        <c:numFmt formatCode="_(* #,##0_);_(* \(#,##0\);_(* &quot;-&quot;??_);_(@_)" sourceLinked="1"/>
        <c:majorTickMark val="in"/>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6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6/25/2026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Asset quality deteriorates; provisioning to stay elevated</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85160526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6,583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6427587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rPr>
                        <a:t>Current price</a:t>
                      </a:r>
                    </a:p>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600"/>
              </a:spcAft>
              <a:buClrTx/>
              <a:buSzPct val="130000"/>
              <a:buFontTx/>
              <a:buNone/>
              <a:tabLst/>
              <a:defRPr/>
            </a:pP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came in below expectations: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VND4,136bn (-43.6% YoY), completing 51% of the VND8,100bn FY26 plan. With VND2,106bn recorded in 1Q26, 2Q26 PBT is implied at approximately VND2,030bn. The shortfall stems from continued NIM compression amid intense deposit competition and from a materially heavier provisioning charge, following VND2,024bn in 1Q26 and more than VND11,300bn for FY25 as a whole.</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Asset quality has deteriorated beyond management guidance: </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NPL ratio reached 7.54% at end-2Q26, up 1.13%p from the beginning of the year and the highest in the system, against management guidance of approximately 5.6%. Group 3-5 balances increased by approximately VND7,800bn year-to-date and VND6,500bn quarter-on-quarter to VND47,957bn, of which around 67% (approximately VND32,000bn) is classified as Group 5, while Group 4 more than doubled (+156%). Our FY26F assumption of an NPL ratio below 4.5% is no longer attainable without a substantial acceleration in write-offs, and FY26F provisioning of VND10.4tn (-8.9% YoY) appears insufficient. Both assumptions are under review, together with the HOLD rating and the VND77,800 target price (2.4x FY26F P/B).</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FY26F PBT remains attainable on a low 2H25 base: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recorded VND7,331bn of PBT in 1H25 but only VND297bn in 2H25, as 4Q25 registered a pre-tax loss of approximately VND3,360bn on a provisioning charge of around VND9,232bn. Our FY26F PBT forecast of VND8,455bn (+10.8% YoY) therefore requires 2H26 PBT of approximately VND4,319bn — around 14x the 2H25 base, but only 4% above the 1H26 level. Other FY26F assumptions are unchanged: NII of VND27,010bn (+1.2% YoY) on 11.7% loan growth, NIM of 2.94% (-38bps YoY), CIR of 42.7% (+2.0%p YoY) and NOI of VND1,327bn (+5% YoY). Separately, STB has taken possession of 507 land-use right certificates at LDG’s Viva City project in Dong Nai against overdue principal of nearly VND350bn and more than VND82bn of accrued overdue interest; the exposure is immaterial to the overall portfolio but illustrates the collateral-resolution channel on which the 2H26 recovery depends.</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Risks: (1) continued NPL formation requiring provisioning above our FY26F estimate (2) prolonged deposit competition sustaining NIM compression (3) slower-than-expected disposal of recovered collateral.</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251471047"/>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Chất lượng tài sản suy giảm, áp lực dự phòng còn kéo dài</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endParaRPr kumimoji="1" lang="en-US" altLang="ko-KR" sz="1200" b="1" dirty="0">
              <a:solidFill>
                <a:srgbClr val="F58220"/>
              </a:solidFill>
              <a:latin typeface="Noto Sans" panose="020B0502040504020204" pitchFamily="34" charset="0"/>
              <a:ea typeface="나눔고딕" pitchFamily="50" charset="-127"/>
            </a:endParaRP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50455774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6,583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 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500"/>
              </a:spcAft>
              <a:buClrTx/>
              <a:buSzPct val="130000"/>
              <a:buFontTx/>
              <a:buNone/>
              <a:tabLst/>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lvl="0" algn="just" fontAlgn="ctr" latinLnBrk="0">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thấp hơn kỳ vọng: </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4,136 tỷ đồng (-43.6% CK), hoàn thành 51% kế hoạch năm 8,100 tỷ đồng. Với 2,106 tỷ đồng ghi nhận trong Q1/2026, LNTT Q2/2026 ước tính khoảng 2,030 tỷ đồng. Mức sụt giảm đến từ việc NIM tiếp tục thu hẹp trong bối cảnh cạnh tranh huy động gay gắt và từ chi phí dự phòng tăng đáng kể, sau mức 2,024 tỷ đồng của Q1/2026 và hơn 11,300 tỷ đồng của cả năm 2025.</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Chất lượng tài sản suy giảm vượt mức ban lãnh đạo dự kiến: tỷ lệ nợ xấu đạt 7.54% cuối Q2/2026, tăng 1.13%p so với đầu năm và hiện cao nhất hệ thống, so với mức ước tính khoảng 5.6% của ban lãnh đạo. Dư nợ nhóm 3-5 tăng khoảng 7,800 tỷ đồng so với đầu năm và 6,500 tỷ đồng so với quý trước, lên 47,957 tỷ đồng, trong đó khoảng 67% (tương đương 32,000 tỷ đồng) được xếp nhóm 5, còn nợ nhóm 4 tăng hơn gấp đôi (+156%). Giả định tỷ lệ nợ xấu FY26F dưới 4.5% của chúng tôi không còn khả thi nếu không đẩy mạnh xóa nợ, và chi phí dự phòng FY26F 10.4 nghìn tỷ đồng (-8.9% CK) là chưa đủ. Cả hai giả định đang được rà soát, cùng với khuyến nghị NẮM GIỮ và giá mục tiêu 77,800 đồng (2.4x P/B FY26F).</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LNTT FY26F vẫn khả thi nhờ nền 2H25 thấp: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latinLnBrk="0">
              <a:lnSpc>
                <a:spcPts val="1200"/>
              </a:lnSpc>
              <a:spcAft>
                <a:spcPts val="500"/>
              </a:spcAft>
              <a:buSzPct val="130000"/>
              <a:buFont typeface="Arial" panose="020B0604020202020204" pitchFamily="34" charset="0"/>
              <a:buChar char="•"/>
              <a:defRPr/>
            </a:pP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STB ghi nhận 7,331 tỷ đồng LNTT trong 1H25 nhưng chỉ 297 tỷ đồng trong 2H25, do Q4/2025 lỗ trước thuế khoảng 3,360 tỷ đồng với chi phí dự phòng khoảng 9,232 tỷ đồng. Dự phóng LNTT FY26F 8,455 tỷ đồng (+10.8% CK) do đó cần 2H26 đạt khoảng 4,319 tỷ đồng — tương đương khoảng 14 lần nền 2H25, nhưng chỉ cao hơn 4% so với mức của 1H26.</a:t>
            </a:r>
            <a:endPar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Các giả định FY26F còn lại giữ nguyên: NII 27,010 tỷ đồng (+1.2% CK) với tăng trưởng tín dụng 11.7%, NIM 2.94% (-38bps CK), CIR 42.7% (+2.0%p CK) và thu nhập khác 1,327 tỷ đồng (+5% CK); dự phóng LNTT FY26F của chúng tôi vẫn cao hơn kế hoạch 8,100 tỷ đồng đã được ĐHĐCĐ thông qua. Ở diễn biến khác, Sacombank đã thu giữ 507 giấy chứng nhận quyền sử dụng đất thuộc dự án Viva City (Đồng Nai) đối với dư nợ gốc quá hạn gần 350 tỷ đồng và hơn 82 tỷ đồng lãi chậm trả; quy mô dư nợ này chưa trọng yếu với danh mục tín dụng nhưng thể hiện kênh xử lý tài sản đảm bảo mà đà hồi phục của 2H26 phụ thuộc vào.</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endParaRPr kumimoji="1" lang="vi-VN" altLang="ko-KR" sz="80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latinLnBrk="0">
              <a:lnSpc>
                <a:spcPts val="1200"/>
              </a:lnSpc>
              <a:spcAft>
                <a:spcPts val="500"/>
              </a:spcAft>
              <a:buSzPct val="130000"/>
              <a:buFont typeface="Arial" panose="020B0604020202020204" pitchFamily="34" charset="0"/>
              <a:buChar char="•"/>
              <a:defRPr/>
            </a:pPr>
            <a:endPar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Rủi ro: (1) nợ xấu tiếp tục phát sinh khiến chi phí dự phòng vượt dự phóng FY26F (2) cạnh tranh huy động kéo dài làm NIM tiếp tục thu hẹp (3) tiến độ xử lý tài sản đã thu hồi chậm hơn dự kiến.</a:t>
            </a: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growth at a two-year-low valuation</a:t>
            </a: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10,848</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18.1</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13.1</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78,750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25%</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tracking ahead of the annual plan: revenue reached VND26,269bn (+12.6% YoY) and PBT VND5,714bn (+18.1% YoY), completing 45%/49% of the FY26 revenue/PBT plan, with the group PBT margin widening to 21.8%. In 2Q26 alone, revenue was VND13,789bn, PBT VND2,910bn and NPATMI VND2,568bn (+14% YoY). By segment, Technology revenue reached VND23,138bn (+15% YoY; 88% of group) and PBT VND3,314bn (+16.9% YoY) on a 14.3% margin; Education, investment and others declined 2.1% to VND3,131bn yet still contributed 42% of group PBT on a ~77% margin.</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Public-sector digitalization underpins the domestic pipeline: Domestic IT was the fastest-growing segment in 6M26 at VND4,236bn (+22.5% YoY), with segment PBT doubling to VND308bn on public-sector wins under the national digital-transformation programme — multi-year work with limited exposure to the global IT cycle, though its 7.3% margin dilutes the blend as it scales. Signed contract value for Global IT reached VND26,338bn in 1H26, +32.3% YoY, including 14 deals above USD10mn (+27.3%) — a book-to-bill of 1.39x against 1.07-1.22x through FY21-25, and the largest half-year backlog build on record. On that basis we look for Global IT to reaccelerate to +15.5% in FY27F and +16.0% in FY28F, from the +14.7% assumed for FY26F and +13.4% delivered in 1H26, with the US book cut to +5.9% on bid-price competition.</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The de-rating reflects the AI debate: demand expansion versus compression of headcount-based pricing. Infosys guides FY27 to 1.5-3.0%; FPT’s Global IT grew 13.4%.</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Projection and valuation: we forecast FY26F NPATMI of VND10,848bn (+14.6% YoY), FY27F VND12,497bn (+15.2% YoY) and FY28F VND14,459bn (+15.7% YoY), taking 2H26 at +15% YoY against the +14.2% delivered in 1H26. Two named assumptions carry the step up in FY27-28F: Global IT reaccelerating to +15.5% then +16.0% - supported by signings running +32.3% against revenue at +13.4% - and associate income to +16% from +14%. Domestic IT is held at +12% and Education at +5% after a 2.1% decline in 1H26. Note that NPATMI grew 14.2% while PBT grew 18.1%: equity income is already taxed at the investee, so PBT growth overstates what accrues to shareholders. Every ratio is held at what 1H26 delivered - gross margin 32.4%, operating expenses within 16bp of the 17.6% of sales delivered in 1H26, and a 15.6% tax rate applied to the consolidated block only. Associate income from FPT Telecom (45.66%, equity-accounted from FY26), FPT Retail (46.54%), Synnex FPT (48.00%) and FPT Online was VND1,423bn in 1H26; we carry VND2,847bn in FY26F growing ~14% p.a. Net financial income of VND830bn assumes the VND19.4tn term-deposit book keeps the 5.86% yield it earned in 1H26 and compounds at ~11% p.a., with no further FX gains or investment provisions. ROE holds near 27%, supported by net cash of around 60% of equity and a maintained DPS of VND2,000. We have taken the pricing risk into the discount rate rather than the earnings line: the equity risk premium is raised to 8.9% from 7.8% and long-term growth cut to 1.5% from 2.5%, lowering our DCF (FCFF) target price to VND78,750 from VND91,570. At VND62,900, down 40% year-to-date on heavy foreign selling, the stock trades at 10.5x FY26F earnings against a five-year median above 18x, implying 25% upside (BUY). AI-related newsflow has stayed supportive through the de-rating, including an expanded partnership with Microsoft across ASEAN, Japan and Korea, an AI contract worth tens of millions of USD with a European materials group, six AI agreements in Thailand and Singapore, and data-intermediary certification with the Ministry of Public Security’s National Data Centre. Risks: (1) AI-driven price deflation passing through faster than our long-term growth assumption allows (2) subdued US and global IT spending and tariff-related contract delays (3) JPY/USD volatility.</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57,195</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65,027</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74,232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9,626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11,117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12,321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14,189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16,416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10,848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12,497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14,459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5,993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6,904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7,988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91,940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102,964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115,925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58,319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68,504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25,109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35,575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deconsolidated (equity method) from FY26F.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127248" y="4178808"/>
            <a:ext cx="2624328" cy="2020824"/>
          </a:xfrm>
          <a:prstGeom prst="rect">
            <a:avLst/>
          </a:prstGeom>
          <a:noFill/>
        </p:spPr>
        <p:txBody>
          <a:bodyPr wrap="square">
            <a:spAutoFit/>
          </a:bodyPr>
          <a:lstStyle/>
          <a:p>
            <a:r>
              <a:rPr sz="900"/>
              <a:t>[12M price performance vs VN-Index — update chart from FiinPro export]</a:t>
            </a:r>
          </a:p>
        </p:txBody>
      </p:sp>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giá về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10,848</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18.1</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13.1</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78,750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25%</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vượt tiến độ kế hoạch năm: doanh thu đạt 26,269 tỷ đồng (+12.6% CK) và LNTT 5,714 tỷ đồng (+18.1% CK), hoàn thành 45%/49% kế hoạch doanh thu/lợi nhuận năm; biên LNTT toàn tập đoàn mở rộng lên 21.8%. Riêng Q2/2026, doanh thu đạt 13,789 tỷ đồng, LNTT 2,910 tỷ đồng và LNST-CĐTS 2,568 tỷ đồng (+14% CK). Theo mảng, Công nghệ đạt 23,138 tỷ đồng (+15% CK; 88% doanh thu tập đoàn) và LNTT 3,314 tỷ đồng (+16.9% CK) với biên 14.3%; Giáo dục, đầu tư và khác giảm 2.1% về 3,131 tỷ đồng nhưng vẫn đóng góp 42% LNTT tập đoàn với biên khoảng 77%.</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là nền tảng của danh mục trong nước: CNTT trong nước là mảng tăng trưởng nhanh nhất trong 6T26, đạt 4,236 tỷ đồng (+22.5% CK), LNTT mảng tăng gấp đôi lên 308 tỷ đồng nhờ trúng thầu khu vực công thuộc chương trình chuyển đổi số quốc gia — nguồn việc kéo dài nhiều năm, ít phụ thuộc chu kỳ CNTT toàn cầu, tuy biên 7.3% sẽ làm loãng biên chung khi mở rộng. Doanh thu ký mới mảng CNTT nước ngoài đạt 26,338 tỷ đồng trong 1H26, tăng 32.3% CK, trong đó 14 dự án trên 10 triệu USD (+27.3%) — tỷ lệ ký mới trên doanh thu đạt 1.39 lần so với 1.07-1.22 lần giai đoạn FY21-25, mức tích lũy nửa năm cao nhất từ trước tới nay. Trên cơ sở đó, chúng tôi dự phóng CNTT nước ngoài tăng tốc lên +15.5% trong FY27F và +16.0% trong FY28F, từ mức +14.7% của FY26F và +13.4% đã thực hiện trong 1H26, với thị trường Mỹ hạ về +5.9% do cạnh tranh giá thầu.</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Mức chiết khấu phản ánh tranh luận về AI: mở rộng nhu cầu hay thu hẹp mô hình định giá theo nhân sự. Infosys dự báo FY27 chỉ 1.5-3.0%; CNTT nước ngoài của FPT tăng 13.4%.</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và định giá: chúng tôi dự phóng LNST-CĐTS FY26F đạt 10,848 tỷ đồng (+14.6% CK), FY27F 12,497 tỷ đồng (+15.2% CK) và FY28F 14,459 tỷ đồng (+15.7% CK), với giả định 2H26 tăng 15% CK so với mức +14.2% đã thực hiện trong 1H26. Mức tăng tốc của FY27-28F dựa trên hai giả định được nêu rõ: CNTT nước ngoài lên +15.5% rồi +16.0% — được hỗ trợ bởi doanh thu ký mới tăng 32.3% trong khi doanh thu ghi nhận chỉ tăng 13.4% — và lợi nhuận từ công ty liên kết lên +16% từ +14%. CNTT trong nước giữ +12% và Giáo dục giữ +5% sau khi giảm 2.1% trong 1H26. LNST-CĐTS 1H26 tăng 14.2% trong khi LNTT tăng 18.1% do lợi nhuận từ công ty liên kết đã chịu thuế tại đơn vị được đầu tư, nên tăng trưởng LNTT phóng đại phần thuộc về cổ đông. Mọi tỷ lệ được giữ đúng mức 1H26 đã thực hiện: biên lợi nhuận gộp 32.4%, chi phí bán hàng và quản lý trong khoảng 16bp quanh mức 17.6% doanh thu của 1H26, thuế suất 15.6% chỉ áp trên phần hợp nhất. Lợi nhuận từ công ty liên kết — FPT Telecom (45.66%, hạch toán theo phương pháp VCSH từ FY26), FPT Retail (46.54%), Synnex FPT (48.00%) và FPT Online — đạt 1,423 tỷ đồng trong 1H26; chúng tôi ghi nhận 2,847 tỷ đồng cho FY26F, tăng khoảng 14%/năm. Lãi hoạt động tài chính thuần 830 tỷ đồng giả định danh mục tiền gửi có kỳ hạn 19.4 nghìn tỷ giữ suất sinh lời 5.86% của 1H26 và tăng khoảng 11%/năm, không giả định thêm lãi tỷ giá hay hoàn nhập dự phòng đầu tư. ROE duy trì quanh 27%, nhờ tiền ròng khoảng 60% VCSH và cổ tức tiền mặt 2,000 đồng/cp. Chúng tôi phản ánh rủi ro giá vào tỷ lệ chiết khấu thay vì dự phóng lợi nhuận: phần bù rủi ro vốn cổ phần nâng lên 8.9% từ 7.8% và tăng trưởng dài hạn hạ về 1.5% từ 2.5%, đưa giá mục tiêu DCF (FCFF) xuống 78,750 đồng từ 91,570 đồng. Tại mức 62,900 đồng, giảm 40% từ đầu năm do khối ngoại bán ròng mạnh, cổ phiếu giao dịch ở 10.5x P/E FY26F so với trung vị 5 năm trên 18x, tương ứng tiềm năng tăng 25% (MUA). Thông tin liên quan AI vẫn tích cực: mở rộng hợp tác với Microsoft tại ASEAN, Nhật Bản và Hàn Quốc; hợp đồng AI hàng chục triệu USD với một tập đoàn vật liệu châu Âu; sáu thỏa thuận AI tại Thái Lan và Singapore; và chứng nhận trung gian dữ liệu với Trung tâm Dữ liệu quốc gia — Bộ Công an. Rủi ro: (1) giảm phát giá do AI diễn ra nhanh hơn mức giả định tăng trưởng dài hạn của chúng tôi (2) chi tiêu CNTT tại Mỹ và toàn cầu ở mức thấp cùng việc hợp đồng bị trì hoãn do thuế quan (3) biến động tỷ giá JPY/USD.</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57,195</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65,027</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74,232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9,626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11,117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12,321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14,189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16,416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10,848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12,497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14,459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5,993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6,904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7,988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91,940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102,964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115,925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58,319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68,504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25,109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35,575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Ghi chú: FPT Telecom hợp nhất theo phương pháp VCSH từ FY26F.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099816" y="4306824"/>
            <a:ext cx="2697480" cy="2011680"/>
          </a:xfrm>
          <a:prstGeom prst="rect">
            <a:avLst/>
          </a:prstGeom>
          <a:noFill/>
        </p:spPr>
        <p:txBody>
          <a:bodyPr wrap="square">
            <a:spAutoFit/>
          </a:bodyPr>
          <a:lstStyle/>
          <a:p>
            <a:r>
              <a:rPr sz="900"/>
              <a:t>[Biểu đồ giá 12T so với VN-Index — cập nhật từ FiinPro]</a:t>
            </a:r>
          </a:p>
        </p:txBody>
      </p:sp>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3518</Words>
  <Application>Microsoft Office PowerPoint</Application>
  <PresentationFormat>Widescreen</PresentationFormat>
  <Paragraphs>547</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10</cp:revision>
  <dcterms:created xsi:type="dcterms:W3CDTF">2026-06-23T08:27:54Z</dcterms:created>
  <dcterms:modified xsi:type="dcterms:W3CDTF">2026-06-25T04:05:06Z</dcterms:modified>
</cp:coreProperties>
</file>