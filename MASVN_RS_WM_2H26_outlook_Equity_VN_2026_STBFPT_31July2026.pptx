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completing 51% of the VND8,100bn FY26 plan. With VND2,106bn recorded in 1Q26, 2Q26 PBT is implied at approximately VND2,030bn. The shortfall stems from continued NIM compression amid intense deposit competition and from a materially heavier provisioning charge, following VND2,024bn in 1Q26 and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from the beginning of the year and the highest in the system, against management guidance of approximately 5.6%. Group 3-5 balances increased by approximately VND7,800bn year-to-date and VND6,500bn quarter-on-quarter to VND47,957bn, of which around 67% (approximately VND32,000bn) is classified as Group 5, while Group 4 more than doubled (+156%). Our FY26F assumption of an NPL ratio below 4.5% is no longer attainable without a substantial acceleration in write-offs, and FY26F provisioning of VND10.4tn (-8.9% YoY) appears insufficient. Both assumptions are under review, together with the HOLD rating and the VND77,800 target price (2.4x FY26F P/B).</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remains attainable on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approximately VND3,360bn on a provisioning charge of around VND9,232bn. Our FY26F PBT forecast of VND8,455bn (+10.8% YoY) therefore requires 2H26 PBT of approximately VND4,319bn — around 14x the 2H25 base, but only 4% above the 1H26 level. Other FY26F assumptions are unchanged: NII of VND27,010bn (+1.2% YoY) on 11.7% loan growth, NIM of 2.94% (-38bps YoY), CIR of 42.7% (+2.0%p YoY) and NOI of VND1,327bn (+5% YoY). Separately, STB has taken possession of 507 land-use right certificates at LDG’s Viva City project in Dong Nai against overdue principal of nearly VND350bn and more than VND82bn of accrued overdue interest; the exposure is immaterial to the overall portfolio but illustrates the collateral-resolution channel on which the 2H26 recovery depends.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Với 2,106 tỷ đồng ghi nhận trong Q1/2026, LNTT Q2/2026 ước tính khoảng 2,030 tỷ đồng. Mức sụt giảm đến từ việc NIM tiếp tục thu hẹp trong bối cảnh cạnh tranh huy động gay gắt và từ chi phí dự phòng tăng đáng kể, sau mức 2,024 tỷ đồng của Q1/2026 và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hiện cao nhất hệ thống, so với mức ước tính khoảng 5.6% của ban lãnh đạo. Dư nợ nhóm 3-5 tăng khoảng 7,800 tỷ đồng so với đầu năm và 6,500 tỷ đồng so với quý trước, lên 47,957 tỷ đồng, trong đó khoảng 67% (tương đương 32,000 tỷ đồng) được xếp nhóm 5, còn nợ nhóm 4 tăng hơn gấp đôi (+156%). Giả định tỷ lệ nợ xấu FY26F dưới 4.5% của chúng tôi không còn khả thi nếu không đẩy mạnh xóa nợ, và chi phí dự phòng FY26F 10.4 nghìn tỷ đồng (-8.9% CK) là chưa đủ. Cả hai giả định đang được rà soát, cùng với khuyến nghị NẮM GIỮ và giá mục tiêu 77,800 đồng (2.4x P/B FY26F).</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LNTT FY26F vẫn khả thi nhờ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khoảng 3,360 tỷ đồng với chi phí dự phòng khoảng 9,232 tỷ đồng. Dự phóng LNTT FY26F 8,455 tỷ đồng (+10.8% CK) do đó cần 2H26 đạt khoảng 4,319 tỷ đồng — tương đương khoảng 14 lần nền 2H25, nhưng chỉ cao hơn 4% so với mức của 1H26.</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còn lại giữ nguyên: NII 27,010 tỷ đồng (+1.2% CK) với tăng trưởng tín dụng 11.7%, NIM 2.94% (-38bps CK), CIR 42.7% (+2.0%p CK) và thu nhập khác 1,327 tỷ đồng (+5% CK); dự phóng LNTT FY26F của chúng tôi vẫn cao hơn kế hoạch 8,100 tỷ đồng đã được ĐHĐCĐ thông qua. Ở diễn biến khác, Sacombank đã thu giữ 507 giấy chứng nhận quyền sử dụng đất thuộc dự án Viva City (Đồng Nai) đối với dư nợ gốc quá hạn gần 350 tỷ đồng và hơn 82 tỷ đồng lãi chậm trả; quy mô dư nợ này chưa trọng yếu với danh mục tín dụng nhưng thể hiện kênh xử lý tài sản đảm bảo mà đà hồi phục của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tracking ahead of the annual plan: revenue reached VND26,269bn (+12.6% YoY) and PBT VND5,714bn (+18.1% YoY), completing 45%/49% of the FY26 revenue/PBT plan, with the group PBT margin widening to 21.8%. In 2Q26 alone, revenue was VND13,789bn, PBT VND2,910bn and NPATMI VND2,568bn (+14% YoY). By segment, Technology revenue reached VND23,138bn (+15% YoY; 88% of group) and PBT VND3,314bn (+16.9% YoY) on a 14.3% margin; Education, investment and others declined 2.1% to VND3,131bn yet still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was the fastest-growing segment in 6M26 at VND4,236bn (+22.5% YoY), with segment PBT doubling to VND308bn on public-sector wins under the national digital-transformation programme — multi-year work with limited exposure to the global IT cycle, though its 7.3% margin dilutes the blend as it scales.</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de-rating reflects the AI debate rather than company news: FPT closed at VND62,900 on 24/07, its lowest since October 2023 and 40% below the start of the year, erasing around VND114tn (US$4.4bn) of market value from the peak. Foreign investors have been net sellers of more than VND16tn year-to-date, the largest of any listed stock, with the pressure moderating in late July as domestic flows absorbed supply. The question is sector-wide: generative AI expands demand for IT services or compresses the headcount-based pricing on which the industry is built. The compression case is visible at the Indian majors, where AI work has scaled without lifting the top line — Infosys reported AI revenue at 8.2% of 1Q FY27 sales yet trimmed FY27 constant-currency growth guidance to 1.5-3.0%, while TCS grew 3.2% YoY in constant currency. The demand case is that adoption remains additive: TCS added a net 9,279 staff in the quarter, its strongest hiring in four years, and FPT’s Global IT revenue rose 13.4% YoY in 6M26, several times the majors’ rate. Pricing pressure is nonetheless evident where competition is sharpest, and we have cut the US book to +5.9% on bid-price competition while leaving Japan at +22%/+23% and the EU at +18%/+20%, which together drive the expected reacceleration of Global IT to +16.7% in FY27F.</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VND10,943bn (+15.6% YoY), FY27F VND12,518bn (+14.4% YoY) and FY28F VND14,156bn (+13.1% YoY), assuming FPT Telecom associate income grows ~15% p.a. Net margin should widen toward 20% and ROE hold near 27.5%, supported by net cash of around 60% of equity and a maintained DPS of VND2,000. We have taken the pricing risk into the discount rate rather than the earnings line: the equity risk premium is raised to 8.9% from 7.8% and long-term growth cut to 1.5% from 2.5%, lowering our DCF (FCFF) target price to VND78,750 from VND91,570. At VND62,900 the stock trades at 10.4x FY26F earnings against a five-year median above 18x, implying 25% upside (BUY). AI-related newsflow has stayed supportive through the de-rating, including an expanded partnership with Microsoft across ASEAN, Japan and Korea, an AI contract worth tens of millions of USD with a European materials group, six AI agreements in Thailand and Singapore, and data-intermediary certification with the Ministry of Public Security’s National Data Centre. Risks: (1) AI-driven price deflation passing through faster than our long-term growth assumption allows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10,859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12,325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14,973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16,931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12,518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6,916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7,821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102,790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115,120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58,145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67,699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29,681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năm: doanh thu đạt 26,269 tỷ đồng (+12.6% CK) và LNTT 5,714 tỷ đồng (+18.1% CK), hoàn thành 45%/49% kế hoạch doanh thu/lợi nhuận năm; biên LNTT toàn tập đoàn mở rộng lên 21.8%. Riêng Q2/2026, doanh thu đạt 13,789 tỷ đồng, LNTT 2,910 tỷ đồng và LNST-CĐTS 2,568 tỷ đồng (+14% CK). Theo mảng, Công nghệ đạt 23,138 tỷ đồng (+15% CK; 88% doanh thu tập đoàn) và LNTT 3,314 tỷ đồng (+16.9% CK) với biên 14.3%; Giáo dục, đầu tư và khác giảm 2.1% về 3,131 tỷ đồng nhưng vẫn đóng góp 42% LNTT tập đoàn với biên khoảng 77%.</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CNTT trong nước là mảng tăng trưởng nhanh nhất trong 6T26, đạt 4,236 tỷ đồng (+22.5% CK), LNTT mảng tăng gấp đôi lên 308 tỷ đồng nhờ trúng thầu khu vực công thuộc chương trình chuyển đổi số quốc gia — nguồn việc kéo dài nhiều năm, ít phụ thuộc chu kỳ CNTT toàn cầu, tuy biên 7.3% sẽ làm loãng biên chung khi mở rộng.</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Mức chiết khấu phản ánh tranh luận về AI hơn là tin doanh nghiệp: FPT đóng cửa 62,900 đồng ngày 24/07, mức thấp nhất kể từ tháng 10/2023 và thấp hơn 40% so với đầu năm, tương ứng khoảng 114 nghìn tỷ đồng (4.4 tỷ USD) vốn hóa bị xóa so với đỉnh. Khối ngoại bán ròng hơn 16 nghìn tỷ đồng từ đầu năm, lớn nhất toàn sàn, và áp lực đã giảm bớt cuối tháng 7 khi dòng tiền trong nước hấp thụ nguồn cung. Câu hỏi mang tính toàn ngành: AI tạo sinh sẽ mở rộng nhu cầu dịch vụ CNTT hay thu hẹp mô hình định giá theo nhân sự mà ngành đang dựa vào. Lập luận thu hẹp thể hiện rõ ở nhóm CNTT Ấn Độ, nơi doanh thu AI tăng quy mô nhưng không kéo được tổng doanh thu — Infosys ghi nhận doanh thu AI chiếm 8.2% doanh số Q1 FY27 nhưng vẫn hạ dự báo tăng trưởng FY27 theo tỷ giá cố định về 1.5-3.0%, trong khi TCS tăng 3.2% CK theo tỷ giá cố định. Lập luận ngược lại là AI hiện vẫn bổ sung nhu cầu: TCS tuyển ròng 9,279 nhân sự trong quý, mức cao nhất bốn năm, còn doanh thu CNTT nước ngoài của FPT tăng 13.4% CK trong 6T26, gấp nhiều lần tốc độ của nhóm này. Áp lực giá vẫn hiện hữu nơi cạnh tranh gay gắt nhất: chúng tôi hạ thị trường Mỹ về +5.9% do cạnh tranh giá thầu, giữ Nhật Bản ở +22%/+23% và châu Âu +18%/+20% — hai thị trường dẫn dắt kỳ vọng CNTT nước ngoài tăng tốc lên +16.7% trong FY27F.</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chúng tôi dự phóng LNST-CĐTS FY26F đạt 10,943 tỷ đồng (+15.6% CK), FY27F 12,518 tỷ đồng (+14.4% CK) và FY28F 14,156 tỷ đồng (+13.1% CK), giả định lợi nhuận từ FPT Telecom tăng khoảng 15%/năm. Biên lợi nhuận ròng dự kiến mở rộng về khoảng 20% và ROE duy trì quanh 27.5%, nhờ tiền ròng khoảng 60% VCSH và cổ tức tiền mặt 2,000 đồng/cp. Chúng tôi phản ánh rủi ro giá vào tỷ lệ chiết khấu thay vì dự phóng lợi nhuận: phần bù rủi ro vốn cổ phần nâng lên 8.9% từ 7.8% và tăng trưởng dài hạn hạ về 1.5% từ 2.5%, đưa giá mục tiêu DCF (FCFF) xuống 78,750 đồng từ 91,570 đồng. Tại mức 62,900 đồng, cổ phiếu giao dịch ở 10.4x P/E FY26F so với trung vị 5 năm trên 18x, tương ứng tiềm năng tăng 25% (MUA). Thông tin liên quan AI vẫn tích cực: mở rộng hợp tác với Microsoft tại ASEAN, Nhật Bản và Hàn Quốc; hợp đồng AI hàng chục triệu USD với một tập đoàn vật liệu châu Âu; sáu thỏa thuận AI tại Thái Lan và Singapore; và chứng nhận trung gian dữ liệu với Trung tâm Dữ liệu quốc gia — Bộ Công an. Rủi ro: (1) giảm phát giá do AI diễn ra nhanh hơn mức giả định tăng trưởng dài hạn của chúng tôi (2) chi tiêu CNTT tại Mỹ và toàn cầu ở mức thấp cùng việc hợp đồng bị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10,859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12,325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14,973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16,931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12,518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6,916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102,790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115,120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58,145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67,699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29,681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