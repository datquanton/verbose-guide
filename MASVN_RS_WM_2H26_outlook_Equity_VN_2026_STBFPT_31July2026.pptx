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510" r:id="rId2"/>
    <p:sldId id="3929" r:id="rId3"/>
    <p:sldId id="3639" r:id="rId4"/>
    <p:sldId id="364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10.0.16.23\mas\Department\Reseach\Qu&#226;n\2026\Frontpage-2021-Tra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39319576183659E-2"/>
          <c:y val="0.1419296226020994"/>
          <c:w val="0.89025805236940847"/>
          <c:h val="0.74606368805036205"/>
        </c:manualLayout>
      </c:layout>
      <c:lineChart>
        <c:grouping val="standard"/>
        <c:varyColors val="0"/>
        <c:ser>
          <c:idx val="0"/>
          <c:order val="0"/>
          <c:tx>
            <c:strRef>
              <c:f>Frontpage!$Q$3</c:f>
              <c:strCache>
                <c:ptCount val="1"/>
                <c:pt idx="0">
                  <c:v>VN-Index</c:v>
                </c:pt>
              </c:strCache>
            </c:strRef>
          </c:tx>
          <c:spPr>
            <a:ln w="12700" cap="rnd">
              <a:solidFill>
                <a:srgbClr val="002060"/>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Frontpage!$Q$4:$Q$370</c:f>
              <c:numCache>
                <c:formatCode>_(* #,##0_);_(* \(#,##0\);_(* "-"??_);_(@_)</c:formatCode>
                <c:ptCount val="367"/>
                <c:pt idx="0">
                  <c:v>100</c:v>
                </c:pt>
                <c:pt idx="1">
                  <c:v>101.12125907200522</c:v>
                </c:pt>
                <c:pt idx="2">
                  <c:v>101.27619668922776</c:v>
                </c:pt>
                <c:pt idx="3">
                  <c:v>101.96281497186659</c:v>
                </c:pt>
                <c:pt idx="4">
                  <c:v>103.54725597325287</c:v>
                </c:pt>
                <c:pt idx="5">
                  <c:v>103.34339068743374</c:v>
                </c:pt>
                <c:pt idx="6">
                  <c:v>103.34339068743374</c:v>
                </c:pt>
                <c:pt idx="7">
                  <c:v>103.34339068743374</c:v>
                </c:pt>
                <c:pt idx="8">
                  <c:v>104.64486667210309</c:v>
                </c:pt>
                <c:pt idx="9">
                  <c:v>105.47419065481532</c:v>
                </c:pt>
                <c:pt idx="10">
                  <c:v>106.80339231835603</c:v>
                </c:pt>
                <c:pt idx="11">
                  <c:v>107.08635733507299</c:v>
                </c:pt>
                <c:pt idx="12">
                  <c:v>106.12329772486342</c:v>
                </c:pt>
                <c:pt idx="13">
                  <c:v>106.12329772486342</c:v>
                </c:pt>
                <c:pt idx="14">
                  <c:v>106.12329772486342</c:v>
                </c:pt>
                <c:pt idx="15">
                  <c:v>105.70741254179239</c:v>
                </c:pt>
                <c:pt idx="16">
                  <c:v>107.24537225801191</c:v>
                </c:pt>
                <c:pt idx="17">
                  <c:v>107.88958656120036</c:v>
                </c:pt>
                <c:pt idx="18">
                  <c:v>107.13854684824268</c:v>
                </c:pt>
                <c:pt idx="19">
                  <c:v>107.18910543912583</c:v>
                </c:pt>
                <c:pt idx="20">
                  <c:v>107.18910543912583</c:v>
                </c:pt>
                <c:pt idx="21">
                  <c:v>107.18910543912583</c:v>
                </c:pt>
                <c:pt idx="22">
                  <c:v>108.66101280273995</c:v>
                </c:pt>
                <c:pt idx="23">
                  <c:v>109.25629943733182</c:v>
                </c:pt>
                <c:pt idx="24">
                  <c:v>109.42428443284678</c:v>
                </c:pt>
                <c:pt idx="25">
                  <c:v>109.4234689717035</c:v>
                </c:pt>
                <c:pt idx="26">
                  <c:v>108.66835195302944</c:v>
                </c:pt>
                <c:pt idx="27">
                  <c:v>108.66835195302944</c:v>
                </c:pt>
                <c:pt idx="28">
                  <c:v>108.66835195302944</c:v>
                </c:pt>
                <c:pt idx="29">
                  <c:v>108.97007257604174</c:v>
                </c:pt>
                <c:pt idx="30">
                  <c:v>109.86300252792955</c:v>
                </c:pt>
                <c:pt idx="31">
                  <c:v>109.73986789529479</c:v>
                </c:pt>
                <c:pt idx="32">
                  <c:v>109.44222457799886</c:v>
                </c:pt>
                <c:pt idx="33">
                  <c:v>108.4473619832015</c:v>
                </c:pt>
                <c:pt idx="34">
                  <c:v>108.4473619832015</c:v>
                </c:pt>
                <c:pt idx="35">
                  <c:v>108.4473619832015</c:v>
                </c:pt>
                <c:pt idx="36">
                  <c:v>106.87189105439126</c:v>
                </c:pt>
                <c:pt idx="37">
                  <c:v>107.33344206148578</c:v>
                </c:pt>
                <c:pt idx="38">
                  <c:v>107.24944956372831</c:v>
                </c:pt>
                <c:pt idx="39">
                  <c:v>107.88469379434072</c:v>
                </c:pt>
                <c:pt idx="40">
                  <c:v>107.27309793688332</c:v>
                </c:pt>
                <c:pt idx="41">
                  <c:v>107.27309793688332</c:v>
                </c:pt>
                <c:pt idx="42">
                  <c:v>107.27309793688332</c:v>
                </c:pt>
                <c:pt idx="43">
                  <c:v>109.11767104297481</c:v>
                </c:pt>
                <c:pt idx="44">
                  <c:v>109.89888281823372</c:v>
                </c:pt>
                <c:pt idx="45">
                  <c:v>109.82875315991191</c:v>
                </c:pt>
                <c:pt idx="46">
                  <c:v>110.253608415559</c:v>
                </c:pt>
                <c:pt idx="47">
                  <c:v>110.0342493680176</c:v>
                </c:pt>
                <c:pt idx="48">
                  <c:v>110.0342493680176</c:v>
                </c:pt>
                <c:pt idx="49">
                  <c:v>110.0342493680176</c:v>
                </c:pt>
                <c:pt idx="50">
                  <c:v>110.75430155753079</c:v>
                </c:pt>
                <c:pt idx="51">
                  <c:v>111.45478267960532</c:v>
                </c:pt>
                <c:pt idx="52">
                  <c:v>111.45315175731876</c:v>
                </c:pt>
                <c:pt idx="53">
                  <c:v>111.36508195384491</c:v>
                </c:pt>
                <c:pt idx="54">
                  <c:v>111.83560303351545</c:v>
                </c:pt>
                <c:pt idx="55">
                  <c:v>111.83560303351545</c:v>
                </c:pt>
                <c:pt idx="56">
                  <c:v>111.83560303351545</c:v>
                </c:pt>
                <c:pt idx="57">
                  <c:v>112.21316154285248</c:v>
                </c:pt>
                <c:pt idx="58">
                  <c:v>112.35749816521243</c:v>
                </c:pt>
                <c:pt idx="59">
                  <c:v>112.90793443692408</c:v>
                </c:pt>
                <c:pt idx="60">
                  <c:v>112.69346815624237</c:v>
                </c:pt>
                <c:pt idx="61">
                  <c:v>113.1020141890239</c:v>
                </c:pt>
                <c:pt idx="62">
                  <c:v>113.1020141890239</c:v>
                </c:pt>
                <c:pt idx="63">
                  <c:v>113.1020141890239</c:v>
                </c:pt>
                <c:pt idx="64">
                  <c:v>114.33254505422816</c:v>
                </c:pt>
                <c:pt idx="65">
                  <c:v>115.42526298621871</c:v>
                </c:pt>
                <c:pt idx="66">
                  <c:v>116.71858435945528</c:v>
                </c:pt>
                <c:pt idx="67">
                  <c:v>117.88632471662726</c:v>
                </c:pt>
                <c:pt idx="68">
                  <c:v>118.8746636222784</c:v>
                </c:pt>
                <c:pt idx="69">
                  <c:v>118.8746636222784</c:v>
                </c:pt>
                <c:pt idx="70">
                  <c:v>118.8746636222784</c:v>
                </c:pt>
                <c:pt idx="71">
                  <c:v>119.90703742966649</c:v>
                </c:pt>
                <c:pt idx="72">
                  <c:v>119.11033189268532</c:v>
                </c:pt>
                <c:pt idx="73">
                  <c:v>120.31884530702112</c:v>
                </c:pt>
                <c:pt idx="74">
                  <c:v>121.50452580934518</c:v>
                </c:pt>
                <c:pt idx="75">
                  <c:v>122.09736606050723</c:v>
                </c:pt>
                <c:pt idx="76">
                  <c:v>122.09736606050723</c:v>
                </c:pt>
                <c:pt idx="77">
                  <c:v>122.09736606050723</c:v>
                </c:pt>
                <c:pt idx="78">
                  <c:v>121.10005708228002</c:v>
                </c:pt>
                <c:pt idx="79">
                  <c:v>123.09712142216425</c:v>
                </c:pt>
                <c:pt idx="80">
                  <c:v>123.32300415885183</c:v>
                </c:pt>
                <c:pt idx="81">
                  <c:v>124.03327081464568</c:v>
                </c:pt>
                <c:pt idx="82">
                  <c:v>124.85770203049826</c:v>
                </c:pt>
                <c:pt idx="83">
                  <c:v>124.85770203049826</c:v>
                </c:pt>
                <c:pt idx="84">
                  <c:v>124.85770203049826</c:v>
                </c:pt>
                <c:pt idx="85">
                  <c:v>127.00154937617224</c:v>
                </c:pt>
                <c:pt idx="86">
                  <c:v>121.78178259805921</c:v>
                </c:pt>
                <c:pt idx="87">
                  <c:v>122.94136834379843</c:v>
                </c:pt>
                <c:pt idx="88">
                  <c:v>122.52466769958413</c:v>
                </c:pt>
                <c:pt idx="89">
                  <c:v>121.92856560384899</c:v>
                </c:pt>
                <c:pt idx="90">
                  <c:v>121.92856560384899</c:v>
                </c:pt>
                <c:pt idx="91">
                  <c:v>121.92856560384899</c:v>
                </c:pt>
                <c:pt idx="92">
                  <c:v>124.61795645437496</c:v>
                </c:pt>
                <c:pt idx="93">
                  <c:v>126.16407078202725</c:v>
                </c:pt>
                <c:pt idx="94">
                  <c:v>128.32993557856969</c:v>
                </c:pt>
                <c:pt idx="95">
                  <c:v>128.99045910462365</c:v>
                </c:pt>
                <c:pt idx="96">
                  <c:v>129.24651390361251</c:v>
                </c:pt>
                <c:pt idx="97">
                  <c:v>129.24651390361251</c:v>
                </c:pt>
                <c:pt idx="98">
                  <c:v>129.24651390361251</c:v>
                </c:pt>
                <c:pt idx="99">
                  <c:v>130.21772812525484</c:v>
                </c:pt>
                <c:pt idx="100">
                  <c:v>131.14409198401697</c:v>
                </c:pt>
                <c:pt idx="101">
                  <c:v>131.41971785044441</c:v>
                </c:pt>
                <c:pt idx="102">
                  <c:v>133.79189431623584</c:v>
                </c:pt>
                <c:pt idx="103">
                  <c:v>132.92016635407325</c:v>
                </c:pt>
                <c:pt idx="104">
                  <c:v>132.92016635407325</c:v>
                </c:pt>
                <c:pt idx="105">
                  <c:v>132.92016635407325</c:v>
                </c:pt>
                <c:pt idx="106">
                  <c:v>133.43961510234038</c:v>
                </c:pt>
                <c:pt idx="107">
                  <c:v>134.89358232080241</c:v>
                </c:pt>
                <c:pt idx="108">
                  <c:v>135.72209084237136</c:v>
                </c:pt>
                <c:pt idx="109">
                  <c:v>137.64984098507708</c:v>
                </c:pt>
                <c:pt idx="110">
                  <c:v>134.18168474272201</c:v>
                </c:pt>
                <c:pt idx="111">
                  <c:v>134.18168474272201</c:v>
                </c:pt>
                <c:pt idx="112">
                  <c:v>134.18168474272201</c:v>
                </c:pt>
                <c:pt idx="113">
                  <c:v>131.61787490826063</c:v>
                </c:pt>
                <c:pt idx="114">
                  <c:v>135.9887466362228</c:v>
                </c:pt>
                <c:pt idx="115">
                  <c:v>136.4087091250102</c:v>
                </c:pt>
                <c:pt idx="116">
                  <c:v>137.06760172877762</c:v>
                </c:pt>
                <c:pt idx="117">
                  <c:v>137.17768898311996</c:v>
                </c:pt>
                <c:pt idx="118">
                  <c:v>137.17768898311996</c:v>
                </c:pt>
                <c:pt idx="119">
                  <c:v>137.17768898311996</c:v>
                </c:pt>
                <c:pt idx="120">
                  <c:v>137.17768898311996</c:v>
                </c:pt>
                <c:pt idx="121">
                  <c:v>137.17768898311996</c:v>
                </c:pt>
                <c:pt idx="122">
                  <c:v>137.10348201908181</c:v>
                </c:pt>
                <c:pt idx="123">
                  <c:v>138.32585827285331</c:v>
                </c:pt>
                <c:pt idx="124">
                  <c:v>135.93492620076654</c:v>
                </c:pt>
                <c:pt idx="125">
                  <c:v>135.93492620076654</c:v>
                </c:pt>
                <c:pt idx="126">
                  <c:v>135.93492620076654</c:v>
                </c:pt>
                <c:pt idx="127">
                  <c:v>132.47410910870096</c:v>
                </c:pt>
                <c:pt idx="128">
                  <c:v>133.51708391095164</c:v>
                </c:pt>
                <c:pt idx="129">
                  <c:v>134.00146783005792</c:v>
                </c:pt>
                <c:pt idx="130">
                  <c:v>135.18307102666557</c:v>
                </c:pt>
                <c:pt idx="131">
                  <c:v>135.95857457392157</c:v>
                </c:pt>
                <c:pt idx="132">
                  <c:v>135.95857457392157</c:v>
                </c:pt>
                <c:pt idx="133">
                  <c:v>135.95857457392157</c:v>
                </c:pt>
                <c:pt idx="134">
                  <c:v>137.39704803066135</c:v>
                </c:pt>
                <c:pt idx="135">
                  <c:v>137.07086357335075</c:v>
                </c:pt>
                <c:pt idx="136">
                  <c:v>136.26111065807714</c:v>
                </c:pt>
                <c:pt idx="137">
                  <c:v>135.78895865612003</c:v>
                </c:pt>
                <c:pt idx="138">
                  <c:v>135.25401614613065</c:v>
                </c:pt>
                <c:pt idx="139">
                  <c:v>135.25401614613065</c:v>
                </c:pt>
                <c:pt idx="140">
                  <c:v>135.25401614613065</c:v>
                </c:pt>
                <c:pt idx="141">
                  <c:v>133.28304656283129</c:v>
                </c:pt>
                <c:pt idx="142">
                  <c:v>133.34909891543668</c:v>
                </c:pt>
                <c:pt idx="143">
                  <c:v>135.15942265351057</c:v>
                </c:pt>
                <c:pt idx="144">
                  <c:v>135.86316562015818</c:v>
                </c:pt>
                <c:pt idx="145">
                  <c:v>135.42363206393216</c:v>
                </c:pt>
                <c:pt idx="146">
                  <c:v>135.42363206393216</c:v>
                </c:pt>
                <c:pt idx="147">
                  <c:v>135.42363206393216</c:v>
                </c:pt>
                <c:pt idx="148">
                  <c:v>135.894968604746</c:v>
                </c:pt>
                <c:pt idx="149">
                  <c:v>135.50517817825983</c:v>
                </c:pt>
                <c:pt idx="150">
                  <c:v>135.77835766125744</c:v>
                </c:pt>
                <c:pt idx="151">
                  <c:v>134.77207861045423</c:v>
                </c:pt>
                <c:pt idx="152">
                  <c:v>134.21022588273667</c:v>
                </c:pt>
                <c:pt idx="153">
                  <c:v>134.21022588273667</c:v>
                </c:pt>
                <c:pt idx="154">
                  <c:v>134.21022588273667</c:v>
                </c:pt>
                <c:pt idx="155">
                  <c:v>138.26143684253447</c:v>
                </c:pt>
                <c:pt idx="156">
                  <c:v>137.42966647639241</c:v>
                </c:pt>
                <c:pt idx="157">
                  <c:v>138.45143928891787</c:v>
                </c:pt>
                <c:pt idx="158">
                  <c:v>139.97145885998532</c:v>
                </c:pt>
                <c:pt idx="159">
                  <c:v>142.50591209328874</c:v>
                </c:pt>
                <c:pt idx="160">
                  <c:v>142.50591209328874</c:v>
                </c:pt>
                <c:pt idx="161">
                  <c:v>142.50591209328874</c:v>
                </c:pt>
                <c:pt idx="162">
                  <c:v>143.9386773220256</c:v>
                </c:pt>
                <c:pt idx="163">
                  <c:v>143.60760009785534</c:v>
                </c:pt>
                <c:pt idx="164">
                  <c:v>143.35399168229634</c:v>
                </c:pt>
                <c:pt idx="165">
                  <c:v>144.07975209981245</c:v>
                </c:pt>
                <c:pt idx="166">
                  <c:v>141.17181766288837</c:v>
                </c:pt>
                <c:pt idx="167">
                  <c:v>141.17181766288837</c:v>
                </c:pt>
                <c:pt idx="168">
                  <c:v>141.17181766288837</c:v>
                </c:pt>
                <c:pt idx="169">
                  <c:v>133.44450786920004</c:v>
                </c:pt>
                <c:pt idx="170">
                  <c:v>135.64625295604665</c:v>
                </c:pt>
                <c:pt idx="171">
                  <c:v>136.87515289896436</c:v>
                </c:pt>
                <c:pt idx="172">
                  <c:v>137.57318763760907</c:v>
                </c:pt>
                <c:pt idx="173">
                  <c:v>137.25678871401777</c:v>
                </c:pt>
                <c:pt idx="174">
                  <c:v>137.25678871401777</c:v>
                </c:pt>
                <c:pt idx="175">
                  <c:v>137.25678871401777</c:v>
                </c:pt>
                <c:pt idx="176">
                  <c:v>134.75821577101851</c:v>
                </c:pt>
                <c:pt idx="177">
                  <c:v>137.03824512761969</c:v>
                </c:pt>
                <c:pt idx="178">
                  <c:v>137.47288591698606</c:v>
                </c:pt>
                <c:pt idx="179">
                  <c:v>136.14694609801842</c:v>
                </c:pt>
                <c:pt idx="180">
                  <c:v>133.70708635733507</c:v>
                </c:pt>
                <c:pt idx="181">
                  <c:v>133.70708635733507</c:v>
                </c:pt>
                <c:pt idx="182">
                  <c:v>133.70708635733507</c:v>
                </c:pt>
                <c:pt idx="183">
                  <c:v>131.86006686781374</c:v>
                </c:pt>
                <c:pt idx="184">
                  <c:v>134.71254994699504</c:v>
                </c:pt>
                <c:pt idx="185">
                  <c:v>134.9498491396885</c:v>
                </c:pt>
                <c:pt idx="186">
                  <c:v>133.95090923917476</c:v>
                </c:pt>
                <c:pt idx="187">
                  <c:v>130.40039142134876</c:v>
                </c:pt>
                <c:pt idx="188">
                  <c:v>130.40039142134876</c:v>
                </c:pt>
                <c:pt idx="189">
                  <c:v>130.40039142134876</c:v>
                </c:pt>
                <c:pt idx="190">
                  <c:v>128.88689553942754</c:v>
                </c:pt>
                <c:pt idx="191">
                  <c:v>129.95270325368995</c:v>
                </c:pt>
                <c:pt idx="192">
                  <c:v>133.07184212672266</c:v>
                </c:pt>
                <c:pt idx="193">
                  <c:v>133.03759275870505</c:v>
                </c:pt>
                <c:pt idx="194">
                  <c:v>133.36540813830223</c:v>
                </c:pt>
                <c:pt idx="195">
                  <c:v>133.36540813830223</c:v>
                </c:pt>
                <c:pt idx="196">
                  <c:v>133.36540813830223</c:v>
                </c:pt>
                <c:pt idx="197">
                  <c:v>134.9115224659545</c:v>
                </c:pt>
                <c:pt idx="198">
                  <c:v>135.36002609475659</c:v>
                </c:pt>
                <c:pt idx="199">
                  <c:v>134.46954252629862</c:v>
                </c:pt>
                <c:pt idx="200">
                  <c:v>135.03954986544892</c:v>
                </c:pt>
                <c:pt idx="201">
                  <c:v>134.95311098426163</c:v>
                </c:pt>
                <c:pt idx="202">
                  <c:v>134.95311098426163</c:v>
                </c:pt>
                <c:pt idx="203">
                  <c:v>134.95311098426163</c:v>
                </c:pt>
                <c:pt idx="204">
                  <c:v>136.01728777623748</c:v>
                </c:pt>
                <c:pt idx="205">
                  <c:v>135.39590638506073</c:v>
                </c:pt>
                <c:pt idx="206">
                  <c:v>137.0268286716138</c:v>
                </c:pt>
                <c:pt idx="207">
                  <c:v>137.3497512843513</c:v>
                </c:pt>
                <c:pt idx="208">
                  <c:v>137.89366386691674</c:v>
                </c:pt>
                <c:pt idx="209">
                  <c:v>137.89366386691674</c:v>
                </c:pt>
                <c:pt idx="210">
                  <c:v>137.89366386691674</c:v>
                </c:pt>
                <c:pt idx="211">
                  <c:v>138.76457636793609</c:v>
                </c:pt>
                <c:pt idx="212">
                  <c:v>140.01957106743862</c:v>
                </c:pt>
                <c:pt idx="213">
                  <c:v>141.2191144091984</c:v>
                </c:pt>
                <c:pt idx="214">
                  <c:v>141.66517165457066</c:v>
                </c:pt>
                <c:pt idx="215">
                  <c:v>141.99787980102747</c:v>
                </c:pt>
                <c:pt idx="216">
                  <c:v>141.99787980102747</c:v>
                </c:pt>
                <c:pt idx="217">
                  <c:v>141.99787980102747</c:v>
                </c:pt>
                <c:pt idx="218">
                  <c:v>143.01068254097692</c:v>
                </c:pt>
                <c:pt idx="219">
                  <c:v>142.47492456984426</c:v>
                </c:pt>
                <c:pt idx="220">
                  <c:v>140.17613960694771</c:v>
                </c:pt>
                <c:pt idx="221">
                  <c:v>138.53869363124849</c:v>
                </c:pt>
                <c:pt idx="222">
                  <c:v>134.29748022506729</c:v>
                </c:pt>
                <c:pt idx="223">
                  <c:v>134.29748022506729</c:v>
                </c:pt>
                <c:pt idx="224">
                  <c:v>134.29748022506729</c:v>
                </c:pt>
                <c:pt idx="225">
                  <c:v>134.22571964445896</c:v>
                </c:pt>
                <c:pt idx="226">
                  <c:v>136.93060425670717</c:v>
                </c:pt>
                <c:pt idx="227">
                  <c:v>136.48046970561853</c:v>
                </c:pt>
                <c:pt idx="228">
                  <c:v>136.75120280518632</c:v>
                </c:pt>
                <c:pt idx="229">
                  <c:v>138.97985810976107</c:v>
                </c:pt>
                <c:pt idx="230">
                  <c:v>138.97985810976107</c:v>
                </c:pt>
                <c:pt idx="231">
                  <c:v>138.97985810976107</c:v>
                </c:pt>
                <c:pt idx="232">
                  <c:v>142.789692571149</c:v>
                </c:pt>
                <c:pt idx="233">
                  <c:v>144.51194650574902</c:v>
                </c:pt>
                <c:pt idx="234">
                  <c:v>145.38204354562504</c:v>
                </c:pt>
                <c:pt idx="235">
                  <c:v>142.12264535594878</c:v>
                </c:pt>
                <c:pt idx="236">
                  <c:v>141.05846856397292</c:v>
                </c:pt>
                <c:pt idx="237">
                  <c:v>141.05846856397292</c:v>
                </c:pt>
                <c:pt idx="238">
                  <c:v>141.05846856397292</c:v>
                </c:pt>
                <c:pt idx="239">
                  <c:v>143.10038326673734</c:v>
                </c:pt>
                <c:pt idx="240">
                  <c:v>144.08382940552883</c:v>
                </c:pt>
                <c:pt idx="241">
                  <c:v>145.51822555655224</c:v>
                </c:pt>
                <c:pt idx="242">
                  <c:v>145.51822555655224</c:v>
                </c:pt>
                <c:pt idx="243">
                  <c:v>145.51822555655224</c:v>
                </c:pt>
                <c:pt idx="244">
                  <c:v>145.51822555655224</c:v>
                </c:pt>
                <c:pt idx="245">
                  <c:v>145.51822555655224</c:v>
                </c:pt>
                <c:pt idx="246">
                  <c:v>145.83707086357336</c:v>
                </c:pt>
                <c:pt idx="247">
                  <c:v>148.10976106988502</c:v>
                </c:pt>
                <c:pt idx="248">
                  <c:v>151.80461551007093</c:v>
                </c:pt>
                <c:pt idx="249">
                  <c:v>151.31370790181847</c:v>
                </c:pt>
                <c:pt idx="250">
                  <c:v>152.31998695262172</c:v>
                </c:pt>
                <c:pt idx="251">
                  <c:v>152.31998695262172</c:v>
                </c:pt>
                <c:pt idx="252">
                  <c:v>152.31998695262172</c:v>
                </c:pt>
                <c:pt idx="253">
                  <c:v>153.08896681073148</c:v>
                </c:pt>
                <c:pt idx="254">
                  <c:v>155.17654733751937</c:v>
                </c:pt>
                <c:pt idx="255">
                  <c:v>154.48422082687762</c:v>
                </c:pt>
                <c:pt idx="256">
                  <c:v>152.06719399820599</c:v>
                </c:pt>
                <c:pt idx="257">
                  <c:v>153.23574981652126</c:v>
                </c:pt>
                <c:pt idx="258">
                  <c:v>153.23574981652126</c:v>
                </c:pt>
                <c:pt idx="259">
                  <c:v>153.23574981652126</c:v>
                </c:pt>
                <c:pt idx="260">
                  <c:v>154.65954497268206</c:v>
                </c:pt>
                <c:pt idx="261">
                  <c:v>154.43040039142136</c:v>
                </c:pt>
                <c:pt idx="262">
                  <c:v>153.75030579792875</c:v>
                </c:pt>
                <c:pt idx="263">
                  <c:v>153.52931582810078</c:v>
                </c:pt>
                <c:pt idx="264">
                  <c:v>152.55565522302862</c:v>
                </c:pt>
                <c:pt idx="265">
                  <c:v>152.55565522302862</c:v>
                </c:pt>
                <c:pt idx="266">
                  <c:v>152.55565522302862</c:v>
                </c:pt>
                <c:pt idx="267">
                  <c:v>150.34820190817908</c:v>
                </c:pt>
                <c:pt idx="268">
                  <c:v>149.27016227676754</c:v>
                </c:pt>
                <c:pt idx="269">
                  <c:v>147.02030498246759</c:v>
                </c:pt>
                <c:pt idx="270">
                  <c:v>148.00456658240236</c:v>
                </c:pt>
                <c:pt idx="271">
                  <c:v>149.15110494984913</c:v>
                </c:pt>
                <c:pt idx="272">
                  <c:v>149.15110494984913</c:v>
                </c:pt>
                <c:pt idx="273">
                  <c:v>149.15110494984913</c:v>
                </c:pt>
                <c:pt idx="274">
                  <c:v>147.31305553290386</c:v>
                </c:pt>
                <c:pt idx="275">
                  <c:v>147.87572372176467</c:v>
                </c:pt>
                <c:pt idx="276">
                  <c:v>146.08415558998615</c:v>
                </c:pt>
                <c:pt idx="277">
                  <c:v>145.36084155589987</c:v>
                </c:pt>
                <c:pt idx="278">
                  <c:v>143.15338824105032</c:v>
                </c:pt>
                <c:pt idx="279">
                  <c:v>143.15338824105032</c:v>
                </c:pt>
                <c:pt idx="280">
                  <c:v>143.15338824105032</c:v>
                </c:pt>
                <c:pt idx="281">
                  <c:v>143.09875234445079</c:v>
                </c:pt>
                <c:pt idx="282">
                  <c:v>143.03433091413194</c:v>
                </c:pt>
                <c:pt idx="283">
                  <c:v>146.52613552964203</c:v>
                </c:pt>
                <c:pt idx="284">
                  <c:v>147.93199054065073</c:v>
                </c:pt>
                <c:pt idx="285">
                  <c:v>148.74745168392727</c:v>
                </c:pt>
                <c:pt idx="286">
                  <c:v>148.74745168392727</c:v>
                </c:pt>
                <c:pt idx="287">
                  <c:v>148.74745168392727</c:v>
                </c:pt>
                <c:pt idx="288">
                  <c:v>148.74745168392727</c:v>
                </c:pt>
                <c:pt idx="289">
                  <c:v>148.74745168392727</c:v>
                </c:pt>
                <c:pt idx="290">
                  <c:v>148.74745168392727</c:v>
                </c:pt>
                <c:pt idx="291">
                  <c:v>148.74745168392727</c:v>
                </c:pt>
                <c:pt idx="292">
                  <c:v>148.74745168392727</c:v>
                </c:pt>
                <c:pt idx="293">
                  <c:v>148.74745168392727</c:v>
                </c:pt>
                <c:pt idx="294">
                  <c:v>148.74745168392727</c:v>
                </c:pt>
                <c:pt idx="295">
                  <c:v>151.68718910543916</c:v>
                </c:pt>
                <c:pt idx="296">
                  <c:v>152.29715404060997</c:v>
                </c:pt>
                <c:pt idx="297">
                  <c:v>151.74997961347142</c:v>
                </c:pt>
                <c:pt idx="298">
                  <c:v>153.27733833482836</c:v>
                </c:pt>
                <c:pt idx="299">
                  <c:v>153.33360515371444</c:v>
                </c:pt>
                <c:pt idx="300">
                  <c:v>153.33360515371444</c:v>
                </c:pt>
                <c:pt idx="301">
                  <c:v>153.33360515371444</c:v>
                </c:pt>
                <c:pt idx="302">
                  <c:v>150.54228166027889</c:v>
                </c:pt>
                <c:pt idx="303">
                  <c:v>147.85452173203947</c:v>
                </c:pt>
                <c:pt idx="304">
                  <c:v>148.27285329854033</c:v>
                </c:pt>
                <c:pt idx="305">
                  <c:v>147.47696322270244</c:v>
                </c:pt>
                <c:pt idx="306">
                  <c:v>144.16048275299681</c:v>
                </c:pt>
                <c:pt idx="307">
                  <c:v>144.16048275299681</c:v>
                </c:pt>
                <c:pt idx="308">
                  <c:v>144.16048275299681</c:v>
                </c:pt>
                <c:pt idx="309">
                  <c:v>134.77860229960044</c:v>
                </c:pt>
                <c:pt idx="310">
                  <c:v>136.73081627660443</c:v>
                </c:pt>
                <c:pt idx="311">
                  <c:v>140.93941123705457</c:v>
                </c:pt>
                <c:pt idx="312">
                  <c:v>139.41205251569761</c:v>
                </c:pt>
                <c:pt idx="313">
                  <c:v>138.32178096713693</c:v>
                </c:pt>
                <c:pt idx="314">
                  <c:v>138.32178096713693</c:v>
                </c:pt>
                <c:pt idx="315">
                  <c:v>138.32178096713693</c:v>
                </c:pt>
                <c:pt idx="316">
                  <c:v>138.07469624072414</c:v>
                </c:pt>
                <c:pt idx="317">
                  <c:v>139.46750387344042</c:v>
                </c:pt>
                <c:pt idx="318">
                  <c:v>139.75617711816034</c:v>
                </c:pt>
                <c:pt idx="319">
                  <c:v>138.55744923754386</c:v>
                </c:pt>
                <c:pt idx="320">
                  <c:v>134.37250265024872</c:v>
                </c:pt>
                <c:pt idx="321">
                  <c:v>134.37250265024872</c:v>
                </c:pt>
                <c:pt idx="322">
                  <c:v>134.37250265024872</c:v>
                </c:pt>
                <c:pt idx="323">
                  <c:v>129.75373073473051</c:v>
                </c:pt>
                <c:pt idx="324">
                  <c:v>131.6782190328631</c:v>
                </c:pt>
                <c:pt idx="325">
                  <c:v>135.21895131696974</c:v>
                </c:pt>
                <c:pt idx="326">
                  <c:v>134.11318600668679</c:v>
                </c:pt>
                <c:pt idx="327">
                  <c:v>136.41034004729676</c:v>
                </c:pt>
                <c:pt idx="328">
                  <c:v>136.41034004729676</c:v>
                </c:pt>
                <c:pt idx="329">
                  <c:v>136.41034004729676</c:v>
                </c:pt>
                <c:pt idx="330">
                  <c:v>135.57367691429502</c:v>
                </c:pt>
                <c:pt idx="331">
                  <c:v>136.54815298051048</c:v>
                </c:pt>
                <c:pt idx="332">
                  <c:v>138.86732447198892</c:v>
                </c:pt>
                <c:pt idx="333">
                  <c:v>138.20598548479165</c:v>
                </c:pt>
                <c:pt idx="334">
                  <c:v>137.32691837233958</c:v>
                </c:pt>
                <c:pt idx="335">
                  <c:v>137.32691837233958</c:v>
                </c:pt>
                <c:pt idx="336">
                  <c:v>137.32691837233958</c:v>
                </c:pt>
                <c:pt idx="337">
                  <c:v>136.58892603767433</c:v>
                </c:pt>
                <c:pt idx="338">
                  <c:v>136.79686862920983</c:v>
                </c:pt>
                <c:pt idx="339">
                  <c:v>143.23982712223761</c:v>
                </c:pt>
                <c:pt idx="340">
                  <c:v>141.61950583054718</c:v>
                </c:pt>
                <c:pt idx="341">
                  <c:v>142.70570007339151</c:v>
                </c:pt>
                <c:pt idx="342">
                  <c:v>142.70570007339151</c:v>
                </c:pt>
                <c:pt idx="343">
                  <c:v>142.70570007339151</c:v>
                </c:pt>
                <c:pt idx="344">
                  <c:v>143.43635325776728</c:v>
                </c:pt>
                <c:pt idx="345">
                  <c:v>144.79735790589581</c:v>
                </c:pt>
                <c:pt idx="346">
                  <c:v>146.83601076408709</c:v>
                </c:pt>
                <c:pt idx="347">
                  <c:v>148.40006523689146</c:v>
                </c:pt>
                <c:pt idx="348">
                  <c:v>148.18315257277993</c:v>
                </c:pt>
                <c:pt idx="349">
                  <c:v>148.18315257277993</c:v>
                </c:pt>
                <c:pt idx="350">
                  <c:v>148.18315257277993</c:v>
                </c:pt>
                <c:pt idx="351">
                  <c:v>149.80918209247329</c:v>
                </c:pt>
                <c:pt idx="352">
                  <c:v>149.51316969746392</c:v>
                </c:pt>
                <c:pt idx="353">
                  <c:v>151.45559814074861</c:v>
                </c:pt>
                <c:pt idx="354">
                  <c:v>152.52059039386774</c:v>
                </c:pt>
                <c:pt idx="355">
                  <c:v>151.12859822229473</c:v>
                </c:pt>
                <c:pt idx="356">
                  <c:v>151.12859822229473</c:v>
                </c:pt>
                <c:pt idx="357">
                  <c:v>151.12859822229473</c:v>
                </c:pt>
                <c:pt idx="358">
                  <c:v>151.12859822229473</c:v>
                </c:pt>
                <c:pt idx="359">
                  <c:v>152.96746310038327</c:v>
                </c:pt>
                <c:pt idx="360">
                  <c:v>151.19465057490012</c:v>
                </c:pt>
                <c:pt idx="361">
                  <c:v>151.19465057490012</c:v>
                </c:pt>
                <c:pt idx="362">
                  <c:v>151.19465057490012</c:v>
                </c:pt>
                <c:pt idx="363">
                  <c:v>151.19465057490012</c:v>
                </c:pt>
                <c:pt idx="364">
                  <c:v>151.19465057490012</c:v>
                </c:pt>
                <c:pt idx="365">
                  <c:v>151.19138873032699</c:v>
                </c:pt>
                <c:pt idx="366">
                  <c:v>152.88673244719888</c:v>
                </c:pt>
              </c:numCache>
            </c:numRef>
          </c:val>
          <c:smooth val="1"/>
          <c:extLst>
            <c:ext xmlns:c16="http://schemas.microsoft.com/office/drawing/2014/chart" uri="{C3380CC4-5D6E-409C-BE32-E72D297353CC}">
              <c16:uniqueId val="{00000000-5D0B-404D-8B9D-9E14986AA7A2}"/>
            </c:ext>
          </c:extLst>
        </c:ser>
        <c:ser>
          <c:idx val="1"/>
          <c:order val="1"/>
          <c:tx>
            <c:strRef>
              <c:f>Frontpage!$R$3</c:f>
              <c:strCache>
                <c:ptCount val="1"/>
                <c:pt idx="0">
                  <c:v>EIB VN</c:v>
                </c:pt>
              </c:strCache>
            </c:strRef>
          </c:tx>
          <c:spPr>
            <a:ln w="12700" cap="rnd">
              <a:solidFill>
                <a:srgbClr val="EF7011"/>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Frontpage!$R$4:$R$370</c:f>
              <c:numCache>
                <c:formatCode>_(* #,##0_);_(* \(#,##0\);_(* "-"??_);_(@_)</c:formatCode>
                <c:ptCount val="367"/>
                <c:pt idx="0">
                  <c:v>100</c:v>
                </c:pt>
                <c:pt idx="1">
                  <c:v>101.58311345646437</c:v>
                </c:pt>
                <c:pt idx="2">
                  <c:v>100.26385224274405</c:v>
                </c:pt>
                <c:pt idx="3">
                  <c:v>100.26385224274405</c:v>
                </c:pt>
                <c:pt idx="4">
                  <c:v>101.58311345646437</c:v>
                </c:pt>
                <c:pt idx="5">
                  <c:v>100.79155672823219</c:v>
                </c:pt>
                <c:pt idx="6">
                  <c:v>100.79155672823219</c:v>
                </c:pt>
                <c:pt idx="7">
                  <c:v>100.79155672823219</c:v>
                </c:pt>
                <c:pt idx="8">
                  <c:v>101.58311345646437</c:v>
                </c:pt>
                <c:pt idx="9">
                  <c:v>103.95778364116094</c:v>
                </c:pt>
                <c:pt idx="10">
                  <c:v>105.0131926121372</c:v>
                </c:pt>
                <c:pt idx="11">
                  <c:v>104.74934036939314</c:v>
                </c:pt>
                <c:pt idx="12">
                  <c:v>102.63852242744062</c:v>
                </c:pt>
                <c:pt idx="13">
                  <c:v>102.63852242744062</c:v>
                </c:pt>
                <c:pt idx="14">
                  <c:v>102.63852242744062</c:v>
                </c:pt>
                <c:pt idx="15">
                  <c:v>102.11081794195252</c:v>
                </c:pt>
                <c:pt idx="16">
                  <c:v>105.0131926121372</c:v>
                </c:pt>
                <c:pt idx="17">
                  <c:v>106.86015831134566</c:v>
                </c:pt>
                <c:pt idx="18">
                  <c:v>111.34564643799472</c:v>
                </c:pt>
                <c:pt idx="19">
                  <c:v>112.92875989445909</c:v>
                </c:pt>
                <c:pt idx="20">
                  <c:v>112.92875989445909</c:v>
                </c:pt>
                <c:pt idx="21">
                  <c:v>112.92875989445909</c:v>
                </c:pt>
                <c:pt idx="22">
                  <c:v>115.56728232189974</c:v>
                </c:pt>
                <c:pt idx="23">
                  <c:v>116.35883905013193</c:v>
                </c:pt>
                <c:pt idx="24">
                  <c:v>114.77572559366756</c:v>
                </c:pt>
                <c:pt idx="25">
                  <c:v>120.84432717678099</c:v>
                </c:pt>
                <c:pt idx="26">
                  <c:v>119.78891820580475</c:v>
                </c:pt>
                <c:pt idx="27">
                  <c:v>119.78891820580475</c:v>
                </c:pt>
                <c:pt idx="28">
                  <c:v>119.78891820580475</c:v>
                </c:pt>
                <c:pt idx="29">
                  <c:v>122.95514511873351</c:v>
                </c:pt>
                <c:pt idx="30">
                  <c:v>122.16358839050132</c:v>
                </c:pt>
                <c:pt idx="31">
                  <c:v>130.07915567282322</c:v>
                </c:pt>
                <c:pt idx="32">
                  <c:v>128.23218997361479</c:v>
                </c:pt>
                <c:pt idx="33">
                  <c:v>127.17678100263852</c:v>
                </c:pt>
                <c:pt idx="34">
                  <c:v>127.17678100263852</c:v>
                </c:pt>
                <c:pt idx="35">
                  <c:v>127.17678100263852</c:v>
                </c:pt>
                <c:pt idx="36">
                  <c:v>121.89973614775727</c:v>
                </c:pt>
                <c:pt idx="37">
                  <c:v>120.84432717678099</c:v>
                </c:pt>
                <c:pt idx="38">
                  <c:v>119.78891820580475</c:v>
                </c:pt>
                <c:pt idx="39">
                  <c:v>121.89973614775727</c:v>
                </c:pt>
                <c:pt idx="40">
                  <c:v>119.5250659630607</c:v>
                </c:pt>
                <c:pt idx="41">
                  <c:v>119.5250659630607</c:v>
                </c:pt>
                <c:pt idx="42">
                  <c:v>119.5250659630607</c:v>
                </c:pt>
                <c:pt idx="43">
                  <c:v>122.95514511873351</c:v>
                </c:pt>
                <c:pt idx="44">
                  <c:v>123.74670184696571</c:v>
                </c:pt>
                <c:pt idx="45">
                  <c:v>121.63588390501319</c:v>
                </c:pt>
                <c:pt idx="46">
                  <c:v>122.16358839050132</c:v>
                </c:pt>
                <c:pt idx="47">
                  <c:v>124.01055408970976</c:v>
                </c:pt>
                <c:pt idx="48">
                  <c:v>124.01055408970976</c:v>
                </c:pt>
                <c:pt idx="49">
                  <c:v>124.01055408970976</c:v>
                </c:pt>
                <c:pt idx="50">
                  <c:v>120.84432717678099</c:v>
                </c:pt>
                <c:pt idx="51">
                  <c:v>123.21899736147756</c:v>
                </c:pt>
                <c:pt idx="52">
                  <c:v>123.21899736147756</c:v>
                </c:pt>
                <c:pt idx="53">
                  <c:v>122.69129287598946</c:v>
                </c:pt>
                <c:pt idx="54">
                  <c:v>121.10817941952507</c:v>
                </c:pt>
                <c:pt idx="55">
                  <c:v>121.10817941952507</c:v>
                </c:pt>
                <c:pt idx="56">
                  <c:v>121.10817941952507</c:v>
                </c:pt>
                <c:pt idx="57">
                  <c:v>120.58047493403694</c:v>
                </c:pt>
                <c:pt idx="58">
                  <c:v>118.99736147757255</c:v>
                </c:pt>
                <c:pt idx="59">
                  <c:v>119.5250659630607</c:v>
                </c:pt>
                <c:pt idx="60">
                  <c:v>122.42744063324538</c:v>
                </c:pt>
                <c:pt idx="61">
                  <c:v>123.48284960422164</c:v>
                </c:pt>
                <c:pt idx="62">
                  <c:v>123.48284960422164</c:v>
                </c:pt>
                <c:pt idx="63">
                  <c:v>123.48284960422164</c:v>
                </c:pt>
                <c:pt idx="64">
                  <c:v>124.80211081794195</c:v>
                </c:pt>
                <c:pt idx="65">
                  <c:v>125.32981530343008</c:v>
                </c:pt>
                <c:pt idx="66">
                  <c:v>125.32981530343008</c:v>
                </c:pt>
                <c:pt idx="67">
                  <c:v>125.06596306068603</c:v>
                </c:pt>
                <c:pt idx="68">
                  <c:v>129.28759894459102</c:v>
                </c:pt>
                <c:pt idx="69">
                  <c:v>129.28759894459102</c:v>
                </c:pt>
                <c:pt idx="70">
                  <c:v>129.28759894459102</c:v>
                </c:pt>
                <c:pt idx="71">
                  <c:v>133.50923482849603</c:v>
                </c:pt>
                <c:pt idx="72">
                  <c:v>129.81530343007915</c:v>
                </c:pt>
                <c:pt idx="73">
                  <c:v>130.34300791556728</c:v>
                </c:pt>
                <c:pt idx="74">
                  <c:v>129.55145118733509</c:v>
                </c:pt>
                <c:pt idx="75">
                  <c:v>132.71767810026384</c:v>
                </c:pt>
                <c:pt idx="76">
                  <c:v>132.71767810026384</c:v>
                </c:pt>
                <c:pt idx="77">
                  <c:v>132.71767810026384</c:v>
                </c:pt>
                <c:pt idx="78">
                  <c:v>134.03693931398416</c:v>
                </c:pt>
                <c:pt idx="79">
                  <c:v>143.2717678100264</c:v>
                </c:pt>
                <c:pt idx="80">
                  <c:v>142.21635883905012</c:v>
                </c:pt>
                <c:pt idx="81">
                  <c:v>142.74406332453827</c:v>
                </c:pt>
                <c:pt idx="82">
                  <c:v>146.17414248021109</c:v>
                </c:pt>
                <c:pt idx="83">
                  <c:v>146.17414248021109</c:v>
                </c:pt>
                <c:pt idx="84">
                  <c:v>146.17414248021109</c:v>
                </c:pt>
                <c:pt idx="85">
                  <c:v>154.88126649076517</c:v>
                </c:pt>
                <c:pt idx="86">
                  <c:v>144.0633245382586</c:v>
                </c:pt>
                <c:pt idx="87">
                  <c:v>140.36939313984169</c:v>
                </c:pt>
                <c:pt idx="88">
                  <c:v>142.48021108179421</c:v>
                </c:pt>
                <c:pt idx="89">
                  <c:v>138.25857519788917</c:v>
                </c:pt>
                <c:pt idx="90">
                  <c:v>138.25857519788917</c:v>
                </c:pt>
                <c:pt idx="91">
                  <c:v>138.25857519788917</c:v>
                </c:pt>
                <c:pt idx="92">
                  <c:v>142.74406332453827</c:v>
                </c:pt>
                <c:pt idx="93">
                  <c:v>141.68865435356201</c:v>
                </c:pt>
                <c:pt idx="94">
                  <c:v>144.5910290237467</c:v>
                </c:pt>
                <c:pt idx="95">
                  <c:v>143.00791556728231</c:v>
                </c:pt>
                <c:pt idx="96">
                  <c:v>140.89709762532982</c:v>
                </c:pt>
                <c:pt idx="97">
                  <c:v>140.89709762532982</c:v>
                </c:pt>
                <c:pt idx="98">
                  <c:v>140.89709762532982</c:v>
                </c:pt>
                <c:pt idx="99">
                  <c:v>147.22955145118735</c:v>
                </c:pt>
                <c:pt idx="100">
                  <c:v>145.64643799472296</c:v>
                </c:pt>
                <c:pt idx="101">
                  <c:v>146.17414248021109</c:v>
                </c:pt>
                <c:pt idx="102">
                  <c:v>149.34036939313984</c:v>
                </c:pt>
                <c:pt idx="103">
                  <c:v>156.7282321899736</c:v>
                </c:pt>
                <c:pt idx="104">
                  <c:v>156.7282321899736</c:v>
                </c:pt>
                <c:pt idx="105">
                  <c:v>156.7282321899736</c:v>
                </c:pt>
                <c:pt idx="106">
                  <c:v>160.94986807387863</c:v>
                </c:pt>
                <c:pt idx="107">
                  <c:v>164.11609498680738</c:v>
                </c:pt>
                <c:pt idx="108">
                  <c:v>159.36675461741424</c:v>
                </c:pt>
                <c:pt idx="109">
                  <c:v>164.11609498680738</c:v>
                </c:pt>
                <c:pt idx="110">
                  <c:v>152.77044854881265</c:v>
                </c:pt>
                <c:pt idx="111">
                  <c:v>152.77044854881265</c:v>
                </c:pt>
                <c:pt idx="112">
                  <c:v>152.77044854881265</c:v>
                </c:pt>
                <c:pt idx="113">
                  <c:v>142.21635883905012</c:v>
                </c:pt>
                <c:pt idx="114">
                  <c:v>150.92348284960423</c:v>
                </c:pt>
                <c:pt idx="115">
                  <c:v>149.34036939313984</c:v>
                </c:pt>
                <c:pt idx="116">
                  <c:v>154.35356200527704</c:v>
                </c:pt>
                <c:pt idx="117">
                  <c:v>156.7282321899736</c:v>
                </c:pt>
                <c:pt idx="118">
                  <c:v>156.7282321899736</c:v>
                </c:pt>
                <c:pt idx="119">
                  <c:v>156.7282321899736</c:v>
                </c:pt>
                <c:pt idx="120">
                  <c:v>156.7282321899736</c:v>
                </c:pt>
                <c:pt idx="121">
                  <c:v>156.7282321899736</c:v>
                </c:pt>
                <c:pt idx="122">
                  <c:v>159.36675461741424</c:v>
                </c:pt>
                <c:pt idx="123">
                  <c:v>157.25593667546173</c:v>
                </c:pt>
                <c:pt idx="124">
                  <c:v>151.71503957783642</c:v>
                </c:pt>
                <c:pt idx="125">
                  <c:v>151.71503957783642</c:v>
                </c:pt>
                <c:pt idx="126">
                  <c:v>151.71503957783642</c:v>
                </c:pt>
                <c:pt idx="127">
                  <c:v>141.16094986807389</c:v>
                </c:pt>
                <c:pt idx="128">
                  <c:v>143.53562005277044</c:v>
                </c:pt>
                <c:pt idx="129">
                  <c:v>141.95250659630608</c:v>
                </c:pt>
                <c:pt idx="130">
                  <c:v>142.48021108179421</c:v>
                </c:pt>
                <c:pt idx="131">
                  <c:v>143.53562005277044</c:v>
                </c:pt>
                <c:pt idx="132">
                  <c:v>143.53562005277044</c:v>
                </c:pt>
                <c:pt idx="133">
                  <c:v>143.53562005277044</c:v>
                </c:pt>
                <c:pt idx="134">
                  <c:v>145.11873350923483</c:v>
                </c:pt>
                <c:pt idx="135">
                  <c:v>145.11873350923483</c:v>
                </c:pt>
                <c:pt idx="136">
                  <c:v>141.42480211081795</c:v>
                </c:pt>
                <c:pt idx="137">
                  <c:v>140.63324538258576</c:v>
                </c:pt>
                <c:pt idx="138">
                  <c:v>137.73087071240107</c:v>
                </c:pt>
                <c:pt idx="139">
                  <c:v>137.73087071240107</c:v>
                </c:pt>
                <c:pt idx="140">
                  <c:v>137.73087071240107</c:v>
                </c:pt>
                <c:pt idx="141">
                  <c:v>131.92612137203164</c:v>
                </c:pt>
                <c:pt idx="142">
                  <c:v>132.98153034300793</c:v>
                </c:pt>
                <c:pt idx="143">
                  <c:v>137.20316622691294</c:v>
                </c:pt>
                <c:pt idx="144">
                  <c:v>138.25857519788917</c:v>
                </c:pt>
                <c:pt idx="145">
                  <c:v>135.62005277044855</c:v>
                </c:pt>
                <c:pt idx="146">
                  <c:v>135.62005277044855</c:v>
                </c:pt>
                <c:pt idx="147">
                  <c:v>135.62005277044855</c:v>
                </c:pt>
                <c:pt idx="148">
                  <c:v>135.35620052770449</c:v>
                </c:pt>
                <c:pt idx="149">
                  <c:v>137.20316622691294</c:v>
                </c:pt>
                <c:pt idx="150">
                  <c:v>138.7862796833773</c:v>
                </c:pt>
                <c:pt idx="151">
                  <c:v>135.35620052770449</c:v>
                </c:pt>
                <c:pt idx="152">
                  <c:v>132.98153034300793</c:v>
                </c:pt>
                <c:pt idx="153">
                  <c:v>132.98153034300793</c:v>
                </c:pt>
                <c:pt idx="154">
                  <c:v>132.98153034300793</c:v>
                </c:pt>
                <c:pt idx="155">
                  <c:v>138.7862796833773</c:v>
                </c:pt>
                <c:pt idx="156">
                  <c:v>135.35620052770449</c:v>
                </c:pt>
                <c:pt idx="157">
                  <c:v>137.20316622691294</c:v>
                </c:pt>
                <c:pt idx="158">
                  <c:v>141.16094986807389</c:v>
                </c:pt>
                <c:pt idx="159">
                  <c:v>141.42480211081795</c:v>
                </c:pt>
                <c:pt idx="160">
                  <c:v>141.42480211081795</c:v>
                </c:pt>
                <c:pt idx="161">
                  <c:v>141.42480211081795</c:v>
                </c:pt>
                <c:pt idx="162">
                  <c:v>139.84168865435356</c:v>
                </c:pt>
                <c:pt idx="163">
                  <c:v>139.84168865435356</c:v>
                </c:pt>
                <c:pt idx="164">
                  <c:v>141.16094986807389</c:v>
                </c:pt>
                <c:pt idx="165">
                  <c:v>140.36939313984169</c:v>
                </c:pt>
                <c:pt idx="166">
                  <c:v>136.14775725593668</c:v>
                </c:pt>
                <c:pt idx="167">
                  <c:v>136.14775725593668</c:v>
                </c:pt>
                <c:pt idx="168">
                  <c:v>136.14775725593668</c:v>
                </c:pt>
                <c:pt idx="169">
                  <c:v>126.64907651715041</c:v>
                </c:pt>
                <c:pt idx="170">
                  <c:v>125.59366754617413</c:v>
                </c:pt>
                <c:pt idx="171">
                  <c:v>123.48284960422164</c:v>
                </c:pt>
                <c:pt idx="172">
                  <c:v>121.89973614775727</c:v>
                </c:pt>
                <c:pt idx="173">
                  <c:v>119.26121372031662</c:v>
                </c:pt>
                <c:pt idx="174">
                  <c:v>119.26121372031662</c:v>
                </c:pt>
                <c:pt idx="175">
                  <c:v>119.26121372031662</c:v>
                </c:pt>
                <c:pt idx="176">
                  <c:v>118.46965699208442</c:v>
                </c:pt>
                <c:pt idx="177">
                  <c:v>120.58047493403694</c:v>
                </c:pt>
                <c:pt idx="178">
                  <c:v>122.42744063324538</c:v>
                </c:pt>
                <c:pt idx="179">
                  <c:v>119.5250659630607</c:v>
                </c:pt>
                <c:pt idx="180">
                  <c:v>116.88654353562005</c:v>
                </c:pt>
                <c:pt idx="181">
                  <c:v>116.88654353562005</c:v>
                </c:pt>
                <c:pt idx="182">
                  <c:v>116.88654353562005</c:v>
                </c:pt>
                <c:pt idx="183">
                  <c:v>113.45646437994723</c:v>
                </c:pt>
                <c:pt idx="184">
                  <c:v>118.7335092348285</c:v>
                </c:pt>
                <c:pt idx="185">
                  <c:v>117.67810026385223</c:v>
                </c:pt>
                <c:pt idx="186">
                  <c:v>114.77572559366756</c:v>
                </c:pt>
                <c:pt idx="187">
                  <c:v>113.19261213720317</c:v>
                </c:pt>
                <c:pt idx="188">
                  <c:v>113.19261213720317</c:v>
                </c:pt>
                <c:pt idx="189">
                  <c:v>113.19261213720317</c:v>
                </c:pt>
                <c:pt idx="190">
                  <c:v>109.76253298153034</c:v>
                </c:pt>
                <c:pt idx="191">
                  <c:v>110.29023746701847</c:v>
                </c:pt>
                <c:pt idx="192">
                  <c:v>113.98416886543536</c:v>
                </c:pt>
                <c:pt idx="193">
                  <c:v>112.66490765171504</c:v>
                </c:pt>
                <c:pt idx="194">
                  <c:v>112.66490765171504</c:v>
                </c:pt>
                <c:pt idx="195">
                  <c:v>112.66490765171504</c:v>
                </c:pt>
                <c:pt idx="196">
                  <c:v>112.66490765171504</c:v>
                </c:pt>
                <c:pt idx="197">
                  <c:v>116.88654353562005</c:v>
                </c:pt>
                <c:pt idx="198">
                  <c:v>118.7335092348285</c:v>
                </c:pt>
                <c:pt idx="199">
                  <c:v>118.7335092348285</c:v>
                </c:pt>
                <c:pt idx="200">
                  <c:v>118.46965699208442</c:v>
                </c:pt>
                <c:pt idx="201">
                  <c:v>117.67810026385223</c:v>
                </c:pt>
                <c:pt idx="202">
                  <c:v>117.67810026385223</c:v>
                </c:pt>
                <c:pt idx="203">
                  <c:v>117.67810026385223</c:v>
                </c:pt>
                <c:pt idx="204">
                  <c:v>116.88654353562005</c:v>
                </c:pt>
                <c:pt idx="205">
                  <c:v>111.08179419525067</c:v>
                </c:pt>
                <c:pt idx="206">
                  <c:v>117.15039577836413</c:v>
                </c:pt>
                <c:pt idx="207">
                  <c:v>117.41424802110818</c:v>
                </c:pt>
                <c:pt idx="208">
                  <c:v>116.09498680738785</c:v>
                </c:pt>
                <c:pt idx="209">
                  <c:v>116.09498680738785</c:v>
                </c:pt>
                <c:pt idx="210">
                  <c:v>116.09498680738785</c:v>
                </c:pt>
                <c:pt idx="211">
                  <c:v>114.77572559366756</c:v>
                </c:pt>
                <c:pt idx="212">
                  <c:v>117.41424802110818</c:v>
                </c:pt>
                <c:pt idx="213">
                  <c:v>118.99736147757255</c:v>
                </c:pt>
                <c:pt idx="214">
                  <c:v>118.7335092348285</c:v>
                </c:pt>
                <c:pt idx="215">
                  <c:v>120.05277044854881</c:v>
                </c:pt>
                <c:pt idx="216">
                  <c:v>120.05277044854881</c:v>
                </c:pt>
                <c:pt idx="217">
                  <c:v>120.05277044854881</c:v>
                </c:pt>
                <c:pt idx="218">
                  <c:v>117.67810026385223</c:v>
                </c:pt>
                <c:pt idx="219">
                  <c:v>118.99736147757255</c:v>
                </c:pt>
                <c:pt idx="220">
                  <c:v>118.46965699208442</c:v>
                </c:pt>
                <c:pt idx="221">
                  <c:v>117.41424802110818</c:v>
                </c:pt>
                <c:pt idx="222">
                  <c:v>109.23482849604223</c:v>
                </c:pt>
                <c:pt idx="223">
                  <c:v>109.23482849604223</c:v>
                </c:pt>
                <c:pt idx="224">
                  <c:v>109.23482849604223</c:v>
                </c:pt>
                <c:pt idx="225">
                  <c:v>106.33245382585753</c:v>
                </c:pt>
                <c:pt idx="226">
                  <c:v>113.72031662269129</c:v>
                </c:pt>
                <c:pt idx="227">
                  <c:v>114.24802110817942</c:v>
                </c:pt>
                <c:pt idx="228">
                  <c:v>113.19261213720317</c:v>
                </c:pt>
                <c:pt idx="229">
                  <c:v>113.45646437994723</c:v>
                </c:pt>
                <c:pt idx="230">
                  <c:v>113.45646437994723</c:v>
                </c:pt>
                <c:pt idx="231">
                  <c:v>113.45646437994723</c:v>
                </c:pt>
                <c:pt idx="232">
                  <c:v>118.7335092348285</c:v>
                </c:pt>
                <c:pt idx="233">
                  <c:v>118.46965699208442</c:v>
                </c:pt>
                <c:pt idx="234">
                  <c:v>118.20580474934037</c:v>
                </c:pt>
                <c:pt idx="235">
                  <c:v>116.09498680738785</c:v>
                </c:pt>
                <c:pt idx="236">
                  <c:v>113.72031662269129</c:v>
                </c:pt>
                <c:pt idx="237">
                  <c:v>113.72031662269129</c:v>
                </c:pt>
                <c:pt idx="238">
                  <c:v>113.72031662269129</c:v>
                </c:pt>
                <c:pt idx="239">
                  <c:v>112.40105540897099</c:v>
                </c:pt>
                <c:pt idx="240">
                  <c:v>114.24802110817942</c:v>
                </c:pt>
                <c:pt idx="241">
                  <c:v>112.40105540897099</c:v>
                </c:pt>
                <c:pt idx="242">
                  <c:v>112.40105540897099</c:v>
                </c:pt>
                <c:pt idx="243">
                  <c:v>112.40105540897099</c:v>
                </c:pt>
                <c:pt idx="244">
                  <c:v>112.40105540897099</c:v>
                </c:pt>
                <c:pt idx="245">
                  <c:v>112.40105540897099</c:v>
                </c:pt>
                <c:pt idx="246">
                  <c:v>110.55408970976252</c:v>
                </c:pt>
                <c:pt idx="247">
                  <c:v>111.87335092348285</c:v>
                </c:pt>
                <c:pt idx="248">
                  <c:v>114.77572559366756</c:v>
                </c:pt>
                <c:pt idx="249">
                  <c:v>115.30343007915566</c:v>
                </c:pt>
                <c:pt idx="250">
                  <c:v>112.40105540897099</c:v>
                </c:pt>
                <c:pt idx="251">
                  <c:v>112.40105540897099</c:v>
                </c:pt>
                <c:pt idx="252">
                  <c:v>112.40105540897099</c:v>
                </c:pt>
                <c:pt idx="253">
                  <c:v>116.09498680738785</c:v>
                </c:pt>
                <c:pt idx="254">
                  <c:v>124.01055408970976</c:v>
                </c:pt>
                <c:pt idx="255">
                  <c:v>121.63588390501319</c:v>
                </c:pt>
                <c:pt idx="256">
                  <c:v>121.89973614775727</c:v>
                </c:pt>
                <c:pt idx="257">
                  <c:v>121.37203166226914</c:v>
                </c:pt>
                <c:pt idx="258">
                  <c:v>121.37203166226914</c:v>
                </c:pt>
                <c:pt idx="259">
                  <c:v>121.37203166226914</c:v>
                </c:pt>
                <c:pt idx="260">
                  <c:v>121.89973614775727</c:v>
                </c:pt>
                <c:pt idx="261">
                  <c:v>120.84432717678099</c:v>
                </c:pt>
                <c:pt idx="262">
                  <c:v>117.15039577836413</c:v>
                </c:pt>
                <c:pt idx="263">
                  <c:v>118.20580474934037</c:v>
                </c:pt>
                <c:pt idx="264">
                  <c:v>118.99736147757255</c:v>
                </c:pt>
                <c:pt idx="265">
                  <c:v>118.99736147757255</c:v>
                </c:pt>
                <c:pt idx="266">
                  <c:v>118.99736147757255</c:v>
                </c:pt>
                <c:pt idx="267">
                  <c:v>113.98416886543536</c:v>
                </c:pt>
                <c:pt idx="268">
                  <c:v>110.8179419525066</c:v>
                </c:pt>
                <c:pt idx="269">
                  <c:v>110.02638522427442</c:v>
                </c:pt>
                <c:pt idx="270">
                  <c:v>110.55408970976252</c:v>
                </c:pt>
                <c:pt idx="271">
                  <c:v>110.02638522427442</c:v>
                </c:pt>
                <c:pt idx="272">
                  <c:v>110.02638522427442</c:v>
                </c:pt>
                <c:pt idx="273">
                  <c:v>110.02638522427442</c:v>
                </c:pt>
                <c:pt idx="274">
                  <c:v>108.97097625329815</c:v>
                </c:pt>
                <c:pt idx="275">
                  <c:v>113.45646437994723</c:v>
                </c:pt>
                <c:pt idx="276">
                  <c:v>113.19261213720317</c:v>
                </c:pt>
                <c:pt idx="277">
                  <c:v>110.8179419525066</c:v>
                </c:pt>
                <c:pt idx="278">
                  <c:v>108.7071240105541</c:v>
                </c:pt>
                <c:pt idx="279">
                  <c:v>108.7071240105541</c:v>
                </c:pt>
                <c:pt idx="280">
                  <c:v>108.7071240105541</c:v>
                </c:pt>
                <c:pt idx="281">
                  <c:v>108.17941952506595</c:v>
                </c:pt>
                <c:pt idx="282">
                  <c:v>105.54089709762533</c:v>
                </c:pt>
                <c:pt idx="283">
                  <c:v>112.92875989445909</c:v>
                </c:pt>
                <c:pt idx="284">
                  <c:v>117.94195250659631</c:v>
                </c:pt>
                <c:pt idx="285">
                  <c:v>121.89973614775727</c:v>
                </c:pt>
                <c:pt idx="286">
                  <c:v>121.89973614775727</c:v>
                </c:pt>
                <c:pt idx="287">
                  <c:v>121.89973614775727</c:v>
                </c:pt>
                <c:pt idx="288">
                  <c:v>121.89973614775727</c:v>
                </c:pt>
                <c:pt idx="289">
                  <c:v>121.89973614775727</c:v>
                </c:pt>
                <c:pt idx="290">
                  <c:v>121.89973614775727</c:v>
                </c:pt>
                <c:pt idx="291">
                  <c:v>121.89973614775727</c:v>
                </c:pt>
                <c:pt idx="292">
                  <c:v>121.89973614775727</c:v>
                </c:pt>
                <c:pt idx="293">
                  <c:v>121.89973614775727</c:v>
                </c:pt>
                <c:pt idx="294">
                  <c:v>121.89973614775727</c:v>
                </c:pt>
                <c:pt idx="295">
                  <c:v>123.48284960422164</c:v>
                </c:pt>
                <c:pt idx="296">
                  <c:v>127.70448548812665</c:v>
                </c:pt>
                <c:pt idx="297">
                  <c:v>124.53825857519789</c:v>
                </c:pt>
                <c:pt idx="298">
                  <c:v>126.12137203166228</c:v>
                </c:pt>
                <c:pt idx="299">
                  <c:v>123.48284960422164</c:v>
                </c:pt>
                <c:pt idx="300">
                  <c:v>123.48284960422164</c:v>
                </c:pt>
                <c:pt idx="301">
                  <c:v>123.48284960422164</c:v>
                </c:pt>
                <c:pt idx="302">
                  <c:v>119.78891820580475</c:v>
                </c:pt>
                <c:pt idx="303">
                  <c:v>120.31662269129288</c:v>
                </c:pt>
                <c:pt idx="304">
                  <c:v>118.7335092348285</c:v>
                </c:pt>
                <c:pt idx="305">
                  <c:v>117.94195250659631</c:v>
                </c:pt>
                <c:pt idx="306">
                  <c:v>116.35883905013193</c:v>
                </c:pt>
                <c:pt idx="307">
                  <c:v>116.35883905013193</c:v>
                </c:pt>
                <c:pt idx="308">
                  <c:v>116.35883905013193</c:v>
                </c:pt>
                <c:pt idx="309">
                  <c:v>108.44327176781003</c:v>
                </c:pt>
                <c:pt idx="310">
                  <c:v>111.08179419525067</c:v>
                </c:pt>
                <c:pt idx="311">
                  <c:v>118.46965699208442</c:v>
                </c:pt>
                <c:pt idx="312">
                  <c:v>118.99736147757255</c:v>
                </c:pt>
                <c:pt idx="313">
                  <c:v>118.7335092348285</c:v>
                </c:pt>
                <c:pt idx="314">
                  <c:v>118.7335092348285</c:v>
                </c:pt>
                <c:pt idx="315">
                  <c:v>118.7335092348285</c:v>
                </c:pt>
                <c:pt idx="316">
                  <c:v>117.94195250659631</c:v>
                </c:pt>
                <c:pt idx="317">
                  <c:v>121.37203166226914</c:v>
                </c:pt>
                <c:pt idx="318">
                  <c:v>120.58047493403694</c:v>
                </c:pt>
                <c:pt idx="319">
                  <c:v>117.94195250659631</c:v>
                </c:pt>
                <c:pt idx="320">
                  <c:v>117.41424802110818</c:v>
                </c:pt>
                <c:pt idx="321">
                  <c:v>117.41424802110818</c:v>
                </c:pt>
                <c:pt idx="322">
                  <c:v>117.41424802110818</c:v>
                </c:pt>
                <c:pt idx="323">
                  <c:v>112.13720316622691</c:v>
                </c:pt>
                <c:pt idx="324">
                  <c:v>116.88654353562005</c:v>
                </c:pt>
                <c:pt idx="325">
                  <c:v>118.99736147757255</c:v>
                </c:pt>
                <c:pt idx="326">
                  <c:v>118.20580474934037</c:v>
                </c:pt>
                <c:pt idx="327">
                  <c:v>120.05277044854881</c:v>
                </c:pt>
                <c:pt idx="328">
                  <c:v>120.05277044854881</c:v>
                </c:pt>
                <c:pt idx="329">
                  <c:v>120.05277044854881</c:v>
                </c:pt>
                <c:pt idx="330">
                  <c:v>121.37203166226914</c:v>
                </c:pt>
                <c:pt idx="331">
                  <c:v>124.53825857519789</c:v>
                </c:pt>
                <c:pt idx="332">
                  <c:v>123.48284960422164</c:v>
                </c:pt>
                <c:pt idx="333">
                  <c:v>120.58047493403694</c:v>
                </c:pt>
                <c:pt idx="334">
                  <c:v>116.88654353562005</c:v>
                </c:pt>
                <c:pt idx="335">
                  <c:v>116.88654353562005</c:v>
                </c:pt>
                <c:pt idx="336">
                  <c:v>116.88654353562005</c:v>
                </c:pt>
                <c:pt idx="337">
                  <c:v>116.62269129287598</c:v>
                </c:pt>
                <c:pt idx="338">
                  <c:v>116.62269129287598</c:v>
                </c:pt>
                <c:pt idx="339">
                  <c:v>121.63588390501319</c:v>
                </c:pt>
                <c:pt idx="340">
                  <c:v>119.26121372031662</c:v>
                </c:pt>
                <c:pt idx="341">
                  <c:v>121.89973614775727</c:v>
                </c:pt>
                <c:pt idx="342">
                  <c:v>121.89973614775727</c:v>
                </c:pt>
                <c:pt idx="343">
                  <c:v>121.89973614775727</c:v>
                </c:pt>
                <c:pt idx="344">
                  <c:v>121.10817941952507</c:v>
                </c:pt>
                <c:pt idx="345">
                  <c:v>121.37203166226914</c:v>
                </c:pt>
                <c:pt idx="346">
                  <c:v>119.78891820580475</c:v>
                </c:pt>
                <c:pt idx="347">
                  <c:v>117.94195250659631</c:v>
                </c:pt>
                <c:pt idx="348">
                  <c:v>118.20580474934037</c:v>
                </c:pt>
                <c:pt idx="349">
                  <c:v>118.20580474934037</c:v>
                </c:pt>
                <c:pt idx="350">
                  <c:v>118.20580474934037</c:v>
                </c:pt>
                <c:pt idx="351">
                  <c:v>118.99736147757255</c:v>
                </c:pt>
                <c:pt idx="352">
                  <c:v>121.10817941952507</c:v>
                </c:pt>
                <c:pt idx="353">
                  <c:v>119.5250659630607</c:v>
                </c:pt>
                <c:pt idx="354">
                  <c:v>118.20580474934037</c:v>
                </c:pt>
                <c:pt idx="355">
                  <c:v>117.94195250659631</c:v>
                </c:pt>
                <c:pt idx="356">
                  <c:v>117.94195250659631</c:v>
                </c:pt>
                <c:pt idx="357">
                  <c:v>117.94195250659631</c:v>
                </c:pt>
                <c:pt idx="358">
                  <c:v>117.94195250659631</c:v>
                </c:pt>
                <c:pt idx="359">
                  <c:v>115.30343007915566</c:v>
                </c:pt>
                <c:pt idx="360">
                  <c:v>114.77572559366756</c:v>
                </c:pt>
                <c:pt idx="361">
                  <c:v>114.77572559366756</c:v>
                </c:pt>
                <c:pt idx="362">
                  <c:v>114.77572559366756</c:v>
                </c:pt>
                <c:pt idx="363">
                  <c:v>114.77572559366756</c:v>
                </c:pt>
                <c:pt idx="364">
                  <c:v>114.77572559366756</c:v>
                </c:pt>
                <c:pt idx="365">
                  <c:v>115.30343007915566</c:v>
                </c:pt>
                <c:pt idx="366">
                  <c:v>113.45646437994723</c:v>
                </c:pt>
              </c:numCache>
            </c:numRef>
          </c:val>
          <c:smooth val="1"/>
          <c:extLst>
            <c:ext xmlns:c16="http://schemas.microsoft.com/office/drawing/2014/chart" uri="{C3380CC4-5D6E-409C-BE32-E72D297353CC}">
              <c16:uniqueId val="{00000001-5D0B-404D-8B9D-9E14986AA7A2}"/>
            </c:ext>
          </c:extLst>
        </c:ser>
        <c:dLbls>
          <c:showLegendKey val="0"/>
          <c:showVal val="0"/>
          <c:showCatName val="0"/>
          <c:showSerName val="0"/>
          <c:showPercent val="0"/>
          <c:showBubbleSize val="0"/>
        </c:dLbls>
        <c:smooth val="0"/>
        <c:axId val="468801248"/>
        <c:axId val="468809088"/>
      </c:lineChart>
      <c:dateAx>
        <c:axId val="468801248"/>
        <c:scaling>
          <c:orientation val="minMax"/>
        </c:scaling>
        <c:delete val="0"/>
        <c:axPos val="b"/>
        <c:title>
          <c:tx>
            <c:rich>
              <a:bodyPr rot="0" vert="horz"/>
              <a:lstStyle/>
              <a:p>
                <a:pPr>
                  <a:defRPr b="0"/>
                </a:pPr>
                <a:r>
                  <a:rPr lang="en-US" b="0" dirty="0"/>
                  <a:t>(%)</a:t>
                </a:r>
              </a:p>
            </c:rich>
          </c:tx>
          <c:layout>
            <c:manualLayout>
              <c:xMode val="edge"/>
              <c:yMode val="edge"/>
              <c:x val="2.7302898606107388E-3"/>
              <c:y val="1.5433799568692946E-3"/>
            </c:manualLayout>
          </c:layout>
          <c:overlay val="0"/>
          <c:spPr>
            <a:noFill/>
            <a:ln>
              <a:noFill/>
            </a:ln>
            <a:effectLst/>
          </c:spPr>
        </c:title>
        <c:numFmt formatCode="mmm\ yy" sourceLinked="0"/>
        <c:majorTickMark val="none"/>
        <c:minorTickMark val="none"/>
        <c:tickLblPos val="low"/>
        <c:spPr>
          <a:noFill/>
          <a:ln w="3175" cap="flat" cmpd="sng" algn="ctr">
            <a:solidFill>
              <a:schemeClr val="bg1">
                <a:lumMod val="75000"/>
              </a:schemeClr>
            </a:solidFill>
            <a:round/>
          </a:ln>
          <a:effectLst/>
        </c:spPr>
        <c:txPr>
          <a:bodyPr rot="0" vert="horz"/>
          <a:lstStyle/>
          <a:p>
            <a:pPr>
              <a:defRPr/>
            </a:pPr>
            <a:endParaRPr lang="en-US"/>
          </a:p>
        </c:txPr>
        <c:crossAx val="468809088"/>
        <c:crossesAt val="100"/>
        <c:auto val="0"/>
        <c:lblOffset val="100"/>
        <c:baseTimeUnit val="days"/>
        <c:majorUnit val="2"/>
        <c:majorTimeUnit val="months"/>
      </c:dateAx>
      <c:valAx>
        <c:axId val="468809088"/>
        <c:scaling>
          <c:orientation val="minMax"/>
          <c:min val="60"/>
        </c:scaling>
        <c:delete val="0"/>
        <c:axPos val="l"/>
        <c:numFmt formatCode="_(* #,##0_);_(* \(#,##0\);_(* &quot;-&quot;??_);_(@_)" sourceLinked="1"/>
        <c:majorTickMark val="in"/>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468801248"/>
        <c:crosses val="autoZero"/>
        <c:crossBetween val="midCat"/>
      </c:valAx>
      <c:spPr>
        <a:noFill/>
      </c:spPr>
    </c:plotArea>
    <c:legend>
      <c:legendPos val="t"/>
      <c:layout>
        <c:manualLayout>
          <c:xMode val="edge"/>
          <c:yMode val="edge"/>
          <c:x val="8.7408873744345292E-2"/>
          <c:y val="4.6297286316104615E-3"/>
          <c:w val="0.85776666666666668"/>
          <c:h val="8.739995107118459E-2"/>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600">
          <a:solidFill>
            <a:schemeClr val="tx1">
              <a:lumMod val="95000"/>
              <a:lumOff val="5000"/>
            </a:schemeClr>
          </a:solidFill>
          <a:latin typeface="Noto Sans" panose="020B0502040504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516DA-A209-491B-B67B-C4837105E9DA}"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90BA58-B3B4-4D30-9709-33A32AFC1CAC}" type="slidenum">
              <a:rPr lang="en-US" smtClean="0"/>
              <a:t>‹#›</a:t>
            </a:fld>
            <a:endParaRPr lang="en-US"/>
          </a:p>
        </p:txBody>
      </p:sp>
    </p:spTree>
    <p:extLst>
      <p:ext uri="{BB962C8B-B14F-4D97-AF65-F5344CB8AC3E}">
        <p14:creationId xmlns:p14="http://schemas.microsoft.com/office/powerpoint/2010/main" val="537797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865326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AB04-7A6E-0D5C-3D2D-BB68D8AC7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ECEB7-4E50-1A46-F891-69AA7843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6EF27-26F0-04B6-7947-CDFE4B122B22}"/>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09602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292352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918BB-B8D0-D895-DA1C-D19B23C15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6AAD9-C347-0A05-6A8E-80ECC694D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1C8E-FF65-A260-9210-8AE7FA02F80F}"/>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256463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2681E0E5-B568-18FF-CB74-B06E5270713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0047B-FB4A-A5D4-0605-52A1DBFA0F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DCEF8-5872-C3DA-C4BA-FC4D2C6FA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98BC99-DCA3-5EF2-8703-9FDF8CF79E9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DCF9870-840F-4D48-0E1E-C43B4E4E0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B5D3D-6046-C670-D5D2-971FFCE2D48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50515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5799-A9FA-E712-4A47-FFC32E2650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04E3A9-FE61-23ED-068E-7FE665D1B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DB649-7641-C11A-5D1D-D6B59AB3889A}"/>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8D46B675-D086-F91B-5ED5-7A863401A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7E64B-D0E5-6FCA-250D-CDD2A80987CC}"/>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5721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19C8-6C4F-ABD3-7101-8BAC9B689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25BD2C-01D8-040C-C58B-D3D8F1631D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3049E-CB1C-4558-10BB-89E33DBF036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90034168-8BFB-44BD-6F8D-A27B6D910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3C717-8E6C-0BCC-FA9D-DE9A6FFBD115}"/>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70710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9BA3-A74B-78F6-0EED-E0AF49821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14EF5B-4F24-EAE3-D007-012009511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74B22A-3D74-FA1F-15DC-45823B1474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81FCA7-4606-FF08-D074-B843B633EA1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7BBB5EF-9647-FD41-7E68-644A8625E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3B597F-AC2D-1293-2B5C-A10720C4F7F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33754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1909-93D9-1D39-0314-7EE47D35FE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8A18B5-DF5D-3C9F-5881-F468E80037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CAE6E-E300-916B-9E9B-6C1CB3257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B21D1-7E11-9941-4A55-08DA57262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F736AD-162F-82B2-31BF-9238AA950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5658FD-2837-0967-9CA4-2EF1AA3EB9E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8" name="Footer Placeholder 7">
            <a:extLst>
              <a:ext uri="{FF2B5EF4-FFF2-40B4-BE49-F238E27FC236}">
                <a16:creationId xmlns:a16="http://schemas.microsoft.com/office/drawing/2014/main" id="{B84FE3A7-67D4-E668-BF3F-F596F24F55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53B6C9-0632-7B91-62A3-5B8E2C1A8DC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286249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0F21-5314-6A39-3BFC-F510EDD2D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353C5C-8196-BE35-4F13-4DE8CE02AAAC}"/>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4" name="Footer Placeholder 3">
            <a:extLst>
              <a:ext uri="{FF2B5EF4-FFF2-40B4-BE49-F238E27FC236}">
                <a16:creationId xmlns:a16="http://schemas.microsoft.com/office/drawing/2014/main" id="{88579BD3-378C-1D7D-9365-1B121A2B54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DE91E3-A187-F2E7-4D9E-6B82E05E729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43190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030F4E-734A-0C4D-F834-5F7729C13DA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3" name="Footer Placeholder 2">
            <a:extLst>
              <a:ext uri="{FF2B5EF4-FFF2-40B4-BE49-F238E27FC236}">
                <a16:creationId xmlns:a16="http://schemas.microsoft.com/office/drawing/2014/main" id="{C5657BB0-F646-C465-3191-F8D21F30FA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138182-1F9D-D624-A604-4CEA1F3B182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8642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6CF9-FEDC-7115-C963-F3E1525667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5A236C-F2DC-F83C-ECB8-24D0D75F18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5BBA49-9852-4420-1EBC-C0A4E1D45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860F-E2CD-6C45-A999-3C108EF3504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39F05DE4-D9E0-9207-99E2-8B2734496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E03CA-04BC-3123-796C-55F056DF0AD7}"/>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67904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AB70-0A00-6E2C-8797-48A000B03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558ACB-82B9-41E8-B58A-FD232B451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E29E8-65F3-53F0-24C0-B211050FA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A64D6-6503-A39A-9FA2-E70FEFFF832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C0C46B8-BA8A-5D5E-4FCB-337E97C86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7F65D3-8D21-65A4-57FD-41A719EB57E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75988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6EB2-8E86-197D-ED20-3903C5C8EA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96488-E97A-AE3A-0952-DCBF223E26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98760-238B-A827-3DC0-BF87EF76A939}"/>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DA76D580-C766-498A-E149-F945E8A8A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13783-F2D7-E3B6-2976-BE6344E404AD}"/>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32554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25C7A0-77B6-7277-84F3-BDEB77E824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36D9A-35E5-C535-87CF-32F49E53D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A9FBF-84A8-2F86-1DBC-92698B88ADE4}"/>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7A4AAE2-4CF8-9CF0-2676-8821B019D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2BD54-A35E-C6BA-457D-7840CB31B69A}"/>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642926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 내지">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BA7E3123-5D1E-DB54-4599-C7571DC234E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직선 연결선 2">
            <a:extLst>
              <a:ext uri="{FF2B5EF4-FFF2-40B4-BE49-F238E27FC236}">
                <a16:creationId xmlns:a16="http://schemas.microsoft.com/office/drawing/2014/main" id="{22D528F1-BE2E-1349-890D-D578D1503FE1}"/>
              </a:ext>
            </a:extLst>
          </p:cNvPr>
          <p:cNvCxnSpPr/>
          <p:nvPr userDrawn="1"/>
        </p:nvCxnSpPr>
        <p:spPr>
          <a:xfrm>
            <a:off x="421893" y="657225"/>
            <a:ext cx="11338308" cy="0"/>
          </a:xfrm>
          <a:prstGeom prst="line">
            <a:avLst/>
          </a:prstGeom>
          <a:ln w="9525">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22D528F1-BE2E-1349-890D-D578D1503FE1}"/>
              </a:ext>
            </a:extLst>
          </p:cNvPr>
          <p:cNvCxnSpPr/>
          <p:nvPr userDrawn="1"/>
        </p:nvCxnSpPr>
        <p:spPr>
          <a:xfrm>
            <a:off x="421893" y="6489340"/>
            <a:ext cx="11338308" cy="0"/>
          </a:xfrm>
          <a:prstGeom prst="line">
            <a:avLst/>
          </a:prstGeom>
          <a:ln w="31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5"/>
          <p:cNvSpPr txBox="1">
            <a:spLocks/>
          </p:cNvSpPr>
          <p:nvPr userDrawn="1"/>
        </p:nvSpPr>
        <p:spPr>
          <a:xfrm>
            <a:off x="8016214"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ko-KR" sz="8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Mirae Asset Securities (Vietnam) Research</a:t>
            </a:r>
          </a:p>
        </p:txBody>
      </p:sp>
      <p:sp>
        <p:nvSpPr>
          <p:cNvPr id="5" name="Slide Number Placeholder 5">
            <a:extLst>
              <a:ext uri="{FF2B5EF4-FFF2-40B4-BE49-F238E27FC236}">
                <a16:creationId xmlns:a16="http://schemas.microsoft.com/office/drawing/2014/main" id="{6A3BD522-7E83-4354-BF9E-2F1AFEDE9C13}"/>
              </a:ext>
            </a:extLst>
          </p:cNvPr>
          <p:cNvSpPr txBox="1">
            <a:spLocks/>
          </p:cNvSpPr>
          <p:nvPr userDrawn="1"/>
        </p:nvSpPr>
        <p:spPr>
          <a:xfrm>
            <a:off x="421893"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B3DAD2FF-B7AE-4CA6-A5C9-0317C7ABBD3C}" type="slidenum">
              <a:rPr lang="en-US" altLang="ko-KR" sz="800" b="0" smtClean="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pPr algn="l"/>
              <a:t>‹#›</a:t>
            </a:fld>
            <a:r>
              <a:rPr lang="en-US" altLang="ko-KR" sz="800" b="0" dirty="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 </a:t>
            </a:r>
            <a:r>
              <a:rPr lang="en-US" altLang="ko-KR" sz="800" b="1" baseline="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Vietnam macro and stock market</a:t>
            </a:r>
            <a:endParaRPr lang="ko-KR" altLang="en-US" sz="800" b="1" dirty="0">
              <a:ln>
                <a:noFill/>
              </a:ln>
              <a:solidFill>
                <a:schemeClr val="tx1">
                  <a:lumMod val="75000"/>
                  <a:lumOff val="25000"/>
                </a:schemeClr>
              </a:solidFill>
              <a:highlight>
                <a:srgbClr val="FFFF00"/>
              </a:highlight>
              <a:latin typeface="Noto Sans" panose="020B0502040504020204" pitchFamily="34" charset="0"/>
              <a:ea typeface="KoPub돋움체_Pro Bold" pitchFamily="18" charset="-127"/>
              <a:cs typeface="Noto Sans" panose="020B0502040504020204" pitchFamily="34" charset="0"/>
            </a:endParaRPr>
          </a:p>
        </p:txBody>
      </p:sp>
    </p:spTree>
    <p:extLst>
      <p:ext uri="{BB962C8B-B14F-4D97-AF65-F5344CB8AC3E}">
        <p14:creationId xmlns:p14="http://schemas.microsoft.com/office/powerpoint/2010/main" val="236509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6A4DC-428A-0515-B058-EB68012C5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2883-A8AC-393E-B634-FBF9A81E8C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89350-38CB-E054-B994-2FC2AEE8E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34006E38-198D-3E93-5EE9-C44BC3137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FC7DC-B07F-018C-ADBC-020804BE5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4667E-AA56-4C99-8249-DFE75A2D6467}" type="slidenum">
              <a:rPr lang="en-US" smtClean="0"/>
              <a:t>‹#›</a:t>
            </a:fld>
            <a:endParaRPr lang="en-US"/>
          </a:p>
        </p:txBody>
      </p:sp>
    </p:spTree>
    <p:extLst>
      <p:ext uri="{BB962C8B-B14F-4D97-AF65-F5344CB8AC3E}">
        <p14:creationId xmlns:p14="http://schemas.microsoft.com/office/powerpoint/2010/main" val="2095998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5647749"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1" fontAlgn="base" latinLnBrk="1" hangingPunct="0">
              <a:lnSpc>
                <a:spcPct val="120000"/>
              </a:lnSpc>
              <a:spcBef>
                <a:spcPct val="0"/>
              </a:spcBef>
              <a:spcAft>
                <a:spcPct val="0"/>
              </a:spcAft>
              <a:buClrTx/>
              <a:buSzTx/>
              <a:buFontTx/>
              <a:buNone/>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Asset quality deteriorates; provisioning to stay elevated</a:t>
            </a:r>
            <a:endParaRPr kumimoji="1" lang="en-US" altLang="ko-KR" sz="1200" b="1" i="0" u="none" strike="noStrike" kern="1200" cap="none" spc="0" normalizeH="0" baseline="0" noProof="0" dirty="0">
              <a:ln>
                <a:noFill/>
              </a:ln>
              <a:solidFill>
                <a:srgbClr val="F58220"/>
              </a:solidFill>
              <a:effectLst/>
              <a:uLnTx/>
              <a:uFillTx/>
              <a:latin typeface="Noto Sans" panose="020B0502040504020204" pitchFamily="34" charset="0"/>
              <a:ea typeface="나눔고딕" pitchFamily="50" charset="-127"/>
              <a:cs typeface="+mn-cs"/>
            </a:endParaRP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extLst>
              <p:ext uri="{D42A27DB-BD31-4B8C-83A1-F6EECF244321}">
                <p14:modId xmlns:p14="http://schemas.microsoft.com/office/powerpoint/2010/main" val="285160526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6,583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2364275874"/>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a:t>
                      </a:r>
                      <a:r>
                        <a:rPr lang="en-US" sz="900" b="1" kern="1200" spc="0" baseline="0" dirty="0">
                          <a:solidFill>
                            <a:schemeClr val="tx1"/>
                          </a:solidFill>
                          <a:effectLst/>
                          <a:latin typeface="+mj-lt"/>
                          <a:ea typeface="KoPub돋움체_Pro Bold" panose="02020603020101020101" pitchFamily="18" charset="-127"/>
                          <a:cs typeface="Noto Sans" panose="020B0502040504020204" pitchFamily="34" charset="0"/>
                        </a:rPr>
                        <a:t>Maintain</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rPr>
                        <a:t>Current price</a:t>
                      </a:r>
                    </a:p>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(21/07/26)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72,500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itchFamily="18" charset="-127"/>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7.3%</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42100" y="1088740"/>
            <a:ext cx="8593283" cy="312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600"/>
              </a:spcAft>
              <a:buClrTx/>
              <a:buSzPct val="130000"/>
              <a:buFontTx/>
              <a:buNone/>
              <a:tabLst/>
              <a:defRPr/>
            </a:pP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results came in below expectations: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PBT reached VND4,136bn (-43.6% YoY), completing 51% of the VND8,100bn FY26 plan. With VND2,106bn recorded in 1Q26, 2Q26 PBT is implied at approximately VND2,030bn. The shortfall stems from continued NIM compression amid intense deposit competition and from a materially heavier provisioning charge, following VND2,024bn in 1Q26 and more than VND11,300bn for FY25 as a whole.</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Asset quality has deteriorated beyond management guidance: </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The NPL ratio reached 7.54% at end-2Q26, up 1.13%p from the beginning of the year and the highest in the system, against management guidance of approximately 5.6%. Group 3-5 balances increased by approximately VND7,800bn year-to-date and VND6,500bn quarter-on-quarter to VND47,957bn, of which around 67% (approximately VND32,000bn) is classified as Group 5, while Group 4 more than doubled (+156%). Our FY26F assumption of an NPL ratio below 4.5% is no longer attainable without a substantial acceleration in write-offs, and FY26F provisioning of VND10.4tn (-8.9% YoY) appears insufficient. Both assumptions are under review, together with the HOLD rating and the VND77,800 target price (2.4x FY26F P/B).</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FY26F PBT remains attainable on a low 2H25 base: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STB recorded VND7,331bn of PBT in 1H25 but only VND297bn in 2H25, as 4Q25 registered a pre-tax loss of approximately VND3,360bn on a provisioning charge of around VND9,232bn. Our FY26F PBT forecast of VND8,455bn (+10.8% YoY) therefore requires 2H26 PBT of approximately VND4,319bn — around 14x the 2H25 base, but only 4% above the 1H26 level. Other FY26F assumptions are unchanged: NII of VND27,010bn (+1.2% YoY) on 11.7% loan growth, NIM of 2.94% (-38bps YoY), CIR of 42.7% (+2.0%p YoY) and NOI of VND1,327bn (+5% YoY). Separately, STB has taken possession of 507 land-use right certificates at LDG’s Viva City project in Dong Nai against overdue principal of nearly VND350bn and more than VND82bn of accrued overdue interest; the exposure is immaterial to the overall portfolio but illustrates the collateral-resolution channel on which the 2H26 recovery depends.</a:t>
            </a: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Risks: (1) continued NPL formation requiring provisioning above our FY26F estimate (2) prolonged deposit competition sustaining NIM compression (3) slower-than-expected disposal of recovered collateral.</a:t>
            </a: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extLst>
              <p:ext uri="{D42A27DB-BD31-4B8C-83A1-F6EECF244321}">
                <p14:modId xmlns:p14="http://schemas.microsoft.com/office/powerpoint/2010/main" val="1251471047"/>
              </p:ext>
            </p:extLst>
          </p:nvPr>
        </p:nvGraphicFramePr>
        <p:xfrm>
          <a:off x="6010273" y="4183739"/>
          <a:ext cx="5718758" cy="2285998"/>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584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584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5846">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41DC7A9C-FB93-5586-4D65-A3021D8D02A3}"/>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2050" name="Picture 2">
            <a:extLst>
              <a:ext uri="{FF2B5EF4-FFF2-40B4-BE49-F238E27FC236}">
                <a16:creationId xmlns:a16="http://schemas.microsoft.com/office/drawing/2014/main" id="{F48C3959-DFB5-7038-864F-F12799E024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44">
            <a:extLst>
              <a:ext uri="{FF2B5EF4-FFF2-40B4-BE49-F238E27FC236}">
                <a16:creationId xmlns:a16="http://schemas.microsoft.com/office/drawing/2014/main" id="{8F4B80F8-18C6-834A-EF32-9828D6A9A4BA}"/>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Saigon Thuong Tin Commercial Joint Stock Bank </a:t>
            </a:r>
            <a:r>
              <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(STB VN)</a:t>
            </a:r>
          </a:p>
        </p:txBody>
      </p:sp>
      <p:pic>
        <p:nvPicPr>
          <p:cNvPr id="5" name="Picture 4">
            <a:extLst>
              <a:ext uri="{FF2B5EF4-FFF2-40B4-BE49-F238E27FC236}">
                <a16:creationId xmlns:a16="http://schemas.microsoft.com/office/drawing/2014/main" id="{00BD9D6D-323B-533F-6B9E-E2842E63EC54}"/>
              </a:ext>
            </a:extLst>
          </p:cNvPr>
          <p:cNvPicPr>
            <a:picLocks noChangeAspect="1"/>
          </p:cNvPicPr>
          <p:nvPr/>
        </p:nvPicPr>
        <p:blipFill>
          <a:blip r:embed="rId4"/>
          <a:stretch>
            <a:fillRect/>
          </a:stretch>
        </p:blipFill>
        <p:spPr>
          <a:xfrm>
            <a:off x="3097090" y="4229280"/>
            <a:ext cx="2694666" cy="2011854"/>
          </a:xfrm>
          <a:prstGeom prst="rect">
            <a:avLst/>
          </a:prstGeom>
        </p:spPr>
      </p:pic>
    </p:spTree>
    <p:extLst>
      <p:ext uri="{BB962C8B-B14F-4D97-AF65-F5344CB8AC3E}">
        <p14:creationId xmlns:p14="http://schemas.microsoft.com/office/powerpoint/2010/main" val="230289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3364-0874-2C69-B1E7-7F759479966F}"/>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8175F7DD-A564-A67E-7C3A-D1886D621F24}"/>
              </a:ext>
            </a:extLst>
          </p:cNvPr>
          <p:cNvSpPr>
            <a:spLocks noChangeArrowheads="1"/>
          </p:cNvSpPr>
          <p:nvPr/>
        </p:nvSpPr>
        <p:spPr bwMode="auto">
          <a:xfrm>
            <a:off x="448250" y="692696"/>
            <a:ext cx="63640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lvl="0" algn="l" fontAlgn="base" latinLnBrk="1" hangingPunct="0">
              <a:lnSpc>
                <a:spcPct val="120000"/>
              </a:lnSpc>
              <a:spcBef>
                <a:spcPct val="0"/>
              </a:spcBef>
              <a:spcAft>
                <a:spcPct val="0"/>
              </a:spcAft>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Chất lượng tài sản suy giảm, áp lực dự phòng còn kéo dài</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r>
              <a:rPr kumimoji="1" lang="en-US" altLang="ko-KR" sz="1200" b="1" dirty="0">
                <a:solidFill>
                  <a:srgbClr val="F58220"/>
                </a:solidFill>
                <a:latin typeface="Noto Sans" panose="020B0502040504020204" pitchFamily="34" charset="0"/>
                <a:ea typeface="나눔고딕" pitchFamily="50" charset="-127"/>
              </a:rPr>
              <a:t/>
            </a:r>
            <a:r>
              <a:rPr kumimoji="1" lang="en-US" altLang="ko-KR" sz="1200" b="1" dirty="0" err="1">
                <a:solidFill>
                  <a:srgbClr val="F58220"/>
                </a:solidFill>
                <a:latin typeface="Noto Sans" panose="020B0502040504020204" pitchFamily="34" charset="0"/>
                <a:ea typeface="나눔고딕" pitchFamily="50" charset="-127"/>
              </a:rPr>
              <a:t/>
            </a:r>
            <a:endParaRPr kumimoji="1" lang="en-US" altLang="ko-KR" sz="1200" b="1" dirty="0">
              <a:solidFill>
                <a:srgbClr val="F58220"/>
              </a:solidFill>
              <a:latin typeface="Noto Sans" panose="020B0502040504020204" pitchFamily="34" charset="0"/>
              <a:ea typeface="나눔고딕" pitchFamily="50" charset="-127"/>
            </a:endParaRPr>
          </a:p>
        </p:txBody>
      </p:sp>
      <p:graphicFrame>
        <p:nvGraphicFramePr>
          <p:cNvPr id="11" name="표 10">
            <a:extLst>
              <a:ext uri="{FF2B5EF4-FFF2-40B4-BE49-F238E27FC236}">
                <a16:creationId xmlns:a16="http://schemas.microsoft.com/office/drawing/2014/main" id="{8948589E-0907-2314-DD4D-FD7577D4B1CA}"/>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5B6DA06C-6F56-4644-6714-DADB2336271D}"/>
              </a:ext>
            </a:extLst>
          </p:cNvPr>
          <p:cNvGraphicFramePr>
            <a:graphicFrameLocks noGrp="1"/>
          </p:cNvGraphicFramePr>
          <p:nvPr>
            <p:extLst>
              <p:ext uri="{D42A27DB-BD31-4B8C-83A1-F6EECF244321}">
                <p14:modId xmlns:p14="http://schemas.microsoft.com/office/powerpoint/2010/main" val="50455774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6,583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5434DA4B-CA9D-DEB2-ACA4-90B75B2BC772}"/>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n-lt"/>
                          <a:ea typeface="KoPub돋움체_Pro Bold" pitchFamily="18" charset="-127"/>
                          <a:cs typeface="Noto Sans" panose="020B0502040504020204" pitchFamily="34" charset="0"/>
                        </a:rPr>
                        <a:t>NẮM GIỮ</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 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(21/07/26)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72,500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7.3%</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DB1B19D8-8B25-74E1-946D-2264F4A1DBB7}"/>
              </a:ext>
            </a:extLst>
          </p:cNvPr>
          <p:cNvSpPr>
            <a:spLocks noChangeArrowheads="1"/>
          </p:cNvSpPr>
          <p:nvPr/>
        </p:nvSpPr>
        <p:spPr bwMode="auto">
          <a:xfrm>
            <a:off x="3142100" y="1088740"/>
            <a:ext cx="8593283" cy="301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500"/>
              </a:spcAft>
              <a:buClrTx/>
              <a:buSzPct val="130000"/>
              <a:buFontTx/>
              <a:buNone/>
              <a:tabLst/>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iểm</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đầu</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tư</a:t>
            </a:r>
            <a:endPar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lvl="0" algn="just" fontAlgn="ctr" latinLnBrk="0">
              <a:lnSpc>
                <a:spcPts val="1200"/>
              </a:lnSpc>
              <a:spcAft>
                <a:spcPts val="500"/>
              </a:spcAft>
              <a:buSzPct val="130000"/>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1H26 thấp hơn kỳ vọng: </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LNTT 1H26 đạt 4,136 tỷ đồng (-43.6% CK), hoàn thành 51% kế hoạch năm 8,100 tỷ đồng. Với 2,106 tỷ đồng ghi nhận trong Q1/2026, LNTT Q2/2026 ước tính khoảng 2,030 tỷ đồng. Mức sụt giảm đến từ việc NIM tiếp tục thu hẹp trong bối cảnh cạnh tranh huy động gay gắt và từ chi phí dự phòng tăng đáng kể, sau mức 2,024 tỷ đồng của Q1/2026 và hơn 11,300 tỷ đồng của cả năm 2025.</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Chất lượng tài sản suy giảm vượt mức ban lãnh đạo dự kiến: tỷ lệ nợ xấu đạt 7.54% cuối Q2/2026, tăng 1.13%p so với đầu năm và hiện cao nhất hệ thống, so với mức ước tính khoảng 5.6% của ban lãnh đạo. Dư nợ nhóm 3-5 tăng khoảng 7,800 tỷ đồng so với đầu năm và 6,500 tỷ đồng so với quý trước, lên 47,957 tỷ đồng, trong đó khoảng 67% (tương đương 32,000 tỷ đồng) được xếp nhóm 5, còn nợ nhóm 4 tăng hơn gấp đôi (+156%). Giả định tỷ lệ nợ xấu FY26F dưới 4.5% của chúng tôi không còn khả thi nếu không đẩy mạnh xóa nợ, và chi phí dự phòng FY26F 10.4 nghìn tỷ đồng (-8.9% CK) là chưa đủ. Cả hai giả định đang được rà soát, cùng với khuyến nghị NẮM GIỮ và giá mục tiêu 77,800 đồng (2.4x P/B FY26F).</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Dự phóng LNTT FY26F vẫn khả thi nhờ nền 2H25 thấp: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a:p>
            <a:pPr marL="171450" indent="-171450" algn="just" fontAlgn="ctr" latinLnBrk="0">
              <a:lnSpc>
                <a:spcPts val="1200"/>
              </a:lnSpc>
              <a:spcAft>
                <a:spcPts val="500"/>
              </a:spcAft>
              <a:buSzPct val="130000"/>
              <a:buFont typeface="Arial" panose="020B0604020202020204" pitchFamily="34" charset="0"/>
              <a:buChar char="•"/>
              <a:defRPr/>
            </a:pP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STB ghi nhận 7,331 tỷ đồng LNTT trong 1H25 nhưng chỉ 297 tỷ đồng trong 2H25, do Q4/2025 lỗ trước thuế khoảng 3,360 tỷ đồng với chi phí dự phòng khoảng 9,232 tỷ đồng. Dự phóng LNTT FY26F 8,455 tỷ đồng (+10.8% CK) do đó cần 2H26 đạt khoảng 4,319 tỷ đồng — tương đương khoảng 14 lần nền 2H25, nhưng chỉ cao hơn 4% so với mức của 1H26.</a:t>
            </a:r>
            <a:endPar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kumimoji="1" lang="vi-VN"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Các giả định FY26F còn lại giữ nguyên: NII 27,010 tỷ đồng (+1.2% CK) với tăng trưởng tín dụng 11.7%, NIM 2.94% (-38bps CK), CIR 42.7% (+2.0%p CK) và thu nhập khác 1,327 tỷ đồng (+5% CK); dự phóng LNTT FY26F của chúng tôi vẫn cao hơn kế hoạch 8,100 tỷ đồng đã được ĐHĐCĐ thông qua. Ở diễn biến khác, Sacombank đã thu giữ 507 giấy chứng nhận quyền sử dụng đất thuộc dự án Viva City (Đồng Nai) đối với dư nợ gốc quá hạn gần 350 tỷ đồng và hơn 82 tỷ đồng lãi chậm trả; quy mô dư nợ này chưa trọng yếu với danh mục tín dụng nhưng thể hiện kênh xử lý tài sản đảm bảo mà đà hồi phục của 2H26 phụ thuộc vào.</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r>
            <a:endParaRPr kumimoji="1" lang="vi-VN" altLang="ko-KR" sz="80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marL="171450" lvl="0" indent="-171450" algn="just" fontAlgn="ctr" latinLnBrk="0">
              <a:lnSpc>
                <a:spcPts val="1200"/>
              </a:lnSpc>
              <a:spcAft>
                <a:spcPts val="500"/>
              </a:spcAft>
              <a:buSzPct val="130000"/>
              <a:buFont typeface="Arial" panose="020B0604020202020204" pitchFamily="34" charset="0"/>
              <a:buChar char="•"/>
              <a:defRPr/>
            </a:pPr>
            <a:endPar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r>
              <a:rPr kumimoji="1" lang="vi-VN"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Rủi ro: (1) nợ xấu tiếp tục phát sinh khiến chi phí dự phòng vượt dự phóng FY26F (2) cạnh tranh huy động kéo dài làm NIM tiếp tục thu hẹp (3) tiến độ xử lý tài sản đã thu hồi chậm hơn dự kiến.</a:t>
            </a:r>
          </a:p>
        </p:txBody>
      </p:sp>
      <p:graphicFrame>
        <p:nvGraphicFramePr>
          <p:cNvPr id="16" name="표 14">
            <a:extLst>
              <a:ext uri="{FF2B5EF4-FFF2-40B4-BE49-F238E27FC236}">
                <a16:creationId xmlns:a16="http://schemas.microsoft.com/office/drawing/2014/main" id="{043C02F0-1467-A4FD-BD87-931B5241F4B9}"/>
              </a:ext>
            </a:extLst>
          </p:cNvPr>
          <p:cNvGraphicFramePr>
            <a:graphicFrameLocks noGrp="1"/>
          </p:cNvGraphicFramePr>
          <p:nvPr/>
        </p:nvGraphicFramePr>
        <p:xfrm>
          <a:off x="6010273" y="4183739"/>
          <a:ext cx="5718758" cy="2312310"/>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7870">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mj-lt"/>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mj-lt"/>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ngoài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7870">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hoạt</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7870">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7870">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a:t>
                      </a:r>
                      <a:r>
                        <a:rPr lang="en-US" sz="800" b="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sản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7870">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trị</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sổ</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sách</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7870">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Nguồn</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Dữ</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liệu</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công</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ty,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C7171360-BB16-DD37-444C-3DCEDA13B985}"/>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184A992F-1E7A-5127-DB56-72EBCACB5591}"/>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Ngân</a:t>
            </a: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3" name="Picture 2">
            <a:extLst>
              <a:ext uri="{FF2B5EF4-FFF2-40B4-BE49-F238E27FC236}">
                <a16:creationId xmlns:a16="http://schemas.microsoft.com/office/drawing/2014/main" id="{B42DFDAB-BA43-DE40-C1C4-DCD24C19C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44">
            <a:extLst>
              <a:ext uri="{FF2B5EF4-FFF2-40B4-BE49-F238E27FC236}">
                <a16:creationId xmlns:a16="http://schemas.microsoft.com/office/drawing/2014/main" id="{B256B368-F20F-E0D5-DDA5-F87362DD709D}"/>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Ngân hàng TMCP Sài Gòn Thương Tín</a:t>
            </a:r>
            <a:r>
              <a:rPr kumimoji="0" lang="vi-VN"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(HOSE: STB)</a:t>
            </a:r>
            <a:endPar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95F78FE9-D9FF-7137-3795-8A780C19462E}"/>
              </a:ext>
            </a:extLst>
          </p:cNvPr>
          <p:cNvPicPr>
            <a:picLocks noChangeAspect="1"/>
          </p:cNvPicPr>
          <p:nvPr/>
        </p:nvPicPr>
        <p:blipFill>
          <a:blip r:embed="rId4"/>
          <a:stretch>
            <a:fillRect/>
          </a:stretch>
        </p:blipFill>
        <p:spPr>
          <a:xfrm>
            <a:off x="3097090" y="4248750"/>
            <a:ext cx="2694666" cy="2011854"/>
          </a:xfrm>
          <a:prstGeom prst="rect">
            <a:avLst/>
          </a:prstGeom>
        </p:spPr>
      </p:pic>
    </p:spTree>
    <p:extLst>
      <p:ext uri="{BB962C8B-B14F-4D97-AF65-F5344CB8AC3E}">
        <p14:creationId xmlns:p14="http://schemas.microsoft.com/office/powerpoint/2010/main" val="33448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60211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fontAlgn="base" latinLnBrk="1" hangingPunct="0">
              <a:lnSpc>
                <a:spcPct val="120000"/>
              </a:lnSpc>
              <a:spcBef>
                <a:spcPct val="0"/>
              </a:spcBef>
              <a:spcAft>
                <a:spcPct val="0"/>
              </a:spcAft>
              <a:tabLst>
                <a:tab pos="247650" algn="l"/>
              </a:tabLst>
            </a:pPr>
            <a:r>
              <a:rPr kumimoji="1" lang="en-US" altLang="ko-KR" sz="1200" b="1" dirty="0">
                <a:solidFill>
                  <a:srgbClr val="F58220"/>
                </a:solidFill>
                <a:latin typeface="Noto Sans" panose="020B0502040504020204" pitchFamily="34" charset="0"/>
                <a:ea typeface="나눔고딕" pitchFamily="50" charset="-127"/>
              </a:rPr>
              <a:t>Resilient growth at a two-year-low valuation</a:t>
            </a: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10,848</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18.1</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13.1</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107,150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1,703.5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89.5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34.8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62,800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111,600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(Update</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j-lt"/>
                          <a:ea typeface="Noto Sans" panose="020B0502040504020204" pitchFamily="34" charset="0"/>
                          <a:cs typeface="Noto Sans" panose="020B0502040504020204" pitchFamily="34" charset="0"/>
                        </a:rPr>
                        <a:t>BUY</a:t>
                      </a:r>
                      <a:endParaRPr lang="ko-KR"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78,750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Current price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(24/07/26)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62,900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25%</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35750" y="1130779"/>
            <a:ext cx="8593283" cy="305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results tracking ahead of the annual plan: revenue reached VND26,269bn (+12.6% YoY) and PBT VND5,714bn (+18.1% YoY), completing 45%/49% of the FY26 revenue/PBT plan, with the group PBT margin widening to 21.8%. In 2Q26 alone, revenue was VND13,789bn, PBT VND2,910bn and NPATMI VND2,568bn (+14% YoY). By segment, Technology revenue reached VND23,138bn (+15% YoY; 88% of group) and PBT VND3,314bn (+16.9% YoY) on a 14.3% margin; Education, investment and others declined 2.1% to VND3,131bn yet still contributed 42% of group PBT on a ~77% margin.</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Public-sector digitalization underpins the domestic pipeline: Domestic IT was the fastest-growing segment in 6M26 at VND4,236bn (+22.5% YoY), with segment PBT doubling to VND308bn on public-sector wins under the national digital-transformation programme — multi-year work with limited exposure to the global IT cycle, though its 7.3% margin dilutes the blend as it scales. Global IT reaccelerates to +15.5% in FY27F and +16.0% in FY28F, from the +14.7% assumed for FY26F and +13.4% delivered in 1H26, with the US book cut to +5.9% on bid-price competition.</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The de-rating reflects the AI debate: demand expansion versus compression of headcount-based pricing. Infosys guides FY27 to 1.5-3.0%; FPT’s Global IT grew 13.4%.</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Projection and valuation: we forecast FY26F NPATMI of VND10,848bn (+14.6% YoY), FY27F VND12,497bn (+15.2% YoY) and FY28F VND14,459bn (+15.7% YoY), taking 2H26 at +15% YoY against the +14.2% delivered in 1H26. Two named assumptions carry the step up in FY27-28F: Global IT reaccelerating to +15.5% then +16.0%, and associate income to +16% from +14%. Domestic IT is held at +12% and Education at +5% after a 2.1% decline in 1H26. Note that NPATMI grew 14.2% while PBT grew 18.1%: equity income is already taxed at the investee, so PBT growth overstates what accrues to shareholders. Every ratio is held at what 1H26 delivered - gross margin 32.4%, operating expenses within 16bp of the 17.6% of sales delivered in 1H26, and a 15.6% tax rate applied to the consolidated block only. Associate income from FPT Telecom (45.66%, equity-accounted from FY26), FPT Retail (46.54%), Synnex FPT (48.00%) and FPT Online was VND1,423bn in 1H26; we carry VND2,847bn in FY26F growing ~14% p.a. Net financial income of VND830bn assumes the VND19.4tn term-deposit book keeps the 5.86% yield it earned in 1H26 and compounds at ~11% p.a., with no further FX gains or investment provisions. ROE holds near 27%, supported by net cash of around 60% of equity and a maintained DPS of VND2,000. We have taken the pricing risk into the discount rate rather than the earnings line: the equity risk premium is raised to 8.9% from 7.8% and long-term growth cut to 1.5% from 2.5%, lowering our DCF (FCFF) target price to VND78,750 from VND91,570. At VND62,900, down 40% year-to-date on heavy foreign selling, the stock trades at 10.5x FY26F earnings against a five-year median above 18x, implying 25% upside (BUY). AI-related newsflow has stayed supportive through the de-rating, including an expanded partnership with Microsoft across ASEAN, Japan and Korea, an AI contract worth tens of millions of USD with a European materials group, six AI agreements in Thailand and Singapore, and data-intermediary certification with the Ministry of Public Security’s National Data Centre. Risks: (1) AI-driven price deflation passing through faster than our long-term growth assumption allows (2) subdued US and global IT spending and tariff-related contract delays (3) JPY/USD volatility.</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nvGraphicFramePr>
        <p:xfrm>
          <a:off x="6010273" y="4182363"/>
          <a:ext cx="5729627" cy="2258568"/>
        </p:xfrm>
        <a:graphic>
          <a:graphicData uri="http://schemas.openxmlformats.org/drawingml/2006/table">
            <a:tbl>
              <a:tblPr firstRow="1" firstCol="1" bandRow="1">
                <a:tableStyleId>{5C22544A-7EE6-4342-B048-85BDC9FD1C3A}</a:tableStyleId>
              </a:tblPr>
              <a:tblGrid>
                <a:gridCol w="1385951">
                  <a:extLst>
                    <a:ext uri="{9D8B030D-6E8A-4147-A177-3AD203B41FA5}">
                      <a16:colId xmlns:a16="http://schemas.microsoft.com/office/drawing/2014/main" val="20000"/>
                    </a:ext>
                  </a:extLst>
                </a:gridCol>
                <a:gridCol w="747166">
                  <a:extLst>
                    <a:ext uri="{9D8B030D-6E8A-4147-A177-3AD203B41FA5}">
                      <a16:colId xmlns:a16="http://schemas.microsoft.com/office/drawing/2014/main" val="20001"/>
                    </a:ext>
                  </a:extLst>
                </a:gridCol>
                <a:gridCol w="719302">
                  <a:extLst>
                    <a:ext uri="{9D8B030D-6E8A-4147-A177-3AD203B41FA5}">
                      <a16:colId xmlns:a16="http://schemas.microsoft.com/office/drawing/2014/main" val="20002"/>
                    </a:ext>
                  </a:extLst>
                </a:gridCol>
                <a:gridCol w="719302">
                  <a:extLst>
                    <a:ext uri="{9D8B030D-6E8A-4147-A177-3AD203B41FA5}">
                      <a16:colId xmlns:a16="http://schemas.microsoft.com/office/drawing/2014/main" val="20003"/>
                    </a:ext>
                  </a:extLst>
                </a:gridCol>
                <a:gridCol w="719302">
                  <a:extLst>
                    <a:ext uri="{9D8B030D-6E8A-4147-A177-3AD203B41FA5}">
                      <a16:colId xmlns:a16="http://schemas.microsoft.com/office/drawing/2014/main" val="20004"/>
                    </a:ext>
                  </a:extLst>
                </a:gridCol>
                <a:gridCol w="719302">
                  <a:extLst>
                    <a:ext uri="{9D8B030D-6E8A-4147-A177-3AD203B41FA5}">
                      <a16:colId xmlns:a16="http://schemas.microsoft.com/office/drawing/2014/main" val="20005"/>
                    </a:ext>
                  </a:extLst>
                </a:gridCol>
                <a:gridCol w="7193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Revenue (VNDbn)</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52,618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62,849</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70,208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57,195</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65,027</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74,232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8,452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10,508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11,079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8,475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750" b="0" i="0" u="none" strike="noStrike">
                          <a:effectLst/>
                          <a:latin typeface="Noto Sans" panose="020B0502040504020204" pitchFamily="34" charset="0"/>
                        </a:rPr>
                        <a:t>9,626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750" b="0" i="0" u="none" strike="noStrike">
                          <a:effectLst/>
                          <a:latin typeface="Noto Sans" panose="020B0502040504020204" pitchFamily="34" charset="0"/>
                        </a:rPr>
                        <a:t>11,117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9,203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11,070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12,321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14,189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16,416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6,465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7,857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10,848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12,497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14,459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4,648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4,877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5,073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5,993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6,904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7,988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60,283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72,000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88,090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91,940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102,964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115,925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29,883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35,678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43,702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50,157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58,319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68,504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19,665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20,253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21,418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25,109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29,770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dirty="0">
                          <a:solidFill>
                            <a:srgbClr val="000000"/>
                          </a:solidFill>
                          <a:effectLst/>
                          <a:latin typeface="Noto Sans" panose="020B0502040504020204" pitchFamily="34" charset="0"/>
                        </a:rPr>
                        <a:t>35,575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Note: FPT Telecom deconsolidated (equity method) from FY26F. Source: Company data,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fontAlgn="base" latinLnBrk="1">
              <a:spcBef>
                <a:spcPct val="0"/>
              </a:spcBef>
              <a:spcAft>
                <a:spcPct val="0"/>
              </a:spcAft>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IT</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sp>
        <p:nvSpPr>
          <p:cNvPr id="2" name="제목 44">
            <a:extLst>
              <a:ext uri="{FF2B5EF4-FFF2-40B4-BE49-F238E27FC236}">
                <a16:creationId xmlns:a16="http://schemas.microsoft.com/office/drawing/2014/main" id="{1EDE874D-5357-ECB1-54CD-6E97B08F1E3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fontAlgn="base" latinLnBrk="1">
              <a:spcBef>
                <a:spcPct val="0"/>
              </a:spcBef>
              <a:spcAft>
                <a:spcPct val="0"/>
              </a:spcAft>
              <a:defRPr/>
            </a:pPr>
            <a:r>
              <a:rPr lang="en-US" altLang="ko-KR" b="1" dirty="0">
                <a:solidFill>
                  <a:srgbClr val="000000">
                    <a:lumMod val="85000"/>
                    <a:lumOff val="15000"/>
                  </a:srgbClr>
                </a:solidFill>
              </a:rPr>
              <a:t>FPT Corporation (HOSE: FPT)</a:t>
            </a:r>
          </a:p>
        </p:txBody>
      </p:sp>
      <p:sp>
        <p:nvSpPr>
          <p:cNvPr id="6" name="TextBox 5">
            <a:extLst>
              <a:ext uri="{FF2B5EF4-FFF2-40B4-BE49-F238E27FC236}">
                <a16:creationId xmlns:a16="http://schemas.microsoft.com/office/drawing/2014/main" id="{FEFCB194-3326-4D86-FED0-39A53B2CE388}"/>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17" name="TextBox 16"/>
          <p:cNvSpPr txBox="1"/>
          <p:nvPr/>
        </p:nvSpPr>
        <p:spPr>
          <a:xfrm>
            <a:off x="3127248" y="4178808"/>
            <a:ext cx="2624328" cy="2020824"/>
          </a:xfrm>
          <a:prstGeom prst="rect">
            <a:avLst/>
          </a:prstGeom>
          <a:noFill/>
        </p:spPr>
        <p:txBody>
          <a:bodyPr wrap="square">
            <a:spAutoFit/>
          </a:bodyPr>
          <a:lstStyle/>
          <a:p>
            <a:r>
              <a:rPr sz="900"/>
              <a:t>[12M price performance vs VN-Index — update chart from FiinPro export]</a:t>
            </a:r>
          </a:p>
        </p:txBody>
      </p:sp>
    </p:spTree>
    <p:extLst>
      <p:ext uri="{BB962C8B-B14F-4D97-AF65-F5344CB8AC3E}">
        <p14:creationId xmlns:p14="http://schemas.microsoft.com/office/powerpoint/2010/main" val="150929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6809-FBE0-1EE6-873D-19A397544DFA}"/>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28F25DAC-D395-7570-1EBD-07B3A6C19EEC}"/>
              </a:ext>
            </a:extLst>
          </p:cNvPr>
          <p:cNvSpPr>
            <a:spLocks noChangeArrowheads="1"/>
          </p:cNvSpPr>
          <p:nvPr/>
        </p:nvSpPr>
        <p:spPr bwMode="auto">
          <a:xfrm>
            <a:off x="448250" y="692696"/>
            <a:ext cx="62497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hangingPunct="0">
              <a:lnSpc>
                <a:spcPct val="120000"/>
              </a:lnSpc>
              <a:tabLst>
                <a:tab pos="247650" algn="l"/>
              </a:tabLst>
            </a:pPr>
            <a:r>
              <a:rPr lang="en-US" altLang="ko-KR" sz="1200" b="1" dirty="0">
                <a:solidFill>
                  <a:srgbClr val="F58220"/>
                </a:solidFill>
                <a:latin typeface="Noto Sans" panose="020B0502040504020204" pitchFamily="34" charset="0"/>
              </a:rPr>
              <a:t>Tăng trưởng bền bỉ, định giá về đáy 2 năm</a:t>
            </a:r>
            <a:endParaRPr lang="vi-VN" altLang="ko-KR" sz="1200" b="1" dirty="0">
              <a:solidFill>
                <a:srgbClr val="F58220"/>
              </a:solidFill>
              <a:latin typeface="Noto Sans" panose="020B0502040504020204" pitchFamily="34" charset="0"/>
            </a:endParaRPr>
          </a:p>
        </p:txBody>
      </p:sp>
      <p:graphicFrame>
        <p:nvGraphicFramePr>
          <p:cNvPr id="11" name="표 10">
            <a:extLst>
              <a:ext uri="{FF2B5EF4-FFF2-40B4-BE49-F238E27FC236}">
                <a16:creationId xmlns:a16="http://schemas.microsoft.com/office/drawing/2014/main" id="{BDC5B537-832B-E271-4614-40A8A0D1FC57}"/>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1B2DFC17-7750-5C3F-E5C4-A0F1F7D032C3}"/>
              </a:ext>
            </a:extLst>
          </p:cNvPr>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LNST-CĐTS (26F, tỷ đồng)</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10,848</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18.1</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13.1</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107,150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1,703.5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89.5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34.8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62,800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111,600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E2C05D81-3F5E-8CBF-DE30-095022709D34}"/>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MUA</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78,750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(24/07/26)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62,900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25%</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6985EDC9-4B95-8C93-90E9-135FA09846C9}"/>
              </a:ext>
            </a:extLst>
          </p:cNvPr>
          <p:cNvSpPr>
            <a:spLocks noChangeArrowheads="1"/>
          </p:cNvSpPr>
          <p:nvPr/>
        </p:nvSpPr>
        <p:spPr bwMode="auto">
          <a:xfrm>
            <a:off x="3135750" y="1128058"/>
            <a:ext cx="8593283" cy="295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iểm</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đầu tư</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1H26 vượt tiến độ kế hoạch năm: doanh thu đạt 26,269 tỷ đồng (+12.6% CK) và LNTT 5,714 tỷ đồng (+18.1% CK), hoàn thành 45%/49% kế hoạch doanh thu/lợi nhuận năm; biên LNTT toàn tập đoàn mở rộng lên 21.8%. Riêng Q2/2026, doanh thu đạt 13,789 tỷ đồng, LNTT 2,910 tỷ đồng và LNST-CĐTS 2,568 tỷ đồng (+14% CK). Theo mảng, Công nghệ đạt 23,138 tỷ đồng (+15% CK; 88% doanh thu tập đoàn) và LNTT 3,314 tỷ đồng (+16.9% CK) với biên 14.3%; Giáo dục, đầu tư và khác giảm 2.1% về 3,131 tỷ đồng nhưng vẫn đóng góp 42% LNTT tập đoàn với biên khoảng 77%.</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Số hóa khu vực công là nền tảng của danh mục trong nước: CNTT trong nước là mảng tăng trưởng nhanh nhất trong 6T26, đạt 4,236 tỷ đồng (+22.5% CK), LNTT mảng tăng gấp đôi lên 308 tỷ đồng nhờ trúng thầu khu vực công thuộc chương trình chuyển đổi số quốc gia — nguồn việc kéo dài nhiều năm, ít phụ thuộc chu kỳ CNTT toàn cầu, tuy biên 7.3% sẽ làm loãng biên chung khi mở rộng. CNTT nước ngoài tăng tốc lên +15.5% trong FY27F và +16.0% trong FY28F, từ mức +14.7% của FY26F và +13.4% đã thực hiện trong 1H26, với thị trường Mỹ hạ về +5.9% do cạnh tranh giá thầu.</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Mức chiết khấu phản ánh tranh luận về AI: mở rộng nhu cầu hay thu hẹp mô hình định giá theo nhân sự. Infosys dự báo FY27 chỉ 1.5-3.0%; CNTT nước ngoài của FPT tăng 13.4%.</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Dự phóng và định giá: chúng tôi dự phóng LNST-CĐTS FY26F đạt 10,848 tỷ đồng (+14.6% CK), FY27F 12,497 tỷ đồng (+15.2% CK) và FY28F 14,459 tỷ đồng (+15.7% CK), với giả định 2H26 tăng 15% CK so với mức +14.2% đã thực hiện trong 1H26. Mức tăng tốc của FY27-28F dựa trên hai giả định được nêu rõ: CNTT nước ngoài lên +15.5% rồi +16.0%, và lợi nhuận từ công ty liên kết lên +16% từ +14%. CNTT trong nước giữ +12% và Giáo dục giữ +5% sau khi giảm 2.1% trong 1H26. LNST-CĐTS 1H26 tăng 14.2% trong khi LNTT tăng 18.1% do lợi nhuận từ công ty liên kết đã chịu thuế tại đơn vị được đầu tư, nên tăng trưởng LNTT phóng đại phần thuộc về cổ đông. Mọi tỷ lệ được giữ đúng mức 1H26 đã thực hiện: biên lợi nhuận gộp 32.4%, chi phí bán hàng và quản lý trong khoảng 16bp quanh mức 17.6% doanh thu của 1H26, thuế suất 15.6% chỉ áp trên phần hợp nhất. Lợi nhuận từ công ty liên kết — FPT Telecom (45.66%, hạch toán theo phương pháp VCSH từ FY26), FPT Retail (46.54%), Synnex FPT (48.00%) và FPT Online — đạt 1,423 tỷ đồng trong 1H26; chúng tôi ghi nhận 2,847 tỷ đồng cho FY26F, tăng khoảng 14%/năm. Lãi hoạt động tài chính thuần 830 tỷ đồng giả định danh mục tiền gửi có kỳ hạn 19.4 nghìn tỷ giữ suất sinh lời 5.86% của 1H26 và tăng khoảng 11%/năm, không giả định thêm lãi tỷ giá hay hoàn nhập dự phòng đầu tư. ROE duy trì quanh 27%, nhờ tiền ròng khoảng 60% VCSH và cổ tức tiền mặt 2,000 đồng/cp. Chúng tôi phản ánh rủi ro giá vào tỷ lệ chiết khấu thay vì dự phóng lợi nhuận: phần bù rủi ro vốn cổ phần nâng lên 8.9% từ 7.8% và tăng trưởng dài hạn hạ về 1.5% từ 2.5%, đưa giá mục tiêu DCF (FCFF) xuống 78,750 đồng từ 91,570 đồng. Tại mức 62,900 đồng, giảm 40% từ đầu năm do khối ngoại bán ròng mạnh, cổ phiếu giao dịch ở 10.5x P/E FY26F so với trung vị 5 năm trên 18x, tương ứng tiềm năng tăng 25% (MUA). Thông tin liên quan AI vẫn tích cực: mở rộng hợp tác với Microsoft tại ASEAN, Nhật Bản và Hàn Quốc; hợp đồng AI hàng chục triệu USD với một tập đoàn vật liệu châu Âu; sáu thỏa thuận AI tại Thái Lan và Singapore; và chứng nhận trung gian dữ liệu với Trung tâm Dữ liệu quốc gia — Bộ Công an. Rủi ro: (1) giảm phát giá do AI diễn ra nhanh hơn mức giả định tăng trưởng dài hạn của chúng tôi (2) chi tiêu CNTT tại Mỹ và toàn cầu ở mức thấp cùng việc hợp đồng bị trì hoãn do thuế quan (3) biến động tỷ giá JPY/USD.</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r>
          </a:p>
        </p:txBody>
      </p:sp>
      <p:graphicFrame>
        <p:nvGraphicFramePr>
          <p:cNvPr id="16" name="표 14">
            <a:extLst>
              <a:ext uri="{FF2B5EF4-FFF2-40B4-BE49-F238E27FC236}">
                <a16:creationId xmlns:a16="http://schemas.microsoft.com/office/drawing/2014/main" id="{F62319EB-F7B6-F39F-3DDA-57803733E99B}"/>
              </a:ext>
            </a:extLst>
          </p:cNvPr>
          <p:cNvGraphicFramePr>
            <a:graphicFrameLocks noGrp="1"/>
          </p:cNvGraphicFramePr>
          <p:nvPr/>
        </p:nvGraphicFramePr>
        <p:xfrm>
          <a:off x="6010273" y="4182363"/>
          <a:ext cx="5738041" cy="2258568"/>
        </p:xfrm>
        <a:graphic>
          <a:graphicData uri="http://schemas.openxmlformats.org/drawingml/2006/table">
            <a:tbl>
              <a:tblPr firstRow="1" firstCol="1" bandRow="1">
                <a:tableStyleId>{5C22544A-7EE6-4342-B048-85BDC9FD1C3A}</a:tableStyleId>
              </a:tblPr>
              <a:tblGrid>
                <a:gridCol w="1372235">
                  <a:extLst>
                    <a:ext uri="{9D8B030D-6E8A-4147-A177-3AD203B41FA5}">
                      <a16:colId xmlns:a16="http://schemas.microsoft.com/office/drawing/2014/main" val="20000"/>
                    </a:ext>
                  </a:extLst>
                </a:gridCol>
                <a:gridCol w="665796">
                  <a:extLst>
                    <a:ext uri="{9D8B030D-6E8A-4147-A177-3AD203B41FA5}">
                      <a16:colId xmlns:a16="http://schemas.microsoft.com/office/drawing/2014/main" val="20001"/>
                    </a:ext>
                  </a:extLst>
                </a:gridCol>
                <a:gridCol w="740002">
                  <a:extLst>
                    <a:ext uri="{9D8B030D-6E8A-4147-A177-3AD203B41FA5}">
                      <a16:colId xmlns:a16="http://schemas.microsoft.com/office/drawing/2014/main" val="20002"/>
                    </a:ext>
                  </a:extLst>
                </a:gridCol>
                <a:gridCol w="740002">
                  <a:extLst>
                    <a:ext uri="{9D8B030D-6E8A-4147-A177-3AD203B41FA5}">
                      <a16:colId xmlns:a16="http://schemas.microsoft.com/office/drawing/2014/main" val="20003"/>
                    </a:ext>
                  </a:extLst>
                </a:gridCol>
                <a:gridCol w="740002">
                  <a:extLst>
                    <a:ext uri="{9D8B030D-6E8A-4147-A177-3AD203B41FA5}">
                      <a16:colId xmlns:a16="http://schemas.microsoft.com/office/drawing/2014/main" val="20004"/>
                    </a:ext>
                  </a:extLst>
                </a:gridCol>
                <a:gridCol w="740002">
                  <a:extLst>
                    <a:ext uri="{9D8B030D-6E8A-4147-A177-3AD203B41FA5}">
                      <a16:colId xmlns:a16="http://schemas.microsoft.com/office/drawing/2014/main" val="20005"/>
                    </a:ext>
                  </a:extLst>
                </a:gridCol>
                <a:gridCol w="7400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Doanh thu (tỷ đồng)</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52,618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62,849</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70,208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57,195</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65,027</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74,232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 hoạt động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8,452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10,508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11,079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8,475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9,626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11,117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LNTT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9,203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12,321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14,189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16,416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LNST-CĐTS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6,465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7,857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10,848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12,497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14,459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4,648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4,877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5,073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5,993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6,904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7,988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 tài sản (tỷ đồng)</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60,283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72,000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88,090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91,940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102,964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115,925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(tỷ đồng)</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29,883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35,678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43,702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50,157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58,319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68,504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 trị sổ sách (đồng)</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19,665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20,253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21,418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25,109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29,770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35,575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Ghi chú: FPT Telecom hợp nhất theo phương pháp VCSH từ FY26F. Nguồn: Dữ liệu công ty,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4C4760AF-4369-F93D-7CB6-D6E086C5AD66}"/>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lvl="0" algn="ctr" fontAlgn="base" latinLnBrk="1">
              <a:spcBef>
                <a:spcPct val="0"/>
              </a:spcBef>
              <a:spcAft>
                <a:spcPct val="0"/>
              </a:spcAft>
              <a:defRPr/>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Công nghệ</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sp>
        <p:nvSpPr>
          <p:cNvPr id="5" name="제목 44">
            <a:extLst>
              <a:ext uri="{FF2B5EF4-FFF2-40B4-BE49-F238E27FC236}">
                <a16:creationId xmlns:a16="http://schemas.microsoft.com/office/drawing/2014/main" id="{95D6092A-66F0-D1E6-1994-25C96AD9D2A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a:defRPr/>
            </a:pPr>
            <a:r>
              <a:rPr lang="en-US" b="1" dirty="0"/>
              <a:t>CTCP FPT (HOSE: FPT)</a:t>
            </a:r>
          </a:p>
        </p:txBody>
      </p:sp>
      <p:sp>
        <p:nvSpPr>
          <p:cNvPr id="6" name="TextBox 5">
            <a:extLst>
              <a:ext uri="{FF2B5EF4-FFF2-40B4-BE49-F238E27FC236}">
                <a16:creationId xmlns:a16="http://schemas.microsoft.com/office/drawing/2014/main" id="{1CE97FB1-8D6A-1DB9-A6D7-647EF07613CC}"/>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17" name="TextBox 16"/>
          <p:cNvSpPr txBox="1"/>
          <p:nvPr/>
        </p:nvSpPr>
        <p:spPr>
          <a:xfrm>
            <a:off x="3099816" y="4306824"/>
            <a:ext cx="2697480" cy="2011680"/>
          </a:xfrm>
          <a:prstGeom prst="rect">
            <a:avLst/>
          </a:prstGeom>
          <a:noFill/>
        </p:spPr>
        <p:txBody>
          <a:bodyPr wrap="square">
            <a:spAutoFit/>
          </a:bodyPr>
          <a:lstStyle/>
          <a:p>
            <a:r>
              <a:rPr sz="900"/>
              <a:t>[Biểu đồ giá 12T so với VN-Index — cập nhật từ FiinPro]</a:t>
            </a:r>
          </a:p>
        </p:txBody>
      </p:sp>
    </p:spTree>
    <p:extLst>
      <p:ext uri="{BB962C8B-B14F-4D97-AF65-F5344CB8AC3E}">
        <p14:creationId xmlns:p14="http://schemas.microsoft.com/office/powerpoint/2010/main" val="17428859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3518</Words>
  <Application>Microsoft Office PowerPoint</Application>
  <PresentationFormat>Widescreen</PresentationFormat>
  <Paragraphs>547</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Noto Sans</vt:lpstr>
      <vt:lpstr>Symbol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 Ton Dat</dc:creator>
  <cp:lastModifiedBy>Quan, Ton Dat</cp:lastModifiedBy>
  <cp:revision>10</cp:revision>
  <dcterms:created xsi:type="dcterms:W3CDTF">2026-06-23T08:27:54Z</dcterms:created>
  <dcterms:modified xsi:type="dcterms:W3CDTF">2026-06-25T04:05:06Z</dcterms:modified>
</cp:coreProperties>
</file>