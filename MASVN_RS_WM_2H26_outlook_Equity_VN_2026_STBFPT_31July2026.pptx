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increased by approximately VND7,800bn year-to-date and VND6,500bn quarter-on-quarter to VND47,957bn, of which around 67% (approximately VND32,000bn) is classified as Group 5, while Group 4 more than doubled (+156%). Our FY26F assumption of an NPL ratio below 4.5% is no longer attainable without a substantial acceleration in write-offs, and FY26F provisioning of VND10.4tn (-8.9% YoY) appears insufficient. Both assumptions are under review, together with the HOLD rating and the VND77,800 target price (2.4x FY26F P/B).</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remains attainable on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Our FY26F PBT forecast of VND8,455bn (+10.8% YoY) therefore requires 2H26 PBT of approximately VND4,319bn — around 14x the 2H25 base, but only 4% above the 1H26 level. Other FY26F assumptions are unchanged: NII of VND27,010bn (+1.2% YoY) on 11.7% loan growth, NIM of 2.94% (-38bps YoY), CIR of 42.7% (+2.0%p YoY) and NOI of VND1,327bn (+5% YoY). Separately, STB has taken possession of 507 land-use right certificates at LDG’s Viva City project in Dong Nai against overdue principal of nearly VND350bn and more than VND82bn of accrued overdue interest; the exposure is immaterial to the overall portfolio but illustrates the collateral-resolution channel on which the 2H26 recovery depends.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hiện cao nhất hệ thống, so với mức ước tính khoảng 5.6% của ban lãnh đạo. Dư nợ nhóm 3-5 tăng khoảng 7,800 tỷ đồng so với đầu năm và 6,500 tỷ đồng so với quý trước, lên 47,957 tỷ đồng, trong đó khoảng 67% (tương đương 32,000 tỷ đồng) được xếp nhóm 5, còn nợ nhóm 4 tăng hơn gấp đôi (+156%). Giả định tỷ lệ nợ xấu FY26F dưới 4.5% của chúng tôi không còn khả thi nếu không đẩy mạnh xóa nợ, và chi phí dự phòng FY26F 10.4 nghìn tỷ đồng (-8.9% CK) là chưa đủ. Cả hai giả định đang được rà soát, cùng với khuyến nghị NẮM GIỮ và giá mục tiêu 77,800 đồng (2.4x P/B FY26F).</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LNTT FY26F vẫn khả thi nhờ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Dự phóng LNTT FY26F 8,455 tỷ đồng (+10.8% CK) do đó cần 2H26 đạt khoảng 4,319 tỷ đồng — tương đương khoảng 14 lần nền 2H25, nhưng chỉ cao hơn 4% so với mức của 1H26.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còn lại giữ nguyên: NII 27,010 tỷ đồng (+1.2% CK) với tăng trưởng tín dụng 11.7%, NIM 2.94% (-38bps CK), CIR 42.7% (+2.0%p CK) và thu nhập khác 1,327 tỷ đồng (+5% CK); dự phóng LNTT FY26F của chúng tôi vẫn cao hơn kế hoạch 8,100 tỷ đồng đã được ĐHĐCĐ thông qua. Ở diễn biến khác, Sacombank đã thu giữ 507 giấy chứng nhận quyền sử dụng đất thuộc dự án Viva City (Đồng Nai) đối với dư nợ gốc quá hạn gần 350 tỷ đồng và hơn 82 tỷ đồng lãi chậm trả; quy mô dư nợ này chưa trọng yếu với danh mục tín dụng nhưng thể hiện kênh xử lý tài sản đảm bảo mà đà hồi phục của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tracking ahead of the annual plan: revenue reached VND26,269bn (+12.6% YoY) and PBT VND5,714bn (+18.1% YoY), completing 45%/49% of the FY26 revenue/PBT plan, with the group PBT margin widening to 21.8%. In 2Q26 alone, revenue was VND13,789bn, PBT VND2,910bn and NPATMI VND2,568bn (+14% YoY). By segment, Technology revenue reached VND23,138bn (+15% YoY; 88% of group) and PBT VND3,314bn (+16.9% YoY) on a 14.3% margin, with Global IT +13.4% and Domestic IT +22.5%; Education, investment and others declined 2.1% to VND3,131bn yet still contributed 42% of group PBT on a margin of approximately 77%.</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was the fastest-growing segment in 6M26 at VND4,236bn (+22.5% YoY), with segment PBT doubling to VND308bn on public-sector contract wins under the national digital-transformation programme. This is multi-year work with limited exposure to the global IT cycle, although its 7.3% margin dilutes the blended margin as it scales. Global IT (VND18,902bn, +13.4% YoY) is expected to reaccelerate to +16.7% in FY27F, led by Japan — 44% of the foreign book — at +22%/+23% and the EU at +18%/+20%, while the US has been trimmed to +5.9% on bid-price competition.</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Share price at a two-year low on sustained foreign selling: FPT closed at VND62,900 on 24/07, its lowest level since October 2023, down approximately 10% in July and 40% year-to-date. This equates to around VND114tn (US$4.4bn) of market value erased from the peak and has moved the company out of the exchange’s top 10. The principal driver is foreign selling, with net outflows of more than VND16tn year-to-date, the largest of any listed stock, alongside concern over slowing global IT-services growth; the heaviest session was 15/07, when FPT declined 5% to VND66,800 on VND346bn of net foreign selling. That pressure has moderated in late July as domestic flows absorbed supply. Corporate developments have remained supportive: an expanded AI partnership with Microsoft across ASEAN, Japan and Korea (25/06); an AI contract worth tens of millions of USD with a European materials group; six AI agreements in Thailand and Singapore; three digital and quantum-technology agreements with Hanoi (29/06); and data-intermediary certification together with a cooperation agreement with the Ministry of Public Security’s National Data Centre (15/07).</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VND10,943bn (+15.6% YoY), FY27F VND12,518bn (+14.4% YoY) and FY28F VND14,156bn (+13.1% YoY), assuming FPT Telecom associate income grows approximately 15% p.a. Net margin is expected to widen toward 20% and ROE to hold near 27.5%, supported by a net cash position of around 60% of equity and a maintained DPS of VND2,000. Our DCF (FCFF)-based target price is VND78,750; at VND62,900 the stock trades at 10.4x FY26F earnings against a five-year median above 18x, implying 25% upside (BUY). Risks: (1) subdued US and global IT spending (2) contract delays related to tariffs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10,859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12,325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14,973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16,931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12,518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6,916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7,821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102,790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115,120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58,145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67,699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29,681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năm: doanh thu đạt 26,269 tỷ đồng (+12.6% CK) và LNTT 5,714 tỷ đồng (+18.1% CK), hoàn thành 45%/49% kế hoạch doanh thu/lợi nhuận năm; biên LNTT toàn tập đoàn mở rộng lên 21.8%. Riêng Q2/2026, doanh thu đạt 13,789 tỷ đồng, LNTT 2,910 tỷ đồng và LNST-CĐTS 2,568 tỷ đồng (+14% CK). Theo mảng, Công nghệ đạt 23,138 tỷ đồng (+15% CK; 88% doanh thu tập đoàn) và LNTT 3,314 tỷ đồng (+16.9% CK) với biên 14.3%, trong đó CNTT nước ngoài +13.4% và trong nước +22.5%; Giáo dục, đầu tư và khác giảm 2.1% về 3,131 tỷ đồng nhưng vẫn đóng góp 42% LNTT tập đoàn với biên khoảng 77%.</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CNTT trong nước là mảng tăng trưởng nhanh nhất trong 6T26, đạt 4,236 tỷ đồng (+22.5% CK), LNTT mảng tăng gấp đôi lên 308 tỷ đồng nhờ trúng thầu khu vực công thuộc chương trình chuyển đổi số quốc gia. Đây là nguồn việc kéo dài nhiều năm và ít phụ thuộc chu kỳ CNTT toàn cầu, tuy biên 7.3% sẽ làm loãng biên chung khi mảng này mở rộng. CNTT nước ngoài (18,902 tỷ đồng, +13.4% CK) dự kiến tăng tốc lên +16.7% trong FY27F, dẫn dắt bởi Nhật Bản — chiếm 44% doanh thu nước ngoài — ở mức +22%/+23% và châu Âu +18%/+20%, trong khi thị trường Mỹ được điều chỉnh về +5.9% do cạnh tranh giá thầu.</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Thị giá về đáy 2 năm do áp lực bán ròng kéo dài của khối ngoại: FPT đóng cửa 62,900 đồng ngày 24/07, mức thấp nhất kể từ tháng 10/2023, giảm khoảng 10% trong tháng 7 và 40% từ đầu năm. Mức giảm này tương ứng khoảng 114 nghìn tỷ đồng (4.4 tỷ USD) vốn hóa bị xóa so với đỉnh và đưa FPT ra khỏi Top 10 sàn. Nguyên nhân chính là khối ngoại bán ròng hơn 16 nghìn tỷ đồng từ đầu năm, lớn nhất toàn sàn, cùng lo ngại tăng trưởng dịch vụ CNTT toàn cầu chậm lại; phiên bán mạnh nhất là 15/07 khi FPT giảm 5% về 66,800 đồng với 346 tỷ đồng bán ròng. Áp lực này đã giảm bớt trong cuối tháng 7 khi dòng tiền trong nước hấp thụ nguồn cung. Thông tin doanh nghiệp vẫn tích cực: mở rộng hợp tác AI với Microsoft tại ASEAN, Nhật Bản và Hàn Quốc (25/06); hợp đồng AI trị giá hàng chục triệu USD với một tập đoàn vật liệu châu Âu; sáu thỏa thuận AI tại Thái Lan và Singapore; ba thỏa thuận chuyển đổi số và công nghệ lượng tử với Hà Nội (29/06); và chứng nhận trung gian dữ liệu cùng thỏa thuận hợp tác với Trung tâm Dữ liệu quốc gia — Bộ Công an (15/07).</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chúng tôi dự phóng LNST-CĐTS FY26F đạt 10,943 tỷ đồng (+15.6% CK), FY27F 12,518 tỷ đồng (+14.4% CK) và FY28F 14,156 tỷ đồng (+13.1% CK), với giả định lợi nhuận từ FPT Telecom tăng khoảng 15%/năm. Biên lợi nhuận ròng dự kiến mở rộng về khoảng 20% và ROE duy trì quanh 27.5%, được hỗ trợ bởi vị thế tiền ròng khoảng 60% VCSH và mức cổ tức tiền mặt 2,000 đồng/cp. Giá mục tiêu theo phương pháp DCF (FCFF) là 78,750 đồng; tại mức 62,900 đồng, cổ phiếu giao dịch ở 10.4x P/E FY26F so với trung vị 5 năm trên 18x, tương ứng tiềm năng tăng 25% (MUA). Rủi ro: (1) chi tiêu CNTT tại Mỹ và toàn cầu ở mức thấp (2) hợp đồng bị trì hoãn do yếu tố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10,859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12,325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14,973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16,931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12,518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6,916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102,790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115,120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58,145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67,699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29,681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