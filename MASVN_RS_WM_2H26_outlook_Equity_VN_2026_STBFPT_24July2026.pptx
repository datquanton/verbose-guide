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Cleaning up the books</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 </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2Q26 results (preliminary):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PBT is guided at ~VND 1,900–2,000bn (≈-50% YoY), bringing 1H26 PBT to ~VND 4,000–4,100bn (-45% YoY; ~50% of the VND 8,100bn FY26 plan).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Official 2Q26 financial statements are pending — figures reflect CEO Loic Faussier's guidance to press and broker previews (consensus 2Q26 NPAT: ~VND 1,666bn, -42% YoY). The decline is driven by continued NIM compression amid intense deposit competition, and by stepped-up resolution of legacy assets: 2Q26 provisioning is estimated above VND 4,700bn — a record quarterly high and among the highest in the sector — after VND 2,024bn in 1Q26. The NPL ratio is estimated at ~5.6% at end-2Q26 (from 6.62% at end-1Q26) as write-offs and collateral resolution accelerate, though still above the sub-4.5% FY26 target. Recall 1Q26: PBT VND 2,106bn (-42.7% YoY), NII VND 6,042bn (-12.0% YoY), CASA 15.9%, CIR 45.2%.</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Sacombank</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to recover over 500 land-use right certificates at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certificates (LURCs) from LDG’s Viva City project in Dong Nai following LDG’s breach of credit obligations, with overdue principal debt of nearly VND350bn and more than VND82bn in accrued overdue interest. Despite ongoing challenges in real estate market liquidity, the possession of collateral assets enhances STB’s ability to recover non-performing loans. LDG’s outstanding debt exposure remains immaterial to STB’s overall credit portfolio.</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projection: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forecast: We revise our FY26F PBT estimate down to VND8,455bn (+10.8% YoY) from VND9,093bn (+19.2% YoY), with NII reduced from VND28.5tn (+6.8% YoY) to VND27,010bn (+1.2% YoY) due to weaker-than-expected loan growth in 1Q26. Accordingly, we lower our FY26 loan growth forecast to 11.7% from 13.5% and adjust CIR upwards to 42.7% (+2.0%p YoY) due to income compression. Our assumptions for NIM at 2.94% (-38bps YoY), provisioning declining to VND10.4tn (-8.9% YoY) remain intact. Conversely, NOI was revised up to VND1,327bn (+5% YoY), reflecting expectations of accelerated disposal of recovered assets.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Thu </a:t>
            </a:r>
            <a:r>
              <a:rPr kumimoji="1" lang="en-US" altLang="ko-KR" sz="1200" b="1" dirty="0" err="1">
                <a:solidFill>
                  <a:srgbClr val="F58220"/>
                </a:solidFill>
                <a:latin typeface="Noto Sans" panose="020B0502040504020204" pitchFamily="34" charset="0"/>
                <a:ea typeface="나눔고딕" pitchFamily="50" charset="-127"/>
              </a:rPr>
              <a:t>hồi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tài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sản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tồn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đọng</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cải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thiện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dự</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phóng</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Q2/2026 (sơ bộ):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Q2/2026 ước đạt ~1,900–2,000 tỷ đồng (≈-50% CK), đưa LNTT 1H26 lên ~4,000–4,100 tỷ đồng (-45% CK; ~50% kế hoạch năm 8,100 tỷ đồng). BCTC chính thức Q2/2026 chưa công bố — số liệu theo chia sẻ của Tổng giám đốc Loic Faussier với báo chí và dự phóng của các CTCK (LNST Q2/2026 đồng thuận ~1,666 tỷ đồng, -42% CK). Nguyên nhân chính là NIM tiếp tục chịu áp lực trong bối cảnh cạnh tranh huy động gay gắt, cùng việc đẩy mạnh xử lý tài sản tồn đọng: chi phí dự phòng Q2/2026 ước vượt 4,700 tỷ đồng — mức cao kỷ lục theo quý và thuộc nhóm cao nhất ngành — sau mức 2,024 tỷ đồng trong Q1/2026.</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Tỷ lệ NPL cuối Q2/2026 ước ~5.6% (từ 6.62% cuối Q1/2026) nhờ đẩy nhanh xóa nợ và xử lý tài sản đảm bảo, song vẫn cao hơn mục tiêu dưới 4.5% cho FY26. Nhắc lại Q1/2026: LNTT 2,106 tỷ đồng (-42.7% CK), NII 6,042 tỷ đồng (-12.0% CK), CASA 15.9%, CIR 45.2%.</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Sacombank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đã</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thu hồi hơn 500 sổ đỏ tại Viva City của LDG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Dù thanh khoản bất động sản còn thách thức, việc nắm giữ tài sản đảm bảo giúp STB tăng khả năng thu hồi nợ xấu. Quy mô dư nợ LDG hiện chưa đủ lớn để ảnh hưởng đáng kể đến danh mục tín dụng của ngân hàng.</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Chúng tôi điều chỉnh giảm dự phóng LNTT FY26 của STB từ 9,093 tỷ đồng (+19.2%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8,</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455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chủ yếu do tăng trưởng tín dụng thấp hơn kỳ vọng trong Q1/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26. Theo đó, NII được hạ từ 28.5 nghìn tỷ đồng (+6.8%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27,</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010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Ngược lại, thu nhập khác được nâng lên 1,3</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27</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phản ánh kỳ vọng đẩy mạnh xử lý các tài sản đã thu hồi</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Tăng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trưởng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cho</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vay</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10,1%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sv</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16,1% FY25).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NIM đạt 2.9</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4</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bps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chi phí dự phòng 10.5 nghìn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và CIR ở mức 42.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.2%p</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10,884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18.5</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13.1</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(cumulative): revenue VND 26,269bn (+12.6% YoY) and PBT VND 5,714bn (+18.1% YoY), completing 45%/49% of the FY26 revenue/PBT plan. 2Q26 alone: revenue VND 13,789bn, PBT VND 2,910bn (vs VND 12,480bn / VND 2,804bn in 1Q26) and NPATMI VND 2,568bn (+14% YoY). By segment (1H26): Technology revenue VND 23,138bn (+15% YoY; 88% of group revenue) and PBT VND 3,314bn (+16.9% YoY), with Global IT +13.4% and Domestic IT +22.5%; Education, investment &amp; others VND 3,131bn (-2.1% YoY).</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Government digitalization anchors the domestic pipeline: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was the fastest-growing segment in 6M26 at VND 4,236bn (+22.5% YoY), with segment PBT doubling YoY to VND 308bn, on public-sector project wins under the national digital-transformation programme — a multi-year pipeline far less exposed to the global IT-spending cycle. Global IT (VND 18,902bn, +13.4% YoY) is expected to reaccelerate to +16.7% in FY27F, led by Japan (+22%) and the EU (+18%), as AI and digital-transformation mandates convert into bookings. Education capacity (the Hue complex) and data-center expansion provide medium-term optionality.</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&amp;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 10,884bn (+15.0% YoY), FY27F VND 12,451bn (+14.4% YoY) and FY28F VND 14,080bn (+13.1% YoY), with associate income from FPT Telecom assumed to grow ~15% p.a. Our DCF (FCFF)-based target price is VND 78,750; at the current price of VND 62,900 (24/07/26) FPT trades at 10.5x 2026F P/E versus a 5-year median above 18x, implying a 25% expected return (BUY). Risks: soft US/global IT spending, tariff-related deal delays, and JPY/USD FX swings.</a:t>
            </a: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57,165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65,914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76,504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9,741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10,785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12,998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14,892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16,841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10,884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12,451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14,080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6,013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7,779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91,879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102,661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114,915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50,096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58,016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67,493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25,074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29,605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35,036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10,884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18.5</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13.1</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Lũy kế 1H26: doanh thu 26,269 tỷ đồng (+12.6% CK), LNTT 5,714 tỷ đồng (+18.1% CK), hoàn thành 45%/49% kế hoạch doanh thu/LNTT năm 2026. Riêng Q2/2026: doanh thu 13,789 tỷ đồng, LNTT 2,910 tỷ đồng (so với 12,480 tỷ / 2,804 tỷ trong Q1/2026), LNST-CĐTS 2,568 tỷ đồng (+14% CK). Theo mảng (1H26): khối Công nghệ đạt doanh thu 23,138 tỷ đồng (+15% CK; 88% doanh thu tập đoàn), LNTT 3,314 tỷ đồng (+16.9% CK); CNTT nước ngoài +13.4%, CNTT trong nước +22.5%; mảng Giáo dục, đầu tư &amp; khác đạt 3,131 tỷ đồng (-2.1% CK).</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dẫn dắt danh mục dự án trong nước: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là mảng tăng trưởng nhanh nhất trong 6T26, đạt 4,236 tỷ đồng (+22.5% CK) với LNTT mảng tăng gấp đôi lên 308 tỷ đồng, nhờ trúng thầu các dự án khu vực công thuộc chương trình chuyển đổi số quốc gia — nguồn việc nhiều năm và ít chịu ảnh hưởng từ chu kỳ chi tiêu CNTT toàn cầu. CNTT nước ngoài (18,902 tỷ đồng, +13.4% CK) dự kiến tăng tốc trở lại lên +16.7% trong FY27F, dẫn dắt bởi Nhật Bản (+22%) và châu Âu (+18%) khi nhu cầu AI và chuyển đổi số chuyển hóa thành hợp đồng. Năng lực giáo dục (tổ hợp Huế) và mở rộng trung tâm dữ liệu tạo dư địa trung hạn.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&amp; định giá: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dự phóng LNST-CĐTS FY26F đạt 10,884 tỷ đồng (+15.0% CK), FY27F đạt 12,451 tỷ đồng (+14.4% CK) và FY28F đạt 14,080 tỷ đồng (+13.1% CK), với giả định lợi nhuận từ FPT Telecom tăng ~15%/năm. Giá mục tiêu theo DCF (FCFF) là 78,750 đồng/cp; tại thị giá 62,900 đồng (24/07/26), FPT giao dịch ở mức 10.5x P/E 2026F so với trung vị 5 năm trên 18x, tương ứng lợi nhuận kỳ vọng 25% (MUA). Rủi ro: chi tiêu CNTT tại Mỹ/toàn cầu suy yếu, trì hoãn hợp đồng do thuế quan, biến động tỷ giá JPY/USD.</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57,165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65,914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76,504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9,741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10,785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12,998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14,892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16,841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10,884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12,451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14,080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6,013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7,779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91,879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102,661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114,915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50,096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58,016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67,493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25,074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29,605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35,036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