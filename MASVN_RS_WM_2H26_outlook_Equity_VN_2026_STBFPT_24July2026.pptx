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 26,269bn (+12.6% YoY) and PBT VND 5,714bn (+18.1% YoY), completing 45%/49% of the FY26 revenue/PBT plan, with the group PBT margin widening to 21.8%. 2Q26 alone: revenue VND 13,789bn, PBT VND 2,910bn (vs VND 12,480bn / VND 2,804bn in 1Q26) and NPATMI VND 2,568bn (+14% YoY). By segment (1H26): Technology revenue VND 23,138bn (+15% YoY; 88% of group revenue) and PBT VND 3,314bn (+16.9% YoY) on a 14.3% margin, with Global IT +13.4% and Domestic IT +22.5%; Education, investment &amp; others revenue fell 2.1% to VND 3,131bn yet still delivered 42% of group PBT on a ~77% margin.</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Government digitalization anchors the domestic pipeline: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was the fastest-growing segment in 6M26 at VND 4,236bn (+22.5% YoY), with segment PBT doubling YoY to VND 308bn, on public-sector project wins under the national digital-transformation programme — a multi-year pipeline far less exposed to the global IT-spending cycle, though at a 7.3% margin it remains the group's least profitable line, so the mix shift dilutes blended margins as it scales. Global IT (VND 18,902bn, +13.4% YoY) should reaccelerate to +16.7% in FY27F: we model Japan — 44% of the foreign book — at +22% in FY26F and +23% in FY27F and the EU at +18%/+20%, while trimming the US to +5.9% on bid-price competition and holding APAC at +7%. Education capacity (the Hue complex) and data-center expansion provide medium-term optionality.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10,943bn (+15.6% YoY), FY27F VND 12,518bn (+14.4% YoY) and FY28F VND 14,156bn (+13.1% YoY), with associate income from FPT Telecom assumed to grow ~15% p.a.; net margin widens toward 20% and ROE holds near 27.5%. The balance sheet remains a support — net cash of roughly 60% of equity, cash building to ~VND 17.8tn by FY26F, interest cover above 15x and a maintained VND 2,000 DPS (~2% yield) — which limits the downside if bookings slow. Our DCF (FCFF)-based target price is VND 78,750; at the current price of VND 62,900 (24/07/26) FPT trades at 10.4x 2026F P/E against a 5-year median above 18x, implying a 25% expected return (BUY). Risks: soft US/global IT spending, tariff-related deal delays, and JPY/USD swings, material given Japan's 44% share of foreign revenue.</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đồng (+18.1% CK), hoàn thành 45%/49% kế hoạch doanh thu/LNTT năm 2026; biên LNTT toàn tập đoàn mở rộng lên 21.8%. Riêng Q2/2026: doanh thu 13,789 tỷ đồng, LNTT 2,910 tỷ đồng (so với 12,480 tỷ / 2,804 tỷ trong Q1/2026), LNST-CĐTS 2,568 tỷ đồng (+14% CK). Theo mảng (1H26): khối Công nghệ đạt doanh thu 23,138 tỷ đồng (+15% CK; 88% doanh thu tập đoàn), LNTT 3,314 tỷ đồng (+16.9% CK) với biên 14.3%; CNTT nước ngoài +13.4%, CNTT trong nước +22.5%. Mảng Giáo dục, đầu tư &amp; khác giảm 2.1% về 3,131 tỷ đồng nhưng vẫn đóng góp 42% LNTT tập đoàn với biên ~77%.</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dẫn dắt danh mục dự án trong nước: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trong 6T26, đạt 4,236 tỷ đồng (+22.5% CK) với LNTT mảng tăng gấp đôi lên 308 tỷ đồng, nhờ trúng thầu các dự án khu vực công thuộc chương trình chuyển đổi số quốc gia — nguồn việc nhiều năm và ít chịu ảnh hưởng từ chu kỳ chi tiêu CNTT toàn cầu, song với biên 7.3% đây vẫn là mảng có lợi nhuận thấp nhất, nên việc mở rộng sẽ pha loãng biên chung. CNTT nước ngoài (18,902 tỷ đồng, +13.4% CK) dự kiến tăng tốc lên +16.7% trong FY27F: chúng tôi giả định Nhật Bản — chiếm 44% doanh thu nước ngoài — tăng +22% FY26F và +23% FY27F, châu Âu +18%/+20%, hạ Mỹ về +5.9% do cạnh tranh giá thầu và giữ APAC ở +7%. Năng lực giáo dục (tổ hợp Huế) và mở rộng trung tâm dữ liệu tạo dư địa trung hạn.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10,943 tỷ đồng (+15.6% CK), FY27F 12,518 tỷ đồng (+14.4% CK) và FY28F 14,156 tỷ đồng (+13.1% CK), với giả định lợi nhuận từ FPT Telecom tăng ~15%/năm; biên LN ròng mở rộng về ~20% và ROE duy trì quanh 27.5%. Bảng cân đối vẫn là điểm tựa — tiền ròng tương đương ~60% VCSH, tiền tăng lên ~17.8 nghìn tỷ đồng vào FY26F, hệ số chi trả lãi trên 15 lần và cổ tức 2,000 đồng/cp (~2%) — giúp hạn chế rủi ro giảm nếu đơn hàng chậm lại. Giá mục tiêu theo DCF (FCFF) là 78,750 đồng/cp; tại thị giá 62,900 đồng (24/07/26), FPT giao dịch ở 10.4x P/E 2026F so với trung vị 5 năm trên 18x, tương ứng lợi nhuận kỳ vọng 25% (MUA). Rủi ro: chi tiêu CNTT tại Mỹ/toàn cầu suy yếu, trì hoãn hợp đồng do thuế quan, biến động JPY/USD — đáng lưu ý khi Nhật Bản chiếm 44% doanh thu nước ngoài.</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