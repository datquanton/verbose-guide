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Slow start to the year</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-2.9</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-14.3</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-15.3</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-39.5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1,971</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173.0</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40,048</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1,863</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97.9</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3.0</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18,850</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31,650</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23,400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21,550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9%</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results (disclosed at the July 24 EGM):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 730bn (-51% YoY vs VND 1,488bn in 1H25), fulfilling 41% of the annual plan per management — implying 2Q26 PBT of ~VND 392bn (+16% QoQ; -41% YoY), in line with broker previews (MBS: VND 387bn). At end-2Q26, total assets stood at VND 266.5tn (down ~VND 6tn YTD), customer funding at VND 192.6tn, and loans above VND 200tn. The NPL ratio improved to 2.88% (from 3.07% at end-1Q26), back below the 3% threshold and tracking toward the sub-2.5% year-end target. Liquidity and capital remain comfortable: CAR at 12.5% (vs the 8% minimum), 30-day liquidity ratio above 80%, and LDR ~83% (below the 85% cap). Detailed 2Q26 financial statements are pending.</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EGM reshuffles the board; strategy unchanged: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At the July 24 extraordinary general meeting, shareholders approved the dismissal of three board members and elected five new ones: Nguyễn Lê Quốc Anh (former Techcombank CEO), Michael Richard Harte, Chua Teck Huat Bill, Richa Goswami, and Ooi Huey Tyng. Chairwoman Phạm Thị Huyền Trang affirmed that the development strategy remains unchanged despite senior-leadership turnover. Gelex remains the largest investor with a 10% stake, positioning itself as a long-term strategic holder and signaling intent to raise ownership if regulators approve.</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cut our FY26F PBT forecast to VND 2,464bn (+63% YoY) from VND 3,530bn previously, while lowering our credit-growth assumption from +16% to +14.5%. First, NII growth is reduced from +25.4% to +13.8% to reflect funding costs that are hard to cool down, as the structural shift toward valuable papers is now structural in nature, slowing the NIM recovery path through 2H. Second, provisioning expense is raised to VND 2,101bn (+37.6% YoY) to reflect the asset quality formed in Q1/2026, with Group 2 debt +33% QoQ signaling that credit costs will stay elevated in 2H. The recovery momentum in fee income (+163% YoY to VND 633bn) and the normalization of CIR to 49% are kept unchanged; however, we note that both components are skewed toward 2H. The CIR assumption is based on the expectation that earlier technology investments begin to bear fruit, but it will still depend on an income recovery rather than cost discipline. Our adjusted PBT is VND 949bn higher than management's revised plan (VND 1,515bn) but lower than the original plan of VND 4,066bn.</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        4,597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        5,924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         5,980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        6,805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        8,296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      10,002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 1,958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 2,634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 1,312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 2,145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 2,793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 2,668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3,326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4,211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201,417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239,768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273,270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307,544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348,334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398,004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22,445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25,099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26,006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27,977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31,071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35,282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12,780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13,364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13,847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14,896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16,543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18,786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pic>
        <p:nvPicPr>
          <p:cNvPr id="1026" name="Picture 2" descr="Thương hiệu Eximbank">
            <a:extLst>
              <a:ext uri="{FF2B5EF4-FFF2-40B4-BE49-F238E27FC236}">
                <a16:creationId xmlns:a16="http://schemas.microsoft.com/office/drawing/2014/main" id="{698011D1-D049-51F6-CCDF-4DFAC134B38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4746" t="27646" r="5835" b="7164"/>
          <a:stretch>
            <a:fillRect/>
          </a:stretch>
        </p:blipFill>
        <p:spPr bwMode="auto">
          <a:xfrm>
            <a:off x="10317018" y="714457"/>
            <a:ext cx="1422882" cy="38151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Chart 4">
            <a:extLst>
              <a:ext uri="{FF2B5EF4-FFF2-40B4-BE49-F238E27FC236}">
                <a16:creationId xmlns:a16="http://schemas.microsoft.com/office/drawing/2014/main" id="{8A51B9AA-E9E2-4109-93F1-802FD26A9E40}"/>
              </a:ext>
            </a:extLst>
          </p:cNvPr>
          <p:cNvGraphicFramePr>
            <a:graphicFrameLocks/>
          </p:cNvGraphicFramePr>
          <p:nvPr/>
        </p:nvGraphicFramePr>
        <p:xfrm>
          <a:off x="3124883" y="4182363"/>
          <a:ext cx="2628197" cy="2018430"/>
        </p:xfrm>
        <a:graphic>
          <a:graphicData uri="http://schemas.openxmlformats.org/drawingml/2006/chart">
            <c:chart xmlns:c="http://schemas.openxmlformats.org/drawingml/2006/chart" xmlns:r="http://schemas.openxmlformats.org/officeDocument/2006/relationships" r:id="rId4"/>
          </a:graphicData>
        </a:graphic>
      </p:graphicFrame>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Vietnam Export Import CJSB</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1500" b="1" dirty="0">
                <a:solidFill>
                  <a:srgbClr val="000000">
                    <a:lumMod val="85000"/>
                    <a:lumOff val="15000"/>
                  </a:srgbClr>
                </a:solidFill>
              </a:rPr>
              <a:t>(EIB VN)</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Định </a:t>
            </a:r>
            <a:r>
              <a:rPr lang="en-US" altLang="ko-KR" sz="1200" b="1" dirty="0" err="1">
                <a:solidFill>
                  <a:srgbClr val="F58220"/>
                </a:solidFill>
                <a:latin typeface="Noto Sans" panose="020B0502040504020204" pitchFamily="34" charset="0"/>
              </a:rPr>
              <a:t>hình</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giai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đoạn</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mới</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-14.3</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-15.3</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-39.5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1,971</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73.4</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40,048</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1,863</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97.9</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3.0</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18,850</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31,650</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25,500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21,200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20%</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Q2/2026 (công bố tại ĐHĐCĐ bất thường 24/7):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730 tỷ đồng (-51% CK so với 1,488 tỷ đồng 1H25), hoàn thành 41% kế hoạch năm theo ban lãnh đạo — tương ứng LNTT Q2/2026 ~392 tỷ đồng (+16% QoQ; -41% CK), sát dự báo của các CTCK (MBS: 387 tỷ đồng). Cuối Q2/2026, tổng tài sản đạt 266.5 nghìn tỷ đồng (giảm ~6 nghìn tỷ YTD), vốn huy động 192.6 nghìn tỷ đồng, dư nợ cho vay trên 200 nghìn tỷ đồng. Tỷ lệ NPL cải thiện về 2.88% (từ 3.07% cuối Q1/2026), trở lại dưới ngưỡng 3% và bám sát mục tiêu dưới 2.5% cuối năm. Thanh khoản và vốn ở mức an toàn: CAR 12.5% (quy định tối thiểu 8%), tỷ lệ khả năng chi trả 30 ngày trên 80%, LDR ~83% (dưới trần 85%). BCTC chi tiết Q2/2026 chưa công bố.</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ĐHĐCĐ bất thường kiện toàn HĐQT; chiến lược không đổi: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Tại ĐHĐCĐ bất thường ngày 24/7, cổ đông thông qua miễn nhiệm 3 thành viên HĐQT và bầu bổ sung 5 thành viên mới: ông Nguyễn Lê Quốc Anh (cựu CEO Techcombank), ông Michael Richard Harte, ông Chua Teck Huat Bill, bà Richa Goswami và bà Ooi Huey Tyng. Chủ tịch Phạm Thị Huyền Trang khẳng định chiến lược phát triển không thay đổi dù có biến động nhân sự cấp cao. Gelex hiện là nhà đầu tư lớn nhất với tỷ lệ sở hữu 10%, định vị là nhà đầu tư chiến lược dài hạn và muốn nâng sở hữu nếu được cơ quan quản lý chấp thuận.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dự phóng LNTT FY26F xuống 2,4</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64</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63</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CK) từ mức 3,530 tỷ đồng trước đó</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đồng thời hạ giả định tăng trưởng tín dụng từ +16% xuống +14.5%. Thứ nhất, tăng trưởng NII được hạ từ +25.4% xuống +13</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để phản ánh chi phí huy động khó hạ nhiệt khi sự dịch chuyển cơ cấu sang giấy tờ có giá hiện mang tính cấu trúc, làm chậm lộ trình phục hồi NIM qua 2H. Thứ hai, chi phí dự phòng được nâng lên 2,1</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01</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37.6</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CK) để phản ánh chất lượng tài sản hình thành trong Q</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1/2026</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với Nợ nhóm 2 +33% QoQ báo hiệu chi phí tín dụng tiếp tục ở mức cao trong 2H. Đà phục hồi thu nhập phí (+163% </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lên 633 tỷ đồng) và việc CIR chuẩn hóa về 49% được giữ nguy</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ê</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n</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tuy nhiên, chúng tôi lưu ý cả hai cấu phần này đều dồn về 2H</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Giả</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định</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CIR</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dựa trên kỳ vọng các khoản đầu tư công nghệ trước đây bắt đầu phát huy hiệu quả; </a:t>
            </a:r>
            <a:r>
              <a:rPr kumimoji="1"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nhưng</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vẫn</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sẽ</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phụ thuộc vào sự phục hồi của thu nhập hơn là kỷ luật chi phí. Mức LNTT điều chỉnh của chúng tôi cao hơn </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949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tỷ đồng so với kế hoạch điều chỉnh của ban điều hành (1</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515 tỷ đồng) nhưng thấp hơn so với kế hoạch ban đầu 4</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0</a:t>
            </a: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66</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tỷ đồng.</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4,597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5,924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 5,980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6,805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8,296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10,002 </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1,958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2,634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1,312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2,145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 2,793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2,668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3,326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4,211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201,417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239,768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273,270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307,544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348,334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398,004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22,445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25,099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26,006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27,977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31,071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35,282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12,780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13,364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13,847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14,896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16,543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18,786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Nguồn</a:t>
                      </a:r>
                      <a:r>
                        <a:rPr lang="en-US" sz="800" b="0" i="0" kern="100" spc="0" baseline="0" dirty="0">
                          <a:solidFill>
                            <a:schemeClr val="tx1"/>
                          </a:solidFill>
                          <a:effectLst/>
                          <a:latin typeface="+mj-lt"/>
                          <a:ea typeface="Noto Sans" panose="020B0502040504020204" pitchFamily="34" charset="0"/>
                          <a:cs typeface="Arial" panose="020B0604020202020204" pitchFamily="34" charset="0"/>
                        </a:rPr>
                        <a:t>: </a:t>
                      </a: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Dữ</a:t>
                      </a:r>
                      <a:r>
                        <a:rPr lang="en-US" sz="800" b="0" i="0" kern="100" spc="0" baseline="0" dirty="0">
                          <a:solidFill>
                            <a:schemeClr val="tx1"/>
                          </a:solidFill>
                          <a:effectLst/>
                          <a:latin typeface="+mj-lt"/>
                          <a:ea typeface="Noto Sans" panose="020B0502040504020204" pitchFamily="34" charset="0"/>
                          <a:cs typeface="Arial" panose="020B0604020202020204" pitchFamily="34" charset="0"/>
                        </a:rPr>
                        <a:t> </a:t>
                      </a: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liệu</a:t>
                      </a:r>
                      <a:r>
                        <a:rPr lang="en-US" sz="800" b="0" i="0" kern="100" spc="0" baseline="0" dirty="0">
                          <a:solidFill>
                            <a:schemeClr val="tx1"/>
                          </a:solidFill>
                          <a:effectLst/>
                          <a:latin typeface="+mj-lt"/>
                          <a:ea typeface="Noto Sans" panose="020B0502040504020204" pitchFamily="34" charset="0"/>
                          <a:cs typeface="Arial" panose="020B0604020202020204" pitchFamily="34" charset="0"/>
                        </a:rPr>
                        <a:t> </a:t>
                      </a: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công</a:t>
                      </a:r>
                      <a:r>
                        <a:rPr lang="en-US" sz="800" b="0" i="0" kern="100" spc="0" baseline="0" dirty="0">
                          <a:solidFill>
                            <a:schemeClr val="tx1"/>
                          </a:solidFill>
                          <a:effectLst/>
                          <a:latin typeface="+mj-lt"/>
                          <a:ea typeface="Noto Sans" panose="020B0502040504020204" pitchFamily="34" charset="0"/>
                          <a:cs typeface="Arial" panose="020B0604020202020204" pitchFamily="34" charset="0"/>
                        </a:rPr>
                        <a:t>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Ngân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pic>
        <p:nvPicPr>
          <p:cNvPr id="3" name="Picture 2" descr="Thương hiệu Eximbank">
            <a:extLst>
              <a:ext uri="{FF2B5EF4-FFF2-40B4-BE49-F238E27FC236}">
                <a16:creationId xmlns:a16="http://schemas.microsoft.com/office/drawing/2014/main" id="{40479517-15A6-D0F8-3EDD-F182743EA22E}"/>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4746" t="27646" r="5835" b="7164"/>
          <a:stretch>
            <a:fillRect/>
          </a:stretch>
        </p:blipFill>
        <p:spPr bwMode="auto">
          <a:xfrm>
            <a:off x="10317018" y="714457"/>
            <a:ext cx="1422882" cy="381517"/>
          </a:xfrm>
          <a:prstGeom prst="rect">
            <a:avLst/>
          </a:prstGeom>
          <a:noFill/>
          <a:extLst>
            <a:ext uri="{909E8E84-426E-40DD-AFC4-6F175D3DCCD1}">
              <a14:hiddenFill xmlns:a14="http://schemas.microsoft.com/office/drawing/2010/main">
                <a:solidFill>
                  <a:srgbClr val="FFFFFF"/>
                </a:solidFill>
              </a14:hiddenFill>
            </a:ext>
          </a:extLst>
        </p:spPr>
      </p:pic>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Ngân </a:t>
            </a:r>
            <a:r>
              <a:rPr lang="en-US" b="1" dirty="0" err="1"/>
              <a:t>hàng</a:t>
            </a:r>
            <a:r>
              <a:rPr lang="en-US" b="1" dirty="0"/>
              <a:t> TMCP </a:t>
            </a:r>
            <a:r>
              <a:rPr lang="en-US" b="1" dirty="0" err="1"/>
              <a:t>Xuất</a:t>
            </a:r>
            <a:r>
              <a:rPr lang="en-US" b="1" dirty="0"/>
              <a:t> </a:t>
            </a:r>
            <a:r>
              <a:rPr lang="en-US" b="1" dirty="0" err="1"/>
              <a:t>nhập</a:t>
            </a:r>
            <a:r>
              <a:rPr lang="en-US" b="1" dirty="0"/>
              <a:t> </a:t>
            </a:r>
            <a:r>
              <a:rPr lang="en-US" b="1" dirty="0" err="1"/>
              <a:t>khẩu</a:t>
            </a:r>
            <a:r>
              <a:rPr lang="en-US" b="1" dirty="0"/>
              <a:t> Việt Nam</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1500" b="1" dirty="0">
                <a:solidFill>
                  <a:srgbClr val="000000">
                    <a:lumMod val="85000"/>
                    <a:lumOff val="15000"/>
                  </a:srgbClr>
                </a:solidFill>
              </a:rPr>
              <a:t>(HOSE: EIB)</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pic>
        <p:nvPicPr>
          <p:cNvPr id="7" name="Picture 6">
            <a:extLst>
              <a:ext uri="{FF2B5EF4-FFF2-40B4-BE49-F238E27FC236}">
                <a16:creationId xmlns:a16="http://schemas.microsoft.com/office/drawing/2014/main" id="{598A0FDB-362A-DD4C-2C2D-2ABD5E496A79}"/>
              </a:ext>
            </a:extLst>
          </p:cNvPr>
          <p:cNvPicPr>
            <a:picLocks noChangeAspect="1"/>
          </p:cNvPicPr>
          <p:nvPr/>
        </p:nvPicPr>
        <p:blipFill>
          <a:blip r:embed="rId4"/>
          <a:stretch>
            <a:fillRect/>
          </a:stretch>
        </p:blipFill>
        <p:spPr>
          <a:xfrm>
            <a:off x="3097090" y="4307080"/>
            <a:ext cx="2694666" cy="2011854"/>
          </a:xfrm>
          <a:prstGeom prst="rect">
            <a:avLst/>
          </a:prstGeom>
        </p:spPr>
      </p:pic>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