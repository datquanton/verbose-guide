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3510" r:id="rId2"/>
    <p:sldId id="3929" r:id="rId3"/>
    <p:sldId id="3639" r:id="rId4"/>
    <p:sldId id="3643"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6" d="100"/>
          <a:sy n="106" d="100"/>
        </p:scale>
        <p:origin x="79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oleObject" Target="file:///\\10.0.16.23\mas\Department\Reseach\Qu&#226;n\2026\Frontpage-2021-Tran.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3739319576183659E-2"/>
          <c:y val="0.1419296226020994"/>
          <c:w val="0.89025805236940847"/>
          <c:h val="0.74606368805036205"/>
        </c:manualLayout>
      </c:layout>
      <c:lineChart>
        <c:grouping val="standard"/>
        <c:varyColors val="0"/>
        <c:ser>
          <c:idx val="0"/>
          <c:order val="0"/>
          <c:tx>
            <c:strRef>
              <c:f>Frontpage!$Q$3</c:f>
              <c:strCache>
                <c:ptCount val="1"/>
                <c:pt idx="0">
                  <c:v>VN-Index</c:v>
                </c:pt>
              </c:strCache>
            </c:strRef>
          </c:tx>
          <c:spPr>
            <a:ln w="12700" cap="rnd">
              <a:solidFill>
                <a:srgbClr val="002060"/>
              </a:solidFill>
              <a:round/>
            </a:ln>
            <a:effectLst/>
          </c:spPr>
          <c:marker>
            <c:symbol val="none"/>
          </c:marker>
          <c:cat>
            <c:numRef>
              <c:f>Frontpage!$N$4:$N$370</c:f>
              <c:numCache>
                <c:formatCode>m/d/yyyy</c:formatCode>
                <c:ptCount val="367"/>
                <c:pt idx="0">
                  <c:v>45781</c:v>
                </c:pt>
                <c:pt idx="1">
                  <c:v>45782</c:v>
                </c:pt>
                <c:pt idx="2">
                  <c:v>45783</c:v>
                </c:pt>
                <c:pt idx="3">
                  <c:v>45784</c:v>
                </c:pt>
                <c:pt idx="4">
                  <c:v>45785</c:v>
                </c:pt>
                <c:pt idx="5">
                  <c:v>45786</c:v>
                </c:pt>
                <c:pt idx="6">
                  <c:v>45787</c:v>
                </c:pt>
                <c:pt idx="7">
                  <c:v>45788</c:v>
                </c:pt>
                <c:pt idx="8">
                  <c:v>45789</c:v>
                </c:pt>
                <c:pt idx="9">
                  <c:v>45790</c:v>
                </c:pt>
                <c:pt idx="10">
                  <c:v>45791</c:v>
                </c:pt>
                <c:pt idx="11">
                  <c:v>45792</c:v>
                </c:pt>
                <c:pt idx="12">
                  <c:v>45793</c:v>
                </c:pt>
                <c:pt idx="13">
                  <c:v>45794</c:v>
                </c:pt>
                <c:pt idx="14">
                  <c:v>45795</c:v>
                </c:pt>
                <c:pt idx="15">
                  <c:v>45796</c:v>
                </c:pt>
                <c:pt idx="16">
                  <c:v>45797</c:v>
                </c:pt>
                <c:pt idx="17">
                  <c:v>45798</c:v>
                </c:pt>
                <c:pt idx="18">
                  <c:v>45799</c:v>
                </c:pt>
                <c:pt idx="19">
                  <c:v>45800</c:v>
                </c:pt>
                <c:pt idx="20">
                  <c:v>45801</c:v>
                </c:pt>
                <c:pt idx="21">
                  <c:v>45802</c:v>
                </c:pt>
                <c:pt idx="22">
                  <c:v>45803</c:v>
                </c:pt>
                <c:pt idx="23">
                  <c:v>45804</c:v>
                </c:pt>
                <c:pt idx="24">
                  <c:v>45805</c:v>
                </c:pt>
                <c:pt idx="25">
                  <c:v>45806</c:v>
                </c:pt>
                <c:pt idx="26">
                  <c:v>45807</c:v>
                </c:pt>
                <c:pt idx="27">
                  <c:v>45808</c:v>
                </c:pt>
                <c:pt idx="28">
                  <c:v>45809</c:v>
                </c:pt>
                <c:pt idx="29">
                  <c:v>45810</c:v>
                </c:pt>
                <c:pt idx="30">
                  <c:v>45811</c:v>
                </c:pt>
                <c:pt idx="31">
                  <c:v>45812</c:v>
                </c:pt>
                <c:pt idx="32">
                  <c:v>45813</c:v>
                </c:pt>
                <c:pt idx="33">
                  <c:v>45814</c:v>
                </c:pt>
                <c:pt idx="34">
                  <c:v>45815</c:v>
                </c:pt>
                <c:pt idx="35">
                  <c:v>45816</c:v>
                </c:pt>
                <c:pt idx="36">
                  <c:v>45817</c:v>
                </c:pt>
                <c:pt idx="37">
                  <c:v>45818</c:v>
                </c:pt>
                <c:pt idx="38">
                  <c:v>45819</c:v>
                </c:pt>
                <c:pt idx="39">
                  <c:v>45820</c:v>
                </c:pt>
                <c:pt idx="40">
                  <c:v>45821</c:v>
                </c:pt>
                <c:pt idx="41">
                  <c:v>45822</c:v>
                </c:pt>
                <c:pt idx="42">
                  <c:v>45823</c:v>
                </c:pt>
                <c:pt idx="43">
                  <c:v>45824</c:v>
                </c:pt>
                <c:pt idx="44">
                  <c:v>45825</c:v>
                </c:pt>
                <c:pt idx="45">
                  <c:v>45826</c:v>
                </c:pt>
                <c:pt idx="46">
                  <c:v>45827</c:v>
                </c:pt>
                <c:pt idx="47">
                  <c:v>45828</c:v>
                </c:pt>
                <c:pt idx="48">
                  <c:v>45829</c:v>
                </c:pt>
                <c:pt idx="49">
                  <c:v>45830</c:v>
                </c:pt>
                <c:pt idx="50">
                  <c:v>45831</c:v>
                </c:pt>
                <c:pt idx="51">
                  <c:v>45832</c:v>
                </c:pt>
                <c:pt idx="52">
                  <c:v>45833</c:v>
                </c:pt>
                <c:pt idx="53">
                  <c:v>45834</c:v>
                </c:pt>
                <c:pt idx="54">
                  <c:v>45835</c:v>
                </c:pt>
                <c:pt idx="55">
                  <c:v>45836</c:v>
                </c:pt>
                <c:pt idx="56">
                  <c:v>45837</c:v>
                </c:pt>
                <c:pt idx="57">
                  <c:v>45838</c:v>
                </c:pt>
                <c:pt idx="58">
                  <c:v>45839</c:v>
                </c:pt>
                <c:pt idx="59">
                  <c:v>45840</c:v>
                </c:pt>
                <c:pt idx="60">
                  <c:v>45841</c:v>
                </c:pt>
                <c:pt idx="61">
                  <c:v>45842</c:v>
                </c:pt>
                <c:pt idx="62">
                  <c:v>45843</c:v>
                </c:pt>
                <c:pt idx="63">
                  <c:v>45844</c:v>
                </c:pt>
                <c:pt idx="64">
                  <c:v>45845</c:v>
                </c:pt>
                <c:pt idx="65">
                  <c:v>45846</c:v>
                </c:pt>
                <c:pt idx="66">
                  <c:v>45847</c:v>
                </c:pt>
                <c:pt idx="67">
                  <c:v>45848</c:v>
                </c:pt>
                <c:pt idx="68">
                  <c:v>45849</c:v>
                </c:pt>
                <c:pt idx="69">
                  <c:v>45850</c:v>
                </c:pt>
                <c:pt idx="70">
                  <c:v>45851</c:v>
                </c:pt>
                <c:pt idx="71">
                  <c:v>45852</c:v>
                </c:pt>
                <c:pt idx="72">
                  <c:v>45853</c:v>
                </c:pt>
                <c:pt idx="73">
                  <c:v>45854</c:v>
                </c:pt>
                <c:pt idx="74">
                  <c:v>45855</c:v>
                </c:pt>
                <c:pt idx="75">
                  <c:v>45856</c:v>
                </c:pt>
                <c:pt idx="76">
                  <c:v>45857</c:v>
                </c:pt>
                <c:pt idx="77">
                  <c:v>45858</c:v>
                </c:pt>
                <c:pt idx="78">
                  <c:v>45859</c:v>
                </c:pt>
                <c:pt idx="79">
                  <c:v>45860</c:v>
                </c:pt>
                <c:pt idx="80">
                  <c:v>45861</c:v>
                </c:pt>
                <c:pt idx="81">
                  <c:v>45862</c:v>
                </c:pt>
                <c:pt idx="82">
                  <c:v>45863</c:v>
                </c:pt>
                <c:pt idx="83">
                  <c:v>45864</c:v>
                </c:pt>
                <c:pt idx="84">
                  <c:v>45865</c:v>
                </c:pt>
                <c:pt idx="85">
                  <c:v>45866</c:v>
                </c:pt>
                <c:pt idx="86">
                  <c:v>45867</c:v>
                </c:pt>
                <c:pt idx="87">
                  <c:v>45868</c:v>
                </c:pt>
                <c:pt idx="88">
                  <c:v>45869</c:v>
                </c:pt>
                <c:pt idx="89">
                  <c:v>45870</c:v>
                </c:pt>
                <c:pt idx="90">
                  <c:v>45871</c:v>
                </c:pt>
                <c:pt idx="91">
                  <c:v>45872</c:v>
                </c:pt>
                <c:pt idx="92">
                  <c:v>45873</c:v>
                </c:pt>
                <c:pt idx="93">
                  <c:v>45874</c:v>
                </c:pt>
                <c:pt idx="94">
                  <c:v>45875</c:v>
                </c:pt>
                <c:pt idx="95">
                  <c:v>45876</c:v>
                </c:pt>
                <c:pt idx="96">
                  <c:v>45877</c:v>
                </c:pt>
                <c:pt idx="97">
                  <c:v>45878</c:v>
                </c:pt>
                <c:pt idx="98">
                  <c:v>45879</c:v>
                </c:pt>
                <c:pt idx="99">
                  <c:v>45880</c:v>
                </c:pt>
                <c:pt idx="100">
                  <c:v>45881</c:v>
                </c:pt>
                <c:pt idx="101">
                  <c:v>45882</c:v>
                </c:pt>
                <c:pt idx="102">
                  <c:v>45883</c:v>
                </c:pt>
                <c:pt idx="103">
                  <c:v>45884</c:v>
                </c:pt>
                <c:pt idx="104">
                  <c:v>45885</c:v>
                </c:pt>
                <c:pt idx="105">
                  <c:v>45886</c:v>
                </c:pt>
                <c:pt idx="106">
                  <c:v>45887</c:v>
                </c:pt>
                <c:pt idx="107">
                  <c:v>45888</c:v>
                </c:pt>
                <c:pt idx="108">
                  <c:v>45889</c:v>
                </c:pt>
                <c:pt idx="109">
                  <c:v>45890</c:v>
                </c:pt>
                <c:pt idx="110">
                  <c:v>45891</c:v>
                </c:pt>
                <c:pt idx="111">
                  <c:v>45892</c:v>
                </c:pt>
                <c:pt idx="112">
                  <c:v>45893</c:v>
                </c:pt>
                <c:pt idx="113">
                  <c:v>45894</c:v>
                </c:pt>
                <c:pt idx="114">
                  <c:v>45895</c:v>
                </c:pt>
                <c:pt idx="115">
                  <c:v>45896</c:v>
                </c:pt>
                <c:pt idx="116">
                  <c:v>45897</c:v>
                </c:pt>
                <c:pt idx="117">
                  <c:v>45898</c:v>
                </c:pt>
                <c:pt idx="118">
                  <c:v>45899</c:v>
                </c:pt>
                <c:pt idx="119">
                  <c:v>45900</c:v>
                </c:pt>
                <c:pt idx="120">
                  <c:v>45901</c:v>
                </c:pt>
                <c:pt idx="121">
                  <c:v>45902</c:v>
                </c:pt>
                <c:pt idx="122">
                  <c:v>45903</c:v>
                </c:pt>
                <c:pt idx="123">
                  <c:v>45904</c:v>
                </c:pt>
                <c:pt idx="124">
                  <c:v>45905</c:v>
                </c:pt>
                <c:pt idx="125">
                  <c:v>45906</c:v>
                </c:pt>
                <c:pt idx="126">
                  <c:v>45907</c:v>
                </c:pt>
                <c:pt idx="127">
                  <c:v>45908</c:v>
                </c:pt>
                <c:pt idx="128">
                  <c:v>45909</c:v>
                </c:pt>
                <c:pt idx="129">
                  <c:v>45910</c:v>
                </c:pt>
                <c:pt idx="130">
                  <c:v>45911</c:v>
                </c:pt>
                <c:pt idx="131">
                  <c:v>45912</c:v>
                </c:pt>
                <c:pt idx="132">
                  <c:v>45913</c:v>
                </c:pt>
                <c:pt idx="133">
                  <c:v>45914</c:v>
                </c:pt>
                <c:pt idx="134">
                  <c:v>45915</c:v>
                </c:pt>
                <c:pt idx="135">
                  <c:v>45916</c:v>
                </c:pt>
                <c:pt idx="136">
                  <c:v>45917</c:v>
                </c:pt>
                <c:pt idx="137">
                  <c:v>45918</c:v>
                </c:pt>
                <c:pt idx="138">
                  <c:v>45919</c:v>
                </c:pt>
                <c:pt idx="139">
                  <c:v>45920</c:v>
                </c:pt>
                <c:pt idx="140">
                  <c:v>45921</c:v>
                </c:pt>
                <c:pt idx="141">
                  <c:v>45922</c:v>
                </c:pt>
                <c:pt idx="142">
                  <c:v>45923</c:v>
                </c:pt>
                <c:pt idx="143">
                  <c:v>45924</c:v>
                </c:pt>
                <c:pt idx="144">
                  <c:v>45925</c:v>
                </c:pt>
                <c:pt idx="145">
                  <c:v>45926</c:v>
                </c:pt>
                <c:pt idx="146">
                  <c:v>45927</c:v>
                </c:pt>
                <c:pt idx="147">
                  <c:v>45928</c:v>
                </c:pt>
                <c:pt idx="148">
                  <c:v>45929</c:v>
                </c:pt>
                <c:pt idx="149">
                  <c:v>45930</c:v>
                </c:pt>
                <c:pt idx="150">
                  <c:v>45931</c:v>
                </c:pt>
                <c:pt idx="151">
                  <c:v>45932</c:v>
                </c:pt>
                <c:pt idx="152">
                  <c:v>45933</c:v>
                </c:pt>
                <c:pt idx="153">
                  <c:v>45934</c:v>
                </c:pt>
                <c:pt idx="154">
                  <c:v>45935</c:v>
                </c:pt>
                <c:pt idx="155">
                  <c:v>45936</c:v>
                </c:pt>
                <c:pt idx="156">
                  <c:v>45937</c:v>
                </c:pt>
                <c:pt idx="157">
                  <c:v>45938</c:v>
                </c:pt>
                <c:pt idx="158">
                  <c:v>45939</c:v>
                </c:pt>
                <c:pt idx="159">
                  <c:v>45940</c:v>
                </c:pt>
                <c:pt idx="160">
                  <c:v>45941</c:v>
                </c:pt>
                <c:pt idx="161">
                  <c:v>45942</c:v>
                </c:pt>
                <c:pt idx="162">
                  <c:v>45943</c:v>
                </c:pt>
                <c:pt idx="163">
                  <c:v>45944</c:v>
                </c:pt>
                <c:pt idx="164">
                  <c:v>45945</c:v>
                </c:pt>
                <c:pt idx="165">
                  <c:v>45946</c:v>
                </c:pt>
                <c:pt idx="166">
                  <c:v>45947</c:v>
                </c:pt>
                <c:pt idx="167">
                  <c:v>45948</c:v>
                </c:pt>
                <c:pt idx="168">
                  <c:v>45949</c:v>
                </c:pt>
                <c:pt idx="169">
                  <c:v>45950</c:v>
                </c:pt>
                <c:pt idx="170">
                  <c:v>45951</c:v>
                </c:pt>
                <c:pt idx="171">
                  <c:v>45952</c:v>
                </c:pt>
                <c:pt idx="172">
                  <c:v>45953</c:v>
                </c:pt>
                <c:pt idx="173">
                  <c:v>45954</c:v>
                </c:pt>
                <c:pt idx="174">
                  <c:v>45955</c:v>
                </c:pt>
                <c:pt idx="175">
                  <c:v>45956</c:v>
                </c:pt>
                <c:pt idx="176">
                  <c:v>45957</c:v>
                </c:pt>
                <c:pt idx="177">
                  <c:v>45958</c:v>
                </c:pt>
                <c:pt idx="178">
                  <c:v>45959</c:v>
                </c:pt>
                <c:pt idx="179">
                  <c:v>45960</c:v>
                </c:pt>
                <c:pt idx="180">
                  <c:v>45961</c:v>
                </c:pt>
                <c:pt idx="181">
                  <c:v>45962</c:v>
                </c:pt>
                <c:pt idx="182">
                  <c:v>45963</c:v>
                </c:pt>
                <c:pt idx="183">
                  <c:v>45964</c:v>
                </c:pt>
                <c:pt idx="184">
                  <c:v>45965</c:v>
                </c:pt>
                <c:pt idx="185">
                  <c:v>45966</c:v>
                </c:pt>
                <c:pt idx="186">
                  <c:v>45967</c:v>
                </c:pt>
                <c:pt idx="187">
                  <c:v>45968</c:v>
                </c:pt>
                <c:pt idx="188">
                  <c:v>45969</c:v>
                </c:pt>
                <c:pt idx="189">
                  <c:v>45970</c:v>
                </c:pt>
                <c:pt idx="190">
                  <c:v>45971</c:v>
                </c:pt>
                <c:pt idx="191">
                  <c:v>45972</c:v>
                </c:pt>
                <c:pt idx="192">
                  <c:v>45973</c:v>
                </c:pt>
                <c:pt idx="193">
                  <c:v>45974</c:v>
                </c:pt>
                <c:pt idx="194">
                  <c:v>45975</c:v>
                </c:pt>
                <c:pt idx="195">
                  <c:v>45976</c:v>
                </c:pt>
                <c:pt idx="196">
                  <c:v>45977</c:v>
                </c:pt>
                <c:pt idx="197">
                  <c:v>45978</c:v>
                </c:pt>
                <c:pt idx="198">
                  <c:v>45979</c:v>
                </c:pt>
                <c:pt idx="199">
                  <c:v>45980</c:v>
                </c:pt>
                <c:pt idx="200">
                  <c:v>45981</c:v>
                </c:pt>
                <c:pt idx="201">
                  <c:v>45982</c:v>
                </c:pt>
                <c:pt idx="202">
                  <c:v>45983</c:v>
                </c:pt>
                <c:pt idx="203">
                  <c:v>45984</c:v>
                </c:pt>
                <c:pt idx="204">
                  <c:v>45985</c:v>
                </c:pt>
                <c:pt idx="205">
                  <c:v>45986</c:v>
                </c:pt>
                <c:pt idx="206">
                  <c:v>45987</c:v>
                </c:pt>
                <c:pt idx="207">
                  <c:v>45988</c:v>
                </c:pt>
                <c:pt idx="208">
                  <c:v>45989</c:v>
                </c:pt>
                <c:pt idx="209">
                  <c:v>45990</c:v>
                </c:pt>
                <c:pt idx="210">
                  <c:v>45991</c:v>
                </c:pt>
                <c:pt idx="211">
                  <c:v>45992</c:v>
                </c:pt>
                <c:pt idx="212">
                  <c:v>45993</c:v>
                </c:pt>
                <c:pt idx="213">
                  <c:v>45994</c:v>
                </c:pt>
                <c:pt idx="214">
                  <c:v>45995</c:v>
                </c:pt>
                <c:pt idx="215">
                  <c:v>45996</c:v>
                </c:pt>
                <c:pt idx="216">
                  <c:v>45997</c:v>
                </c:pt>
                <c:pt idx="217">
                  <c:v>45998</c:v>
                </c:pt>
                <c:pt idx="218">
                  <c:v>45999</c:v>
                </c:pt>
                <c:pt idx="219">
                  <c:v>46000</c:v>
                </c:pt>
                <c:pt idx="220">
                  <c:v>46001</c:v>
                </c:pt>
                <c:pt idx="221">
                  <c:v>46002</c:v>
                </c:pt>
                <c:pt idx="222">
                  <c:v>46003</c:v>
                </c:pt>
                <c:pt idx="223">
                  <c:v>46004</c:v>
                </c:pt>
                <c:pt idx="224">
                  <c:v>46005</c:v>
                </c:pt>
                <c:pt idx="225">
                  <c:v>46006</c:v>
                </c:pt>
                <c:pt idx="226">
                  <c:v>46007</c:v>
                </c:pt>
                <c:pt idx="227">
                  <c:v>46008</c:v>
                </c:pt>
                <c:pt idx="228">
                  <c:v>46009</c:v>
                </c:pt>
                <c:pt idx="229">
                  <c:v>46010</c:v>
                </c:pt>
                <c:pt idx="230">
                  <c:v>46011</c:v>
                </c:pt>
                <c:pt idx="231">
                  <c:v>46012</c:v>
                </c:pt>
                <c:pt idx="232">
                  <c:v>46013</c:v>
                </c:pt>
                <c:pt idx="233">
                  <c:v>46014</c:v>
                </c:pt>
                <c:pt idx="234">
                  <c:v>46015</c:v>
                </c:pt>
                <c:pt idx="235">
                  <c:v>46016</c:v>
                </c:pt>
                <c:pt idx="236">
                  <c:v>46017</c:v>
                </c:pt>
                <c:pt idx="237">
                  <c:v>46018</c:v>
                </c:pt>
                <c:pt idx="238">
                  <c:v>46019</c:v>
                </c:pt>
                <c:pt idx="239">
                  <c:v>46020</c:v>
                </c:pt>
                <c:pt idx="240">
                  <c:v>46021</c:v>
                </c:pt>
                <c:pt idx="241">
                  <c:v>46022</c:v>
                </c:pt>
                <c:pt idx="242">
                  <c:v>46023</c:v>
                </c:pt>
                <c:pt idx="243">
                  <c:v>46024</c:v>
                </c:pt>
                <c:pt idx="244">
                  <c:v>46025</c:v>
                </c:pt>
                <c:pt idx="245">
                  <c:v>46026</c:v>
                </c:pt>
                <c:pt idx="246">
                  <c:v>46027</c:v>
                </c:pt>
                <c:pt idx="247">
                  <c:v>46028</c:v>
                </c:pt>
                <c:pt idx="248">
                  <c:v>46029</c:v>
                </c:pt>
                <c:pt idx="249">
                  <c:v>46030</c:v>
                </c:pt>
                <c:pt idx="250">
                  <c:v>46031</c:v>
                </c:pt>
                <c:pt idx="251">
                  <c:v>46032</c:v>
                </c:pt>
                <c:pt idx="252">
                  <c:v>46033</c:v>
                </c:pt>
                <c:pt idx="253">
                  <c:v>46034</c:v>
                </c:pt>
                <c:pt idx="254">
                  <c:v>46035</c:v>
                </c:pt>
                <c:pt idx="255">
                  <c:v>46036</c:v>
                </c:pt>
                <c:pt idx="256">
                  <c:v>46037</c:v>
                </c:pt>
                <c:pt idx="257">
                  <c:v>46038</c:v>
                </c:pt>
                <c:pt idx="258">
                  <c:v>46039</c:v>
                </c:pt>
                <c:pt idx="259">
                  <c:v>46040</c:v>
                </c:pt>
                <c:pt idx="260">
                  <c:v>46041</c:v>
                </c:pt>
                <c:pt idx="261">
                  <c:v>46042</c:v>
                </c:pt>
                <c:pt idx="262">
                  <c:v>46043</c:v>
                </c:pt>
                <c:pt idx="263">
                  <c:v>46044</c:v>
                </c:pt>
                <c:pt idx="264">
                  <c:v>46045</c:v>
                </c:pt>
                <c:pt idx="265">
                  <c:v>46046</c:v>
                </c:pt>
                <c:pt idx="266">
                  <c:v>46047</c:v>
                </c:pt>
                <c:pt idx="267">
                  <c:v>46048</c:v>
                </c:pt>
                <c:pt idx="268">
                  <c:v>46049</c:v>
                </c:pt>
                <c:pt idx="269">
                  <c:v>46050</c:v>
                </c:pt>
                <c:pt idx="270">
                  <c:v>46051</c:v>
                </c:pt>
                <c:pt idx="271">
                  <c:v>46052</c:v>
                </c:pt>
                <c:pt idx="272">
                  <c:v>46053</c:v>
                </c:pt>
                <c:pt idx="273">
                  <c:v>46054</c:v>
                </c:pt>
                <c:pt idx="274">
                  <c:v>46055</c:v>
                </c:pt>
                <c:pt idx="275">
                  <c:v>46056</c:v>
                </c:pt>
                <c:pt idx="276">
                  <c:v>46057</c:v>
                </c:pt>
                <c:pt idx="277">
                  <c:v>46058</c:v>
                </c:pt>
                <c:pt idx="278">
                  <c:v>46059</c:v>
                </c:pt>
                <c:pt idx="279">
                  <c:v>46060</c:v>
                </c:pt>
                <c:pt idx="280">
                  <c:v>46061</c:v>
                </c:pt>
                <c:pt idx="281">
                  <c:v>46062</c:v>
                </c:pt>
                <c:pt idx="282">
                  <c:v>46063</c:v>
                </c:pt>
                <c:pt idx="283">
                  <c:v>46064</c:v>
                </c:pt>
                <c:pt idx="284">
                  <c:v>46065</c:v>
                </c:pt>
                <c:pt idx="285">
                  <c:v>46066</c:v>
                </c:pt>
                <c:pt idx="286">
                  <c:v>46067</c:v>
                </c:pt>
                <c:pt idx="287">
                  <c:v>46068</c:v>
                </c:pt>
                <c:pt idx="288">
                  <c:v>46069</c:v>
                </c:pt>
                <c:pt idx="289">
                  <c:v>46070</c:v>
                </c:pt>
                <c:pt idx="290">
                  <c:v>46071</c:v>
                </c:pt>
                <c:pt idx="291">
                  <c:v>46072</c:v>
                </c:pt>
                <c:pt idx="292">
                  <c:v>46073</c:v>
                </c:pt>
                <c:pt idx="293">
                  <c:v>46074</c:v>
                </c:pt>
                <c:pt idx="294">
                  <c:v>46075</c:v>
                </c:pt>
                <c:pt idx="295">
                  <c:v>46076</c:v>
                </c:pt>
                <c:pt idx="296">
                  <c:v>46077</c:v>
                </c:pt>
                <c:pt idx="297">
                  <c:v>46078</c:v>
                </c:pt>
                <c:pt idx="298">
                  <c:v>46079</c:v>
                </c:pt>
                <c:pt idx="299">
                  <c:v>46080</c:v>
                </c:pt>
                <c:pt idx="300">
                  <c:v>46081</c:v>
                </c:pt>
                <c:pt idx="301">
                  <c:v>46082</c:v>
                </c:pt>
                <c:pt idx="302">
                  <c:v>46083</c:v>
                </c:pt>
                <c:pt idx="303">
                  <c:v>46084</c:v>
                </c:pt>
                <c:pt idx="304">
                  <c:v>46085</c:v>
                </c:pt>
                <c:pt idx="305">
                  <c:v>46086</c:v>
                </c:pt>
                <c:pt idx="306">
                  <c:v>46087</c:v>
                </c:pt>
                <c:pt idx="307">
                  <c:v>46088</c:v>
                </c:pt>
                <c:pt idx="308">
                  <c:v>46089</c:v>
                </c:pt>
                <c:pt idx="309">
                  <c:v>46090</c:v>
                </c:pt>
                <c:pt idx="310">
                  <c:v>46091</c:v>
                </c:pt>
                <c:pt idx="311">
                  <c:v>46092</c:v>
                </c:pt>
                <c:pt idx="312">
                  <c:v>46093</c:v>
                </c:pt>
                <c:pt idx="313">
                  <c:v>46094</c:v>
                </c:pt>
                <c:pt idx="314">
                  <c:v>46095</c:v>
                </c:pt>
                <c:pt idx="315">
                  <c:v>46096</c:v>
                </c:pt>
                <c:pt idx="316">
                  <c:v>46097</c:v>
                </c:pt>
                <c:pt idx="317">
                  <c:v>46098</c:v>
                </c:pt>
                <c:pt idx="318">
                  <c:v>46099</c:v>
                </c:pt>
                <c:pt idx="319">
                  <c:v>46100</c:v>
                </c:pt>
                <c:pt idx="320">
                  <c:v>46101</c:v>
                </c:pt>
                <c:pt idx="321">
                  <c:v>46102</c:v>
                </c:pt>
                <c:pt idx="322">
                  <c:v>46103</c:v>
                </c:pt>
                <c:pt idx="323">
                  <c:v>46104</c:v>
                </c:pt>
                <c:pt idx="324">
                  <c:v>46105</c:v>
                </c:pt>
                <c:pt idx="325">
                  <c:v>46106</c:v>
                </c:pt>
                <c:pt idx="326">
                  <c:v>46107</c:v>
                </c:pt>
                <c:pt idx="327">
                  <c:v>46108</c:v>
                </c:pt>
                <c:pt idx="328">
                  <c:v>46109</c:v>
                </c:pt>
                <c:pt idx="329">
                  <c:v>46110</c:v>
                </c:pt>
                <c:pt idx="330">
                  <c:v>46111</c:v>
                </c:pt>
                <c:pt idx="331">
                  <c:v>46112</c:v>
                </c:pt>
                <c:pt idx="332">
                  <c:v>46113</c:v>
                </c:pt>
                <c:pt idx="333">
                  <c:v>46114</c:v>
                </c:pt>
                <c:pt idx="334">
                  <c:v>46115</c:v>
                </c:pt>
                <c:pt idx="335">
                  <c:v>46116</c:v>
                </c:pt>
                <c:pt idx="336">
                  <c:v>46117</c:v>
                </c:pt>
                <c:pt idx="337">
                  <c:v>46118</c:v>
                </c:pt>
                <c:pt idx="338">
                  <c:v>46119</c:v>
                </c:pt>
                <c:pt idx="339">
                  <c:v>46120</c:v>
                </c:pt>
                <c:pt idx="340">
                  <c:v>46121</c:v>
                </c:pt>
                <c:pt idx="341">
                  <c:v>46122</c:v>
                </c:pt>
                <c:pt idx="342">
                  <c:v>46123</c:v>
                </c:pt>
                <c:pt idx="343">
                  <c:v>46124</c:v>
                </c:pt>
                <c:pt idx="344">
                  <c:v>46125</c:v>
                </c:pt>
                <c:pt idx="345">
                  <c:v>46126</c:v>
                </c:pt>
                <c:pt idx="346">
                  <c:v>46127</c:v>
                </c:pt>
                <c:pt idx="347">
                  <c:v>46128</c:v>
                </c:pt>
                <c:pt idx="348">
                  <c:v>46129</c:v>
                </c:pt>
                <c:pt idx="349">
                  <c:v>46130</c:v>
                </c:pt>
                <c:pt idx="350">
                  <c:v>46131</c:v>
                </c:pt>
                <c:pt idx="351">
                  <c:v>46132</c:v>
                </c:pt>
                <c:pt idx="352">
                  <c:v>46133</c:v>
                </c:pt>
                <c:pt idx="353">
                  <c:v>46134</c:v>
                </c:pt>
                <c:pt idx="354">
                  <c:v>46135</c:v>
                </c:pt>
                <c:pt idx="355">
                  <c:v>46136</c:v>
                </c:pt>
                <c:pt idx="356">
                  <c:v>46137</c:v>
                </c:pt>
                <c:pt idx="357">
                  <c:v>46138</c:v>
                </c:pt>
                <c:pt idx="358">
                  <c:v>46139</c:v>
                </c:pt>
                <c:pt idx="359">
                  <c:v>46140</c:v>
                </c:pt>
                <c:pt idx="360">
                  <c:v>46141</c:v>
                </c:pt>
                <c:pt idx="361">
                  <c:v>46142</c:v>
                </c:pt>
                <c:pt idx="362">
                  <c:v>46143</c:v>
                </c:pt>
                <c:pt idx="363">
                  <c:v>46144</c:v>
                </c:pt>
                <c:pt idx="364">
                  <c:v>46145</c:v>
                </c:pt>
                <c:pt idx="365">
                  <c:v>46146</c:v>
                </c:pt>
                <c:pt idx="366">
                  <c:v>46147</c:v>
                </c:pt>
              </c:numCache>
            </c:numRef>
          </c:cat>
          <c:val>
            <c:numRef>
              <c:f>Frontpage!$Q$4:$Q$370</c:f>
              <c:numCache>
                <c:formatCode>_(* #,##0_);_(* \(#,##0\);_(* "-"??_);_(@_)</c:formatCode>
                <c:ptCount val="367"/>
                <c:pt idx="0">
                  <c:v>100</c:v>
                </c:pt>
                <c:pt idx="1">
                  <c:v>101.12125907200522</c:v>
                </c:pt>
                <c:pt idx="2">
                  <c:v>101.27619668922776</c:v>
                </c:pt>
                <c:pt idx="3">
                  <c:v>101.96281497186659</c:v>
                </c:pt>
                <c:pt idx="4">
                  <c:v>103.54725597325287</c:v>
                </c:pt>
                <c:pt idx="5">
                  <c:v>103.34339068743374</c:v>
                </c:pt>
                <c:pt idx="6">
                  <c:v>103.34339068743374</c:v>
                </c:pt>
                <c:pt idx="7">
                  <c:v>103.34339068743374</c:v>
                </c:pt>
                <c:pt idx="8">
                  <c:v>104.64486667210309</c:v>
                </c:pt>
                <c:pt idx="9">
                  <c:v>105.47419065481532</c:v>
                </c:pt>
                <c:pt idx="10">
                  <c:v>106.80339231835603</c:v>
                </c:pt>
                <c:pt idx="11">
                  <c:v>107.08635733507299</c:v>
                </c:pt>
                <c:pt idx="12">
                  <c:v>106.12329772486342</c:v>
                </c:pt>
                <c:pt idx="13">
                  <c:v>106.12329772486342</c:v>
                </c:pt>
                <c:pt idx="14">
                  <c:v>106.12329772486342</c:v>
                </c:pt>
                <c:pt idx="15">
                  <c:v>105.70741254179239</c:v>
                </c:pt>
                <c:pt idx="16">
                  <c:v>107.24537225801191</c:v>
                </c:pt>
                <c:pt idx="17">
                  <c:v>107.88958656120036</c:v>
                </c:pt>
                <c:pt idx="18">
                  <c:v>107.13854684824268</c:v>
                </c:pt>
                <c:pt idx="19">
                  <c:v>107.18910543912583</c:v>
                </c:pt>
                <c:pt idx="20">
                  <c:v>107.18910543912583</c:v>
                </c:pt>
                <c:pt idx="21">
                  <c:v>107.18910543912583</c:v>
                </c:pt>
                <c:pt idx="22">
                  <c:v>108.66101280273995</c:v>
                </c:pt>
                <c:pt idx="23">
                  <c:v>109.25629943733182</c:v>
                </c:pt>
                <c:pt idx="24">
                  <c:v>109.42428443284678</c:v>
                </c:pt>
                <c:pt idx="25">
                  <c:v>109.4234689717035</c:v>
                </c:pt>
                <c:pt idx="26">
                  <c:v>108.66835195302944</c:v>
                </c:pt>
                <c:pt idx="27">
                  <c:v>108.66835195302944</c:v>
                </c:pt>
                <c:pt idx="28">
                  <c:v>108.66835195302944</c:v>
                </c:pt>
                <c:pt idx="29">
                  <c:v>108.97007257604174</c:v>
                </c:pt>
                <c:pt idx="30">
                  <c:v>109.86300252792955</c:v>
                </c:pt>
                <c:pt idx="31">
                  <c:v>109.73986789529479</c:v>
                </c:pt>
                <c:pt idx="32">
                  <c:v>109.44222457799886</c:v>
                </c:pt>
                <c:pt idx="33">
                  <c:v>108.4473619832015</c:v>
                </c:pt>
                <c:pt idx="34">
                  <c:v>108.4473619832015</c:v>
                </c:pt>
                <c:pt idx="35">
                  <c:v>108.4473619832015</c:v>
                </c:pt>
                <c:pt idx="36">
                  <c:v>106.87189105439126</c:v>
                </c:pt>
                <c:pt idx="37">
                  <c:v>107.33344206148578</c:v>
                </c:pt>
                <c:pt idx="38">
                  <c:v>107.24944956372831</c:v>
                </c:pt>
                <c:pt idx="39">
                  <c:v>107.88469379434072</c:v>
                </c:pt>
                <c:pt idx="40">
                  <c:v>107.27309793688332</c:v>
                </c:pt>
                <c:pt idx="41">
                  <c:v>107.27309793688332</c:v>
                </c:pt>
                <c:pt idx="42">
                  <c:v>107.27309793688332</c:v>
                </c:pt>
                <c:pt idx="43">
                  <c:v>109.11767104297481</c:v>
                </c:pt>
                <c:pt idx="44">
                  <c:v>109.89888281823372</c:v>
                </c:pt>
                <c:pt idx="45">
                  <c:v>109.82875315991191</c:v>
                </c:pt>
                <c:pt idx="46">
                  <c:v>110.253608415559</c:v>
                </c:pt>
                <c:pt idx="47">
                  <c:v>110.0342493680176</c:v>
                </c:pt>
                <c:pt idx="48">
                  <c:v>110.0342493680176</c:v>
                </c:pt>
                <c:pt idx="49">
                  <c:v>110.0342493680176</c:v>
                </c:pt>
                <c:pt idx="50">
                  <c:v>110.75430155753079</c:v>
                </c:pt>
                <c:pt idx="51">
                  <c:v>111.45478267960532</c:v>
                </c:pt>
                <c:pt idx="52">
                  <c:v>111.45315175731876</c:v>
                </c:pt>
                <c:pt idx="53">
                  <c:v>111.36508195384491</c:v>
                </c:pt>
                <c:pt idx="54">
                  <c:v>111.83560303351545</c:v>
                </c:pt>
                <c:pt idx="55">
                  <c:v>111.83560303351545</c:v>
                </c:pt>
                <c:pt idx="56">
                  <c:v>111.83560303351545</c:v>
                </c:pt>
                <c:pt idx="57">
                  <c:v>112.21316154285248</c:v>
                </c:pt>
                <c:pt idx="58">
                  <c:v>112.35749816521243</c:v>
                </c:pt>
                <c:pt idx="59">
                  <c:v>112.90793443692408</c:v>
                </c:pt>
                <c:pt idx="60">
                  <c:v>112.69346815624237</c:v>
                </c:pt>
                <c:pt idx="61">
                  <c:v>113.1020141890239</c:v>
                </c:pt>
                <c:pt idx="62">
                  <c:v>113.1020141890239</c:v>
                </c:pt>
                <c:pt idx="63">
                  <c:v>113.1020141890239</c:v>
                </c:pt>
                <c:pt idx="64">
                  <c:v>114.33254505422816</c:v>
                </c:pt>
                <c:pt idx="65">
                  <c:v>115.42526298621871</c:v>
                </c:pt>
                <c:pt idx="66">
                  <c:v>116.71858435945528</c:v>
                </c:pt>
                <c:pt idx="67">
                  <c:v>117.88632471662726</c:v>
                </c:pt>
                <c:pt idx="68">
                  <c:v>118.8746636222784</c:v>
                </c:pt>
                <c:pt idx="69">
                  <c:v>118.8746636222784</c:v>
                </c:pt>
                <c:pt idx="70">
                  <c:v>118.8746636222784</c:v>
                </c:pt>
                <c:pt idx="71">
                  <c:v>119.90703742966649</c:v>
                </c:pt>
                <c:pt idx="72">
                  <c:v>119.11033189268532</c:v>
                </c:pt>
                <c:pt idx="73">
                  <c:v>120.31884530702112</c:v>
                </c:pt>
                <c:pt idx="74">
                  <c:v>121.50452580934518</c:v>
                </c:pt>
                <c:pt idx="75">
                  <c:v>122.09736606050723</c:v>
                </c:pt>
                <c:pt idx="76">
                  <c:v>122.09736606050723</c:v>
                </c:pt>
                <c:pt idx="77">
                  <c:v>122.09736606050723</c:v>
                </c:pt>
                <c:pt idx="78">
                  <c:v>121.10005708228002</c:v>
                </c:pt>
                <c:pt idx="79">
                  <c:v>123.09712142216425</c:v>
                </c:pt>
                <c:pt idx="80">
                  <c:v>123.32300415885183</c:v>
                </c:pt>
                <c:pt idx="81">
                  <c:v>124.03327081464568</c:v>
                </c:pt>
                <c:pt idx="82">
                  <c:v>124.85770203049826</c:v>
                </c:pt>
                <c:pt idx="83">
                  <c:v>124.85770203049826</c:v>
                </c:pt>
                <c:pt idx="84">
                  <c:v>124.85770203049826</c:v>
                </c:pt>
                <c:pt idx="85">
                  <c:v>127.00154937617224</c:v>
                </c:pt>
                <c:pt idx="86">
                  <c:v>121.78178259805921</c:v>
                </c:pt>
                <c:pt idx="87">
                  <c:v>122.94136834379843</c:v>
                </c:pt>
                <c:pt idx="88">
                  <c:v>122.52466769958413</c:v>
                </c:pt>
                <c:pt idx="89">
                  <c:v>121.92856560384899</c:v>
                </c:pt>
                <c:pt idx="90">
                  <c:v>121.92856560384899</c:v>
                </c:pt>
                <c:pt idx="91">
                  <c:v>121.92856560384899</c:v>
                </c:pt>
                <c:pt idx="92">
                  <c:v>124.61795645437496</c:v>
                </c:pt>
                <c:pt idx="93">
                  <c:v>126.16407078202725</c:v>
                </c:pt>
                <c:pt idx="94">
                  <c:v>128.32993557856969</c:v>
                </c:pt>
                <c:pt idx="95">
                  <c:v>128.99045910462365</c:v>
                </c:pt>
                <c:pt idx="96">
                  <c:v>129.24651390361251</c:v>
                </c:pt>
                <c:pt idx="97">
                  <c:v>129.24651390361251</c:v>
                </c:pt>
                <c:pt idx="98">
                  <c:v>129.24651390361251</c:v>
                </c:pt>
                <c:pt idx="99">
                  <c:v>130.21772812525484</c:v>
                </c:pt>
                <c:pt idx="100">
                  <c:v>131.14409198401697</c:v>
                </c:pt>
                <c:pt idx="101">
                  <c:v>131.41971785044441</c:v>
                </c:pt>
                <c:pt idx="102">
                  <c:v>133.79189431623584</c:v>
                </c:pt>
                <c:pt idx="103">
                  <c:v>132.92016635407325</c:v>
                </c:pt>
                <c:pt idx="104">
                  <c:v>132.92016635407325</c:v>
                </c:pt>
                <c:pt idx="105">
                  <c:v>132.92016635407325</c:v>
                </c:pt>
                <c:pt idx="106">
                  <c:v>133.43961510234038</c:v>
                </c:pt>
                <c:pt idx="107">
                  <c:v>134.89358232080241</c:v>
                </c:pt>
                <c:pt idx="108">
                  <c:v>135.72209084237136</c:v>
                </c:pt>
                <c:pt idx="109">
                  <c:v>137.64984098507708</c:v>
                </c:pt>
                <c:pt idx="110">
                  <c:v>134.18168474272201</c:v>
                </c:pt>
                <c:pt idx="111">
                  <c:v>134.18168474272201</c:v>
                </c:pt>
                <c:pt idx="112">
                  <c:v>134.18168474272201</c:v>
                </c:pt>
                <c:pt idx="113">
                  <c:v>131.61787490826063</c:v>
                </c:pt>
                <c:pt idx="114">
                  <c:v>135.9887466362228</c:v>
                </c:pt>
                <c:pt idx="115">
                  <c:v>136.4087091250102</c:v>
                </c:pt>
                <c:pt idx="116">
                  <c:v>137.06760172877762</c:v>
                </c:pt>
                <c:pt idx="117">
                  <c:v>137.17768898311996</c:v>
                </c:pt>
                <c:pt idx="118">
                  <c:v>137.17768898311996</c:v>
                </c:pt>
                <c:pt idx="119">
                  <c:v>137.17768898311996</c:v>
                </c:pt>
                <c:pt idx="120">
                  <c:v>137.17768898311996</c:v>
                </c:pt>
                <c:pt idx="121">
                  <c:v>137.17768898311996</c:v>
                </c:pt>
                <c:pt idx="122">
                  <c:v>137.10348201908181</c:v>
                </c:pt>
                <c:pt idx="123">
                  <c:v>138.32585827285331</c:v>
                </c:pt>
                <c:pt idx="124">
                  <c:v>135.93492620076654</c:v>
                </c:pt>
                <c:pt idx="125">
                  <c:v>135.93492620076654</c:v>
                </c:pt>
                <c:pt idx="126">
                  <c:v>135.93492620076654</c:v>
                </c:pt>
                <c:pt idx="127">
                  <c:v>132.47410910870096</c:v>
                </c:pt>
                <c:pt idx="128">
                  <c:v>133.51708391095164</c:v>
                </c:pt>
                <c:pt idx="129">
                  <c:v>134.00146783005792</c:v>
                </c:pt>
                <c:pt idx="130">
                  <c:v>135.18307102666557</c:v>
                </c:pt>
                <c:pt idx="131">
                  <c:v>135.95857457392157</c:v>
                </c:pt>
                <c:pt idx="132">
                  <c:v>135.95857457392157</c:v>
                </c:pt>
                <c:pt idx="133">
                  <c:v>135.95857457392157</c:v>
                </c:pt>
                <c:pt idx="134">
                  <c:v>137.39704803066135</c:v>
                </c:pt>
                <c:pt idx="135">
                  <c:v>137.07086357335075</c:v>
                </c:pt>
                <c:pt idx="136">
                  <c:v>136.26111065807714</c:v>
                </c:pt>
                <c:pt idx="137">
                  <c:v>135.78895865612003</c:v>
                </c:pt>
                <c:pt idx="138">
                  <c:v>135.25401614613065</c:v>
                </c:pt>
                <c:pt idx="139">
                  <c:v>135.25401614613065</c:v>
                </c:pt>
                <c:pt idx="140">
                  <c:v>135.25401614613065</c:v>
                </c:pt>
                <c:pt idx="141">
                  <c:v>133.28304656283129</c:v>
                </c:pt>
                <c:pt idx="142">
                  <c:v>133.34909891543668</c:v>
                </c:pt>
                <c:pt idx="143">
                  <c:v>135.15942265351057</c:v>
                </c:pt>
                <c:pt idx="144">
                  <c:v>135.86316562015818</c:v>
                </c:pt>
                <c:pt idx="145">
                  <c:v>135.42363206393216</c:v>
                </c:pt>
                <c:pt idx="146">
                  <c:v>135.42363206393216</c:v>
                </c:pt>
                <c:pt idx="147">
                  <c:v>135.42363206393216</c:v>
                </c:pt>
                <c:pt idx="148">
                  <c:v>135.894968604746</c:v>
                </c:pt>
                <c:pt idx="149">
                  <c:v>135.50517817825983</c:v>
                </c:pt>
                <c:pt idx="150">
                  <c:v>135.77835766125744</c:v>
                </c:pt>
                <c:pt idx="151">
                  <c:v>134.77207861045423</c:v>
                </c:pt>
                <c:pt idx="152">
                  <c:v>134.21022588273667</c:v>
                </c:pt>
                <c:pt idx="153">
                  <c:v>134.21022588273667</c:v>
                </c:pt>
                <c:pt idx="154">
                  <c:v>134.21022588273667</c:v>
                </c:pt>
                <c:pt idx="155">
                  <c:v>138.26143684253447</c:v>
                </c:pt>
                <c:pt idx="156">
                  <c:v>137.42966647639241</c:v>
                </c:pt>
                <c:pt idx="157">
                  <c:v>138.45143928891787</c:v>
                </c:pt>
                <c:pt idx="158">
                  <c:v>139.97145885998532</c:v>
                </c:pt>
                <c:pt idx="159">
                  <c:v>142.50591209328874</c:v>
                </c:pt>
                <c:pt idx="160">
                  <c:v>142.50591209328874</c:v>
                </c:pt>
                <c:pt idx="161">
                  <c:v>142.50591209328874</c:v>
                </c:pt>
                <c:pt idx="162">
                  <c:v>143.9386773220256</c:v>
                </c:pt>
                <c:pt idx="163">
                  <c:v>143.60760009785534</c:v>
                </c:pt>
                <c:pt idx="164">
                  <c:v>143.35399168229634</c:v>
                </c:pt>
                <c:pt idx="165">
                  <c:v>144.07975209981245</c:v>
                </c:pt>
                <c:pt idx="166">
                  <c:v>141.17181766288837</c:v>
                </c:pt>
                <c:pt idx="167">
                  <c:v>141.17181766288837</c:v>
                </c:pt>
                <c:pt idx="168">
                  <c:v>141.17181766288837</c:v>
                </c:pt>
                <c:pt idx="169">
                  <c:v>133.44450786920004</c:v>
                </c:pt>
                <c:pt idx="170">
                  <c:v>135.64625295604665</c:v>
                </c:pt>
                <c:pt idx="171">
                  <c:v>136.87515289896436</c:v>
                </c:pt>
                <c:pt idx="172">
                  <c:v>137.57318763760907</c:v>
                </c:pt>
                <c:pt idx="173">
                  <c:v>137.25678871401777</c:v>
                </c:pt>
                <c:pt idx="174">
                  <c:v>137.25678871401777</c:v>
                </c:pt>
                <c:pt idx="175">
                  <c:v>137.25678871401777</c:v>
                </c:pt>
                <c:pt idx="176">
                  <c:v>134.75821577101851</c:v>
                </c:pt>
                <c:pt idx="177">
                  <c:v>137.03824512761969</c:v>
                </c:pt>
                <c:pt idx="178">
                  <c:v>137.47288591698606</c:v>
                </c:pt>
                <c:pt idx="179">
                  <c:v>136.14694609801842</c:v>
                </c:pt>
                <c:pt idx="180">
                  <c:v>133.70708635733507</c:v>
                </c:pt>
                <c:pt idx="181">
                  <c:v>133.70708635733507</c:v>
                </c:pt>
                <c:pt idx="182">
                  <c:v>133.70708635733507</c:v>
                </c:pt>
                <c:pt idx="183">
                  <c:v>131.86006686781374</c:v>
                </c:pt>
                <c:pt idx="184">
                  <c:v>134.71254994699504</c:v>
                </c:pt>
                <c:pt idx="185">
                  <c:v>134.9498491396885</c:v>
                </c:pt>
                <c:pt idx="186">
                  <c:v>133.95090923917476</c:v>
                </c:pt>
                <c:pt idx="187">
                  <c:v>130.40039142134876</c:v>
                </c:pt>
                <c:pt idx="188">
                  <c:v>130.40039142134876</c:v>
                </c:pt>
                <c:pt idx="189">
                  <c:v>130.40039142134876</c:v>
                </c:pt>
                <c:pt idx="190">
                  <c:v>128.88689553942754</c:v>
                </c:pt>
                <c:pt idx="191">
                  <c:v>129.95270325368995</c:v>
                </c:pt>
                <c:pt idx="192">
                  <c:v>133.07184212672266</c:v>
                </c:pt>
                <c:pt idx="193">
                  <c:v>133.03759275870505</c:v>
                </c:pt>
                <c:pt idx="194">
                  <c:v>133.36540813830223</c:v>
                </c:pt>
                <c:pt idx="195">
                  <c:v>133.36540813830223</c:v>
                </c:pt>
                <c:pt idx="196">
                  <c:v>133.36540813830223</c:v>
                </c:pt>
                <c:pt idx="197">
                  <c:v>134.9115224659545</c:v>
                </c:pt>
                <c:pt idx="198">
                  <c:v>135.36002609475659</c:v>
                </c:pt>
                <c:pt idx="199">
                  <c:v>134.46954252629862</c:v>
                </c:pt>
                <c:pt idx="200">
                  <c:v>135.03954986544892</c:v>
                </c:pt>
                <c:pt idx="201">
                  <c:v>134.95311098426163</c:v>
                </c:pt>
                <c:pt idx="202">
                  <c:v>134.95311098426163</c:v>
                </c:pt>
                <c:pt idx="203">
                  <c:v>134.95311098426163</c:v>
                </c:pt>
                <c:pt idx="204">
                  <c:v>136.01728777623748</c:v>
                </c:pt>
                <c:pt idx="205">
                  <c:v>135.39590638506073</c:v>
                </c:pt>
                <c:pt idx="206">
                  <c:v>137.0268286716138</c:v>
                </c:pt>
                <c:pt idx="207">
                  <c:v>137.3497512843513</c:v>
                </c:pt>
                <c:pt idx="208">
                  <c:v>137.89366386691674</c:v>
                </c:pt>
                <c:pt idx="209">
                  <c:v>137.89366386691674</c:v>
                </c:pt>
                <c:pt idx="210">
                  <c:v>137.89366386691674</c:v>
                </c:pt>
                <c:pt idx="211">
                  <c:v>138.76457636793609</c:v>
                </c:pt>
                <c:pt idx="212">
                  <c:v>140.01957106743862</c:v>
                </c:pt>
                <c:pt idx="213">
                  <c:v>141.2191144091984</c:v>
                </c:pt>
                <c:pt idx="214">
                  <c:v>141.66517165457066</c:v>
                </c:pt>
                <c:pt idx="215">
                  <c:v>141.99787980102747</c:v>
                </c:pt>
                <c:pt idx="216">
                  <c:v>141.99787980102747</c:v>
                </c:pt>
                <c:pt idx="217">
                  <c:v>141.99787980102747</c:v>
                </c:pt>
                <c:pt idx="218">
                  <c:v>143.01068254097692</c:v>
                </c:pt>
                <c:pt idx="219">
                  <c:v>142.47492456984426</c:v>
                </c:pt>
                <c:pt idx="220">
                  <c:v>140.17613960694771</c:v>
                </c:pt>
                <c:pt idx="221">
                  <c:v>138.53869363124849</c:v>
                </c:pt>
                <c:pt idx="222">
                  <c:v>134.29748022506729</c:v>
                </c:pt>
                <c:pt idx="223">
                  <c:v>134.29748022506729</c:v>
                </c:pt>
                <c:pt idx="224">
                  <c:v>134.29748022506729</c:v>
                </c:pt>
                <c:pt idx="225">
                  <c:v>134.22571964445896</c:v>
                </c:pt>
                <c:pt idx="226">
                  <c:v>136.93060425670717</c:v>
                </c:pt>
                <c:pt idx="227">
                  <c:v>136.48046970561853</c:v>
                </c:pt>
                <c:pt idx="228">
                  <c:v>136.75120280518632</c:v>
                </c:pt>
                <c:pt idx="229">
                  <c:v>138.97985810976107</c:v>
                </c:pt>
                <c:pt idx="230">
                  <c:v>138.97985810976107</c:v>
                </c:pt>
                <c:pt idx="231">
                  <c:v>138.97985810976107</c:v>
                </c:pt>
                <c:pt idx="232">
                  <c:v>142.789692571149</c:v>
                </c:pt>
                <c:pt idx="233">
                  <c:v>144.51194650574902</c:v>
                </c:pt>
                <c:pt idx="234">
                  <c:v>145.38204354562504</c:v>
                </c:pt>
                <c:pt idx="235">
                  <c:v>142.12264535594878</c:v>
                </c:pt>
                <c:pt idx="236">
                  <c:v>141.05846856397292</c:v>
                </c:pt>
                <c:pt idx="237">
                  <c:v>141.05846856397292</c:v>
                </c:pt>
                <c:pt idx="238">
                  <c:v>141.05846856397292</c:v>
                </c:pt>
                <c:pt idx="239">
                  <c:v>143.10038326673734</c:v>
                </c:pt>
                <c:pt idx="240">
                  <c:v>144.08382940552883</c:v>
                </c:pt>
                <c:pt idx="241">
                  <c:v>145.51822555655224</c:v>
                </c:pt>
                <c:pt idx="242">
                  <c:v>145.51822555655224</c:v>
                </c:pt>
                <c:pt idx="243">
                  <c:v>145.51822555655224</c:v>
                </c:pt>
                <c:pt idx="244">
                  <c:v>145.51822555655224</c:v>
                </c:pt>
                <c:pt idx="245">
                  <c:v>145.51822555655224</c:v>
                </c:pt>
                <c:pt idx="246">
                  <c:v>145.83707086357336</c:v>
                </c:pt>
                <c:pt idx="247">
                  <c:v>148.10976106988502</c:v>
                </c:pt>
                <c:pt idx="248">
                  <c:v>151.80461551007093</c:v>
                </c:pt>
                <c:pt idx="249">
                  <c:v>151.31370790181847</c:v>
                </c:pt>
                <c:pt idx="250">
                  <c:v>152.31998695262172</c:v>
                </c:pt>
                <c:pt idx="251">
                  <c:v>152.31998695262172</c:v>
                </c:pt>
                <c:pt idx="252">
                  <c:v>152.31998695262172</c:v>
                </c:pt>
                <c:pt idx="253">
                  <c:v>153.08896681073148</c:v>
                </c:pt>
                <c:pt idx="254">
                  <c:v>155.17654733751937</c:v>
                </c:pt>
                <c:pt idx="255">
                  <c:v>154.48422082687762</c:v>
                </c:pt>
                <c:pt idx="256">
                  <c:v>152.06719399820599</c:v>
                </c:pt>
                <c:pt idx="257">
                  <c:v>153.23574981652126</c:v>
                </c:pt>
                <c:pt idx="258">
                  <c:v>153.23574981652126</c:v>
                </c:pt>
                <c:pt idx="259">
                  <c:v>153.23574981652126</c:v>
                </c:pt>
                <c:pt idx="260">
                  <c:v>154.65954497268206</c:v>
                </c:pt>
                <c:pt idx="261">
                  <c:v>154.43040039142136</c:v>
                </c:pt>
                <c:pt idx="262">
                  <c:v>153.75030579792875</c:v>
                </c:pt>
                <c:pt idx="263">
                  <c:v>153.52931582810078</c:v>
                </c:pt>
                <c:pt idx="264">
                  <c:v>152.55565522302862</c:v>
                </c:pt>
                <c:pt idx="265">
                  <c:v>152.55565522302862</c:v>
                </c:pt>
                <c:pt idx="266">
                  <c:v>152.55565522302862</c:v>
                </c:pt>
                <c:pt idx="267">
                  <c:v>150.34820190817908</c:v>
                </c:pt>
                <c:pt idx="268">
                  <c:v>149.27016227676754</c:v>
                </c:pt>
                <c:pt idx="269">
                  <c:v>147.02030498246759</c:v>
                </c:pt>
                <c:pt idx="270">
                  <c:v>148.00456658240236</c:v>
                </c:pt>
                <c:pt idx="271">
                  <c:v>149.15110494984913</c:v>
                </c:pt>
                <c:pt idx="272">
                  <c:v>149.15110494984913</c:v>
                </c:pt>
                <c:pt idx="273">
                  <c:v>149.15110494984913</c:v>
                </c:pt>
                <c:pt idx="274">
                  <c:v>147.31305553290386</c:v>
                </c:pt>
                <c:pt idx="275">
                  <c:v>147.87572372176467</c:v>
                </c:pt>
                <c:pt idx="276">
                  <c:v>146.08415558998615</c:v>
                </c:pt>
                <c:pt idx="277">
                  <c:v>145.36084155589987</c:v>
                </c:pt>
                <c:pt idx="278">
                  <c:v>143.15338824105032</c:v>
                </c:pt>
                <c:pt idx="279">
                  <c:v>143.15338824105032</c:v>
                </c:pt>
                <c:pt idx="280">
                  <c:v>143.15338824105032</c:v>
                </c:pt>
                <c:pt idx="281">
                  <c:v>143.09875234445079</c:v>
                </c:pt>
                <c:pt idx="282">
                  <c:v>143.03433091413194</c:v>
                </c:pt>
                <c:pt idx="283">
                  <c:v>146.52613552964203</c:v>
                </c:pt>
                <c:pt idx="284">
                  <c:v>147.93199054065073</c:v>
                </c:pt>
                <c:pt idx="285">
                  <c:v>148.74745168392727</c:v>
                </c:pt>
                <c:pt idx="286">
                  <c:v>148.74745168392727</c:v>
                </c:pt>
                <c:pt idx="287">
                  <c:v>148.74745168392727</c:v>
                </c:pt>
                <c:pt idx="288">
                  <c:v>148.74745168392727</c:v>
                </c:pt>
                <c:pt idx="289">
                  <c:v>148.74745168392727</c:v>
                </c:pt>
                <c:pt idx="290">
                  <c:v>148.74745168392727</c:v>
                </c:pt>
                <c:pt idx="291">
                  <c:v>148.74745168392727</c:v>
                </c:pt>
                <c:pt idx="292">
                  <c:v>148.74745168392727</c:v>
                </c:pt>
                <c:pt idx="293">
                  <c:v>148.74745168392727</c:v>
                </c:pt>
                <c:pt idx="294">
                  <c:v>148.74745168392727</c:v>
                </c:pt>
                <c:pt idx="295">
                  <c:v>151.68718910543916</c:v>
                </c:pt>
                <c:pt idx="296">
                  <c:v>152.29715404060997</c:v>
                </c:pt>
                <c:pt idx="297">
                  <c:v>151.74997961347142</c:v>
                </c:pt>
                <c:pt idx="298">
                  <c:v>153.27733833482836</c:v>
                </c:pt>
                <c:pt idx="299">
                  <c:v>153.33360515371444</c:v>
                </c:pt>
                <c:pt idx="300">
                  <c:v>153.33360515371444</c:v>
                </c:pt>
                <c:pt idx="301">
                  <c:v>153.33360515371444</c:v>
                </c:pt>
                <c:pt idx="302">
                  <c:v>150.54228166027889</c:v>
                </c:pt>
                <c:pt idx="303">
                  <c:v>147.85452173203947</c:v>
                </c:pt>
                <c:pt idx="304">
                  <c:v>148.27285329854033</c:v>
                </c:pt>
                <c:pt idx="305">
                  <c:v>147.47696322270244</c:v>
                </c:pt>
                <c:pt idx="306">
                  <c:v>144.16048275299681</c:v>
                </c:pt>
                <c:pt idx="307">
                  <c:v>144.16048275299681</c:v>
                </c:pt>
                <c:pt idx="308">
                  <c:v>144.16048275299681</c:v>
                </c:pt>
                <c:pt idx="309">
                  <c:v>134.77860229960044</c:v>
                </c:pt>
                <c:pt idx="310">
                  <c:v>136.73081627660443</c:v>
                </c:pt>
                <c:pt idx="311">
                  <c:v>140.93941123705457</c:v>
                </c:pt>
                <c:pt idx="312">
                  <c:v>139.41205251569761</c:v>
                </c:pt>
                <c:pt idx="313">
                  <c:v>138.32178096713693</c:v>
                </c:pt>
                <c:pt idx="314">
                  <c:v>138.32178096713693</c:v>
                </c:pt>
                <c:pt idx="315">
                  <c:v>138.32178096713693</c:v>
                </c:pt>
                <c:pt idx="316">
                  <c:v>138.07469624072414</c:v>
                </c:pt>
                <c:pt idx="317">
                  <c:v>139.46750387344042</c:v>
                </c:pt>
                <c:pt idx="318">
                  <c:v>139.75617711816034</c:v>
                </c:pt>
                <c:pt idx="319">
                  <c:v>138.55744923754386</c:v>
                </c:pt>
                <c:pt idx="320">
                  <c:v>134.37250265024872</c:v>
                </c:pt>
                <c:pt idx="321">
                  <c:v>134.37250265024872</c:v>
                </c:pt>
                <c:pt idx="322">
                  <c:v>134.37250265024872</c:v>
                </c:pt>
                <c:pt idx="323">
                  <c:v>129.75373073473051</c:v>
                </c:pt>
                <c:pt idx="324">
                  <c:v>131.6782190328631</c:v>
                </c:pt>
                <c:pt idx="325">
                  <c:v>135.21895131696974</c:v>
                </c:pt>
                <c:pt idx="326">
                  <c:v>134.11318600668679</c:v>
                </c:pt>
                <c:pt idx="327">
                  <c:v>136.41034004729676</c:v>
                </c:pt>
                <c:pt idx="328">
                  <c:v>136.41034004729676</c:v>
                </c:pt>
                <c:pt idx="329">
                  <c:v>136.41034004729676</c:v>
                </c:pt>
                <c:pt idx="330">
                  <c:v>135.57367691429502</c:v>
                </c:pt>
                <c:pt idx="331">
                  <c:v>136.54815298051048</c:v>
                </c:pt>
                <c:pt idx="332">
                  <c:v>138.86732447198892</c:v>
                </c:pt>
                <c:pt idx="333">
                  <c:v>138.20598548479165</c:v>
                </c:pt>
                <c:pt idx="334">
                  <c:v>137.32691837233958</c:v>
                </c:pt>
                <c:pt idx="335">
                  <c:v>137.32691837233958</c:v>
                </c:pt>
                <c:pt idx="336">
                  <c:v>137.32691837233958</c:v>
                </c:pt>
                <c:pt idx="337">
                  <c:v>136.58892603767433</c:v>
                </c:pt>
                <c:pt idx="338">
                  <c:v>136.79686862920983</c:v>
                </c:pt>
                <c:pt idx="339">
                  <c:v>143.23982712223761</c:v>
                </c:pt>
                <c:pt idx="340">
                  <c:v>141.61950583054718</c:v>
                </c:pt>
                <c:pt idx="341">
                  <c:v>142.70570007339151</c:v>
                </c:pt>
                <c:pt idx="342">
                  <c:v>142.70570007339151</c:v>
                </c:pt>
                <c:pt idx="343">
                  <c:v>142.70570007339151</c:v>
                </c:pt>
                <c:pt idx="344">
                  <c:v>143.43635325776728</c:v>
                </c:pt>
                <c:pt idx="345">
                  <c:v>144.79735790589581</c:v>
                </c:pt>
                <c:pt idx="346">
                  <c:v>146.83601076408709</c:v>
                </c:pt>
                <c:pt idx="347">
                  <c:v>148.40006523689146</c:v>
                </c:pt>
                <c:pt idx="348">
                  <c:v>148.18315257277993</c:v>
                </c:pt>
                <c:pt idx="349">
                  <c:v>148.18315257277993</c:v>
                </c:pt>
                <c:pt idx="350">
                  <c:v>148.18315257277993</c:v>
                </c:pt>
                <c:pt idx="351">
                  <c:v>149.80918209247329</c:v>
                </c:pt>
                <c:pt idx="352">
                  <c:v>149.51316969746392</c:v>
                </c:pt>
                <c:pt idx="353">
                  <c:v>151.45559814074861</c:v>
                </c:pt>
                <c:pt idx="354">
                  <c:v>152.52059039386774</c:v>
                </c:pt>
                <c:pt idx="355">
                  <c:v>151.12859822229473</c:v>
                </c:pt>
                <c:pt idx="356">
                  <c:v>151.12859822229473</c:v>
                </c:pt>
                <c:pt idx="357">
                  <c:v>151.12859822229473</c:v>
                </c:pt>
                <c:pt idx="358">
                  <c:v>151.12859822229473</c:v>
                </c:pt>
                <c:pt idx="359">
                  <c:v>152.96746310038327</c:v>
                </c:pt>
                <c:pt idx="360">
                  <c:v>151.19465057490012</c:v>
                </c:pt>
                <c:pt idx="361">
                  <c:v>151.19465057490012</c:v>
                </c:pt>
                <c:pt idx="362">
                  <c:v>151.19465057490012</c:v>
                </c:pt>
                <c:pt idx="363">
                  <c:v>151.19465057490012</c:v>
                </c:pt>
                <c:pt idx="364">
                  <c:v>151.19465057490012</c:v>
                </c:pt>
                <c:pt idx="365">
                  <c:v>151.19138873032699</c:v>
                </c:pt>
                <c:pt idx="366">
                  <c:v>152.88673244719888</c:v>
                </c:pt>
              </c:numCache>
            </c:numRef>
          </c:val>
          <c:smooth val="1"/>
          <c:extLst>
            <c:ext xmlns:c16="http://schemas.microsoft.com/office/drawing/2014/chart" uri="{C3380CC4-5D6E-409C-BE32-E72D297353CC}">
              <c16:uniqueId val="{00000000-5D0B-404D-8B9D-9E14986AA7A2}"/>
            </c:ext>
          </c:extLst>
        </c:ser>
        <c:ser>
          <c:idx val="1"/>
          <c:order val="1"/>
          <c:tx>
            <c:strRef>
              <c:f>Frontpage!$R$3</c:f>
              <c:strCache>
                <c:ptCount val="1"/>
                <c:pt idx="0">
                  <c:v>EIB VN</c:v>
                </c:pt>
              </c:strCache>
            </c:strRef>
          </c:tx>
          <c:spPr>
            <a:ln w="12700" cap="rnd">
              <a:solidFill>
                <a:srgbClr val="EF7011"/>
              </a:solidFill>
              <a:round/>
            </a:ln>
            <a:effectLst/>
          </c:spPr>
          <c:marker>
            <c:symbol val="none"/>
          </c:marker>
          <c:cat>
            <c:numRef>
              <c:f>Frontpage!$N$4:$N$370</c:f>
              <c:numCache>
                <c:formatCode>m/d/yyyy</c:formatCode>
                <c:ptCount val="367"/>
                <c:pt idx="0">
                  <c:v>45781</c:v>
                </c:pt>
                <c:pt idx="1">
                  <c:v>45782</c:v>
                </c:pt>
                <c:pt idx="2">
                  <c:v>45783</c:v>
                </c:pt>
                <c:pt idx="3">
                  <c:v>45784</c:v>
                </c:pt>
                <c:pt idx="4">
                  <c:v>45785</c:v>
                </c:pt>
                <c:pt idx="5">
                  <c:v>45786</c:v>
                </c:pt>
                <c:pt idx="6">
                  <c:v>45787</c:v>
                </c:pt>
                <c:pt idx="7">
                  <c:v>45788</c:v>
                </c:pt>
                <c:pt idx="8">
                  <c:v>45789</c:v>
                </c:pt>
                <c:pt idx="9">
                  <c:v>45790</c:v>
                </c:pt>
                <c:pt idx="10">
                  <c:v>45791</c:v>
                </c:pt>
                <c:pt idx="11">
                  <c:v>45792</c:v>
                </c:pt>
                <c:pt idx="12">
                  <c:v>45793</c:v>
                </c:pt>
                <c:pt idx="13">
                  <c:v>45794</c:v>
                </c:pt>
                <c:pt idx="14">
                  <c:v>45795</c:v>
                </c:pt>
                <c:pt idx="15">
                  <c:v>45796</c:v>
                </c:pt>
                <c:pt idx="16">
                  <c:v>45797</c:v>
                </c:pt>
                <c:pt idx="17">
                  <c:v>45798</c:v>
                </c:pt>
                <c:pt idx="18">
                  <c:v>45799</c:v>
                </c:pt>
                <c:pt idx="19">
                  <c:v>45800</c:v>
                </c:pt>
                <c:pt idx="20">
                  <c:v>45801</c:v>
                </c:pt>
                <c:pt idx="21">
                  <c:v>45802</c:v>
                </c:pt>
                <c:pt idx="22">
                  <c:v>45803</c:v>
                </c:pt>
                <c:pt idx="23">
                  <c:v>45804</c:v>
                </c:pt>
                <c:pt idx="24">
                  <c:v>45805</c:v>
                </c:pt>
                <c:pt idx="25">
                  <c:v>45806</c:v>
                </c:pt>
                <c:pt idx="26">
                  <c:v>45807</c:v>
                </c:pt>
                <c:pt idx="27">
                  <c:v>45808</c:v>
                </c:pt>
                <c:pt idx="28">
                  <c:v>45809</c:v>
                </c:pt>
                <c:pt idx="29">
                  <c:v>45810</c:v>
                </c:pt>
                <c:pt idx="30">
                  <c:v>45811</c:v>
                </c:pt>
                <c:pt idx="31">
                  <c:v>45812</c:v>
                </c:pt>
                <c:pt idx="32">
                  <c:v>45813</c:v>
                </c:pt>
                <c:pt idx="33">
                  <c:v>45814</c:v>
                </c:pt>
                <c:pt idx="34">
                  <c:v>45815</c:v>
                </c:pt>
                <c:pt idx="35">
                  <c:v>45816</c:v>
                </c:pt>
                <c:pt idx="36">
                  <c:v>45817</c:v>
                </c:pt>
                <c:pt idx="37">
                  <c:v>45818</c:v>
                </c:pt>
                <c:pt idx="38">
                  <c:v>45819</c:v>
                </c:pt>
                <c:pt idx="39">
                  <c:v>45820</c:v>
                </c:pt>
                <c:pt idx="40">
                  <c:v>45821</c:v>
                </c:pt>
                <c:pt idx="41">
                  <c:v>45822</c:v>
                </c:pt>
                <c:pt idx="42">
                  <c:v>45823</c:v>
                </c:pt>
                <c:pt idx="43">
                  <c:v>45824</c:v>
                </c:pt>
                <c:pt idx="44">
                  <c:v>45825</c:v>
                </c:pt>
                <c:pt idx="45">
                  <c:v>45826</c:v>
                </c:pt>
                <c:pt idx="46">
                  <c:v>45827</c:v>
                </c:pt>
                <c:pt idx="47">
                  <c:v>45828</c:v>
                </c:pt>
                <c:pt idx="48">
                  <c:v>45829</c:v>
                </c:pt>
                <c:pt idx="49">
                  <c:v>45830</c:v>
                </c:pt>
                <c:pt idx="50">
                  <c:v>45831</c:v>
                </c:pt>
                <c:pt idx="51">
                  <c:v>45832</c:v>
                </c:pt>
                <c:pt idx="52">
                  <c:v>45833</c:v>
                </c:pt>
                <c:pt idx="53">
                  <c:v>45834</c:v>
                </c:pt>
                <c:pt idx="54">
                  <c:v>45835</c:v>
                </c:pt>
                <c:pt idx="55">
                  <c:v>45836</c:v>
                </c:pt>
                <c:pt idx="56">
                  <c:v>45837</c:v>
                </c:pt>
                <c:pt idx="57">
                  <c:v>45838</c:v>
                </c:pt>
                <c:pt idx="58">
                  <c:v>45839</c:v>
                </c:pt>
                <c:pt idx="59">
                  <c:v>45840</c:v>
                </c:pt>
                <c:pt idx="60">
                  <c:v>45841</c:v>
                </c:pt>
                <c:pt idx="61">
                  <c:v>45842</c:v>
                </c:pt>
                <c:pt idx="62">
                  <c:v>45843</c:v>
                </c:pt>
                <c:pt idx="63">
                  <c:v>45844</c:v>
                </c:pt>
                <c:pt idx="64">
                  <c:v>45845</c:v>
                </c:pt>
                <c:pt idx="65">
                  <c:v>45846</c:v>
                </c:pt>
                <c:pt idx="66">
                  <c:v>45847</c:v>
                </c:pt>
                <c:pt idx="67">
                  <c:v>45848</c:v>
                </c:pt>
                <c:pt idx="68">
                  <c:v>45849</c:v>
                </c:pt>
                <c:pt idx="69">
                  <c:v>45850</c:v>
                </c:pt>
                <c:pt idx="70">
                  <c:v>45851</c:v>
                </c:pt>
                <c:pt idx="71">
                  <c:v>45852</c:v>
                </c:pt>
                <c:pt idx="72">
                  <c:v>45853</c:v>
                </c:pt>
                <c:pt idx="73">
                  <c:v>45854</c:v>
                </c:pt>
                <c:pt idx="74">
                  <c:v>45855</c:v>
                </c:pt>
                <c:pt idx="75">
                  <c:v>45856</c:v>
                </c:pt>
                <c:pt idx="76">
                  <c:v>45857</c:v>
                </c:pt>
                <c:pt idx="77">
                  <c:v>45858</c:v>
                </c:pt>
                <c:pt idx="78">
                  <c:v>45859</c:v>
                </c:pt>
                <c:pt idx="79">
                  <c:v>45860</c:v>
                </c:pt>
                <c:pt idx="80">
                  <c:v>45861</c:v>
                </c:pt>
                <c:pt idx="81">
                  <c:v>45862</c:v>
                </c:pt>
                <c:pt idx="82">
                  <c:v>45863</c:v>
                </c:pt>
                <c:pt idx="83">
                  <c:v>45864</c:v>
                </c:pt>
                <c:pt idx="84">
                  <c:v>45865</c:v>
                </c:pt>
                <c:pt idx="85">
                  <c:v>45866</c:v>
                </c:pt>
                <c:pt idx="86">
                  <c:v>45867</c:v>
                </c:pt>
                <c:pt idx="87">
                  <c:v>45868</c:v>
                </c:pt>
                <c:pt idx="88">
                  <c:v>45869</c:v>
                </c:pt>
                <c:pt idx="89">
                  <c:v>45870</c:v>
                </c:pt>
                <c:pt idx="90">
                  <c:v>45871</c:v>
                </c:pt>
                <c:pt idx="91">
                  <c:v>45872</c:v>
                </c:pt>
                <c:pt idx="92">
                  <c:v>45873</c:v>
                </c:pt>
                <c:pt idx="93">
                  <c:v>45874</c:v>
                </c:pt>
                <c:pt idx="94">
                  <c:v>45875</c:v>
                </c:pt>
                <c:pt idx="95">
                  <c:v>45876</c:v>
                </c:pt>
                <c:pt idx="96">
                  <c:v>45877</c:v>
                </c:pt>
                <c:pt idx="97">
                  <c:v>45878</c:v>
                </c:pt>
                <c:pt idx="98">
                  <c:v>45879</c:v>
                </c:pt>
                <c:pt idx="99">
                  <c:v>45880</c:v>
                </c:pt>
                <c:pt idx="100">
                  <c:v>45881</c:v>
                </c:pt>
                <c:pt idx="101">
                  <c:v>45882</c:v>
                </c:pt>
                <c:pt idx="102">
                  <c:v>45883</c:v>
                </c:pt>
                <c:pt idx="103">
                  <c:v>45884</c:v>
                </c:pt>
                <c:pt idx="104">
                  <c:v>45885</c:v>
                </c:pt>
                <c:pt idx="105">
                  <c:v>45886</c:v>
                </c:pt>
                <c:pt idx="106">
                  <c:v>45887</c:v>
                </c:pt>
                <c:pt idx="107">
                  <c:v>45888</c:v>
                </c:pt>
                <c:pt idx="108">
                  <c:v>45889</c:v>
                </c:pt>
                <c:pt idx="109">
                  <c:v>45890</c:v>
                </c:pt>
                <c:pt idx="110">
                  <c:v>45891</c:v>
                </c:pt>
                <c:pt idx="111">
                  <c:v>45892</c:v>
                </c:pt>
                <c:pt idx="112">
                  <c:v>45893</c:v>
                </c:pt>
                <c:pt idx="113">
                  <c:v>45894</c:v>
                </c:pt>
                <c:pt idx="114">
                  <c:v>45895</c:v>
                </c:pt>
                <c:pt idx="115">
                  <c:v>45896</c:v>
                </c:pt>
                <c:pt idx="116">
                  <c:v>45897</c:v>
                </c:pt>
                <c:pt idx="117">
                  <c:v>45898</c:v>
                </c:pt>
                <c:pt idx="118">
                  <c:v>45899</c:v>
                </c:pt>
                <c:pt idx="119">
                  <c:v>45900</c:v>
                </c:pt>
                <c:pt idx="120">
                  <c:v>45901</c:v>
                </c:pt>
                <c:pt idx="121">
                  <c:v>45902</c:v>
                </c:pt>
                <c:pt idx="122">
                  <c:v>45903</c:v>
                </c:pt>
                <c:pt idx="123">
                  <c:v>45904</c:v>
                </c:pt>
                <c:pt idx="124">
                  <c:v>45905</c:v>
                </c:pt>
                <c:pt idx="125">
                  <c:v>45906</c:v>
                </c:pt>
                <c:pt idx="126">
                  <c:v>45907</c:v>
                </c:pt>
                <c:pt idx="127">
                  <c:v>45908</c:v>
                </c:pt>
                <c:pt idx="128">
                  <c:v>45909</c:v>
                </c:pt>
                <c:pt idx="129">
                  <c:v>45910</c:v>
                </c:pt>
                <c:pt idx="130">
                  <c:v>45911</c:v>
                </c:pt>
                <c:pt idx="131">
                  <c:v>45912</c:v>
                </c:pt>
                <c:pt idx="132">
                  <c:v>45913</c:v>
                </c:pt>
                <c:pt idx="133">
                  <c:v>45914</c:v>
                </c:pt>
                <c:pt idx="134">
                  <c:v>45915</c:v>
                </c:pt>
                <c:pt idx="135">
                  <c:v>45916</c:v>
                </c:pt>
                <c:pt idx="136">
                  <c:v>45917</c:v>
                </c:pt>
                <c:pt idx="137">
                  <c:v>45918</c:v>
                </c:pt>
                <c:pt idx="138">
                  <c:v>45919</c:v>
                </c:pt>
                <c:pt idx="139">
                  <c:v>45920</c:v>
                </c:pt>
                <c:pt idx="140">
                  <c:v>45921</c:v>
                </c:pt>
                <c:pt idx="141">
                  <c:v>45922</c:v>
                </c:pt>
                <c:pt idx="142">
                  <c:v>45923</c:v>
                </c:pt>
                <c:pt idx="143">
                  <c:v>45924</c:v>
                </c:pt>
                <c:pt idx="144">
                  <c:v>45925</c:v>
                </c:pt>
                <c:pt idx="145">
                  <c:v>45926</c:v>
                </c:pt>
                <c:pt idx="146">
                  <c:v>45927</c:v>
                </c:pt>
                <c:pt idx="147">
                  <c:v>45928</c:v>
                </c:pt>
                <c:pt idx="148">
                  <c:v>45929</c:v>
                </c:pt>
                <c:pt idx="149">
                  <c:v>45930</c:v>
                </c:pt>
                <c:pt idx="150">
                  <c:v>45931</c:v>
                </c:pt>
                <c:pt idx="151">
                  <c:v>45932</c:v>
                </c:pt>
                <c:pt idx="152">
                  <c:v>45933</c:v>
                </c:pt>
                <c:pt idx="153">
                  <c:v>45934</c:v>
                </c:pt>
                <c:pt idx="154">
                  <c:v>45935</c:v>
                </c:pt>
                <c:pt idx="155">
                  <c:v>45936</c:v>
                </c:pt>
                <c:pt idx="156">
                  <c:v>45937</c:v>
                </c:pt>
                <c:pt idx="157">
                  <c:v>45938</c:v>
                </c:pt>
                <c:pt idx="158">
                  <c:v>45939</c:v>
                </c:pt>
                <c:pt idx="159">
                  <c:v>45940</c:v>
                </c:pt>
                <c:pt idx="160">
                  <c:v>45941</c:v>
                </c:pt>
                <c:pt idx="161">
                  <c:v>45942</c:v>
                </c:pt>
                <c:pt idx="162">
                  <c:v>45943</c:v>
                </c:pt>
                <c:pt idx="163">
                  <c:v>45944</c:v>
                </c:pt>
                <c:pt idx="164">
                  <c:v>45945</c:v>
                </c:pt>
                <c:pt idx="165">
                  <c:v>45946</c:v>
                </c:pt>
                <c:pt idx="166">
                  <c:v>45947</c:v>
                </c:pt>
                <c:pt idx="167">
                  <c:v>45948</c:v>
                </c:pt>
                <c:pt idx="168">
                  <c:v>45949</c:v>
                </c:pt>
                <c:pt idx="169">
                  <c:v>45950</c:v>
                </c:pt>
                <c:pt idx="170">
                  <c:v>45951</c:v>
                </c:pt>
                <c:pt idx="171">
                  <c:v>45952</c:v>
                </c:pt>
                <c:pt idx="172">
                  <c:v>45953</c:v>
                </c:pt>
                <c:pt idx="173">
                  <c:v>45954</c:v>
                </c:pt>
                <c:pt idx="174">
                  <c:v>45955</c:v>
                </c:pt>
                <c:pt idx="175">
                  <c:v>45956</c:v>
                </c:pt>
                <c:pt idx="176">
                  <c:v>45957</c:v>
                </c:pt>
                <c:pt idx="177">
                  <c:v>45958</c:v>
                </c:pt>
                <c:pt idx="178">
                  <c:v>45959</c:v>
                </c:pt>
                <c:pt idx="179">
                  <c:v>45960</c:v>
                </c:pt>
                <c:pt idx="180">
                  <c:v>45961</c:v>
                </c:pt>
                <c:pt idx="181">
                  <c:v>45962</c:v>
                </c:pt>
                <c:pt idx="182">
                  <c:v>45963</c:v>
                </c:pt>
                <c:pt idx="183">
                  <c:v>45964</c:v>
                </c:pt>
                <c:pt idx="184">
                  <c:v>45965</c:v>
                </c:pt>
                <c:pt idx="185">
                  <c:v>45966</c:v>
                </c:pt>
                <c:pt idx="186">
                  <c:v>45967</c:v>
                </c:pt>
                <c:pt idx="187">
                  <c:v>45968</c:v>
                </c:pt>
                <c:pt idx="188">
                  <c:v>45969</c:v>
                </c:pt>
                <c:pt idx="189">
                  <c:v>45970</c:v>
                </c:pt>
                <c:pt idx="190">
                  <c:v>45971</c:v>
                </c:pt>
                <c:pt idx="191">
                  <c:v>45972</c:v>
                </c:pt>
                <c:pt idx="192">
                  <c:v>45973</c:v>
                </c:pt>
                <c:pt idx="193">
                  <c:v>45974</c:v>
                </c:pt>
                <c:pt idx="194">
                  <c:v>45975</c:v>
                </c:pt>
                <c:pt idx="195">
                  <c:v>45976</c:v>
                </c:pt>
                <c:pt idx="196">
                  <c:v>45977</c:v>
                </c:pt>
                <c:pt idx="197">
                  <c:v>45978</c:v>
                </c:pt>
                <c:pt idx="198">
                  <c:v>45979</c:v>
                </c:pt>
                <c:pt idx="199">
                  <c:v>45980</c:v>
                </c:pt>
                <c:pt idx="200">
                  <c:v>45981</c:v>
                </c:pt>
                <c:pt idx="201">
                  <c:v>45982</c:v>
                </c:pt>
                <c:pt idx="202">
                  <c:v>45983</c:v>
                </c:pt>
                <c:pt idx="203">
                  <c:v>45984</c:v>
                </c:pt>
                <c:pt idx="204">
                  <c:v>45985</c:v>
                </c:pt>
                <c:pt idx="205">
                  <c:v>45986</c:v>
                </c:pt>
                <c:pt idx="206">
                  <c:v>45987</c:v>
                </c:pt>
                <c:pt idx="207">
                  <c:v>45988</c:v>
                </c:pt>
                <c:pt idx="208">
                  <c:v>45989</c:v>
                </c:pt>
                <c:pt idx="209">
                  <c:v>45990</c:v>
                </c:pt>
                <c:pt idx="210">
                  <c:v>45991</c:v>
                </c:pt>
                <c:pt idx="211">
                  <c:v>45992</c:v>
                </c:pt>
                <c:pt idx="212">
                  <c:v>45993</c:v>
                </c:pt>
                <c:pt idx="213">
                  <c:v>45994</c:v>
                </c:pt>
                <c:pt idx="214">
                  <c:v>45995</c:v>
                </c:pt>
                <c:pt idx="215">
                  <c:v>45996</c:v>
                </c:pt>
                <c:pt idx="216">
                  <c:v>45997</c:v>
                </c:pt>
                <c:pt idx="217">
                  <c:v>45998</c:v>
                </c:pt>
                <c:pt idx="218">
                  <c:v>45999</c:v>
                </c:pt>
                <c:pt idx="219">
                  <c:v>46000</c:v>
                </c:pt>
                <c:pt idx="220">
                  <c:v>46001</c:v>
                </c:pt>
                <c:pt idx="221">
                  <c:v>46002</c:v>
                </c:pt>
                <c:pt idx="222">
                  <c:v>46003</c:v>
                </c:pt>
                <c:pt idx="223">
                  <c:v>46004</c:v>
                </c:pt>
                <c:pt idx="224">
                  <c:v>46005</c:v>
                </c:pt>
                <c:pt idx="225">
                  <c:v>46006</c:v>
                </c:pt>
                <c:pt idx="226">
                  <c:v>46007</c:v>
                </c:pt>
                <c:pt idx="227">
                  <c:v>46008</c:v>
                </c:pt>
                <c:pt idx="228">
                  <c:v>46009</c:v>
                </c:pt>
                <c:pt idx="229">
                  <c:v>46010</c:v>
                </c:pt>
                <c:pt idx="230">
                  <c:v>46011</c:v>
                </c:pt>
                <c:pt idx="231">
                  <c:v>46012</c:v>
                </c:pt>
                <c:pt idx="232">
                  <c:v>46013</c:v>
                </c:pt>
                <c:pt idx="233">
                  <c:v>46014</c:v>
                </c:pt>
                <c:pt idx="234">
                  <c:v>46015</c:v>
                </c:pt>
                <c:pt idx="235">
                  <c:v>46016</c:v>
                </c:pt>
                <c:pt idx="236">
                  <c:v>46017</c:v>
                </c:pt>
                <c:pt idx="237">
                  <c:v>46018</c:v>
                </c:pt>
                <c:pt idx="238">
                  <c:v>46019</c:v>
                </c:pt>
                <c:pt idx="239">
                  <c:v>46020</c:v>
                </c:pt>
                <c:pt idx="240">
                  <c:v>46021</c:v>
                </c:pt>
                <c:pt idx="241">
                  <c:v>46022</c:v>
                </c:pt>
                <c:pt idx="242">
                  <c:v>46023</c:v>
                </c:pt>
                <c:pt idx="243">
                  <c:v>46024</c:v>
                </c:pt>
                <c:pt idx="244">
                  <c:v>46025</c:v>
                </c:pt>
                <c:pt idx="245">
                  <c:v>46026</c:v>
                </c:pt>
                <c:pt idx="246">
                  <c:v>46027</c:v>
                </c:pt>
                <c:pt idx="247">
                  <c:v>46028</c:v>
                </c:pt>
                <c:pt idx="248">
                  <c:v>46029</c:v>
                </c:pt>
                <c:pt idx="249">
                  <c:v>46030</c:v>
                </c:pt>
                <c:pt idx="250">
                  <c:v>46031</c:v>
                </c:pt>
                <c:pt idx="251">
                  <c:v>46032</c:v>
                </c:pt>
                <c:pt idx="252">
                  <c:v>46033</c:v>
                </c:pt>
                <c:pt idx="253">
                  <c:v>46034</c:v>
                </c:pt>
                <c:pt idx="254">
                  <c:v>46035</c:v>
                </c:pt>
                <c:pt idx="255">
                  <c:v>46036</c:v>
                </c:pt>
                <c:pt idx="256">
                  <c:v>46037</c:v>
                </c:pt>
                <c:pt idx="257">
                  <c:v>46038</c:v>
                </c:pt>
                <c:pt idx="258">
                  <c:v>46039</c:v>
                </c:pt>
                <c:pt idx="259">
                  <c:v>46040</c:v>
                </c:pt>
                <c:pt idx="260">
                  <c:v>46041</c:v>
                </c:pt>
                <c:pt idx="261">
                  <c:v>46042</c:v>
                </c:pt>
                <c:pt idx="262">
                  <c:v>46043</c:v>
                </c:pt>
                <c:pt idx="263">
                  <c:v>46044</c:v>
                </c:pt>
                <c:pt idx="264">
                  <c:v>46045</c:v>
                </c:pt>
                <c:pt idx="265">
                  <c:v>46046</c:v>
                </c:pt>
                <c:pt idx="266">
                  <c:v>46047</c:v>
                </c:pt>
                <c:pt idx="267">
                  <c:v>46048</c:v>
                </c:pt>
                <c:pt idx="268">
                  <c:v>46049</c:v>
                </c:pt>
                <c:pt idx="269">
                  <c:v>46050</c:v>
                </c:pt>
                <c:pt idx="270">
                  <c:v>46051</c:v>
                </c:pt>
                <c:pt idx="271">
                  <c:v>46052</c:v>
                </c:pt>
                <c:pt idx="272">
                  <c:v>46053</c:v>
                </c:pt>
                <c:pt idx="273">
                  <c:v>46054</c:v>
                </c:pt>
                <c:pt idx="274">
                  <c:v>46055</c:v>
                </c:pt>
                <c:pt idx="275">
                  <c:v>46056</c:v>
                </c:pt>
                <c:pt idx="276">
                  <c:v>46057</c:v>
                </c:pt>
                <c:pt idx="277">
                  <c:v>46058</c:v>
                </c:pt>
                <c:pt idx="278">
                  <c:v>46059</c:v>
                </c:pt>
                <c:pt idx="279">
                  <c:v>46060</c:v>
                </c:pt>
                <c:pt idx="280">
                  <c:v>46061</c:v>
                </c:pt>
                <c:pt idx="281">
                  <c:v>46062</c:v>
                </c:pt>
                <c:pt idx="282">
                  <c:v>46063</c:v>
                </c:pt>
                <c:pt idx="283">
                  <c:v>46064</c:v>
                </c:pt>
                <c:pt idx="284">
                  <c:v>46065</c:v>
                </c:pt>
                <c:pt idx="285">
                  <c:v>46066</c:v>
                </c:pt>
                <c:pt idx="286">
                  <c:v>46067</c:v>
                </c:pt>
                <c:pt idx="287">
                  <c:v>46068</c:v>
                </c:pt>
                <c:pt idx="288">
                  <c:v>46069</c:v>
                </c:pt>
                <c:pt idx="289">
                  <c:v>46070</c:v>
                </c:pt>
                <c:pt idx="290">
                  <c:v>46071</c:v>
                </c:pt>
                <c:pt idx="291">
                  <c:v>46072</c:v>
                </c:pt>
                <c:pt idx="292">
                  <c:v>46073</c:v>
                </c:pt>
                <c:pt idx="293">
                  <c:v>46074</c:v>
                </c:pt>
                <c:pt idx="294">
                  <c:v>46075</c:v>
                </c:pt>
                <c:pt idx="295">
                  <c:v>46076</c:v>
                </c:pt>
                <c:pt idx="296">
                  <c:v>46077</c:v>
                </c:pt>
                <c:pt idx="297">
                  <c:v>46078</c:v>
                </c:pt>
                <c:pt idx="298">
                  <c:v>46079</c:v>
                </c:pt>
                <c:pt idx="299">
                  <c:v>46080</c:v>
                </c:pt>
                <c:pt idx="300">
                  <c:v>46081</c:v>
                </c:pt>
                <c:pt idx="301">
                  <c:v>46082</c:v>
                </c:pt>
                <c:pt idx="302">
                  <c:v>46083</c:v>
                </c:pt>
                <c:pt idx="303">
                  <c:v>46084</c:v>
                </c:pt>
                <c:pt idx="304">
                  <c:v>46085</c:v>
                </c:pt>
                <c:pt idx="305">
                  <c:v>46086</c:v>
                </c:pt>
                <c:pt idx="306">
                  <c:v>46087</c:v>
                </c:pt>
                <c:pt idx="307">
                  <c:v>46088</c:v>
                </c:pt>
                <c:pt idx="308">
                  <c:v>46089</c:v>
                </c:pt>
                <c:pt idx="309">
                  <c:v>46090</c:v>
                </c:pt>
                <c:pt idx="310">
                  <c:v>46091</c:v>
                </c:pt>
                <c:pt idx="311">
                  <c:v>46092</c:v>
                </c:pt>
                <c:pt idx="312">
                  <c:v>46093</c:v>
                </c:pt>
                <c:pt idx="313">
                  <c:v>46094</c:v>
                </c:pt>
                <c:pt idx="314">
                  <c:v>46095</c:v>
                </c:pt>
                <c:pt idx="315">
                  <c:v>46096</c:v>
                </c:pt>
                <c:pt idx="316">
                  <c:v>46097</c:v>
                </c:pt>
                <c:pt idx="317">
                  <c:v>46098</c:v>
                </c:pt>
                <c:pt idx="318">
                  <c:v>46099</c:v>
                </c:pt>
                <c:pt idx="319">
                  <c:v>46100</c:v>
                </c:pt>
                <c:pt idx="320">
                  <c:v>46101</c:v>
                </c:pt>
                <c:pt idx="321">
                  <c:v>46102</c:v>
                </c:pt>
                <c:pt idx="322">
                  <c:v>46103</c:v>
                </c:pt>
                <c:pt idx="323">
                  <c:v>46104</c:v>
                </c:pt>
                <c:pt idx="324">
                  <c:v>46105</c:v>
                </c:pt>
                <c:pt idx="325">
                  <c:v>46106</c:v>
                </c:pt>
                <c:pt idx="326">
                  <c:v>46107</c:v>
                </c:pt>
                <c:pt idx="327">
                  <c:v>46108</c:v>
                </c:pt>
                <c:pt idx="328">
                  <c:v>46109</c:v>
                </c:pt>
                <c:pt idx="329">
                  <c:v>46110</c:v>
                </c:pt>
                <c:pt idx="330">
                  <c:v>46111</c:v>
                </c:pt>
                <c:pt idx="331">
                  <c:v>46112</c:v>
                </c:pt>
                <c:pt idx="332">
                  <c:v>46113</c:v>
                </c:pt>
                <c:pt idx="333">
                  <c:v>46114</c:v>
                </c:pt>
                <c:pt idx="334">
                  <c:v>46115</c:v>
                </c:pt>
                <c:pt idx="335">
                  <c:v>46116</c:v>
                </c:pt>
                <c:pt idx="336">
                  <c:v>46117</c:v>
                </c:pt>
                <c:pt idx="337">
                  <c:v>46118</c:v>
                </c:pt>
                <c:pt idx="338">
                  <c:v>46119</c:v>
                </c:pt>
                <c:pt idx="339">
                  <c:v>46120</c:v>
                </c:pt>
                <c:pt idx="340">
                  <c:v>46121</c:v>
                </c:pt>
                <c:pt idx="341">
                  <c:v>46122</c:v>
                </c:pt>
                <c:pt idx="342">
                  <c:v>46123</c:v>
                </c:pt>
                <c:pt idx="343">
                  <c:v>46124</c:v>
                </c:pt>
                <c:pt idx="344">
                  <c:v>46125</c:v>
                </c:pt>
                <c:pt idx="345">
                  <c:v>46126</c:v>
                </c:pt>
                <c:pt idx="346">
                  <c:v>46127</c:v>
                </c:pt>
                <c:pt idx="347">
                  <c:v>46128</c:v>
                </c:pt>
                <c:pt idx="348">
                  <c:v>46129</c:v>
                </c:pt>
                <c:pt idx="349">
                  <c:v>46130</c:v>
                </c:pt>
                <c:pt idx="350">
                  <c:v>46131</c:v>
                </c:pt>
                <c:pt idx="351">
                  <c:v>46132</c:v>
                </c:pt>
                <c:pt idx="352">
                  <c:v>46133</c:v>
                </c:pt>
                <c:pt idx="353">
                  <c:v>46134</c:v>
                </c:pt>
                <c:pt idx="354">
                  <c:v>46135</c:v>
                </c:pt>
                <c:pt idx="355">
                  <c:v>46136</c:v>
                </c:pt>
                <c:pt idx="356">
                  <c:v>46137</c:v>
                </c:pt>
                <c:pt idx="357">
                  <c:v>46138</c:v>
                </c:pt>
                <c:pt idx="358">
                  <c:v>46139</c:v>
                </c:pt>
                <c:pt idx="359">
                  <c:v>46140</c:v>
                </c:pt>
                <c:pt idx="360">
                  <c:v>46141</c:v>
                </c:pt>
                <c:pt idx="361">
                  <c:v>46142</c:v>
                </c:pt>
                <c:pt idx="362">
                  <c:v>46143</c:v>
                </c:pt>
                <c:pt idx="363">
                  <c:v>46144</c:v>
                </c:pt>
                <c:pt idx="364">
                  <c:v>46145</c:v>
                </c:pt>
                <c:pt idx="365">
                  <c:v>46146</c:v>
                </c:pt>
                <c:pt idx="366">
                  <c:v>46147</c:v>
                </c:pt>
              </c:numCache>
            </c:numRef>
          </c:cat>
          <c:val>
            <c:numRef>
              <c:f>Frontpage!$R$4:$R$370</c:f>
              <c:numCache>
                <c:formatCode>_(* #,##0_);_(* \(#,##0\);_(* "-"??_);_(@_)</c:formatCode>
                <c:ptCount val="367"/>
                <c:pt idx="0">
                  <c:v>100</c:v>
                </c:pt>
                <c:pt idx="1">
                  <c:v>101.58311345646437</c:v>
                </c:pt>
                <c:pt idx="2">
                  <c:v>100.26385224274405</c:v>
                </c:pt>
                <c:pt idx="3">
                  <c:v>100.26385224274405</c:v>
                </c:pt>
                <c:pt idx="4">
                  <c:v>101.58311345646437</c:v>
                </c:pt>
                <c:pt idx="5">
                  <c:v>100.79155672823219</c:v>
                </c:pt>
                <c:pt idx="6">
                  <c:v>100.79155672823219</c:v>
                </c:pt>
                <c:pt idx="7">
                  <c:v>100.79155672823219</c:v>
                </c:pt>
                <c:pt idx="8">
                  <c:v>101.58311345646437</c:v>
                </c:pt>
                <c:pt idx="9">
                  <c:v>103.95778364116094</c:v>
                </c:pt>
                <c:pt idx="10">
                  <c:v>105.0131926121372</c:v>
                </c:pt>
                <c:pt idx="11">
                  <c:v>104.74934036939314</c:v>
                </c:pt>
                <c:pt idx="12">
                  <c:v>102.63852242744062</c:v>
                </c:pt>
                <c:pt idx="13">
                  <c:v>102.63852242744062</c:v>
                </c:pt>
                <c:pt idx="14">
                  <c:v>102.63852242744062</c:v>
                </c:pt>
                <c:pt idx="15">
                  <c:v>102.11081794195252</c:v>
                </c:pt>
                <c:pt idx="16">
                  <c:v>105.0131926121372</c:v>
                </c:pt>
                <c:pt idx="17">
                  <c:v>106.86015831134566</c:v>
                </c:pt>
                <c:pt idx="18">
                  <c:v>111.34564643799472</c:v>
                </c:pt>
                <c:pt idx="19">
                  <c:v>112.92875989445909</c:v>
                </c:pt>
                <c:pt idx="20">
                  <c:v>112.92875989445909</c:v>
                </c:pt>
                <c:pt idx="21">
                  <c:v>112.92875989445909</c:v>
                </c:pt>
                <c:pt idx="22">
                  <c:v>115.56728232189974</c:v>
                </c:pt>
                <c:pt idx="23">
                  <c:v>116.35883905013193</c:v>
                </c:pt>
                <c:pt idx="24">
                  <c:v>114.77572559366756</c:v>
                </c:pt>
                <c:pt idx="25">
                  <c:v>120.84432717678099</c:v>
                </c:pt>
                <c:pt idx="26">
                  <c:v>119.78891820580475</c:v>
                </c:pt>
                <c:pt idx="27">
                  <c:v>119.78891820580475</c:v>
                </c:pt>
                <c:pt idx="28">
                  <c:v>119.78891820580475</c:v>
                </c:pt>
                <c:pt idx="29">
                  <c:v>122.95514511873351</c:v>
                </c:pt>
                <c:pt idx="30">
                  <c:v>122.16358839050132</c:v>
                </c:pt>
                <c:pt idx="31">
                  <c:v>130.07915567282322</c:v>
                </c:pt>
                <c:pt idx="32">
                  <c:v>128.23218997361479</c:v>
                </c:pt>
                <c:pt idx="33">
                  <c:v>127.17678100263852</c:v>
                </c:pt>
                <c:pt idx="34">
                  <c:v>127.17678100263852</c:v>
                </c:pt>
                <c:pt idx="35">
                  <c:v>127.17678100263852</c:v>
                </c:pt>
                <c:pt idx="36">
                  <c:v>121.89973614775727</c:v>
                </c:pt>
                <c:pt idx="37">
                  <c:v>120.84432717678099</c:v>
                </c:pt>
                <c:pt idx="38">
                  <c:v>119.78891820580475</c:v>
                </c:pt>
                <c:pt idx="39">
                  <c:v>121.89973614775727</c:v>
                </c:pt>
                <c:pt idx="40">
                  <c:v>119.5250659630607</c:v>
                </c:pt>
                <c:pt idx="41">
                  <c:v>119.5250659630607</c:v>
                </c:pt>
                <c:pt idx="42">
                  <c:v>119.5250659630607</c:v>
                </c:pt>
                <c:pt idx="43">
                  <c:v>122.95514511873351</c:v>
                </c:pt>
                <c:pt idx="44">
                  <c:v>123.74670184696571</c:v>
                </c:pt>
                <c:pt idx="45">
                  <c:v>121.63588390501319</c:v>
                </c:pt>
                <c:pt idx="46">
                  <c:v>122.16358839050132</c:v>
                </c:pt>
                <c:pt idx="47">
                  <c:v>124.01055408970976</c:v>
                </c:pt>
                <c:pt idx="48">
                  <c:v>124.01055408970976</c:v>
                </c:pt>
                <c:pt idx="49">
                  <c:v>124.01055408970976</c:v>
                </c:pt>
                <c:pt idx="50">
                  <c:v>120.84432717678099</c:v>
                </c:pt>
                <c:pt idx="51">
                  <c:v>123.21899736147756</c:v>
                </c:pt>
                <c:pt idx="52">
                  <c:v>123.21899736147756</c:v>
                </c:pt>
                <c:pt idx="53">
                  <c:v>122.69129287598946</c:v>
                </c:pt>
                <c:pt idx="54">
                  <c:v>121.10817941952507</c:v>
                </c:pt>
                <c:pt idx="55">
                  <c:v>121.10817941952507</c:v>
                </c:pt>
                <c:pt idx="56">
                  <c:v>121.10817941952507</c:v>
                </c:pt>
                <c:pt idx="57">
                  <c:v>120.58047493403694</c:v>
                </c:pt>
                <c:pt idx="58">
                  <c:v>118.99736147757255</c:v>
                </c:pt>
                <c:pt idx="59">
                  <c:v>119.5250659630607</c:v>
                </c:pt>
                <c:pt idx="60">
                  <c:v>122.42744063324538</c:v>
                </c:pt>
                <c:pt idx="61">
                  <c:v>123.48284960422164</c:v>
                </c:pt>
                <c:pt idx="62">
                  <c:v>123.48284960422164</c:v>
                </c:pt>
                <c:pt idx="63">
                  <c:v>123.48284960422164</c:v>
                </c:pt>
                <c:pt idx="64">
                  <c:v>124.80211081794195</c:v>
                </c:pt>
                <c:pt idx="65">
                  <c:v>125.32981530343008</c:v>
                </c:pt>
                <c:pt idx="66">
                  <c:v>125.32981530343008</c:v>
                </c:pt>
                <c:pt idx="67">
                  <c:v>125.06596306068603</c:v>
                </c:pt>
                <c:pt idx="68">
                  <c:v>129.28759894459102</c:v>
                </c:pt>
                <c:pt idx="69">
                  <c:v>129.28759894459102</c:v>
                </c:pt>
                <c:pt idx="70">
                  <c:v>129.28759894459102</c:v>
                </c:pt>
                <c:pt idx="71">
                  <c:v>133.50923482849603</c:v>
                </c:pt>
                <c:pt idx="72">
                  <c:v>129.81530343007915</c:v>
                </c:pt>
                <c:pt idx="73">
                  <c:v>130.34300791556728</c:v>
                </c:pt>
                <c:pt idx="74">
                  <c:v>129.55145118733509</c:v>
                </c:pt>
                <c:pt idx="75">
                  <c:v>132.71767810026384</c:v>
                </c:pt>
                <c:pt idx="76">
                  <c:v>132.71767810026384</c:v>
                </c:pt>
                <c:pt idx="77">
                  <c:v>132.71767810026384</c:v>
                </c:pt>
                <c:pt idx="78">
                  <c:v>134.03693931398416</c:v>
                </c:pt>
                <c:pt idx="79">
                  <c:v>143.2717678100264</c:v>
                </c:pt>
                <c:pt idx="80">
                  <c:v>142.21635883905012</c:v>
                </c:pt>
                <c:pt idx="81">
                  <c:v>142.74406332453827</c:v>
                </c:pt>
                <c:pt idx="82">
                  <c:v>146.17414248021109</c:v>
                </c:pt>
                <c:pt idx="83">
                  <c:v>146.17414248021109</c:v>
                </c:pt>
                <c:pt idx="84">
                  <c:v>146.17414248021109</c:v>
                </c:pt>
                <c:pt idx="85">
                  <c:v>154.88126649076517</c:v>
                </c:pt>
                <c:pt idx="86">
                  <c:v>144.0633245382586</c:v>
                </c:pt>
                <c:pt idx="87">
                  <c:v>140.36939313984169</c:v>
                </c:pt>
                <c:pt idx="88">
                  <c:v>142.48021108179421</c:v>
                </c:pt>
                <c:pt idx="89">
                  <c:v>138.25857519788917</c:v>
                </c:pt>
                <c:pt idx="90">
                  <c:v>138.25857519788917</c:v>
                </c:pt>
                <c:pt idx="91">
                  <c:v>138.25857519788917</c:v>
                </c:pt>
                <c:pt idx="92">
                  <c:v>142.74406332453827</c:v>
                </c:pt>
                <c:pt idx="93">
                  <c:v>141.68865435356201</c:v>
                </c:pt>
                <c:pt idx="94">
                  <c:v>144.5910290237467</c:v>
                </c:pt>
                <c:pt idx="95">
                  <c:v>143.00791556728231</c:v>
                </c:pt>
                <c:pt idx="96">
                  <c:v>140.89709762532982</c:v>
                </c:pt>
                <c:pt idx="97">
                  <c:v>140.89709762532982</c:v>
                </c:pt>
                <c:pt idx="98">
                  <c:v>140.89709762532982</c:v>
                </c:pt>
                <c:pt idx="99">
                  <c:v>147.22955145118735</c:v>
                </c:pt>
                <c:pt idx="100">
                  <c:v>145.64643799472296</c:v>
                </c:pt>
                <c:pt idx="101">
                  <c:v>146.17414248021109</c:v>
                </c:pt>
                <c:pt idx="102">
                  <c:v>149.34036939313984</c:v>
                </c:pt>
                <c:pt idx="103">
                  <c:v>156.7282321899736</c:v>
                </c:pt>
                <c:pt idx="104">
                  <c:v>156.7282321899736</c:v>
                </c:pt>
                <c:pt idx="105">
                  <c:v>156.7282321899736</c:v>
                </c:pt>
                <c:pt idx="106">
                  <c:v>160.94986807387863</c:v>
                </c:pt>
                <c:pt idx="107">
                  <c:v>164.11609498680738</c:v>
                </c:pt>
                <c:pt idx="108">
                  <c:v>159.36675461741424</c:v>
                </c:pt>
                <c:pt idx="109">
                  <c:v>164.11609498680738</c:v>
                </c:pt>
                <c:pt idx="110">
                  <c:v>152.77044854881265</c:v>
                </c:pt>
                <c:pt idx="111">
                  <c:v>152.77044854881265</c:v>
                </c:pt>
                <c:pt idx="112">
                  <c:v>152.77044854881265</c:v>
                </c:pt>
                <c:pt idx="113">
                  <c:v>142.21635883905012</c:v>
                </c:pt>
                <c:pt idx="114">
                  <c:v>150.92348284960423</c:v>
                </c:pt>
                <c:pt idx="115">
                  <c:v>149.34036939313984</c:v>
                </c:pt>
                <c:pt idx="116">
                  <c:v>154.35356200527704</c:v>
                </c:pt>
                <c:pt idx="117">
                  <c:v>156.7282321899736</c:v>
                </c:pt>
                <c:pt idx="118">
                  <c:v>156.7282321899736</c:v>
                </c:pt>
                <c:pt idx="119">
                  <c:v>156.7282321899736</c:v>
                </c:pt>
                <c:pt idx="120">
                  <c:v>156.7282321899736</c:v>
                </c:pt>
                <c:pt idx="121">
                  <c:v>156.7282321899736</c:v>
                </c:pt>
                <c:pt idx="122">
                  <c:v>159.36675461741424</c:v>
                </c:pt>
                <c:pt idx="123">
                  <c:v>157.25593667546173</c:v>
                </c:pt>
                <c:pt idx="124">
                  <c:v>151.71503957783642</c:v>
                </c:pt>
                <c:pt idx="125">
                  <c:v>151.71503957783642</c:v>
                </c:pt>
                <c:pt idx="126">
                  <c:v>151.71503957783642</c:v>
                </c:pt>
                <c:pt idx="127">
                  <c:v>141.16094986807389</c:v>
                </c:pt>
                <c:pt idx="128">
                  <c:v>143.53562005277044</c:v>
                </c:pt>
                <c:pt idx="129">
                  <c:v>141.95250659630608</c:v>
                </c:pt>
                <c:pt idx="130">
                  <c:v>142.48021108179421</c:v>
                </c:pt>
                <c:pt idx="131">
                  <c:v>143.53562005277044</c:v>
                </c:pt>
                <c:pt idx="132">
                  <c:v>143.53562005277044</c:v>
                </c:pt>
                <c:pt idx="133">
                  <c:v>143.53562005277044</c:v>
                </c:pt>
                <c:pt idx="134">
                  <c:v>145.11873350923483</c:v>
                </c:pt>
                <c:pt idx="135">
                  <c:v>145.11873350923483</c:v>
                </c:pt>
                <c:pt idx="136">
                  <c:v>141.42480211081795</c:v>
                </c:pt>
                <c:pt idx="137">
                  <c:v>140.63324538258576</c:v>
                </c:pt>
                <c:pt idx="138">
                  <c:v>137.73087071240107</c:v>
                </c:pt>
                <c:pt idx="139">
                  <c:v>137.73087071240107</c:v>
                </c:pt>
                <c:pt idx="140">
                  <c:v>137.73087071240107</c:v>
                </c:pt>
                <c:pt idx="141">
                  <c:v>131.92612137203164</c:v>
                </c:pt>
                <c:pt idx="142">
                  <c:v>132.98153034300793</c:v>
                </c:pt>
                <c:pt idx="143">
                  <c:v>137.20316622691294</c:v>
                </c:pt>
                <c:pt idx="144">
                  <c:v>138.25857519788917</c:v>
                </c:pt>
                <c:pt idx="145">
                  <c:v>135.62005277044855</c:v>
                </c:pt>
                <c:pt idx="146">
                  <c:v>135.62005277044855</c:v>
                </c:pt>
                <c:pt idx="147">
                  <c:v>135.62005277044855</c:v>
                </c:pt>
                <c:pt idx="148">
                  <c:v>135.35620052770449</c:v>
                </c:pt>
                <c:pt idx="149">
                  <c:v>137.20316622691294</c:v>
                </c:pt>
                <c:pt idx="150">
                  <c:v>138.7862796833773</c:v>
                </c:pt>
                <c:pt idx="151">
                  <c:v>135.35620052770449</c:v>
                </c:pt>
                <c:pt idx="152">
                  <c:v>132.98153034300793</c:v>
                </c:pt>
                <c:pt idx="153">
                  <c:v>132.98153034300793</c:v>
                </c:pt>
                <c:pt idx="154">
                  <c:v>132.98153034300793</c:v>
                </c:pt>
                <c:pt idx="155">
                  <c:v>138.7862796833773</c:v>
                </c:pt>
                <c:pt idx="156">
                  <c:v>135.35620052770449</c:v>
                </c:pt>
                <c:pt idx="157">
                  <c:v>137.20316622691294</c:v>
                </c:pt>
                <c:pt idx="158">
                  <c:v>141.16094986807389</c:v>
                </c:pt>
                <c:pt idx="159">
                  <c:v>141.42480211081795</c:v>
                </c:pt>
                <c:pt idx="160">
                  <c:v>141.42480211081795</c:v>
                </c:pt>
                <c:pt idx="161">
                  <c:v>141.42480211081795</c:v>
                </c:pt>
                <c:pt idx="162">
                  <c:v>139.84168865435356</c:v>
                </c:pt>
                <c:pt idx="163">
                  <c:v>139.84168865435356</c:v>
                </c:pt>
                <c:pt idx="164">
                  <c:v>141.16094986807389</c:v>
                </c:pt>
                <c:pt idx="165">
                  <c:v>140.36939313984169</c:v>
                </c:pt>
                <c:pt idx="166">
                  <c:v>136.14775725593668</c:v>
                </c:pt>
                <c:pt idx="167">
                  <c:v>136.14775725593668</c:v>
                </c:pt>
                <c:pt idx="168">
                  <c:v>136.14775725593668</c:v>
                </c:pt>
                <c:pt idx="169">
                  <c:v>126.64907651715041</c:v>
                </c:pt>
                <c:pt idx="170">
                  <c:v>125.59366754617413</c:v>
                </c:pt>
                <c:pt idx="171">
                  <c:v>123.48284960422164</c:v>
                </c:pt>
                <c:pt idx="172">
                  <c:v>121.89973614775727</c:v>
                </c:pt>
                <c:pt idx="173">
                  <c:v>119.26121372031662</c:v>
                </c:pt>
                <c:pt idx="174">
                  <c:v>119.26121372031662</c:v>
                </c:pt>
                <c:pt idx="175">
                  <c:v>119.26121372031662</c:v>
                </c:pt>
                <c:pt idx="176">
                  <c:v>118.46965699208442</c:v>
                </c:pt>
                <c:pt idx="177">
                  <c:v>120.58047493403694</c:v>
                </c:pt>
                <c:pt idx="178">
                  <c:v>122.42744063324538</c:v>
                </c:pt>
                <c:pt idx="179">
                  <c:v>119.5250659630607</c:v>
                </c:pt>
                <c:pt idx="180">
                  <c:v>116.88654353562005</c:v>
                </c:pt>
                <c:pt idx="181">
                  <c:v>116.88654353562005</c:v>
                </c:pt>
                <c:pt idx="182">
                  <c:v>116.88654353562005</c:v>
                </c:pt>
                <c:pt idx="183">
                  <c:v>113.45646437994723</c:v>
                </c:pt>
                <c:pt idx="184">
                  <c:v>118.7335092348285</c:v>
                </c:pt>
                <c:pt idx="185">
                  <c:v>117.67810026385223</c:v>
                </c:pt>
                <c:pt idx="186">
                  <c:v>114.77572559366756</c:v>
                </c:pt>
                <c:pt idx="187">
                  <c:v>113.19261213720317</c:v>
                </c:pt>
                <c:pt idx="188">
                  <c:v>113.19261213720317</c:v>
                </c:pt>
                <c:pt idx="189">
                  <c:v>113.19261213720317</c:v>
                </c:pt>
                <c:pt idx="190">
                  <c:v>109.76253298153034</c:v>
                </c:pt>
                <c:pt idx="191">
                  <c:v>110.29023746701847</c:v>
                </c:pt>
                <c:pt idx="192">
                  <c:v>113.98416886543536</c:v>
                </c:pt>
                <c:pt idx="193">
                  <c:v>112.66490765171504</c:v>
                </c:pt>
                <c:pt idx="194">
                  <c:v>112.66490765171504</c:v>
                </c:pt>
                <c:pt idx="195">
                  <c:v>112.66490765171504</c:v>
                </c:pt>
                <c:pt idx="196">
                  <c:v>112.66490765171504</c:v>
                </c:pt>
                <c:pt idx="197">
                  <c:v>116.88654353562005</c:v>
                </c:pt>
                <c:pt idx="198">
                  <c:v>118.7335092348285</c:v>
                </c:pt>
                <c:pt idx="199">
                  <c:v>118.7335092348285</c:v>
                </c:pt>
                <c:pt idx="200">
                  <c:v>118.46965699208442</c:v>
                </c:pt>
                <c:pt idx="201">
                  <c:v>117.67810026385223</c:v>
                </c:pt>
                <c:pt idx="202">
                  <c:v>117.67810026385223</c:v>
                </c:pt>
                <c:pt idx="203">
                  <c:v>117.67810026385223</c:v>
                </c:pt>
                <c:pt idx="204">
                  <c:v>116.88654353562005</c:v>
                </c:pt>
                <c:pt idx="205">
                  <c:v>111.08179419525067</c:v>
                </c:pt>
                <c:pt idx="206">
                  <c:v>117.15039577836413</c:v>
                </c:pt>
                <c:pt idx="207">
                  <c:v>117.41424802110818</c:v>
                </c:pt>
                <c:pt idx="208">
                  <c:v>116.09498680738785</c:v>
                </c:pt>
                <c:pt idx="209">
                  <c:v>116.09498680738785</c:v>
                </c:pt>
                <c:pt idx="210">
                  <c:v>116.09498680738785</c:v>
                </c:pt>
                <c:pt idx="211">
                  <c:v>114.77572559366756</c:v>
                </c:pt>
                <c:pt idx="212">
                  <c:v>117.41424802110818</c:v>
                </c:pt>
                <c:pt idx="213">
                  <c:v>118.99736147757255</c:v>
                </c:pt>
                <c:pt idx="214">
                  <c:v>118.7335092348285</c:v>
                </c:pt>
                <c:pt idx="215">
                  <c:v>120.05277044854881</c:v>
                </c:pt>
                <c:pt idx="216">
                  <c:v>120.05277044854881</c:v>
                </c:pt>
                <c:pt idx="217">
                  <c:v>120.05277044854881</c:v>
                </c:pt>
                <c:pt idx="218">
                  <c:v>117.67810026385223</c:v>
                </c:pt>
                <c:pt idx="219">
                  <c:v>118.99736147757255</c:v>
                </c:pt>
                <c:pt idx="220">
                  <c:v>118.46965699208442</c:v>
                </c:pt>
                <c:pt idx="221">
                  <c:v>117.41424802110818</c:v>
                </c:pt>
                <c:pt idx="222">
                  <c:v>109.23482849604223</c:v>
                </c:pt>
                <c:pt idx="223">
                  <c:v>109.23482849604223</c:v>
                </c:pt>
                <c:pt idx="224">
                  <c:v>109.23482849604223</c:v>
                </c:pt>
                <c:pt idx="225">
                  <c:v>106.33245382585753</c:v>
                </c:pt>
                <c:pt idx="226">
                  <c:v>113.72031662269129</c:v>
                </c:pt>
                <c:pt idx="227">
                  <c:v>114.24802110817942</c:v>
                </c:pt>
                <c:pt idx="228">
                  <c:v>113.19261213720317</c:v>
                </c:pt>
                <c:pt idx="229">
                  <c:v>113.45646437994723</c:v>
                </c:pt>
                <c:pt idx="230">
                  <c:v>113.45646437994723</c:v>
                </c:pt>
                <c:pt idx="231">
                  <c:v>113.45646437994723</c:v>
                </c:pt>
                <c:pt idx="232">
                  <c:v>118.7335092348285</c:v>
                </c:pt>
                <c:pt idx="233">
                  <c:v>118.46965699208442</c:v>
                </c:pt>
                <c:pt idx="234">
                  <c:v>118.20580474934037</c:v>
                </c:pt>
                <c:pt idx="235">
                  <c:v>116.09498680738785</c:v>
                </c:pt>
                <c:pt idx="236">
                  <c:v>113.72031662269129</c:v>
                </c:pt>
                <c:pt idx="237">
                  <c:v>113.72031662269129</c:v>
                </c:pt>
                <c:pt idx="238">
                  <c:v>113.72031662269129</c:v>
                </c:pt>
                <c:pt idx="239">
                  <c:v>112.40105540897099</c:v>
                </c:pt>
                <c:pt idx="240">
                  <c:v>114.24802110817942</c:v>
                </c:pt>
                <c:pt idx="241">
                  <c:v>112.40105540897099</c:v>
                </c:pt>
                <c:pt idx="242">
                  <c:v>112.40105540897099</c:v>
                </c:pt>
                <c:pt idx="243">
                  <c:v>112.40105540897099</c:v>
                </c:pt>
                <c:pt idx="244">
                  <c:v>112.40105540897099</c:v>
                </c:pt>
                <c:pt idx="245">
                  <c:v>112.40105540897099</c:v>
                </c:pt>
                <c:pt idx="246">
                  <c:v>110.55408970976252</c:v>
                </c:pt>
                <c:pt idx="247">
                  <c:v>111.87335092348285</c:v>
                </c:pt>
                <c:pt idx="248">
                  <c:v>114.77572559366756</c:v>
                </c:pt>
                <c:pt idx="249">
                  <c:v>115.30343007915566</c:v>
                </c:pt>
                <c:pt idx="250">
                  <c:v>112.40105540897099</c:v>
                </c:pt>
                <c:pt idx="251">
                  <c:v>112.40105540897099</c:v>
                </c:pt>
                <c:pt idx="252">
                  <c:v>112.40105540897099</c:v>
                </c:pt>
                <c:pt idx="253">
                  <c:v>116.09498680738785</c:v>
                </c:pt>
                <c:pt idx="254">
                  <c:v>124.01055408970976</c:v>
                </c:pt>
                <c:pt idx="255">
                  <c:v>121.63588390501319</c:v>
                </c:pt>
                <c:pt idx="256">
                  <c:v>121.89973614775727</c:v>
                </c:pt>
                <c:pt idx="257">
                  <c:v>121.37203166226914</c:v>
                </c:pt>
                <c:pt idx="258">
                  <c:v>121.37203166226914</c:v>
                </c:pt>
                <c:pt idx="259">
                  <c:v>121.37203166226914</c:v>
                </c:pt>
                <c:pt idx="260">
                  <c:v>121.89973614775727</c:v>
                </c:pt>
                <c:pt idx="261">
                  <c:v>120.84432717678099</c:v>
                </c:pt>
                <c:pt idx="262">
                  <c:v>117.15039577836413</c:v>
                </c:pt>
                <c:pt idx="263">
                  <c:v>118.20580474934037</c:v>
                </c:pt>
                <c:pt idx="264">
                  <c:v>118.99736147757255</c:v>
                </c:pt>
                <c:pt idx="265">
                  <c:v>118.99736147757255</c:v>
                </c:pt>
                <c:pt idx="266">
                  <c:v>118.99736147757255</c:v>
                </c:pt>
                <c:pt idx="267">
                  <c:v>113.98416886543536</c:v>
                </c:pt>
                <c:pt idx="268">
                  <c:v>110.8179419525066</c:v>
                </c:pt>
                <c:pt idx="269">
                  <c:v>110.02638522427442</c:v>
                </c:pt>
                <c:pt idx="270">
                  <c:v>110.55408970976252</c:v>
                </c:pt>
                <c:pt idx="271">
                  <c:v>110.02638522427442</c:v>
                </c:pt>
                <c:pt idx="272">
                  <c:v>110.02638522427442</c:v>
                </c:pt>
                <c:pt idx="273">
                  <c:v>110.02638522427442</c:v>
                </c:pt>
                <c:pt idx="274">
                  <c:v>108.97097625329815</c:v>
                </c:pt>
                <c:pt idx="275">
                  <c:v>113.45646437994723</c:v>
                </c:pt>
                <c:pt idx="276">
                  <c:v>113.19261213720317</c:v>
                </c:pt>
                <c:pt idx="277">
                  <c:v>110.8179419525066</c:v>
                </c:pt>
                <c:pt idx="278">
                  <c:v>108.7071240105541</c:v>
                </c:pt>
                <c:pt idx="279">
                  <c:v>108.7071240105541</c:v>
                </c:pt>
                <c:pt idx="280">
                  <c:v>108.7071240105541</c:v>
                </c:pt>
                <c:pt idx="281">
                  <c:v>108.17941952506595</c:v>
                </c:pt>
                <c:pt idx="282">
                  <c:v>105.54089709762533</c:v>
                </c:pt>
                <c:pt idx="283">
                  <c:v>112.92875989445909</c:v>
                </c:pt>
                <c:pt idx="284">
                  <c:v>117.94195250659631</c:v>
                </c:pt>
                <c:pt idx="285">
                  <c:v>121.89973614775727</c:v>
                </c:pt>
                <c:pt idx="286">
                  <c:v>121.89973614775727</c:v>
                </c:pt>
                <c:pt idx="287">
                  <c:v>121.89973614775727</c:v>
                </c:pt>
                <c:pt idx="288">
                  <c:v>121.89973614775727</c:v>
                </c:pt>
                <c:pt idx="289">
                  <c:v>121.89973614775727</c:v>
                </c:pt>
                <c:pt idx="290">
                  <c:v>121.89973614775727</c:v>
                </c:pt>
                <c:pt idx="291">
                  <c:v>121.89973614775727</c:v>
                </c:pt>
                <c:pt idx="292">
                  <c:v>121.89973614775727</c:v>
                </c:pt>
                <c:pt idx="293">
                  <c:v>121.89973614775727</c:v>
                </c:pt>
                <c:pt idx="294">
                  <c:v>121.89973614775727</c:v>
                </c:pt>
                <c:pt idx="295">
                  <c:v>123.48284960422164</c:v>
                </c:pt>
                <c:pt idx="296">
                  <c:v>127.70448548812665</c:v>
                </c:pt>
                <c:pt idx="297">
                  <c:v>124.53825857519789</c:v>
                </c:pt>
                <c:pt idx="298">
                  <c:v>126.12137203166228</c:v>
                </c:pt>
                <c:pt idx="299">
                  <c:v>123.48284960422164</c:v>
                </c:pt>
                <c:pt idx="300">
                  <c:v>123.48284960422164</c:v>
                </c:pt>
                <c:pt idx="301">
                  <c:v>123.48284960422164</c:v>
                </c:pt>
                <c:pt idx="302">
                  <c:v>119.78891820580475</c:v>
                </c:pt>
                <c:pt idx="303">
                  <c:v>120.31662269129288</c:v>
                </c:pt>
                <c:pt idx="304">
                  <c:v>118.7335092348285</c:v>
                </c:pt>
                <c:pt idx="305">
                  <c:v>117.94195250659631</c:v>
                </c:pt>
                <c:pt idx="306">
                  <c:v>116.35883905013193</c:v>
                </c:pt>
                <c:pt idx="307">
                  <c:v>116.35883905013193</c:v>
                </c:pt>
                <c:pt idx="308">
                  <c:v>116.35883905013193</c:v>
                </c:pt>
                <c:pt idx="309">
                  <c:v>108.44327176781003</c:v>
                </c:pt>
                <c:pt idx="310">
                  <c:v>111.08179419525067</c:v>
                </c:pt>
                <c:pt idx="311">
                  <c:v>118.46965699208442</c:v>
                </c:pt>
                <c:pt idx="312">
                  <c:v>118.99736147757255</c:v>
                </c:pt>
                <c:pt idx="313">
                  <c:v>118.7335092348285</c:v>
                </c:pt>
                <c:pt idx="314">
                  <c:v>118.7335092348285</c:v>
                </c:pt>
                <c:pt idx="315">
                  <c:v>118.7335092348285</c:v>
                </c:pt>
                <c:pt idx="316">
                  <c:v>117.94195250659631</c:v>
                </c:pt>
                <c:pt idx="317">
                  <c:v>121.37203166226914</c:v>
                </c:pt>
                <c:pt idx="318">
                  <c:v>120.58047493403694</c:v>
                </c:pt>
                <c:pt idx="319">
                  <c:v>117.94195250659631</c:v>
                </c:pt>
                <c:pt idx="320">
                  <c:v>117.41424802110818</c:v>
                </c:pt>
                <c:pt idx="321">
                  <c:v>117.41424802110818</c:v>
                </c:pt>
                <c:pt idx="322">
                  <c:v>117.41424802110818</c:v>
                </c:pt>
                <c:pt idx="323">
                  <c:v>112.13720316622691</c:v>
                </c:pt>
                <c:pt idx="324">
                  <c:v>116.88654353562005</c:v>
                </c:pt>
                <c:pt idx="325">
                  <c:v>118.99736147757255</c:v>
                </c:pt>
                <c:pt idx="326">
                  <c:v>118.20580474934037</c:v>
                </c:pt>
                <c:pt idx="327">
                  <c:v>120.05277044854881</c:v>
                </c:pt>
                <c:pt idx="328">
                  <c:v>120.05277044854881</c:v>
                </c:pt>
                <c:pt idx="329">
                  <c:v>120.05277044854881</c:v>
                </c:pt>
                <c:pt idx="330">
                  <c:v>121.37203166226914</c:v>
                </c:pt>
                <c:pt idx="331">
                  <c:v>124.53825857519789</c:v>
                </c:pt>
                <c:pt idx="332">
                  <c:v>123.48284960422164</c:v>
                </c:pt>
                <c:pt idx="333">
                  <c:v>120.58047493403694</c:v>
                </c:pt>
                <c:pt idx="334">
                  <c:v>116.88654353562005</c:v>
                </c:pt>
                <c:pt idx="335">
                  <c:v>116.88654353562005</c:v>
                </c:pt>
                <c:pt idx="336">
                  <c:v>116.88654353562005</c:v>
                </c:pt>
                <c:pt idx="337">
                  <c:v>116.62269129287598</c:v>
                </c:pt>
                <c:pt idx="338">
                  <c:v>116.62269129287598</c:v>
                </c:pt>
                <c:pt idx="339">
                  <c:v>121.63588390501319</c:v>
                </c:pt>
                <c:pt idx="340">
                  <c:v>119.26121372031662</c:v>
                </c:pt>
                <c:pt idx="341">
                  <c:v>121.89973614775727</c:v>
                </c:pt>
                <c:pt idx="342">
                  <c:v>121.89973614775727</c:v>
                </c:pt>
                <c:pt idx="343">
                  <c:v>121.89973614775727</c:v>
                </c:pt>
                <c:pt idx="344">
                  <c:v>121.10817941952507</c:v>
                </c:pt>
                <c:pt idx="345">
                  <c:v>121.37203166226914</c:v>
                </c:pt>
                <c:pt idx="346">
                  <c:v>119.78891820580475</c:v>
                </c:pt>
                <c:pt idx="347">
                  <c:v>117.94195250659631</c:v>
                </c:pt>
                <c:pt idx="348">
                  <c:v>118.20580474934037</c:v>
                </c:pt>
                <c:pt idx="349">
                  <c:v>118.20580474934037</c:v>
                </c:pt>
                <c:pt idx="350">
                  <c:v>118.20580474934037</c:v>
                </c:pt>
                <c:pt idx="351">
                  <c:v>118.99736147757255</c:v>
                </c:pt>
                <c:pt idx="352">
                  <c:v>121.10817941952507</c:v>
                </c:pt>
                <c:pt idx="353">
                  <c:v>119.5250659630607</c:v>
                </c:pt>
                <c:pt idx="354">
                  <c:v>118.20580474934037</c:v>
                </c:pt>
                <c:pt idx="355">
                  <c:v>117.94195250659631</c:v>
                </c:pt>
                <c:pt idx="356">
                  <c:v>117.94195250659631</c:v>
                </c:pt>
                <c:pt idx="357">
                  <c:v>117.94195250659631</c:v>
                </c:pt>
                <c:pt idx="358">
                  <c:v>117.94195250659631</c:v>
                </c:pt>
                <c:pt idx="359">
                  <c:v>115.30343007915566</c:v>
                </c:pt>
                <c:pt idx="360">
                  <c:v>114.77572559366756</c:v>
                </c:pt>
                <c:pt idx="361">
                  <c:v>114.77572559366756</c:v>
                </c:pt>
                <c:pt idx="362">
                  <c:v>114.77572559366756</c:v>
                </c:pt>
                <c:pt idx="363">
                  <c:v>114.77572559366756</c:v>
                </c:pt>
                <c:pt idx="364">
                  <c:v>114.77572559366756</c:v>
                </c:pt>
                <c:pt idx="365">
                  <c:v>115.30343007915566</c:v>
                </c:pt>
                <c:pt idx="366">
                  <c:v>113.45646437994723</c:v>
                </c:pt>
              </c:numCache>
            </c:numRef>
          </c:val>
          <c:smooth val="1"/>
          <c:extLst>
            <c:ext xmlns:c16="http://schemas.microsoft.com/office/drawing/2014/chart" uri="{C3380CC4-5D6E-409C-BE32-E72D297353CC}">
              <c16:uniqueId val="{00000001-5D0B-404D-8B9D-9E14986AA7A2}"/>
            </c:ext>
          </c:extLst>
        </c:ser>
        <c:dLbls>
          <c:showLegendKey val="0"/>
          <c:showVal val="0"/>
          <c:showCatName val="0"/>
          <c:showSerName val="0"/>
          <c:showPercent val="0"/>
          <c:showBubbleSize val="0"/>
        </c:dLbls>
        <c:smooth val="0"/>
        <c:axId val="468801248"/>
        <c:axId val="468809088"/>
      </c:lineChart>
      <c:dateAx>
        <c:axId val="468801248"/>
        <c:scaling>
          <c:orientation val="minMax"/>
        </c:scaling>
        <c:delete val="0"/>
        <c:axPos val="b"/>
        <c:title>
          <c:tx>
            <c:rich>
              <a:bodyPr rot="0" vert="horz"/>
              <a:lstStyle/>
              <a:p>
                <a:pPr>
                  <a:defRPr b="0"/>
                </a:pPr>
                <a:r>
                  <a:rPr lang="en-US" b="0" dirty="0"/>
                  <a:t>(%)</a:t>
                </a:r>
              </a:p>
            </c:rich>
          </c:tx>
          <c:layout>
            <c:manualLayout>
              <c:xMode val="edge"/>
              <c:yMode val="edge"/>
              <c:x val="2.7302898606107388E-3"/>
              <c:y val="1.5433799568692946E-3"/>
            </c:manualLayout>
          </c:layout>
          <c:overlay val="0"/>
          <c:spPr>
            <a:noFill/>
            <a:ln>
              <a:noFill/>
            </a:ln>
            <a:effectLst/>
          </c:spPr>
        </c:title>
        <c:numFmt formatCode="mmm\ yy" sourceLinked="0"/>
        <c:majorTickMark val="none"/>
        <c:minorTickMark val="none"/>
        <c:tickLblPos val="low"/>
        <c:spPr>
          <a:noFill/>
          <a:ln w="3175" cap="flat" cmpd="sng" algn="ctr">
            <a:solidFill>
              <a:schemeClr val="bg1">
                <a:lumMod val="75000"/>
              </a:schemeClr>
            </a:solidFill>
            <a:round/>
          </a:ln>
          <a:effectLst/>
        </c:spPr>
        <c:txPr>
          <a:bodyPr rot="0" vert="horz"/>
          <a:lstStyle/>
          <a:p>
            <a:pPr>
              <a:defRPr/>
            </a:pPr>
            <a:endParaRPr lang="en-US"/>
          </a:p>
        </c:txPr>
        <c:crossAx val="468809088"/>
        <c:crossesAt val="100"/>
        <c:auto val="0"/>
        <c:lblOffset val="100"/>
        <c:baseTimeUnit val="days"/>
        <c:majorUnit val="2"/>
        <c:majorTimeUnit val="months"/>
      </c:dateAx>
      <c:valAx>
        <c:axId val="468809088"/>
        <c:scaling>
          <c:orientation val="minMax"/>
          <c:min val="60"/>
        </c:scaling>
        <c:delete val="0"/>
        <c:axPos val="l"/>
        <c:numFmt formatCode="_(* #,##0_);_(* \(#,##0\);_(* &quot;-&quot;??_);_(@_)" sourceLinked="1"/>
        <c:majorTickMark val="in"/>
        <c:minorTickMark val="none"/>
        <c:tickLblPos val="nextTo"/>
        <c:spPr>
          <a:noFill/>
          <a:ln w="3175">
            <a:solidFill>
              <a:schemeClr val="tx1">
                <a:lumMod val="50000"/>
                <a:lumOff val="50000"/>
              </a:schemeClr>
            </a:solidFill>
          </a:ln>
          <a:effectLst/>
        </c:spPr>
        <c:txPr>
          <a:bodyPr rot="-60000000" vert="horz"/>
          <a:lstStyle/>
          <a:p>
            <a:pPr>
              <a:defRPr/>
            </a:pPr>
            <a:endParaRPr lang="en-US"/>
          </a:p>
        </c:txPr>
        <c:crossAx val="468801248"/>
        <c:crosses val="autoZero"/>
        <c:crossBetween val="midCat"/>
      </c:valAx>
      <c:spPr>
        <a:noFill/>
      </c:spPr>
    </c:plotArea>
    <c:legend>
      <c:legendPos val="t"/>
      <c:layout>
        <c:manualLayout>
          <c:xMode val="edge"/>
          <c:yMode val="edge"/>
          <c:x val="8.7408873744345292E-2"/>
          <c:y val="4.6297286316104615E-3"/>
          <c:w val="0.85776666666666668"/>
          <c:h val="8.739995107118459E-2"/>
        </c:manualLayout>
      </c:layout>
      <c:overlay val="0"/>
      <c:spPr>
        <a:noFill/>
        <a:ln>
          <a:noFill/>
        </a:ln>
        <a:effectLst/>
      </c:spPr>
      <c:txPr>
        <a:bodyPr rot="0" vert="horz"/>
        <a:lstStyle/>
        <a:p>
          <a:pPr>
            <a:defRPr/>
          </a:pPr>
          <a:endParaRPr lang="en-US"/>
        </a:p>
      </c:txPr>
    </c:legend>
    <c:plotVisOnly val="1"/>
    <c:dispBlanksAs val="gap"/>
    <c:showDLblsOverMax val="0"/>
  </c:chart>
  <c:spPr>
    <a:noFill/>
    <a:ln w="9525" cap="flat" cmpd="sng" algn="ctr">
      <a:noFill/>
      <a:round/>
    </a:ln>
    <a:effectLst/>
  </c:spPr>
  <c:txPr>
    <a:bodyPr/>
    <a:lstStyle/>
    <a:p>
      <a:pPr>
        <a:defRPr sz="600">
          <a:solidFill>
            <a:schemeClr val="tx1">
              <a:lumMod val="95000"/>
              <a:lumOff val="5000"/>
            </a:schemeClr>
          </a:solidFill>
          <a:latin typeface="Noto Sans" panose="020B0502040504020204" pitchFamily="34" charset="0"/>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A516DA-A209-491B-B67B-C4837105E9DA}" type="datetimeFigureOut">
              <a:rPr lang="en-US" smtClean="0"/>
              <a:t>6/25/2026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90BA58-B3B4-4D30-9709-33A32AFC1CAC}" type="slidenum">
              <a:rPr lang="en-US" smtClean="0"/>
              <a:t>‹#›</a:t>
            </a:fld>
            <a:endParaRPr lang="en-US"/>
          </a:p>
        </p:txBody>
      </p:sp>
    </p:spTree>
    <p:extLst>
      <p:ext uri="{BB962C8B-B14F-4D97-AF65-F5344CB8AC3E}">
        <p14:creationId xmlns:p14="http://schemas.microsoft.com/office/powerpoint/2010/main" val="537797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gn="just">
              <a:lnSpc>
                <a:spcPct val="115000"/>
              </a:lnSpc>
              <a:spcBef>
                <a:spcPts val="600"/>
              </a:spcBef>
              <a:spcAft>
                <a:spcPts val="600"/>
              </a:spcAft>
              <a:buFont typeface="Symbol" panose="05050102010706020507" pitchFamily="18" charset="2"/>
              <a:buChar char=""/>
            </a:pPr>
            <a:endParaRPr lang="en-US" dirty="0"/>
          </a:p>
        </p:txBody>
      </p:sp>
    </p:spTree>
    <p:extLst>
      <p:ext uri="{BB962C8B-B14F-4D97-AF65-F5344CB8AC3E}">
        <p14:creationId xmlns:p14="http://schemas.microsoft.com/office/powerpoint/2010/main" val="8653269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5AB04-7A6E-0D5C-3D2D-BB68D8AC73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9ECEB7-4E50-1A46-F891-69AA784374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A6EF27-26F0-04B6-7947-CDFE4B122B22}"/>
              </a:ext>
            </a:extLst>
          </p:cNvPr>
          <p:cNvSpPr>
            <a:spLocks noGrp="1"/>
          </p:cNvSpPr>
          <p:nvPr>
            <p:ph type="body" idx="1"/>
          </p:nvPr>
        </p:nvSpPr>
        <p:spPr/>
        <p:txBody>
          <a:bodyPr/>
          <a:lstStyle/>
          <a:p>
            <a:pPr marL="342900" lvl="0" indent="-342900" algn="just">
              <a:lnSpc>
                <a:spcPct val="115000"/>
              </a:lnSpc>
              <a:spcBef>
                <a:spcPts val="600"/>
              </a:spcBef>
              <a:spcAft>
                <a:spcPts val="600"/>
              </a:spcAft>
              <a:buFont typeface="Symbol" panose="05050102010706020507" pitchFamily="18" charset="2"/>
              <a:buChar char=""/>
            </a:pPr>
            <a:endParaRPr lang="en-US" dirty="0"/>
          </a:p>
        </p:txBody>
      </p:sp>
    </p:spTree>
    <p:extLst>
      <p:ext uri="{BB962C8B-B14F-4D97-AF65-F5344CB8AC3E}">
        <p14:creationId xmlns:p14="http://schemas.microsoft.com/office/powerpoint/2010/main" val="10960250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gn="just">
              <a:lnSpc>
                <a:spcPct val="115000"/>
              </a:lnSpc>
              <a:spcBef>
                <a:spcPts val="600"/>
              </a:spcBef>
              <a:spcAft>
                <a:spcPts val="600"/>
              </a:spcAft>
              <a:buFont typeface="Symbol" panose="05050102010706020507" pitchFamily="18" charset="2"/>
              <a:buChar char=""/>
            </a:pPr>
            <a:endParaRPr lang="en-US" dirty="0"/>
          </a:p>
        </p:txBody>
      </p:sp>
    </p:spTree>
    <p:extLst>
      <p:ext uri="{BB962C8B-B14F-4D97-AF65-F5344CB8AC3E}">
        <p14:creationId xmlns:p14="http://schemas.microsoft.com/office/powerpoint/2010/main" val="1292352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918BB-B8D0-D895-DA1C-D19B23C15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76AAD9-C347-0A05-6A8E-80ECC694D6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361C8E-FF65-A260-9210-8AE7FA02F80F}"/>
              </a:ext>
            </a:extLst>
          </p:cNvPr>
          <p:cNvSpPr>
            <a:spLocks noGrp="1"/>
          </p:cNvSpPr>
          <p:nvPr>
            <p:ph type="body" idx="1"/>
          </p:nvPr>
        </p:nvSpPr>
        <p:spPr/>
        <p:txBody>
          <a:bodyPr/>
          <a:lstStyle/>
          <a:p>
            <a:pPr marL="342900" lvl="0" indent="-342900" algn="just">
              <a:lnSpc>
                <a:spcPct val="115000"/>
              </a:lnSpc>
              <a:spcBef>
                <a:spcPts val="600"/>
              </a:spcBef>
              <a:spcAft>
                <a:spcPts val="600"/>
              </a:spcAft>
              <a:buFont typeface="Symbol" panose="05050102010706020507" pitchFamily="18" charset="2"/>
              <a:buChar char=""/>
            </a:pPr>
            <a:endParaRPr lang="en-US" dirty="0"/>
          </a:p>
        </p:txBody>
      </p:sp>
    </p:spTree>
    <p:extLst>
      <p:ext uri="{BB962C8B-B14F-4D97-AF65-F5344CB8AC3E}">
        <p14:creationId xmlns:p14="http://schemas.microsoft.com/office/powerpoint/2010/main" val="25646327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2681E0E5-B568-18FF-CB74-B06E52707134}"/>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70047B-FB4A-A5D4-0605-52A1DBFA0F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46DCEF8-5872-C3DA-C4BA-FC4D2C6FAC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998BC99-DCA3-5EF2-8703-9FDF8CF79E92}"/>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5" name="Footer Placeholder 4">
            <a:extLst>
              <a:ext uri="{FF2B5EF4-FFF2-40B4-BE49-F238E27FC236}">
                <a16:creationId xmlns:a16="http://schemas.microsoft.com/office/drawing/2014/main" id="{BDCF9870-840F-4D48-0E1E-C43B4E4E03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4B5D3D-6046-C670-D5D2-971FFCE2D484}"/>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5051536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25799-A9FA-E712-4A47-FFC32E2650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04E3A9-FE61-23ED-068E-7FE665D1B4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5DB649-7641-C11A-5D1D-D6B59AB3889A}"/>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5" name="Footer Placeholder 4">
            <a:extLst>
              <a:ext uri="{FF2B5EF4-FFF2-40B4-BE49-F238E27FC236}">
                <a16:creationId xmlns:a16="http://schemas.microsoft.com/office/drawing/2014/main" id="{8D46B675-D086-F91B-5ED5-7A863401A5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17E64B-D0E5-6FCA-250D-CDD2A80987CC}"/>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257213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219C8-6C4F-ABD3-7101-8BAC9B6897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625BD2C-01D8-040C-C58B-D3D8F1631DB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23049E-CB1C-4558-10BB-89E33DBF0365}"/>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5" name="Footer Placeholder 4">
            <a:extLst>
              <a:ext uri="{FF2B5EF4-FFF2-40B4-BE49-F238E27FC236}">
                <a16:creationId xmlns:a16="http://schemas.microsoft.com/office/drawing/2014/main" id="{90034168-8BFB-44BD-6F8D-A27B6D910C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43C717-8E6C-0BCC-FA9D-DE9A6FFBD115}"/>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39707104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A9BA3-A74B-78F6-0EED-E0AF49821C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14EF5B-4F24-EAE3-D007-012009511C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74B22A-3D74-FA1F-15DC-45823B14742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D81FCA7-4606-FF08-D074-B843B633EA15}"/>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6" name="Footer Placeholder 5">
            <a:extLst>
              <a:ext uri="{FF2B5EF4-FFF2-40B4-BE49-F238E27FC236}">
                <a16:creationId xmlns:a16="http://schemas.microsoft.com/office/drawing/2014/main" id="{27BBB5EF-9647-FD41-7E68-644A8625E9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3B597F-AC2D-1293-2B5C-A10720C4F7F9}"/>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33375419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C1909-93D9-1D39-0314-7EE47D35FEF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D8A18B5-DF5D-3C9F-5881-F468E800379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8CAE6E-E300-916B-9E9B-6C1CB325713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AB21D1-7E11-9941-4A55-08DA57262E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F736AD-162F-82B2-31BF-9238AA950B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5658FD-2837-0967-9CA4-2EF1AA3EB9EE}"/>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8" name="Footer Placeholder 7">
            <a:extLst>
              <a:ext uri="{FF2B5EF4-FFF2-40B4-BE49-F238E27FC236}">
                <a16:creationId xmlns:a16="http://schemas.microsoft.com/office/drawing/2014/main" id="{B84FE3A7-67D4-E668-BF3F-F596F24F550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53B6C9-0632-7B91-62A3-5B8E2C1A8DC4}"/>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32862496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A0F21-5314-6A39-3BFC-F510EDD2D6F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1353C5C-8196-BE35-4F13-4DE8CE02AAAC}"/>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4" name="Footer Placeholder 3">
            <a:extLst>
              <a:ext uri="{FF2B5EF4-FFF2-40B4-BE49-F238E27FC236}">
                <a16:creationId xmlns:a16="http://schemas.microsoft.com/office/drawing/2014/main" id="{88579BD3-378C-1D7D-9365-1B121A2B54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EDE91E3-A187-F2E7-4D9E-6B82E05E7291}"/>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24319097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030F4E-734A-0C4D-F834-5F7729C13DAE}"/>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3" name="Footer Placeholder 2">
            <a:extLst>
              <a:ext uri="{FF2B5EF4-FFF2-40B4-BE49-F238E27FC236}">
                <a16:creationId xmlns:a16="http://schemas.microsoft.com/office/drawing/2014/main" id="{C5657BB0-F646-C465-3191-F8D21F30FA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F138182-1F9D-D624-A604-4CEA1F3B1829}"/>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186422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D6CF9-FEDC-7115-C963-F3E1525667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45A236C-F2DC-F83C-ECB8-24D0D75F18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C5BBA49-9852-4420-1EBC-C0A4E1D45A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60860F-E2CD-6C45-A999-3C108EF35045}"/>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6" name="Footer Placeholder 5">
            <a:extLst>
              <a:ext uri="{FF2B5EF4-FFF2-40B4-BE49-F238E27FC236}">
                <a16:creationId xmlns:a16="http://schemas.microsoft.com/office/drawing/2014/main" id="{39F05DE4-D9E0-9207-99E2-8B27344967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7E03CA-04BC-3123-796C-55F056DF0AD7}"/>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1679043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1AB70-0A00-6E2C-8797-48A000B03D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E558ACB-82B9-41E8-B58A-FD232B4517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83E29E8-65F3-53F0-24C0-B211050FAA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3A64D6-6503-A39A-9FA2-E70FEFFF8322}"/>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6" name="Footer Placeholder 5">
            <a:extLst>
              <a:ext uri="{FF2B5EF4-FFF2-40B4-BE49-F238E27FC236}">
                <a16:creationId xmlns:a16="http://schemas.microsoft.com/office/drawing/2014/main" id="{2C0C46B8-BA8A-5D5E-4FCB-337E97C864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7F65D3-8D21-65A4-57FD-41A719EB57E1}"/>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2759882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56EB2-8E86-197D-ED20-3903C5C8EAE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396488-E97A-AE3A-0952-DCBF223E261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898760-238B-A827-3DC0-BF87EF76A939}"/>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5" name="Footer Placeholder 4">
            <a:extLst>
              <a:ext uri="{FF2B5EF4-FFF2-40B4-BE49-F238E27FC236}">
                <a16:creationId xmlns:a16="http://schemas.microsoft.com/office/drawing/2014/main" id="{DA76D580-C766-498A-E149-F945E8A8A3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813783-F2D7-E3B6-2976-BE6344E404AD}"/>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39325540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25C7A0-77B6-7277-84F3-BDEB77E824E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0B36D9A-35E5-C535-87CF-32F49E53DD7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0A9FBF-84A8-2F86-1DBC-92698B88ADE4}"/>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5" name="Footer Placeholder 4">
            <a:extLst>
              <a:ext uri="{FF2B5EF4-FFF2-40B4-BE49-F238E27FC236}">
                <a16:creationId xmlns:a16="http://schemas.microsoft.com/office/drawing/2014/main" id="{B7A4AAE2-4CF8-9CF0-2676-8821B019D8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42BD54-A35E-C6BA-457D-7840CB31B69A}"/>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3642926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 내지">
    <p:spTree>
      <p:nvGrpSpPr>
        <p:cNvPr id="1" name=""/>
        <p:cNvGrpSpPr/>
        <p:nvPr/>
      </p:nvGrpSpPr>
      <p:grpSpPr>
        <a:xfrm>
          <a:off x="0" y="0"/>
          <a:ext cx="0" cy="0"/>
          <a:chOff x="0" y="0"/>
          <a:chExt cx="0" cy="0"/>
        </a:xfrm>
      </p:grpSpPr>
      <p:sp>
        <p:nvSpPr>
          <p:cNvPr id="12" name="Do not remove" hidden="1">
            <a:extLst>
              <a:ext uri="{FF2B5EF4-FFF2-40B4-BE49-F238E27FC236}">
                <a16:creationId xmlns:a16="http://schemas.microsoft.com/office/drawing/2014/main" id="{BA7E3123-5D1E-DB54-4599-C7571DC234E9}"/>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직선 연결선 2">
            <a:extLst>
              <a:ext uri="{FF2B5EF4-FFF2-40B4-BE49-F238E27FC236}">
                <a16:creationId xmlns:a16="http://schemas.microsoft.com/office/drawing/2014/main" id="{22D528F1-BE2E-1349-890D-D578D1503FE1}"/>
              </a:ext>
            </a:extLst>
          </p:cNvPr>
          <p:cNvCxnSpPr/>
          <p:nvPr userDrawn="1"/>
        </p:nvCxnSpPr>
        <p:spPr>
          <a:xfrm>
            <a:off x="421893" y="657225"/>
            <a:ext cx="11338308" cy="0"/>
          </a:xfrm>
          <a:prstGeom prst="line">
            <a:avLst/>
          </a:prstGeom>
          <a:ln w="9525">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9" name="직선 연결선 8">
            <a:extLst>
              <a:ext uri="{FF2B5EF4-FFF2-40B4-BE49-F238E27FC236}">
                <a16:creationId xmlns:a16="http://schemas.microsoft.com/office/drawing/2014/main" id="{22D528F1-BE2E-1349-890D-D578D1503FE1}"/>
              </a:ext>
            </a:extLst>
          </p:cNvPr>
          <p:cNvCxnSpPr/>
          <p:nvPr userDrawn="1"/>
        </p:nvCxnSpPr>
        <p:spPr>
          <a:xfrm>
            <a:off x="421893" y="6489340"/>
            <a:ext cx="11338308" cy="0"/>
          </a:xfrm>
          <a:prstGeom prst="line">
            <a:avLst/>
          </a:prstGeom>
          <a:ln w="3175">
            <a:solidFill>
              <a:schemeClr val="accent5"/>
            </a:solidFill>
          </a:ln>
          <a:effectLst/>
        </p:spPr>
        <p:style>
          <a:lnRef idx="2">
            <a:schemeClr val="accent1"/>
          </a:lnRef>
          <a:fillRef idx="0">
            <a:schemeClr val="accent1"/>
          </a:fillRef>
          <a:effectRef idx="1">
            <a:schemeClr val="accent1"/>
          </a:effectRef>
          <a:fontRef idx="minor">
            <a:schemeClr val="tx1"/>
          </a:fontRef>
        </p:style>
      </p:cxnSp>
      <p:sp>
        <p:nvSpPr>
          <p:cNvPr id="10" name="Slide Number Placeholder 5"/>
          <p:cNvSpPr txBox="1">
            <a:spLocks/>
          </p:cNvSpPr>
          <p:nvPr userDrawn="1"/>
        </p:nvSpPr>
        <p:spPr>
          <a:xfrm>
            <a:off x="8016214" y="6503048"/>
            <a:ext cx="3722127" cy="360000"/>
          </a:xfrm>
          <a:prstGeom prst="rect">
            <a:avLst/>
          </a:prstGeom>
        </p:spPr>
        <p:txBody>
          <a:bodyPr vert="horz" lIns="0" tIns="45720" rIns="0" bIns="45720" rtlCol="0" anchor="t"/>
          <a:lstStyle>
            <a:defPPr>
              <a:defRPr lang="en-US"/>
            </a:defPPr>
            <a:lvl1pPr marL="0" algn="l" defTabSz="457200" rtl="0" eaLnBrk="1" latinLnBrk="0" hangingPunct="1">
              <a:defRPr sz="700" b="0" i="0" kern="1200">
                <a:solidFill>
                  <a:srgbClr val="48535B"/>
                </a:solidFill>
                <a:latin typeface="Noto Sans"/>
                <a:ea typeface="KoPub돋움체_Pro Medium"/>
                <a:cs typeface="Noto San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altLang="ko-KR" sz="800" b="1"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Mirae Asset Securities (Vietnam) Research</a:t>
            </a:r>
          </a:p>
        </p:txBody>
      </p:sp>
      <p:sp>
        <p:nvSpPr>
          <p:cNvPr id="5" name="Slide Number Placeholder 5">
            <a:extLst>
              <a:ext uri="{FF2B5EF4-FFF2-40B4-BE49-F238E27FC236}">
                <a16:creationId xmlns:a16="http://schemas.microsoft.com/office/drawing/2014/main" id="{6A3BD522-7E83-4354-BF9E-2F1AFEDE9C13}"/>
              </a:ext>
            </a:extLst>
          </p:cNvPr>
          <p:cNvSpPr txBox="1">
            <a:spLocks/>
          </p:cNvSpPr>
          <p:nvPr userDrawn="1"/>
        </p:nvSpPr>
        <p:spPr>
          <a:xfrm>
            <a:off x="421893" y="6503048"/>
            <a:ext cx="3722127" cy="360000"/>
          </a:xfrm>
          <a:prstGeom prst="rect">
            <a:avLst/>
          </a:prstGeom>
        </p:spPr>
        <p:txBody>
          <a:bodyPr vert="horz" lIns="0" tIns="45720" rIns="0" bIns="45720" rtlCol="0" anchor="t"/>
          <a:lstStyle>
            <a:defPPr>
              <a:defRPr lang="en-US"/>
            </a:defPPr>
            <a:lvl1pPr marL="0" algn="l" defTabSz="457200" rtl="0" eaLnBrk="1" latinLnBrk="0" hangingPunct="1">
              <a:defRPr sz="700" b="0" i="0" kern="1200">
                <a:solidFill>
                  <a:srgbClr val="48535B"/>
                </a:solidFill>
                <a:latin typeface="Noto Sans"/>
                <a:ea typeface="KoPub돋움체_Pro Medium"/>
                <a:cs typeface="Noto San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B3DAD2FF-B7AE-4CA6-A5C9-0317C7ABBD3C}" type="slidenum">
              <a:rPr lang="en-US" altLang="ko-KR" sz="800" b="0" smtClean="0">
                <a:ln>
                  <a:noFill/>
                </a:ln>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pPr algn="l"/>
              <a:t>‹#›</a:t>
            </a:fld>
            <a:r>
              <a:rPr lang="en-US" altLang="ko-KR" sz="800" b="0" dirty="0">
                <a:ln>
                  <a:noFill/>
                </a:ln>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 </a:t>
            </a:r>
            <a:r>
              <a:rPr lang="en-US" altLang="ko-KR" sz="800" b="1" baseline="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Vietnam macro and stock market</a:t>
            </a:r>
            <a:endParaRPr lang="ko-KR" altLang="en-US" sz="800" b="1" dirty="0">
              <a:ln>
                <a:noFill/>
              </a:ln>
              <a:solidFill>
                <a:schemeClr val="tx1">
                  <a:lumMod val="75000"/>
                  <a:lumOff val="25000"/>
                </a:schemeClr>
              </a:solidFill>
              <a:highlight>
                <a:srgbClr val="FFFF00"/>
              </a:highlight>
              <a:latin typeface="Noto Sans" panose="020B0502040504020204" pitchFamily="34" charset="0"/>
              <a:ea typeface="KoPub돋움체_Pro Bold" pitchFamily="18" charset="-127"/>
              <a:cs typeface="Noto Sans" panose="020B0502040504020204" pitchFamily="34" charset="0"/>
            </a:endParaRPr>
          </a:p>
        </p:txBody>
      </p:sp>
    </p:spTree>
    <p:extLst>
      <p:ext uri="{BB962C8B-B14F-4D97-AF65-F5344CB8AC3E}">
        <p14:creationId xmlns:p14="http://schemas.microsoft.com/office/powerpoint/2010/main" val="2365096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66A4DC-428A-0515-B058-EB68012C5F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8AE2883-A8AC-393E-B634-FBF9A81E8C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889350-38CB-E054-B994-2FC2AEE8EC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44092B4-18C0-4523-B58F-E1894B9F905C}" type="datetimeFigureOut">
              <a:rPr lang="en-US" smtClean="0"/>
              <a:t>6/25/2026</a:t>
            </a:fld>
            <a:endParaRPr lang="en-US"/>
          </a:p>
        </p:txBody>
      </p:sp>
      <p:sp>
        <p:nvSpPr>
          <p:cNvPr id="5" name="Footer Placeholder 4">
            <a:extLst>
              <a:ext uri="{FF2B5EF4-FFF2-40B4-BE49-F238E27FC236}">
                <a16:creationId xmlns:a16="http://schemas.microsoft.com/office/drawing/2014/main" id="{34006E38-198D-3E93-5EE9-C44BC3137A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14FC7DC-B07F-018C-ADBC-020804BE5F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D4667E-AA56-4C99-8249-DFE75A2D6467}" type="slidenum">
              <a:rPr lang="en-US" smtClean="0"/>
              <a:t>‹#›</a:t>
            </a:fld>
            <a:endParaRPr lang="en-US"/>
          </a:p>
        </p:txBody>
      </p:sp>
    </p:spTree>
    <p:extLst>
      <p:ext uri="{BB962C8B-B14F-4D97-AF65-F5344CB8AC3E}">
        <p14:creationId xmlns:p14="http://schemas.microsoft.com/office/powerpoint/2010/main" val="20959984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4.jpeg"/><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4.jpe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4"/>
          <p:cNvSpPr>
            <a:spLocks noChangeArrowheads="1"/>
          </p:cNvSpPr>
          <p:nvPr/>
        </p:nvSpPr>
        <p:spPr bwMode="auto">
          <a:xfrm>
            <a:off x="448250" y="692696"/>
            <a:ext cx="5647749" cy="363538"/>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1" fontAlgn="base" latinLnBrk="1" hangingPunct="0">
              <a:lnSpc>
                <a:spcPct val="120000"/>
              </a:lnSpc>
              <a:spcBef>
                <a:spcPct val="0"/>
              </a:spcBef>
              <a:spcAft>
                <a:spcPct val="0"/>
              </a:spcAft>
              <a:buClrTx/>
              <a:buSzTx/>
              <a:buFontTx/>
              <a:buNone/>
              <a:tabLst>
                <a:tab pos="247650" algn="l"/>
              </a:tabLst>
              <a:defRPr/>
            </a:pPr>
            <a:r>
              <a:rPr kumimoji="1" lang="en-US" altLang="ko-KR" sz="1200" b="1" dirty="0">
                <a:solidFill>
                  <a:srgbClr val="F58220"/>
                </a:solidFill>
                <a:latin typeface="Noto Sans" panose="020B0502040504020204" pitchFamily="34" charset="0"/>
                <a:ea typeface="나눔고딕" pitchFamily="50" charset="-127"/>
              </a:rPr>
              <a:t>Cleaning up the books</a:t>
            </a:r>
            <a:endParaRPr kumimoji="1" lang="en-US" altLang="ko-KR" sz="1200" b="1" i="0" u="none" strike="noStrike" kern="1200" cap="none" spc="0" normalizeH="0" baseline="0" noProof="0" dirty="0">
              <a:ln>
                <a:noFill/>
              </a:ln>
              <a:solidFill>
                <a:srgbClr val="F58220"/>
              </a:solidFill>
              <a:effectLst/>
              <a:uLnTx/>
              <a:uFillTx/>
              <a:latin typeface="Noto Sans" panose="020B0502040504020204" pitchFamily="34" charset="0"/>
              <a:ea typeface="나눔고딕" pitchFamily="50" charset="-127"/>
              <a:cs typeface="+mn-cs"/>
            </a:endParaRPr>
          </a:p>
        </p:txBody>
      </p:sp>
      <p:graphicFrame>
        <p:nvGraphicFramePr>
          <p:cNvPr id="11" name="표 10"/>
          <p:cNvGraphicFramePr>
            <a:graphicFrameLocks noGrp="1"/>
          </p:cNvGraphicFramePr>
          <p:nvPr/>
        </p:nvGraphicFramePr>
        <p:xfrm>
          <a:off x="441632" y="5619033"/>
          <a:ext cx="2436943" cy="581760"/>
        </p:xfrm>
        <a:graphic>
          <a:graphicData uri="http://schemas.openxmlformats.org/drawingml/2006/table">
            <a:tbl>
              <a:tblPr firstRow="1" firstCol="1" bandRow="1">
                <a:tableStyleId>{5C22544A-7EE6-4342-B048-85BDC9FD1C3A}</a:tableStyleId>
              </a:tblPr>
              <a:tblGrid>
                <a:gridCol w="840598">
                  <a:extLst>
                    <a:ext uri="{9D8B030D-6E8A-4147-A177-3AD203B41FA5}">
                      <a16:colId xmlns:a16="http://schemas.microsoft.com/office/drawing/2014/main" val="20000"/>
                    </a:ext>
                  </a:extLst>
                </a:gridCol>
                <a:gridCol w="532115">
                  <a:extLst>
                    <a:ext uri="{9D8B030D-6E8A-4147-A177-3AD203B41FA5}">
                      <a16:colId xmlns:a16="http://schemas.microsoft.com/office/drawing/2014/main" val="20001"/>
                    </a:ext>
                  </a:extLst>
                </a:gridCol>
                <a:gridCol w="532115">
                  <a:extLst>
                    <a:ext uri="{9D8B030D-6E8A-4147-A177-3AD203B41FA5}">
                      <a16:colId xmlns:a16="http://schemas.microsoft.com/office/drawing/2014/main" val="20002"/>
                    </a:ext>
                  </a:extLst>
                </a:gridCol>
                <a:gridCol w="532115">
                  <a:extLst>
                    <a:ext uri="{9D8B030D-6E8A-4147-A177-3AD203B41FA5}">
                      <a16:colId xmlns:a16="http://schemas.microsoft.com/office/drawing/2014/main" val="20003"/>
                    </a:ext>
                  </a:extLst>
                </a:gridCol>
              </a:tblGrid>
              <a:tr h="99808">
                <a:tc>
                  <a:txBody>
                    <a:bodyPr/>
                    <a:lstStyle/>
                    <a:p>
                      <a:pPr marL="0" marR="38100" indent="0" algn="l" defTabSz="457200" rtl="0" eaLnBrk="1" fontAlgn="auto" latinLnBrk="1" hangingPunct="0">
                        <a:lnSpc>
                          <a:spcPct val="100000"/>
                        </a:lnSpc>
                        <a:spcBef>
                          <a:spcPts val="0"/>
                        </a:spcBef>
                        <a:spcAft>
                          <a:spcPts val="0"/>
                        </a:spcAft>
                        <a:buClrTx/>
                        <a:buSzTx/>
                        <a:buFontTx/>
                        <a:buNone/>
                        <a:tabLst/>
                        <a:defRPr/>
                      </a:pPr>
                      <a:r>
                        <a:rPr lang="en-US" sz="800" b="1"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sz="800" b="1"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1M</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6M</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12M</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pPr marL="0" algn="l" defTabSz="457200" rtl="0" eaLnBrk="1" latinLnBrk="1" hangingPunct="0">
                        <a:lnSpc>
                          <a:spcPct val="100000"/>
                        </a:lnSpc>
                        <a:spcAft>
                          <a:spcPts val="0"/>
                        </a:spcAft>
                      </a:pP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Absolute</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9.5</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28.3</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68.6</a:t>
                      </a:r>
                    </a:p>
                  </a:txBody>
                  <a:tcPr marL="9525" marR="9525" marT="9525"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1"/>
                  </a:ext>
                </a:extLst>
              </a:tr>
              <a:tr h="0">
                <a:tc>
                  <a:txBody>
                    <a:bodyPr/>
                    <a:lstStyle/>
                    <a:p>
                      <a:pPr marL="0" algn="l" defTabSz="457200" rtl="0" eaLnBrk="1" latinLnBrk="1" hangingPunct="0">
                        <a:lnSpc>
                          <a:spcPct val="100000"/>
                        </a:lnSpc>
                        <a:spcAft>
                          <a:spcPts val="0"/>
                        </a:spcAft>
                      </a:pP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Relative</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-1.8</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14.2</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17.4</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12" name="표 11"/>
          <p:cNvGraphicFramePr>
            <a:graphicFrameLocks noGrp="1"/>
          </p:cNvGraphicFramePr>
          <p:nvPr>
            <p:extLst>
              <p:ext uri="{D42A27DB-BD31-4B8C-83A1-F6EECF244321}">
                <p14:modId xmlns:p14="http://schemas.microsoft.com/office/powerpoint/2010/main" val="2851605261"/>
              </p:ext>
            </p:extLst>
          </p:nvPr>
        </p:nvGraphicFramePr>
        <p:xfrm>
          <a:off x="452098" y="3284467"/>
          <a:ext cx="2426476" cy="2286000"/>
        </p:xfrm>
        <a:graphic>
          <a:graphicData uri="http://schemas.openxmlformats.org/drawingml/2006/table">
            <a:tbl>
              <a:tblPr firstRow="1" firstCol="1" bandRow="1">
                <a:tableStyleId>{5C22544A-7EE6-4342-B048-85BDC9FD1C3A}</a:tableStyleId>
              </a:tblPr>
              <a:tblGrid>
                <a:gridCol w="1657236">
                  <a:extLst>
                    <a:ext uri="{9D8B030D-6E8A-4147-A177-3AD203B41FA5}">
                      <a16:colId xmlns:a16="http://schemas.microsoft.com/office/drawing/2014/main" val="20000"/>
                    </a:ext>
                  </a:extLst>
                </a:gridCol>
                <a:gridCol w="769240">
                  <a:extLst>
                    <a:ext uri="{9D8B030D-6E8A-4147-A177-3AD203B41FA5}">
                      <a16:colId xmlns:a16="http://schemas.microsoft.com/office/drawing/2014/main" val="20001"/>
                    </a:ext>
                  </a:extLst>
                </a:gridCol>
              </a:tblGrid>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NPATMI (26F, VNDbn)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T w="12700" cap="flat" cmpd="sng" algn="ctr">
                      <a:solidFill>
                        <a:schemeClr val="bg1"/>
                      </a:solidFill>
                      <a:prstDash val="solid"/>
                      <a:round/>
                      <a:headEnd type="none" w="med" len="med"/>
                      <a:tailEnd type="none" w="med" len="med"/>
                    </a:lnT>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6,263</a:t>
                      </a:r>
                    </a:p>
                  </a:txBody>
                  <a:tcPr marL="0" marR="0" marT="0"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0"/>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Market consensus (26F, VNDbn)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N/A</a:t>
                      </a:r>
                    </a:p>
                  </a:txBody>
                  <a:tcPr marL="0" marR="0" marT="0" marB="0" anchor="ctr">
                    <a:noFill/>
                  </a:tcPr>
                </a:tc>
                <a:extLst>
                  <a:ext uri="{0D108BD9-81ED-4DB2-BD59-A6C34878D82A}">
                    <a16:rowId xmlns:a16="http://schemas.microsoft.com/office/drawing/2014/main" val="10001"/>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EPS Growth (26F, %)</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10.8</a:t>
                      </a:r>
                    </a:p>
                  </a:txBody>
                  <a:tcPr marL="0" marR="0" marT="0" marB="0" anchor="ctr">
                    <a:noFill/>
                  </a:tcPr>
                </a:tc>
                <a:extLst>
                  <a:ext uri="{0D108BD9-81ED-4DB2-BD59-A6C34878D82A}">
                    <a16:rowId xmlns:a16="http://schemas.microsoft.com/office/drawing/2014/main" val="10002"/>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P/E (26F, x)</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24.3</a:t>
                      </a: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3"/>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Market cap (VNDbn)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T w="6350" cap="flat" cmpd="sng" algn="ctr">
                      <a:solidFill>
                        <a:schemeClr val="tx1">
                          <a:lumMod val="50000"/>
                          <a:lumOff val="50000"/>
                        </a:schemeClr>
                      </a:solidFill>
                      <a:prstDash val="solid"/>
                      <a:round/>
                      <a:headEnd type="none" w="med" len="med"/>
                      <a:tailEnd type="none" w="med" len="med"/>
                    </a:lnT>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125,555 </a:t>
                      </a:r>
                    </a:p>
                  </a:txBody>
                  <a:tcPr marL="9525" marR="9525" marT="9525" marB="0" anchor="ctr">
                    <a:lnT w="6350" cap="flat" cmpd="sng" algn="ctr">
                      <a:solidFill>
                        <a:schemeClr val="tx1">
                          <a:lumMod val="50000"/>
                          <a:lumOff val="50000"/>
                        </a:schemeClr>
                      </a:solidFill>
                      <a:prstDash val="solid"/>
                      <a:round/>
                      <a:headEnd type="none" w="med" len="med"/>
                      <a:tailEnd type="none" w="med" len="med"/>
                    </a:lnT>
                    <a:noFill/>
                  </a:tcPr>
                </a:tc>
                <a:extLst>
                  <a:ext uri="{0D108BD9-81ED-4DB2-BD59-A6C34878D82A}">
                    <a16:rowId xmlns:a16="http://schemas.microsoft.com/office/drawing/2014/main" val="10004"/>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Shares outstanding (mn)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1,885.2 </a:t>
                      </a:r>
                    </a:p>
                  </a:txBody>
                  <a:tcPr marL="9525" marR="9525" marT="9525" marB="0" anchor="ctr">
                    <a:noFill/>
                  </a:tcPr>
                </a:tc>
                <a:extLst>
                  <a:ext uri="{0D108BD9-81ED-4DB2-BD59-A6C34878D82A}">
                    <a16:rowId xmlns:a16="http://schemas.microsoft.com/office/drawing/2014/main" val="10005"/>
                  </a:ext>
                </a:extLst>
              </a:tr>
              <a:tr h="228600">
                <a:tc>
                  <a:txBody>
                    <a:bodyPr/>
                    <a:lstStyle/>
                    <a:p>
                      <a:pPr algn="l"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Free float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96.7 </a:t>
                      </a:r>
                    </a:p>
                  </a:txBody>
                  <a:tcPr marL="9525" marR="9525" marT="9525" marB="0" anchor="ctr">
                    <a:noFill/>
                  </a:tcPr>
                </a:tc>
                <a:extLst>
                  <a:ext uri="{0D108BD9-81ED-4DB2-BD59-A6C34878D82A}">
                    <a16:rowId xmlns:a16="http://schemas.microsoft.com/office/drawing/2014/main" val="10006"/>
                  </a:ext>
                </a:extLst>
              </a:tr>
              <a:tr h="228600">
                <a:tc>
                  <a:txBody>
                    <a:bodyPr/>
                    <a:lstStyle/>
                    <a:p>
                      <a:pPr marL="0" algn="l" defTabSz="457200" rtl="0" eaLnBrk="1"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Foreign ownership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12.4 </a:t>
                      </a:r>
                    </a:p>
                  </a:txBody>
                  <a:tcPr marL="9525" marR="9525" marT="9525" marB="0" anchor="ctr">
                    <a:noFill/>
                  </a:tcPr>
                </a:tc>
                <a:extLst>
                  <a:ext uri="{0D108BD9-81ED-4DB2-BD59-A6C34878D82A}">
                    <a16:rowId xmlns:a16="http://schemas.microsoft.com/office/drawing/2014/main" val="4090528875"/>
                  </a:ext>
                </a:extLst>
              </a:tr>
              <a:tr h="228600">
                <a:tc>
                  <a:txBody>
                    <a:bodyPr/>
                    <a:lstStyle/>
                    <a:p>
                      <a:pPr algn="l"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52-week low (VND)</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38,550 </a:t>
                      </a:r>
                    </a:p>
                  </a:txBody>
                  <a:tcPr marL="9525" marR="9525" marT="9525" marB="0" anchor="ctr">
                    <a:noFill/>
                  </a:tcPr>
                </a:tc>
                <a:extLst>
                  <a:ext uri="{0D108BD9-81ED-4DB2-BD59-A6C34878D82A}">
                    <a16:rowId xmlns:a16="http://schemas.microsoft.com/office/drawing/2014/main" val="10007"/>
                  </a:ext>
                </a:extLst>
              </a:tr>
              <a:tr h="228600">
                <a:tc>
                  <a:txBody>
                    <a:bodyPr/>
                    <a:lstStyle/>
                    <a:p>
                      <a:pPr algn="l"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52-week high (VND)</a:t>
                      </a:r>
                    </a:p>
                  </a:txBody>
                  <a:tcPr marL="0" marR="0" marT="0" marB="0" anchor="ctr">
                    <a:lnB w="6350" cap="flat" cmpd="sng" algn="ctr">
                      <a:noFill/>
                      <a:prstDash val="solid"/>
                      <a:round/>
                      <a:headEnd type="none" w="med" len="med"/>
                      <a:tailEnd type="none" w="med" len="med"/>
                    </a:lnB>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70,200 </a:t>
                      </a:r>
                    </a:p>
                  </a:txBody>
                  <a:tcPr marL="9525" marR="9525" marT="9525" marB="0" anchor="ctr">
                    <a:lnB w="6350" cap="flat" cmpd="sng" algn="ctr">
                      <a:no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graphicFrame>
        <p:nvGraphicFramePr>
          <p:cNvPr id="13" name="표 12"/>
          <p:cNvGraphicFramePr>
            <a:graphicFrameLocks noGrp="1"/>
          </p:cNvGraphicFramePr>
          <p:nvPr>
            <p:extLst>
              <p:ext uri="{D42A27DB-BD31-4B8C-83A1-F6EECF244321}">
                <p14:modId xmlns:p14="http://schemas.microsoft.com/office/powerpoint/2010/main" val="2364275874"/>
              </p:ext>
            </p:extLst>
          </p:nvPr>
        </p:nvGraphicFramePr>
        <p:xfrm>
          <a:off x="452099" y="1175844"/>
          <a:ext cx="2426476" cy="2037132"/>
        </p:xfrm>
        <a:graphic>
          <a:graphicData uri="http://schemas.openxmlformats.org/drawingml/2006/table">
            <a:tbl>
              <a:tblPr firstRow="1" firstCol="1" bandRow="1">
                <a:tableStyleId>{5C22544A-7EE6-4342-B048-85BDC9FD1C3A}</a:tableStyleId>
              </a:tblPr>
              <a:tblGrid>
                <a:gridCol w="1324828">
                  <a:extLst>
                    <a:ext uri="{9D8B030D-6E8A-4147-A177-3AD203B41FA5}">
                      <a16:colId xmlns:a16="http://schemas.microsoft.com/office/drawing/2014/main" val="20000"/>
                    </a:ext>
                  </a:extLst>
                </a:gridCol>
                <a:gridCol w="1101648">
                  <a:extLst>
                    <a:ext uri="{9D8B030D-6E8A-4147-A177-3AD203B41FA5}">
                      <a16:colId xmlns:a16="http://schemas.microsoft.com/office/drawing/2014/main" val="20001"/>
                    </a:ext>
                  </a:extLst>
                </a:gridCol>
              </a:tblGrid>
              <a:tr h="509283">
                <a:tc>
                  <a:txBody>
                    <a:bodyPr/>
                    <a:lstStyle/>
                    <a:p>
                      <a:pPr marL="0" algn="l" defTabSz="457200" rtl="0" eaLnBrk="1" latinLnBrk="1" hangingPunct="1">
                        <a:lnSpc>
                          <a:spcPts val="1200"/>
                        </a:lnSpc>
                        <a:spcAft>
                          <a:spcPts val="0"/>
                        </a:spcAft>
                      </a:pPr>
                      <a:r>
                        <a:rPr lang="en-US" sz="900" b="1" kern="1200" spc="0" baseline="0" dirty="0">
                          <a:solidFill>
                            <a:schemeClr val="tx1"/>
                          </a:solidFill>
                          <a:effectLst/>
                          <a:latin typeface="+mj-lt"/>
                          <a:ea typeface="Noto Sans" panose="020B0502040504020204" pitchFamily="34" charset="0"/>
                          <a:cs typeface="Noto Sans" panose="020B0502040504020204" pitchFamily="34" charset="0"/>
                        </a:rPr>
                        <a:t>(</a:t>
                      </a:r>
                      <a:r>
                        <a:rPr lang="en-US" sz="900" b="1" kern="1200" spc="0" baseline="0" dirty="0">
                          <a:solidFill>
                            <a:schemeClr val="tx1"/>
                          </a:solidFill>
                          <a:effectLst/>
                          <a:latin typeface="+mj-lt"/>
                          <a:ea typeface="KoPub돋움체_Pro Bold" panose="02020603020101020101" pitchFamily="18" charset="-127"/>
                          <a:cs typeface="Noto Sans" panose="020B0502040504020204" pitchFamily="34" charset="0"/>
                        </a:rPr>
                        <a:t>Maintain</a:t>
                      </a:r>
                      <a:r>
                        <a:rPr lang="en-US" altLang="ko-KR" sz="900" b="1" kern="1200" spc="0" baseline="0" dirty="0">
                          <a:solidFill>
                            <a:schemeClr val="tx1"/>
                          </a:solidFill>
                          <a:effectLst/>
                          <a:latin typeface="+mj-lt"/>
                          <a:ea typeface="Noto Sans" panose="020B0502040504020204" pitchFamily="34" charset="0"/>
                          <a:cs typeface="Noto Sans" panose="020B0502040504020204" pitchFamily="34" charset="0"/>
                        </a:rPr>
                        <a:t>)</a:t>
                      </a:r>
                      <a:endParaRPr lang="ko-KR" sz="900" b="1" kern="1200" spc="0" baseline="0" dirty="0">
                        <a:solidFill>
                          <a:schemeClr val="tx1"/>
                        </a:solidFill>
                        <a:effectLst/>
                        <a:latin typeface="+mj-lt"/>
                        <a:ea typeface="KoPub돋움체_Pro Bold" panose="02020603020101020101" pitchFamily="18" charset="-127"/>
                        <a:cs typeface="Noto Sans" panose="020B0502040504020204" pitchFamily="34" charset="0"/>
                      </a:endParaRPr>
                    </a:p>
                  </a:txBody>
                  <a:tcPr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1"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HOLD</a:t>
                      </a:r>
                      <a:endParaRPr lang="ko-KR" sz="900" b="1"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509283">
                <a:tc>
                  <a:txBody>
                    <a:bodyPr/>
                    <a:lstStyle/>
                    <a:p>
                      <a:pPr marL="0" algn="l" defTabSz="457200" rtl="0" eaLnBrk="1" latinLnBrk="1" hangingPunct="1">
                        <a:lnSpc>
                          <a:spcPts val="1200"/>
                        </a:lnSpc>
                        <a:spcAft>
                          <a:spcPts val="0"/>
                        </a:spcAft>
                      </a:pPr>
                      <a:r>
                        <a:rPr lang="en-US" altLang="ko-KR" sz="900" b="1" kern="1200" spc="0" baseline="0" dirty="0">
                          <a:solidFill>
                            <a:schemeClr val="tx1"/>
                          </a:solidFill>
                          <a:effectLst/>
                          <a:latin typeface="+mj-lt"/>
                          <a:ea typeface="KoPub돋움체_Pro Bold" panose="02020603020101020101" pitchFamily="18" charset="-127"/>
                          <a:cs typeface="Noto Sans" panose="020B0502040504020204" pitchFamily="34" charset="0"/>
                        </a:rPr>
                        <a:t>Target price </a:t>
                      </a:r>
                    </a:p>
                    <a:p>
                      <a:pPr marL="0" algn="l" defTabSz="457200" rtl="0" eaLnBrk="1" latinLnBrk="1" hangingPunct="1">
                        <a:lnSpc>
                          <a:spcPts val="1200"/>
                        </a:lnSpc>
                        <a:spcAft>
                          <a:spcPts val="0"/>
                        </a:spcAft>
                      </a:pPr>
                      <a:r>
                        <a:rPr lang="en-US" altLang="ko-KR" sz="900" b="1" kern="1200" spc="0" baseline="0" dirty="0">
                          <a:solidFill>
                            <a:schemeClr val="tx1"/>
                          </a:solidFill>
                          <a:effectLst/>
                          <a:latin typeface="+mj-lt"/>
                          <a:ea typeface="Noto Sans" panose="020B0502040504020204" pitchFamily="34" charset="0"/>
                          <a:cs typeface="Noto Sans" panose="020B0502040504020204" pitchFamily="34" charset="0"/>
                        </a:rPr>
                        <a:t>(VND, 12M)</a:t>
                      </a:r>
                      <a:endParaRPr lang="ko-KR" altLang="ko-KR" sz="900" b="1" kern="1200" spc="0" baseline="0" dirty="0">
                        <a:solidFill>
                          <a:schemeClr val="tx1"/>
                        </a:solidFill>
                        <a:effectLst/>
                        <a:latin typeface="+mj-lt"/>
                        <a:ea typeface="KoPub돋움체_Pro Bold" panose="02020603020101020101" pitchFamily="18" charset="-127"/>
                        <a:cs typeface="Noto Sans" panose="020B0502040504020204" pitchFamily="34" charset="0"/>
                      </a:endParaRPr>
                    </a:p>
                  </a:txBody>
                  <a:tcPr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1"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77,800</a:t>
                      </a:r>
                      <a:endParaRPr lang="ko-KR" altLang="en-US" sz="900" b="1"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1"/>
                  </a:ext>
                </a:extLst>
              </a:tr>
              <a:tr h="509283">
                <a:tc>
                  <a:txBody>
                    <a:bodyPr/>
                    <a:lstStyle/>
                    <a:p>
                      <a:pPr marL="0" algn="l" defTabSz="457200" rtl="0" eaLnBrk="1" latinLnBrk="1" hangingPunct="1">
                        <a:lnSpc>
                          <a:spcPts val="1200"/>
                        </a:lnSpc>
                        <a:spcAft>
                          <a:spcPts val="0"/>
                        </a:spcAft>
                      </a:pPr>
                      <a:r>
                        <a:rPr lang="en-US" altLang="ko-KR" sz="900" b="0" kern="1200" spc="0" baseline="0" dirty="0">
                          <a:solidFill>
                            <a:schemeClr val="tx1"/>
                          </a:solidFill>
                          <a:effectLst/>
                          <a:latin typeface="+mj-lt"/>
                          <a:ea typeface="KoPub돋움체_Pro Medium" panose="02020603020101020101" pitchFamily="18" charset="-127"/>
                          <a:cs typeface="Noto Sans" panose="020B0502040504020204" pitchFamily="34" charset="0"/>
                        </a:rPr>
                        <a:t>Current price </a:t>
                      </a:r>
                    </a:p>
                    <a:p>
                      <a:pPr marL="0" algn="l" defTabSz="457200" rtl="0" eaLnBrk="1" latinLnBrk="1" hangingPunct="1">
                        <a:lnSpc>
                          <a:spcPts val="1200"/>
                        </a:lnSpc>
                        <a:spcAft>
                          <a:spcPts val="0"/>
                        </a:spcAft>
                      </a:pPr>
                      <a:r>
                        <a:rPr lang="en-US" altLang="ko-KR" sz="900" b="0" kern="1200" spc="0" baseline="0" dirty="0">
                          <a:solidFill>
                            <a:schemeClr val="tx1"/>
                          </a:solidFill>
                          <a:effectLst/>
                          <a:latin typeface="+mj-lt"/>
                          <a:ea typeface="Noto Sans" panose="020B0502040504020204" pitchFamily="34" charset="0"/>
                          <a:cs typeface="Noto Sans" panose="020B0502040504020204" pitchFamily="34" charset="0"/>
                        </a:rPr>
                        <a:t>(05/06/26)</a:t>
                      </a:r>
                      <a:endParaRPr lang="ko-KR" altLang="ko-KR" sz="900" b="0" kern="1200" spc="0" baseline="0" dirty="0">
                        <a:solidFill>
                          <a:schemeClr val="tx1"/>
                        </a:solidFill>
                        <a:effectLst/>
                        <a:latin typeface="+mj-lt"/>
                        <a:ea typeface="KoPub돋움체_Pro Medium" panose="02020603020101020101" pitchFamily="18" charset="-127"/>
                        <a:cs typeface="Noto Sans" panose="020B0502040504020204" pitchFamily="34" charset="0"/>
                      </a:endParaRPr>
                    </a:p>
                  </a:txBody>
                  <a:tcPr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lvl="0" indent="0" algn="r" defTabSz="457200" rtl="0" eaLnBrk="1" fontAlgn="auto" latinLnBrk="1" hangingPunct="0">
                        <a:lnSpc>
                          <a:spcPts val="1200"/>
                        </a:lnSpc>
                        <a:spcBef>
                          <a:spcPts val="0"/>
                        </a:spcBef>
                        <a:spcAft>
                          <a:spcPts val="0"/>
                        </a:spcAft>
                        <a:buClrTx/>
                        <a:buSzTx/>
                        <a:buFontTx/>
                        <a:buNone/>
                        <a:tabLst/>
                        <a:defRPr/>
                      </a:pPr>
                      <a:r>
                        <a:rPr lang="en-US" altLang="ko-KR"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71,300</a:t>
                      </a:r>
                      <a:endParaRPr lang="ko-KR" altLang="en-US"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2"/>
                  </a:ext>
                </a:extLst>
              </a:tr>
              <a:tr h="509283">
                <a:tc>
                  <a:txBody>
                    <a:bodyPr/>
                    <a:lstStyle/>
                    <a:p>
                      <a:pPr marL="0" algn="l" defTabSz="457200" rtl="0" eaLnBrk="1" latinLnBrk="1" hangingPunct="1">
                        <a:lnSpc>
                          <a:spcPts val="1200"/>
                        </a:lnSpc>
                        <a:spcAft>
                          <a:spcPts val="0"/>
                        </a:spcAft>
                      </a:pPr>
                      <a:r>
                        <a:rPr lang="en-US" altLang="ko-KR" sz="900" b="0" kern="1200" spc="0" baseline="0" dirty="0">
                          <a:solidFill>
                            <a:schemeClr val="tx1"/>
                          </a:solidFill>
                          <a:effectLst/>
                          <a:latin typeface="+mj-lt"/>
                          <a:ea typeface="KoPub돋움체_Pro Medium" pitchFamily="18" charset="-127"/>
                          <a:cs typeface="Noto Sans" panose="020B0502040504020204" pitchFamily="34" charset="0"/>
                        </a:rPr>
                        <a:t>Expected return</a:t>
                      </a:r>
                      <a:endParaRPr lang="ko-KR" sz="900" b="0" kern="1200" spc="0" baseline="0" dirty="0">
                        <a:solidFill>
                          <a:schemeClr val="tx1"/>
                        </a:solidFill>
                        <a:effectLst/>
                        <a:latin typeface="+mj-lt"/>
                        <a:ea typeface="KoPub돋움체_Pro Medium" pitchFamily="18" charset="-127"/>
                        <a:cs typeface="Noto Sans" panose="020B0502040504020204" pitchFamily="34" charset="0"/>
                      </a:endParaRPr>
                    </a:p>
                  </a:txBody>
                  <a:tcPr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9.1%</a:t>
                      </a:r>
                      <a:endParaRPr lang="ko-KR" altLang="en-US"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4"/>
                  </a:ext>
                </a:extLst>
              </a:tr>
            </a:tbl>
          </a:graphicData>
        </a:graphic>
      </p:graphicFrame>
      <p:sp>
        <p:nvSpPr>
          <p:cNvPr id="15" name="Rectangle 15">
            <a:extLst>
              <a:ext uri="{FF2B5EF4-FFF2-40B4-BE49-F238E27FC236}">
                <a16:creationId xmlns:a16="http://schemas.microsoft.com/office/drawing/2014/main" id="{7F35B422-7E3A-4069-B466-AC6A262FB4A7}"/>
              </a:ext>
            </a:extLst>
          </p:cNvPr>
          <p:cNvSpPr>
            <a:spLocks noChangeArrowheads="1"/>
          </p:cNvSpPr>
          <p:nvPr/>
        </p:nvSpPr>
        <p:spPr bwMode="auto">
          <a:xfrm>
            <a:off x="3142100" y="1088740"/>
            <a:ext cx="8593283" cy="3127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36000" rIns="0" bIns="0"/>
          <a:lstStyle/>
          <a:p>
            <a:pPr marL="0" marR="0" lvl="0" indent="0" algn="just" defTabSz="914400" rtl="0" eaLnBrk="1" fontAlgn="ctr" latinLnBrk="0" hangingPunct="1">
              <a:lnSpc>
                <a:spcPts val="1200"/>
              </a:lnSpc>
              <a:spcBef>
                <a:spcPct val="0"/>
              </a:spcBef>
              <a:spcAft>
                <a:spcPts val="600"/>
              </a:spcAft>
              <a:buClrTx/>
              <a:buSzPct val="130000"/>
              <a:buFontTx/>
              <a:buNone/>
              <a:tabLst/>
              <a:defRPr/>
            </a:pPr>
            <a:r>
              <a:rPr kumimoji="1" lang="en-US" altLang="ko-KR" sz="8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Investment points</a:t>
            </a:r>
          </a:p>
          <a:p>
            <a:pPr algn="just" fontAlgn="ctr">
              <a:lnSpc>
                <a:spcPts val="1200"/>
              </a:lnSpc>
              <a:spcBef>
                <a:spcPct val="0"/>
              </a:spcBef>
              <a:spcAft>
                <a:spcPts val="600"/>
              </a:spcAft>
              <a:buSzPct val="130000"/>
              <a:defRPr/>
            </a:pP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STB's 2Q26 results (preliminary):  </a:t>
            </a:r>
          </a:p>
          <a:p>
            <a:pPr marL="171450" indent="-171450" algn="just" fontAlgn="ctr">
              <a:lnSpc>
                <a:spcPts val="1200"/>
              </a:lnSpc>
              <a:spcBef>
                <a:spcPct val="0"/>
              </a:spcBef>
              <a:spcAft>
                <a:spcPts val="600"/>
              </a:spcAft>
              <a:buSzPct val="130000"/>
              <a:buFont typeface="Arial" panose="020B0604020202020204" pitchFamily="34" charset="0"/>
              <a:buChar char="•"/>
              <a:defRPr/>
            </a:pP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2Q26 PBT is guided at ~VND 1,900–2,000bn (≈-50% YoY), bringing 1H26 PBT to ~VND 4,000–4,100bn (-45% YoY; ~50% of the VND 8,100bn FY26 plan). </a:t>
            </a:r>
            <a:r>
              <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Official 2Q26 financial statements are pending — figures reflect management guidance and broker previews (consensus 2Q26 NPAT: ~VND 1,666bn, -42% YoY). The decline is driven by continued NIM compression amid intense deposit competition, and by stepped-up resolution of legacy assets: 2Q26 provisioning is estimated above VND 4,700bn — a record quarterly high and among the highest in the sector — after VND 2,024bn in 1Q26. The NPL ratio is estimated at ~5.6% at end-2Q26 (from 6.62% at end-1Q26) as write-offs and collateral resolution accelerate, though still above the sub-4.5% FY26 target. Recall 1Q26: PBT VND 2,106bn (-42.7% YoY), NII VND 6,042bn (-12.0% YoY), CASA 15.9%, CIR 45.2%.</a:t>
            </a:r>
          </a:p>
          <a:p>
            <a:pPr algn="just" fontAlgn="ctr">
              <a:lnSpc>
                <a:spcPts val="1200"/>
              </a:lnSpc>
              <a:spcBef>
                <a:spcPct val="0"/>
              </a:spcBef>
              <a:spcAft>
                <a:spcPts val="600"/>
              </a:spcAft>
              <a:buSzPct val="130000"/>
              <a:defRPr/>
            </a:pPr>
            <a:r>
              <a:rPr kumimoji="1" lang="en-US" altLang="ko-KR" sz="800"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Sacombank</a:t>
            </a: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to recover over 500 land-use right certificates at LDG's Viva City: </a:t>
            </a:r>
          </a:p>
          <a:p>
            <a:pPr marL="171450" indent="-171450" algn="just" fontAlgn="ctr">
              <a:lnSpc>
                <a:spcPts val="1200"/>
              </a:lnSpc>
              <a:spcBef>
                <a:spcPct val="0"/>
              </a:spcBef>
              <a:spcAft>
                <a:spcPts val="600"/>
              </a:spcAft>
              <a:buSzPct val="130000"/>
              <a:buFont typeface="Arial" panose="020B0604020202020204" pitchFamily="34" charset="0"/>
              <a:buChar char="•"/>
              <a:defRPr/>
            </a:pPr>
            <a:r>
              <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STB has taken possession of 507 land-use certificates (LURCs) from LDG’s Viva City project in Dong Nai following LDG’s breach of credit obligations, with overdue principal debt of nearly VND350bn and more than VND82bn in accrued overdue interest. Despite ongoing challenges in real estate market liquidity, the possession of collateral assets enhances STB’s ability to recover non-performing loans. LDG’s outstanding debt exposure remains immaterial to STB’s overall credit portfolio.</a:t>
            </a:r>
          </a:p>
          <a:p>
            <a:pPr algn="just" fontAlgn="ctr">
              <a:lnSpc>
                <a:spcPts val="1200"/>
              </a:lnSpc>
              <a:spcBef>
                <a:spcPct val="0"/>
              </a:spcBef>
              <a:spcAft>
                <a:spcPts val="600"/>
              </a:spcAft>
              <a:buSzPct val="130000"/>
              <a:defRPr/>
            </a:pP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Base-case projection: </a:t>
            </a:r>
          </a:p>
          <a:p>
            <a:pPr marL="171450" indent="-171450" algn="just" fontAlgn="ctr">
              <a:lnSpc>
                <a:spcPts val="1200"/>
              </a:lnSpc>
              <a:spcBef>
                <a:spcPct val="0"/>
              </a:spcBef>
              <a:spcAft>
                <a:spcPts val="600"/>
              </a:spcAft>
              <a:buSzPct val="130000"/>
              <a:buFont typeface="Arial" panose="020B0604020202020204" pitchFamily="34" charset="0"/>
              <a:buChar char="•"/>
              <a:defRPr/>
            </a:pPr>
            <a:r>
              <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Base-case forecast: We revise our FY26F PBT estimate down to VND8,455bn (+10.8% YoY) from VND9,093bn (+19.2% YoY), with NII reduced from VND28.5tn (+6.8% YoY) to VND27,010bn (+1.2% YoY) due to weaker-than-expected loan growth in 1Q26. Accordingly, we lower our FY26 loan growth forecast to 11.7% from 13.5% and adjust CIR upwards to 42.7% (+2.0%p YoY) due to income compression. Our assumptions for NIM at 2.94% (-38bps YoY), provisioning declining to VND10.4tn (-8.9% YoY) remain intact. Conversely, NOI was revised up to VND1,327bn (+5% YoY), reflecting expectations of accelerated disposal of recovered assets.</a:t>
            </a:r>
          </a:p>
          <a:p>
            <a:pPr algn="just" fontAlgn="ctr">
              <a:lnSpc>
                <a:spcPts val="1200"/>
              </a:lnSpc>
              <a:spcBef>
                <a:spcPct val="0"/>
              </a:spcBef>
              <a:spcAft>
                <a:spcPts val="600"/>
              </a:spcAft>
              <a:buSzPct val="130000"/>
              <a:defRPr/>
            </a:pPr>
            <a:endPar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a:p>
            <a:pPr algn="just" fontAlgn="ctr">
              <a:lnSpc>
                <a:spcPts val="1200"/>
              </a:lnSpc>
              <a:spcBef>
                <a:spcPct val="0"/>
              </a:spcBef>
              <a:spcAft>
                <a:spcPts val="600"/>
              </a:spcAft>
              <a:buSzPct val="130000"/>
              <a:defRPr/>
            </a:pPr>
            <a:endPar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p:txBody>
      </p:sp>
      <p:graphicFrame>
        <p:nvGraphicFramePr>
          <p:cNvPr id="16" name="표 14">
            <a:extLst>
              <a:ext uri="{FF2B5EF4-FFF2-40B4-BE49-F238E27FC236}">
                <a16:creationId xmlns:a16="http://schemas.microsoft.com/office/drawing/2014/main" id="{C861129E-156C-495D-9183-2BF9CC07152A}"/>
              </a:ext>
            </a:extLst>
          </p:cNvPr>
          <p:cNvGraphicFramePr>
            <a:graphicFrameLocks noGrp="1"/>
          </p:cNvGraphicFramePr>
          <p:nvPr>
            <p:extLst>
              <p:ext uri="{D42A27DB-BD31-4B8C-83A1-F6EECF244321}">
                <p14:modId xmlns:p14="http://schemas.microsoft.com/office/powerpoint/2010/main" val="1251471047"/>
              </p:ext>
            </p:extLst>
          </p:nvPr>
        </p:nvGraphicFramePr>
        <p:xfrm>
          <a:off x="6010273" y="4183739"/>
          <a:ext cx="5718758" cy="2285998"/>
        </p:xfrm>
        <a:graphic>
          <a:graphicData uri="http://schemas.openxmlformats.org/drawingml/2006/table">
            <a:tbl>
              <a:tblPr firstRow="1" firstCol="1" bandRow="1">
                <a:tableStyleId>{5C22544A-7EE6-4342-B048-85BDC9FD1C3A}</a:tableStyleId>
              </a:tblPr>
              <a:tblGrid>
                <a:gridCol w="1390082">
                  <a:extLst>
                    <a:ext uri="{9D8B030D-6E8A-4147-A177-3AD203B41FA5}">
                      <a16:colId xmlns:a16="http://schemas.microsoft.com/office/drawing/2014/main" val="20000"/>
                    </a:ext>
                  </a:extLst>
                </a:gridCol>
                <a:gridCol w="721446">
                  <a:extLst>
                    <a:ext uri="{9D8B030D-6E8A-4147-A177-3AD203B41FA5}">
                      <a16:colId xmlns:a16="http://schemas.microsoft.com/office/drawing/2014/main" val="20002"/>
                    </a:ext>
                  </a:extLst>
                </a:gridCol>
                <a:gridCol w="721446">
                  <a:extLst>
                    <a:ext uri="{9D8B030D-6E8A-4147-A177-3AD203B41FA5}">
                      <a16:colId xmlns:a16="http://schemas.microsoft.com/office/drawing/2014/main" val="20003"/>
                    </a:ext>
                  </a:extLst>
                </a:gridCol>
                <a:gridCol w="721446">
                  <a:extLst>
                    <a:ext uri="{9D8B030D-6E8A-4147-A177-3AD203B41FA5}">
                      <a16:colId xmlns:a16="http://schemas.microsoft.com/office/drawing/2014/main" val="20004"/>
                    </a:ext>
                  </a:extLst>
                </a:gridCol>
                <a:gridCol w="721446">
                  <a:extLst>
                    <a:ext uri="{9D8B030D-6E8A-4147-A177-3AD203B41FA5}">
                      <a16:colId xmlns:a16="http://schemas.microsoft.com/office/drawing/2014/main" val="20005"/>
                    </a:ext>
                  </a:extLst>
                </a:gridCol>
                <a:gridCol w="721446">
                  <a:extLst>
                    <a:ext uri="{9D8B030D-6E8A-4147-A177-3AD203B41FA5}">
                      <a16:colId xmlns:a16="http://schemas.microsoft.com/office/drawing/2014/main" val="20006"/>
                    </a:ext>
                  </a:extLst>
                </a:gridCol>
                <a:gridCol w="721446">
                  <a:extLst>
                    <a:ext uri="{9D8B030D-6E8A-4147-A177-3AD203B41FA5}">
                      <a16:colId xmlns:a16="http://schemas.microsoft.com/office/drawing/2014/main" val="1619028315"/>
                    </a:ext>
                  </a:extLst>
                </a:gridCol>
              </a:tblGrid>
              <a:tr h="175846">
                <a:tc>
                  <a:txBody>
                    <a:bodyPr/>
                    <a:lstStyle/>
                    <a:p>
                      <a:pPr marL="0" algn="l" defTabSz="457200" rtl="0" eaLnBrk="1" latinLnBrk="1" hangingPunct="0">
                        <a:lnSpc>
                          <a:spcPct val="100000"/>
                        </a:lnSpc>
                        <a:spcAft>
                          <a:spcPts val="0"/>
                        </a:spcAft>
                      </a:pPr>
                      <a:r>
                        <a:rPr lang="en-US" altLang="ko-KR" sz="800" b="1" i="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FY (31/12)</a:t>
                      </a:r>
                      <a:endParaRPr lang="ko-KR" sz="800" b="1" i="0"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9144" marR="9144"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FY23</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FY24</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FY25</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FY26F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r>
                        <a:rPr lang="en-US" sz="800" b="1" i="0" u="none" strike="noStrike" dirty="0">
                          <a:solidFill>
                            <a:srgbClr val="000000"/>
                          </a:solidFill>
                          <a:effectLst/>
                          <a:latin typeface="Noto Sans" panose="020B0502040504020204" pitchFamily="34" charset="0"/>
                        </a:rPr>
                        <a:t>FY27F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sz="800" b="1" i="0" u="none" strike="noStrike" dirty="0">
                          <a:solidFill>
                            <a:srgbClr val="000000"/>
                          </a:solidFill>
                          <a:effectLst/>
                          <a:latin typeface="Noto Sans" panose="020B0502040504020204" pitchFamily="34" charset="0"/>
                        </a:rPr>
                        <a:t>FY28F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75846">
                <a:tc>
                  <a:txBody>
                    <a:bodyPr/>
                    <a:lstStyle/>
                    <a:p>
                      <a:pPr marL="0" marR="0" lvl="0" indent="0" algn="l" defTabSz="457200" rtl="0" eaLnBrk="1" fontAlgn="auto" latinLnBrk="1" hangingPunct="0">
                        <a:lnSpc>
                          <a:spcPts val="950"/>
                        </a:lnSpc>
                        <a:spcBef>
                          <a:spcPts val="0"/>
                        </a:spcBef>
                        <a:spcAft>
                          <a:spcPts val="0"/>
                        </a:spcAft>
                        <a:buClrTx/>
                        <a:buSzTx/>
                        <a:buFontTx/>
                        <a:buNone/>
                        <a:tabLst/>
                        <a:defRPr/>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Net interest income </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(VNDbn)</a:t>
                      </a:r>
                    </a:p>
                  </a:txBody>
                  <a:tcPr marL="9144" marR="9144"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22,072</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24,532</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26,681</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27,010</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30,212</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35,478</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75846">
                <a:tc>
                  <a:txBody>
                    <a:bodyPr/>
                    <a:lstStyle/>
                    <a:p>
                      <a:pPr marL="0" marR="4191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Net non-interest inc. (VNDbn)</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4,101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4,145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5,376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5,950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6,344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7,039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75846">
                <a:tc>
                  <a:txBody>
                    <a:bodyPr/>
                    <a:lstStyle/>
                    <a:p>
                      <a:pPr marL="0" marR="4191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Operating profit (VNDbn)</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9,595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12,720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7,628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8,455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15,811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19,437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7584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Net Profit (VNDbn)</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7,719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10,087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5,939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6,583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12,311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15,134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39360553"/>
                  </a:ext>
                </a:extLst>
              </a:tr>
              <a:tr h="17584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EPS (VND)</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3,747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4,896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2,883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         3,195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        5,976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        7,346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7584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ROE (%)</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18.3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20.0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10.3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9.9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dirty="0">
                          <a:effectLst/>
                          <a:latin typeface="Noto Sans" panose="020B0502040504020204" pitchFamily="34" charset="0"/>
                        </a:rPr>
                        <a:t>16.9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17.5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7584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P/E (x)</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20.7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15.8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26.9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24.3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13.0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10.6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7584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P/B (x)</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3.5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2.4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2.0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1.7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7584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Total assets (VNDbn)</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674,390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748,095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917,106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1,014,328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1,130,794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1,271,286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72680368"/>
                  </a:ext>
                </a:extLst>
              </a:tr>
              <a:tr h="175846">
                <a:tc>
                  <a:txBody>
                    <a:bodyPr/>
                    <a:lstStyle/>
                    <a:p>
                      <a:pPr marL="0" marR="0" lvl="0" indent="0" algn="l" defTabSz="457200" rtl="0" eaLnBrk="1" fontAlgn="auto" latinLnBrk="1" hangingPunct="0">
                        <a:lnSpc>
                          <a:spcPts val="950"/>
                        </a:lnSpc>
                        <a:spcBef>
                          <a:spcPts val="0"/>
                        </a:spcBef>
                        <a:spcAft>
                          <a:spcPts val="0"/>
                        </a:spcAft>
                        <a:buClrTx/>
                        <a:buSzTx/>
                        <a:buFontTx/>
                        <a:buNone/>
                        <a:tabLst/>
                        <a:defRPr/>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Equity (VNDbn)</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45,734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54,972</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59,867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66,503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dirty="0">
                          <a:effectLst/>
                          <a:latin typeface="Noto Sans" panose="020B0502040504020204" pitchFamily="34" charset="0"/>
                        </a:rPr>
                        <a:t>78,814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93,947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58685419"/>
                  </a:ext>
                </a:extLst>
              </a:tr>
              <a:tr h="175846">
                <a:tc>
                  <a:txBody>
                    <a:bodyPr/>
                    <a:lstStyle/>
                    <a:p>
                      <a:pPr marL="0" marR="0" algn="l" latinLnBrk="1" hangingPunct="0">
                        <a:lnSpc>
                          <a:spcPts val="950"/>
                        </a:lnSpc>
                        <a:spcBef>
                          <a:spcPts val="0"/>
                        </a:spcBef>
                        <a:spcAft>
                          <a:spcPts val="0"/>
                        </a:spcAft>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BVPS (VND)</a:t>
                      </a:r>
                    </a:p>
                  </a:txBody>
                  <a:tcPr marL="9144" marR="9144"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22,199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26,683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29,059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 32,281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 38,256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 45,602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75846">
                <a:tc gridSpan="6">
                  <a:txBody>
                    <a:bodyPr/>
                    <a:lstStyle/>
                    <a:p>
                      <a:pPr marL="0" marR="0" indent="0" algn="l" defTabSz="457200" rtl="0" eaLnBrk="1" fontAlgn="auto" latinLnBrk="1" hangingPunct="0">
                        <a:lnSpc>
                          <a:spcPts val="950"/>
                        </a:lnSpc>
                        <a:spcBef>
                          <a:spcPts val="0"/>
                        </a:spcBef>
                        <a:spcAft>
                          <a:spcPts val="0"/>
                        </a:spcAft>
                        <a:buClrTx/>
                        <a:buSzTx/>
                        <a:buFontTx/>
                        <a:buNone/>
                        <a:tabLst/>
                        <a:defRPr/>
                      </a:pPr>
                      <a:r>
                        <a:rPr lang="en-US" sz="800" b="0" i="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Source: Company data, Mirae Asset Vietnam Research</a:t>
                      </a:r>
                    </a:p>
                  </a:txBody>
                  <a:tcPr marL="9144" marR="9144"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hMerge="1">
                  <a:txBody>
                    <a:bodyPr/>
                    <a:lstStyle/>
                    <a:p>
                      <a:pPr latinLnBrk="1"/>
                      <a:endParaRPr lang="ko-KR" altLang="en-US"/>
                    </a:p>
                  </a:txBody>
                  <a:tcPr>
                    <a:lnL w="12700" cmpd="sng">
                      <a:noFill/>
                    </a:lnL>
                    <a:lnT w="12700" cmpd="sng">
                      <a:noFill/>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marL="0" marR="0" indent="0" algn="l" defTabSz="457200" rtl="0" eaLnBrk="1" fontAlgn="auto" latinLnBrk="1" hangingPunct="0">
                        <a:lnSpc>
                          <a:spcPts val="950"/>
                        </a:lnSpc>
                        <a:spcBef>
                          <a:spcPts val="0"/>
                        </a:spcBef>
                        <a:spcAft>
                          <a:spcPts val="0"/>
                        </a:spcAft>
                        <a:buClrTx/>
                        <a:buSzTx/>
                        <a:buFontTx/>
                        <a:buNone/>
                        <a:tabLst/>
                        <a:defRPr/>
                      </a:pPr>
                      <a:endParaRPr lang="en-US" sz="800" b="0" i="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txBody>
                  <a:tcPr marL="9144" marR="9144"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bl>
          </a:graphicData>
        </a:graphic>
      </p:graphicFrame>
      <p:sp>
        <p:nvSpPr>
          <p:cNvPr id="17" name="TextBox 16">
            <a:extLst>
              <a:ext uri="{FF2B5EF4-FFF2-40B4-BE49-F238E27FC236}">
                <a16:creationId xmlns:a16="http://schemas.microsoft.com/office/drawing/2014/main" id="{41DC7A9C-FB93-5586-4D65-A3021D8D02A3}"/>
              </a:ext>
            </a:extLst>
          </p:cNvPr>
          <p:cNvSpPr txBox="1"/>
          <p:nvPr/>
        </p:nvSpPr>
        <p:spPr bwMode="auto">
          <a:xfrm>
            <a:off x="447930" y="872717"/>
            <a:ext cx="2106705" cy="218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rtlCol="0">
            <a:spAutoFit/>
          </a:bodyPr>
          <a:lstStyle/>
          <a:p>
            <a:pPr marL="0" marR="0" lvl="0" indent="0" algn="l" defTabSz="898525" rtl="0" eaLnBrk="0" fontAlgn="base" latinLnBrk="0" hangingPunct="0">
              <a:lnSpc>
                <a:spcPts val="2000"/>
              </a:lnSpc>
              <a:spcBef>
                <a:spcPct val="0"/>
              </a:spcBef>
              <a:spcAft>
                <a:spcPct val="50000"/>
              </a:spcAft>
              <a:buClrTx/>
              <a:buSzTx/>
              <a:buFontTx/>
              <a:buNone/>
              <a:tabLst>
                <a:tab pos="266700" algn="l"/>
                <a:tab pos="4305300" algn="r"/>
              </a:tabLst>
              <a:defRPr/>
            </a:pP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Quan Ton, </a:t>
            </a:r>
            <a:r>
              <a:rPr kumimoji="0" lang="en-US" sz="7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quan.td@miraeasset.com.vn</a:t>
            </a:r>
          </a:p>
        </p:txBody>
      </p:sp>
      <p:sp>
        <p:nvSpPr>
          <p:cNvPr id="4" name="모서리가 둥근 직사각형 8">
            <a:extLst>
              <a:ext uri="{FF2B5EF4-FFF2-40B4-BE49-F238E27FC236}">
                <a16:creationId xmlns:a16="http://schemas.microsoft.com/office/drawing/2014/main" id="{884B52BA-13F8-297D-E7F6-44053EF7F343}"/>
              </a:ext>
            </a:extLst>
          </p:cNvPr>
          <p:cNvSpPr/>
          <p:nvPr/>
        </p:nvSpPr>
        <p:spPr>
          <a:xfrm>
            <a:off x="10644562" y="296652"/>
            <a:ext cx="1097280" cy="2520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36000" rtlCol="0" anchor="ct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900" b="1" i="0" u="none" strike="noStrike" kern="1200" cap="none" spc="0" normalizeH="0" baseline="0" noProof="0" dirty="0">
                <a:ln>
                  <a:noFill/>
                </a:ln>
                <a:solidFill>
                  <a:prstClr val="white"/>
                </a:solidFill>
                <a:effectLst/>
                <a:uLnTx/>
                <a:uFillTx/>
                <a:latin typeface="Noto Sans" panose="020B0502040504020204" pitchFamily="34" charset="0"/>
                <a:ea typeface="Noto Sans" panose="020B0502040504020204" pitchFamily="34" charset="0"/>
                <a:cs typeface="Noto Sans" panose="020B0502040504020204" pitchFamily="34" charset="0"/>
              </a:rPr>
              <a:t>Banks</a:t>
            </a:r>
            <a:endParaRPr kumimoji="1" lang="ko-KR" altLang="en-US" sz="900" b="1" i="0" u="none" strike="noStrike" kern="1200" cap="none" spc="0" normalizeH="0" baseline="0" noProof="0" dirty="0">
              <a:ln>
                <a:noFill/>
              </a:ln>
              <a:solidFill>
                <a:prstClr val="white"/>
              </a:solidFill>
              <a:effectLst/>
              <a:uLnTx/>
              <a:uFillTx/>
              <a:latin typeface="Noto Sans" panose="020B0502040504020204" pitchFamily="34" charset="0"/>
              <a:ea typeface="KoPub돋움체_Pro Bold" pitchFamily="18" charset="-127"/>
              <a:cs typeface="Noto Sans" panose="020B0502040504020204" pitchFamily="34" charset="0"/>
            </a:endParaRPr>
          </a:p>
        </p:txBody>
      </p:sp>
      <p:pic>
        <p:nvPicPr>
          <p:cNvPr id="2050" name="Picture 2">
            <a:extLst>
              <a:ext uri="{FF2B5EF4-FFF2-40B4-BE49-F238E27FC236}">
                <a16:creationId xmlns:a16="http://schemas.microsoft.com/office/drawing/2014/main" id="{F48C3959-DFB5-7038-864F-F12799E0240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78085" y="761626"/>
            <a:ext cx="1563757" cy="252807"/>
          </a:xfrm>
          <a:prstGeom prst="rect">
            <a:avLst/>
          </a:prstGeom>
          <a:noFill/>
          <a:extLst>
            <a:ext uri="{909E8E84-426E-40DD-AFC4-6F175D3DCCD1}">
              <a14:hiddenFill xmlns:a14="http://schemas.microsoft.com/office/drawing/2010/main">
                <a:solidFill>
                  <a:srgbClr val="FFFFFF"/>
                </a:solidFill>
              </a14:hiddenFill>
            </a:ext>
          </a:extLst>
        </p:spPr>
      </p:pic>
      <p:sp>
        <p:nvSpPr>
          <p:cNvPr id="3" name="제목 44">
            <a:extLst>
              <a:ext uri="{FF2B5EF4-FFF2-40B4-BE49-F238E27FC236}">
                <a16:creationId xmlns:a16="http://schemas.microsoft.com/office/drawing/2014/main" id="{8F4B80F8-18C6-834A-EF32-9828D6A9A4BA}"/>
              </a:ext>
            </a:extLst>
          </p:cNvPr>
          <p:cNvSpPr txBox="1">
            <a:spLocks/>
          </p:cNvSpPr>
          <p:nvPr/>
        </p:nvSpPr>
        <p:spPr bwMode="auto">
          <a:xfrm>
            <a:off x="448251" y="0"/>
            <a:ext cx="8497888" cy="648000"/>
          </a:xfrm>
          <a:prstGeom prst="rect">
            <a:avLst/>
          </a:prstGeom>
          <a:noFill/>
          <a:ln>
            <a:noFill/>
          </a:ln>
          <a:effectLst/>
        </p:spPr>
        <p:txBody>
          <a:bodyPr lIns="0" tIns="36000" rIns="0" bIns="72000" anchor="b" anchorCtr="0"/>
          <a:lstStyle>
            <a:defPPr>
              <a:defRPr lang="ko-KR"/>
            </a:defPPr>
            <a:lvl1pPr algn="l">
              <a:defRPr kumimoji="0" sz="2100">
                <a:solidFill>
                  <a:schemeClr val="tx1">
                    <a:lumMod val="85000"/>
                    <a:lumOff val="15000"/>
                  </a:schemeClr>
                </a:solidFill>
                <a:latin typeface="Noto Sans" panose="020B0502040504020204" pitchFamily="34" charset="0"/>
                <a:ea typeface="Noto Sans" panose="020B0502040504020204" pitchFamily="34" charset="0"/>
                <a:cs typeface="Noto Sans" panose="020B0502040504020204" pitchFamily="34" charset="0"/>
              </a:defRPr>
            </a:lvl1pPr>
            <a:lvl2pPr marL="742950" indent="-285750" algn="l">
              <a:defRPr>
                <a:latin typeface="맑은 고딕" pitchFamily="50" charset="-127"/>
                <a:ea typeface="맑은 고딕" pitchFamily="50" charset="-127"/>
              </a:defRPr>
            </a:lvl2pPr>
            <a:lvl3pPr marL="1141413" indent="-227013" algn="l">
              <a:defRPr>
                <a:latin typeface="맑은 고딕" pitchFamily="50" charset="-127"/>
                <a:ea typeface="맑은 고딕" pitchFamily="50" charset="-127"/>
              </a:defRPr>
            </a:lvl3pPr>
            <a:lvl4pPr marL="1600200" indent="-231775" algn="l">
              <a:defRPr>
                <a:latin typeface="맑은 고딕" pitchFamily="50" charset="-127"/>
                <a:ea typeface="맑은 고딕" pitchFamily="50" charset="-127"/>
              </a:defRPr>
            </a:lvl4pPr>
            <a:lvl5pPr marL="2055813" indent="-227013" algn="l">
              <a:defRPr>
                <a:latin typeface="맑은 고딕" pitchFamily="50" charset="-127"/>
                <a:ea typeface="맑은 고딕" pitchFamily="50" charset="-127"/>
              </a:defRPr>
            </a:lvl5pPr>
            <a:lvl6pPr marL="2513013" indent="-227013" fontAlgn="base">
              <a:spcBef>
                <a:spcPct val="0"/>
              </a:spcBef>
              <a:spcAft>
                <a:spcPct val="0"/>
              </a:spcAft>
              <a:defRPr>
                <a:latin typeface="맑은 고딕" pitchFamily="50" charset="-127"/>
                <a:ea typeface="맑은 고딕" pitchFamily="50" charset="-127"/>
              </a:defRPr>
            </a:lvl6pPr>
            <a:lvl7pPr marL="2970213" indent="-227013" fontAlgn="base">
              <a:spcBef>
                <a:spcPct val="0"/>
              </a:spcBef>
              <a:spcAft>
                <a:spcPct val="0"/>
              </a:spcAft>
              <a:defRPr>
                <a:latin typeface="맑은 고딕" pitchFamily="50" charset="-127"/>
                <a:ea typeface="맑은 고딕" pitchFamily="50" charset="-127"/>
              </a:defRPr>
            </a:lvl7pPr>
            <a:lvl8pPr marL="3427413" indent="-227013" fontAlgn="base">
              <a:spcBef>
                <a:spcPct val="0"/>
              </a:spcBef>
              <a:spcAft>
                <a:spcPct val="0"/>
              </a:spcAft>
              <a:defRPr>
                <a:latin typeface="맑은 고딕" pitchFamily="50" charset="-127"/>
                <a:ea typeface="맑은 고딕" pitchFamily="50" charset="-127"/>
              </a:defRPr>
            </a:lvl8pPr>
            <a:lvl9pPr marL="3884613" indent="-227013" fontAlgn="base">
              <a:spcBef>
                <a:spcPct val="0"/>
              </a:spcBef>
              <a:spcAft>
                <a:spcPct val="0"/>
              </a:spcAft>
              <a:defRPr>
                <a:latin typeface="맑은 고딕" pitchFamily="50" charset="-127"/>
                <a:ea typeface="맑은 고딕" pitchFamily="50"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0" lang="en-US" altLang="ko-KR" sz="2100" b="1" i="0" u="none" strike="noStrike" kern="1200" cap="none" spc="0" normalizeH="0" baseline="0" noProof="0" dirty="0">
                <a:ln>
                  <a:noFill/>
                </a:ln>
                <a:solidFill>
                  <a:srgbClr val="000000">
                    <a:lumMod val="85000"/>
                    <a:lumOff val="15000"/>
                  </a:srgbClr>
                </a:solidFill>
                <a:effectLst/>
                <a:uLnTx/>
                <a:uFillTx/>
                <a:latin typeface="Noto Sans" panose="020B0502040504020204" pitchFamily="34" charset="0"/>
                <a:ea typeface="Noto Sans" panose="020B0502040504020204" pitchFamily="34" charset="0"/>
                <a:cs typeface="Noto Sans" panose="020B0502040504020204" pitchFamily="34" charset="0"/>
              </a:rPr>
              <a:t>Saigon Thuong Tin Commercial Joint Stock Bank </a:t>
            </a:r>
            <a:r>
              <a:rPr kumimoji="0" lang="en-US" altLang="ko-KR" sz="1500" b="1" i="0" u="none" strike="noStrike" kern="1200" cap="none" spc="0" normalizeH="0" baseline="0" noProof="0" dirty="0">
                <a:ln>
                  <a:noFill/>
                </a:ln>
                <a:solidFill>
                  <a:srgbClr val="000000">
                    <a:lumMod val="85000"/>
                    <a:lumOff val="15000"/>
                  </a:srgbClr>
                </a:solidFill>
                <a:effectLst/>
                <a:uLnTx/>
                <a:uFillTx/>
                <a:latin typeface="Noto Sans" panose="020B0502040504020204" pitchFamily="34" charset="0"/>
                <a:ea typeface="Noto Sans" panose="020B0502040504020204" pitchFamily="34" charset="0"/>
                <a:cs typeface="Noto Sans" panose="020B0502040504020204" pitchFamily="34" charset="0"/>
              </a:rPr>
              <a:t>(STB VN)</a:t>
            </a:r>
          </a:p>
        </p:txBody>
      </p:sp>
      <p:pic>
        <p:nvPicPr>
          <p:cNvPr id="5" name="Picture 4">
            <a:extLst>
              <a:ext uri="{FF2B5EF4-FFF2-40B4-BE49-F238E27FC236}">
                <a16:creationId xmlns:a16="http://schemas.microsoft.com/office/drawing/2014/main" id="{00BD9D6D-323B-533F-6B9E-E2842E63EC54}"/>
              </a:ext>
            </a:extLst>
          </p:cNvPr>
          <p:cNvPicPr>
            <a:picLocks noChangeAspect="1"/>
          </p:cNvPicPr>
          <p:nvPr/>
        </p:nvPicPr>
        <p:blipFill>
          <a:blip r:embed="rId4"/>
          <a:stretch>
            <a:fillRect/>
          </a:stretch>
        </p:blipFill>
        <p:spPr>
          <a:xfrm>
            <a:off x="3097090" y="4229280"/>
            <a:ext cx="2694666" cy="2011854"/>
          </a:xfrm>
          <a:prstGeom prst="rect">
            <a:avLst/>
          </a:prstGeom>
        </p:spPr>
      </p:pic>
    </p:spTree>
    <p:extLst>
      <p:ext uri="{BB962C8B-B14F-4D97-AF65-F5344CB8AC3E}">
        <p14:creationId xmlns:p14="http://schemas.microsoft.com/office/powerpoint/2010/main" val="23028979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E3364-0874-2C69-B1E7-7F759479966F}"/>
            </a:ext>
          </a:extLst>
        </p:cNvPr>
        <p:cNvGrpSpPr/>
        <p:nvPr/>
      </p:nvGrpSpPr>
      <p:grpSpPr>
        <a:xfrm>
          <a:off x="0" y="0"/>
          <a:ext cx="0" cy="0"/>
          <a:chOff x="0" y="0"/>
          <a:chExt cx="0" cy="0"/>
        </a:xfrm>
      </p:grpSpPr>
      <p:sp>
        <p:nvSpPr>
          <p:cNvPr id="14" name="Rectangle 4">
            <a:extLst>
              <a:ext uri="{FF2B5EF4-FFF2-40B4-BE49-F238E27FC236}">
                <a16:creationId xmlns:a16="http://schemas.microsoft.com/office/drawing/2014/main" id="{8175F7DD-A564-A67E-7C3A-D1886D621F24}"/>
              </a:ext>
            </a:extLst>
          </p:cNvPr>
          <p:cNvSpPr>
            <a:spLocks noChangeArrowheads="1"/>
          </p:cNvSpPr>
          <p:nvPr/>
        </p:nvSpPr>
        <p:spPr bwMode="auto">
          <a:xfrm>
            <a:off x="448250" y="692696"/>
            <a:ext cx="6364030" cy="363538"/>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lvl="0" algn="l" fontAlgn="base" latinLnBrk="1" hangingPunct="0">
              <a:lnSpc>
                <a:spcPct val="120000"/>
              </a:lnSpc>
              <a:spcBef>
                <a:spcPct val="0"/>
              </a:spcBef>
              <a:spcAft>
                <a:spcPct val="0"/>
              </a:spcAft>
              <a:tabLst>
                <a:tab pos="247650" algn="l"/>
              </a:tabLst>
              <a:defRPr/>
            </a:pPr>
            <a:r>
              <a:rPr kumimoji="1" lang="en-US" altLang="ko-KR" sz="1200" b="1" dirty="0">
                <a:solidFill>
                  <a:srgbClr val="F58220"/>
                </a:solidFill>
                <a:latin typeface="Noto Sans" panose="020B0502040504020204" pitchFamily="34" charset="0"/>
                <a:ea typeface="나눔고딕" pitchFamily="50" charset="-127"/>
              </a:rPr>
              <a:t>Thu </a:t>
            </a:r>
            <a:r>
              <a:rPr kumimoji="1" lang="en-US" altLang="ko-KR" sz="1200" b="1" dirty="0" err="1">
                <a:solidFill>
                  <a:srgbClr val="F58220"/>
                </a:solidFill>
                <a:latin typeface="Noto Sans" panose="020B0502040504020204" pitchFamily="34" charset="0"/>
                <a:ea typeface="나눔고딕" pitchFamily="50" charset="-127"/>
              </a:rPr>
              <a:t>hồi</a:t>
            </a:r>
            <a:r>
              <a:rPr kumimoji="1" lang="en-US" altLang="ko-KR" sz="1200" b="1" dirty="0">
                <a:solidFill>
                  <a:srgbClr val="F58220"/>
                </a:solidFill>
                <a:latin typeface="Noto Sans" panose="020B0502040504020204" pitchFamily="34" charset="0"/>
                <a:ea typeface="나눔고딕" pitchFamily="50" charset="-127"/>
              </a:rPr>
              <a:t> </a:t>
            </a:r>
            <a:r>
              <a:rPr kumimoji="1" lang="en-US" altLang="ko-KR" sz="1200" b="1" dirty="0" err="1">
                <a:solidFill>
                  <a:srgbClr val="F58220"/>
                </a:solidFill>
                <a:latin typeface="Noto Sans" panose="020B0502040504020204" pitchFamily="34" charset="0"/>
                <a:ea typeface="나눔고딕" pitchFamily="50" charset="-127"/>
              </a:rPr>
              <a:t>tài</a:t>
            </a:r>
            <a:r>
              <a:rPr kumimoji="1" lang="en-US" altLang="ko-KR" sz="1200" b="1" dirty="0">
                <a:solidFill>
                  <a:srgbClr val="F58220"/>
                </a:solidFill>
                <a:latin typeface="Noto Sans" panose="020B0502040504020204" pitchFamily="34" charset="0"/>
                <a:ea typeface="나눔고딕" pitchFamily="50" charset="-127"/>
              </a:rPr>
              <a:t> </a:t>
            </a:r>
            <a:r>
              <a:rPr kumimoji="1" lang="en-US" altLang="ko-KR" sz="1200" b="1" dirty="0" err="1">
                <a:solidFill>
                  <a:srgbClr val="F58220"/>
                </a:solidFill>
                <a:latin typeface="Noto Sans" panose="020B0502040504020204" pitchFamily="34" charset="0"/>
                <a:ea typeface="나눔고딕" pitchFamily="50" charset="-127"/>
              </a:rPr>
              <a:t>sản</a:t>
            </a:r>
            <a:r>
              <a:rPr kumimoji="1" lang="en-US" altLang="ko-KR" sz="1200" b="1" dirty="0">
                <a:solidFill>
                  <a:srgbClr val="F58220"/>
                </a:solidFill>
                <a:latin typeface="Noto Sans" panose="020B0502040504020204" pitchFamily="34" charset="0"/>
                <a:ea typeface="나눔고딕" pitchFamily="50" charset="-127"/>
              </a:rPr>
              <a:t> </a:t>
            </a:r>
            <a:r>
              <a:rPr kumimoji="1" lang="en-US" altLang="ko-KR" sz="1200" b="1" dirty="0" err="1">
                <a:solidFill>
                  <a:srgbClr val="F58220"/>
                </a:solidFill>
                <a:latin typeface="Noto Sans" panose="020B0502040504020204" pitchFamily="34" charset="0"/>
                <a:ea typeface="나눔고딕" pitchFamily="50" charset="-127"/>
              </a:rPr>
              <a:t>tồn</a:t>
            </a:r>
            <a:r>
              <a:rPr kumimoji="1" lang="en-US" altLang="ko-KR" sz="1200" b="1" dirty="0">
                <a:solidFill>
                  <a:srgbClr val="F58220"/>
                </a:solidFill>
                <a:latin typeface="Noto Sans" panose="020B0502040504020204" pitchFamily="34" charset="0"/>
                <a:ea typeface="나눔고딕" pitchFamily="50" charset="-127"/>
              </a:rPr>
              <a:t> </a:t>
            </a:r>
            <a:r>
              <a:rPr kumimoji="1" lang="en-US" altLang="ko-KR" sz="1200" b="1" dirty="0" err="1">
                <a:solidFill>
                  <a:srgbClr val="F58220"/>
                </a:solidFill>
                <a:latin typeface="Noto Sans" panose="020B0502040504020204" pitchFamily="34" charset="0"/>
                <a:ea typeface="나눔고딕" pitchFamily="50" charset="-127"/>
              </a:rPr>
              <a:t>đọng</a:t>
            </a:r>
            <a:r>
              <a:rPr kumimoji="1" lang="en-US" altLang="ko-KR" sz="1200" b="1" dirty="0">
                <a:solidFill>
                  <a:srgbClr val="F58220"/>
                </a:solidFill>
                <a:latin typeface="Noto Sans" panose="020B0502040504020204" pitchFamily="34" charset="0"/>
                <a:ea typeface="나눔고딕" pitchFamily="50" charset="-127"/>
              </a:rPr>
              <a:t> </a:t>
            </a:r>
            <a:r>
              <a:rPr kumimoji="1" lang="en-US" altLang="ko-KR" sz="1200" b="1" dirty="0" err="1">
                <a:solidFill>
                  <a:srgbClr val="F58220"/>
                </a:solidFill>
                <a:latin typeface="Noto Sans" panose="020B0502040504020204" pitchFamily="34" charset="0"/>
                <a:ea typeface="나눔고딕" pitchFamily="50" charset="-127"/>
              </a:rPr>
              <a:t>cải</a:t>
            </a:r>
            <a:r>
              <a:rPr kumimoji="1" lang="en-US" altLang="ko-KR" sz="1200" b="1" dirty="0">
                <a:solidFill>
                  <a:srgbClr val="F58220"/>
                </a:solidFill>
                <a:latin typeface="Noto Sans" panose="020B0502040504020204" pitchFamily="34" charset="0"/>
                <a:ea typeface="나눔고딕" pitchFamily="50" charset="-127"/>
              </a:rPr>
              <a:t> </a:t>
            </a:r>
            <a:r>
              <a:rPr kumimoji="1" lang="en-US" altLang="ko-KR" sz="1200" b="1" dirty="0" err="1">
                <a:solidFill>
                  <a:srgbClr val="F58220"/>
                </a:solidFill>
                <a:latin typeface="Noto Sans" panose="020B0502040504020204" pitchFamily="34" charset="0"/>
                <a:ea typeface="나눔고딕" pitchFamily="50" charset="-127"/>
              </a:rPr>
              <a:t>thiện</a:t>
            </a:r>
            <a:r>
              <a:rPr kumimoji="1" lang="en-US" altLang="ko-KR" sz="1200" b="1" dirty="0">
                <a:solidFill>
                  <a:srgbClr val="F58220"/>
                </a:solidFill>
                <a:latin typeface="Noto Sans" panose="020B0502040504020204" pitchFamily="34" charset="0"/>
                <a:ea typeface="나눔고딕" pitchFamily="50" charset="-127"/>
              </a:rPr>
              <a:t> </a:t>
            </a:r>
            <a:r>
              <a:rPr kumimoji="1" lang="en-US" altLang="ko-KR" sz="1200" b="1" dirty="0" err="1">
                <a:solidFill>
                  <a:srgbClr val="F58220"/>
                </a:solidFill>
                <a:latin typeface="Noto Sans" panose="020B0502040504020204" pitchFamily="34" charset="0"/>
                <a:ea typeface="나눔고딕" pitchFamily="50" charset="-127"/>
              </a:rPr>
              <a:t>dự</a:t>
            </a:r>
            <a:r>
              <a:rPr kumimoji="1" lang="en-US" altLang="ko-KR" sz="1200" b="1" dirty="0">
                <a:solidFill>
                  <a:srgbClr val="F58220"/>
                </a:solidFill>
                <a:latin typeface="Noto Sans" panose="020B0502040504020204" pitchFamily="34" charset="0"/>
                <a:ea typeface="나눔고딕" pitchFamily="50" charset="-127"/>
              </a:rPr>
              <a:t> </a:t>
            </a:r>
            <a:r>
              <a:rPr kumimoji="1" lang="en-US" altLang="ko-KR" sz="1200" b="1" dirty="0" err="1">
                <a:solidFill>
                  <a:srgbClr val="F58220"/>
                </a:solidFill>
                <a:latin typeface="Noto Sans" panose="020B0502040504020204" pitchFamily="34" charset="0"/>
                <a:ea typeface="나눔고딕" pitchFamily="50" charset="-127"/>
              </a:rPr>
              <a:t>phóng</a:t>
            </a:r>
            <a:endParaRPr kumimoji="1" lang="en-US" altLang="ko-KR" sz="1200" b="1" dirty="0">
              <a:solidFill>
                <a:srgbClr val="F58220"/>
              </a:solidFill>
              <a:latin typeface="Noto Sans" panose="020B0502040504020204" pitchFamily="34" charset="0"/>
              <a:ea typeface="나눔고딕" pitchFamily="50" charset="-127"/>
            </a:endParaRPr>
          </a:p>
        </p:txBody>
      </p:sp>
      <p:graphicFrame>
        <p:nvGraphicFramePr>
          <p:cNvPr id="11" name="표 10">
            <a:extLst>
              <a:ext uri="{FF2B5EF4-FFF2-40B4-BE49-F238E27FC236}">
                <a16:creationId xmlns:a16="http://schemas.microsoft.com/office/drawing/2014/main" id="{8948589E-0907-2314-DD4D-FD7577D4B1CA}"/>
              </a:ext>
            </a:extLst>
          </p:cNvPr>
          <p:cNvGraphicFramePr>
            <a:graphicFrameLocks noGrp="1"/>
          </p:cNvGraphicFramePr>
          <p:nvPr/>
        </p:nvGraphicFramePr>
        <p:xfrm>
          <a:off x="441632" y="5619033"/>
          <a:ext cx="2436943" cy="581760"/>
        </p:xfrm>
        <a:graphic>
          <a:graphicData uri="http://schemas.openxmlformats.org/drawingml/2006/table">
            <a:tbl>
              <a:tblPr firstRow="1" firstCol="1" bandRow="1">
                <a:tableStyleId>{5C22544A-7EE6-4342-B048-85BDC9FD1C3A}</a:tableStyleId>
              </a:tblPr>
              <a:tblGrid>
                <a:gridCol w="840598">
                  <a:extLst>
                    <a:ext uri="{9D8B030D-6E8A-4147-A177-3AD203B41FA5}">
                      <a16:colId xmlns:a16="http://schemas.microsoft.com/office/drawing/2014/main" val="20000"/>
                    </a:ext>
                  </a:extLst>
                </a:gridCol>
                <a:gridCol w="532115">
                  <a:extLst>
                    <a:ext uri="{9D8B030D-6E8A-4147-A177-3AD203B41FA5}">
                      <a16:colId xmlns:a16="http://schemas.microsoft.com/office/drawing/2014/main" val="20001"/>
                    </a:ext>
                  </a:extLst>
                </a:gridCol>
                <a:gridCol w="532115">
                  <a:extLst>
                    <a:ext uri="{9D8B030D-6E8A-4147-A177-3AD203B41FA5}">
                      <a16:colId xmlns:a16="http://schemas.microsoft.com/office/drawing/2014/main" val="20002"/>
                    </a:ext>
                  </a:extLst>
                </a:gridCol>
                <a:gridCol w="532115">
                  <a:extLst>
                    <a:ext uri="{9D8B030D-6E8A-4147-A177-3AD203B41FA5}">
                      <a16:colId xmlns:a16="http://schemas.microsoft.com/office/drawing/2014/main" val="20003"/>
                    </a:ext>
                  </a:extLst>
                </a:gridCol>
              </a:tblGrid>
              <a:tr h="99808">
                <a:tc>
                  <a:txBody>
                    <a:bodyPr/>
                    <a:lstStyle/>
                    <a:p>
                      <a:pPr marL="0" marR="38100" indent="0" algn="l" defTabSz="457200" rtl="0" eaLnBrk="1" fontAlgn="auto" latinLnBrk="1" hangingPunct="0">
                        <a:lnSpc>
                          <a:spcPct val="100000"/>
                        </a:lnSpc>
                        <a:spcBef>
                          <a:spcPts val="0"/>
                        </a:spcBef>
                        <a:spcAft>
                          <a:spcPts val="0"/>
                        </a:spcAft>
                        <a:buClrTx/>
                        <a:buSzTx/>
                        <a:buFontTx/>
                        <a:buNone/>
                        <a:tabLst/>
                        <a:defRPr/>
                      </a:pPr>
                      <a:r>
                        <a:rPr lang="en-US" sz="800" b="1"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sz="800" b="1"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1T</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6T</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12T</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pPr marL="0" algn="l" defTabSz="457200" rtl="0" eaLnBrk="1" latinLnBrk="1" hangingPunct="0">
                        <a:lnSpc>
                          <a:spcPct val="100000"/>
                        </a:lnSpc>
                        <a:spcAft>
                          <a:spcPts val="0"/>
                        </a:spcAft>
                      </a:pP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Tuyệt</a:t>
                      </a: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đối</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9.5</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28.3</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68.6</a:t>
                      </a:r>
                    </a:p>
                  </a:txBody>
                  <a:tcPr marL="9525" marR="9525" marT="9525"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1"/>
                  </a:ext>
                </a:extLst>
              </a:tr>
              <a:tr h="0">
                <a:tc>
                  <a:txBody>
                    <a:bodyPr/>
                    <a:lstStyle/>
                    <a:p>
                      <a:pPr marL="0" algn="l" defTabSz="457200" rtl="0" eaLnBrk="1" latinLnBrk="1" hangingPunct="0">
                        <a:lnSpc>
                          <a:spcPct val="100000"/>
                        </a:lnSpc>
                        <a:spcAft>
                          <a:spcPts val="0"/>
                        </a:spcAft>
                      </a:pP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Tương</a:t>
                      </a: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đối</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-1.8</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14.2</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17.4</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12" name="표 11">
            <a:extLst>
              <a:ext uri="{FF2B5EF4-FFF2-40B4-BE49-F238E27FC236}">
                <a16:creationId xmlns:a16="http://schemas.microsoft.com/office/drawing/2014/main" id="{5B6DA06C-6F56-4644-6714-DADB2336271D}"/>
              </a:ext>
            </a:extLst>
          </p:cNvPr>
          <p:cNvGraphicFramePr>
            <a:graphicFrameLocks noGrp="1"/>
          </p:cNvGraphicFramePr>
          <p:nvPr>
            <p:extLst>
              <p:ext uri="{D42A27DB-BD31-4B8C-83A1-F6EECF244321}">
                <p14:modId xmlns:p14="http://schemas.microsoft.com/office/powerpoint/2010/main" val="504557741"/>
              </p:ext>
            </p:extLst>
          </p:nvPr>
        </p:nvGraphicFramePr>
        <p:xfrm>
          <a:off x="452098" y="3284467"/>
          <a:ext cx="2426476" cy="2286000"/>
        </p:xfrm>
        <a:graphic>
          <a:graphicData uri="http://schemas.openxmlformats.org/drawingml/2006/table">
            <a:tbl>
              <a:tblPr firstRow="1" firstCol="1" bandRow="1">
                <a:tableStyleId>{5C22544A-7EE6-4342-B048-85BDC9FD1C3A}</a:tableStyleId>
              </a:tblPr>
              <a:tblGrid>
                <a:gridCol w="1657236">
                  <a:extLst>
                    <a:ext uri="{9D8B030D-6E8A-4147-A177-3AD203B41FA5}">
                      <a16:colId xmlns:a16="http://schemas.microsoft.com/office/drawing/2014/main" val="20000"/>
                    </a:ext>
                  </a:extLst>
                </a:gridCol>
                <a:gridCol w="769240">
                  <a:extLst>
                    <a:ext uri="{9D8B030D-6E8A-4147-A177-3AD203B41FA5}">
                      <a16:colId xmlns:a16="http://schemas.microsoft.com/office/drawing/2014/main" val="20001"/>
                    </a:ext>
                  </a:extLst>
                </a:gridCol>
              </a:tblGrid>
              <a:tr h="228600">
                <a:tc>
                  <a:txBody>
                    <a:bodyPr/>
                    <a:lstStyle/>
                    <a:p>
                      <a:pPr algn="l" latinLnBrk="1" hangingPunct="0">
                        <a:lnSpc>
                          <a:spcPts val="950"/>
                        </a:lnSpc>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LNST (26F,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đồng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a:t>
                      </a:r>
                      <a:endParaRPr lang="en-CA"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T w="12700" cap="flat" cmpd="sng" algn="ctr">
                      <a:solidFill>
                        <a:schemeClr val="bg1"/>
                      </a:solidFill>
                      <a:prstDash val="solid"/>
                      <a:round/>
                      <a:headEnd type="none" w="med" len="med"/>
                      <a:tailEnd type="none" w="med" len="med"/>
                    </a:lnT>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6,263</a:t>
                      </a:r>
                    </a:p>
                  </a:txBody>
                  <a:tcPr marL="0" marR="0" marT="0"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0"/>
                  </a:ext>
                </a:extLst>
              </a:tr>
              <a:tr h="228600">
                <a:tc>
                  <a:txBody>
                    <a:bodyPr/>
                    <a:lstStyle/>
                    <a:p>
                      <a:pPr algn="l" latinLnBrk="1" hangingPunct="0">
                        <a:lnSpc>
                          <a:spcPts val="950"/>
                        </a:lnSpc>
                      </a:pP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Kỳ</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vọng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thị</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trường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(25F,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đồng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a:t>
                      </a:r>
                      <a:endParaRPr lang="en-CA"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N/A</a:t>
                      </a:r>
                    </a:p>
                  </a:txBody>
                  <a:tcPr marL="0" marR="0" marT="0" marB="0" anchor="ctr">
                    <a:noFill/>
                  </a:tcPr>
                </a:tc>
                <a:extLst>
                  <a:ext uri="{0D108BD9-81ED-4DB2-BD59-A6C34878D82A}">
                    <a16:rowId xmlns:a16="http://schemas.microsoft.com/office/drawing/2014/main" val="10001"/>
                  </a:ext>
                </a:extLst>
              </a:tr>
              <a:tr h="228600">
                <a:tc>
                  <a:txBody>
                    <a:bodyPr/>
                    <a:lstStyle/>
                    <a:p>
                      <a:pPr algn="l" latinLnBrk="1" hangingPunct="0">
                        <a:lnSpc>
                          <a:spcPts val="950"/>
                        </a:lnSpc>
                      </a:pP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Tăng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trưởng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EPS </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(25F, %)</a:t>
                      </a:r>
                      <a:endParaRPr lang="en-CA"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10.8</a:t>
                      </a:r>
                    </a:p>
                  </a:txBody>
                  <a:tcPr marL="0" marR="0" marT="0" marB="0" anchor="ctr">
                    <a:noFill/>
                  </a:tcPr>
                </a:tc>
                <a:extLst>
                  <a:ext uri="{0D108BD9-81ED-4DB2-BD59-A6C34878D82A}">
                    <a16:rowId xmlns:a16="http://schemas.microsoft.com/office/drawing/2014/main" val="10002"/>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P/E (26F, x)</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24.3</a:t>
                      </a: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3"/>
                  </a:ext>
                </a:extLst>
              </a:tr>
              <a:tr h="228600">
                <a:tc>
                  <a:txBody>
                    <a:bodyPr/>
                    <a:lstStyle/>
                    <a:p>
                      <a:pPr marL="0" algn="l" defTabSz="457200" rtl="0" eaLnBrk="1" latinLnBrk="1" hangingPunct="0">
                        <a:lnSpc>
                          <a:spcPct val="100000"/>
                        </a:lnSpc>
                        <a:spcAft>
                          <a:spcPts val="0"/>
                        </a:spcAft>
                      </a:pP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Vốn</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hóa</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đồng</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altLang="en-US" sz="800" b="0" kern="100" spc="-2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0" marR="0" marT="0" marB="0" anchor="ctr">
                    <a:lnT w="6350" cap="flat" cmpd="sng" algn="ctr">
                      <a:solidFill>
                        <a:schemeClr val="tx1">
                          <a:lumMod val="50000"/>
                          <a:lumOff val="50000"/>
                        </a:schemeClr>
                      </a:solidFill>
                      <a:prstDash val="solid"/>
                      <a:round/>
                      <a:headEnd type="none" w="med" len="med"/>
                      <a:tailEnd type="none" w="med" len="med"/>
                    </a:lnT>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125,555 </a:t>
                      </a:r>
                    </a:p>
                  </a:txBody>
                  <a:tcPr marL="9525" marR="9525" marT="9525" marB="0" anchor="ctr">
                    <a:lnT w="6350" cap="flat" cmpd="sng" algn="ctr">
                      <a:solidFill>
                        <a:schemeClr val="tx1">
                          <a:lumMod val="50000"/>
                          <a:lumOff val="50000"/>
                        </a:schemeClr>
                      </a:solidFill>
                      <a:prstDash val="solid"/>
                      <a:round/>
                      <a:headEnd type="none" w="med" len="med"/>
                      <a:tailEnd type="none" w="med" len="med"/>
                    </a:lnT>
                    <a:noFill/>
                  </a:tcPr>
                </a:tc>
                <a:extLst>
                  <a:ext uri="{0D108BD9-81ED-4DB2-BD59-A6C34878D82A}">
                    <a16:rowId xmlns:a16="http://schemas.microsoft.com/office/drawing/2014/main" val="10004"/>
                  </a:ext>
                </a:extLst>
              </a:tr>
              <a:tr h="228600">
                <a:tc>
                  <a:txBody>
                    <a:bodyPr/>
                    <a:lstStyle/>
                    <a:p>
                      <a:pPr algn="l" latinLnBrk="1" hangingPunct="0">
                        <a:lnSpc>
                          <a:spcPts val="950"/>
                        </a:lnSpc>
                        <a:spcAft>
                          <a:spcPts val="0"/>
                        </a:spcAft>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SLCP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đang</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lưu</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hành</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triệu</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cp)</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1,885.2 </a:t>
                      </a:r>
                    </a:p>
                  </a:txBody>
                  <a:tcPr marL="9525" marR="9525" marT="9525" marB="0" anchor="ctr">
                    <a:noFill/>
                  </a:tcPr>
                </a:tc>
                <a:extLst>
                  <a:ext uri="{0D108BD9-81ED-4DB2-BD59-A6C34878D82A}">
                    <a16:rowId xmlns:a16="http://schemas.microsoft.com/office/drawing/2014/main" val="10005"/>
                  </a:ext>
                </a:extLst>
              </a:tr>
              <a:tr h="228600">
                <a:tc>
                  <a:txBody>
                    <a:bodyPr/>
                    <a:lstStyle/>
                    <a:p>
                      <a:pPr algn="l" latinLnBrk="1" hangingPunct="0">
                        <a:lnSpc>
                          <a:spcPts val="950"/>
                        </a:lnSpc>
                        <a:spcAft>
                          <a:spcPts val="0"/>
                        </a:spcAft>
                      </a:pP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lê</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CP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tự</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do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chuyển</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nhượng</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96.7 </a:t>
                      </a:r>
                    </a:p>
                  </a:txBody>
                  <a:tcPr marL="9525" marR="9525" marT="9525" marB="0" anchor="ctr">
                    <a:noFill/>
                  </a:tcPr>
                </a:tc>
                <a:extLst>
                  <a:ext uri="{0D108BD9-81ED-4DB2-BD59-A6C34878D82A}">
                    <a16:rowId xmlns:a16="http://schemas.microsoft.com/office/drawing/2014/main" val="10006"/>
                  </a:ext>
                </a:extLst>
              </a:tr>
              <a:tr h="228600">
                <a:tc>
                  <a:txBody>
                    <a:bodyPr/>
                    <a:lstStyle/>
                    <a:p>
                      <a:pPr algn="l" latinLnBrk="1" hangingPunct="0">
                        <a:lnSpc>
                          <a:spcPts val="950"/>
                        </a:lnSpc>
                        <a:spcAft>
                          <a:spcPts val="0"/>
                        </a:spcAft>
                      </a:pP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lệ</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sở</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hữu</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của</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NĐTNN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12.4 </a:t>
                      </a:r>
                    </a:p>
                  </a:txBody>
                  <a:tcPr marL="9525" marR="9525" marT="9525" marB="0" anchor="ctr">
                    <a:noFill/>
                  </a:tcPr>
                </a:tc>
                <a:extLst>
                  <a:ext uri="{0D108BD9-81ED-4DB2-BD59-A6C34878D82A}">
                    <a16:rowId xmlns:a16="http://schemas.microsoft.com/office/drawing/2014/main" val="4090528875"/>
                  </a:ext>
                </a:extLst>
              </a:tr>
              <a:tr h="228600">
                <a:tc>
                  <a:txBody>
                    <a:bodyPr/>
                    <a:lstStyle/>
                    <a:p>
                      <a:pPr marL="0" algn="l" defTabSz="457200" rtl="0" eaLnBrk="1" latinLnBrk="1" hangingPunct="0">
                        <a:lnSpc>
                          <a:spcPct val="100000"/>
                        </a:lnSpc>
                        <a:spcAft>
                          <a:spcPts val="0"/>
                        </a:spcAft>
                      </a:pP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Thấp</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nhất</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52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tuần</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(VND)</a:t>
                      </a:r>
                      <a:endParaRPr lang="ko-KR" altLang="en-US" sz="800" b="0" kern="100" spc="-2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38,550 </a:t>
                      </a:r>
                    </a:p>
                  </a:txBody>
                  <a:tcPr marL="9525" marR="9525" marT="9525" marB="0" anchor="ctr">
                    <a:noFill/>
                  </a:tcPr>
                </a:tc>
                <a:extLst>
                  <a:ext uri="{0D108BD9-81ED-4DB2-BD59-A6C34878D82A}">
                    <a16:rowId xmlns:a16="http://schemas.microsoft.com/office/drawing/2014/main" val="10007"/>
                  </a:ext>
                </a:extLst>
              </a:tr>
              <a:tr h="228600">
                <a:tc>
                  <a:txBody>
                    <a:bodyPr/>
                    <a:lstStyle/>
                    <a:p>
                      <a:pPr marL="0" algn="l" defTabSz="457200" rtl="0" eaLnBrk="1" latinLnBrk="1" hangingPunct="0">
                        <a:lnSpc>
                          <a:spcPct val="100000"/>
                        </a:lnSpc>
                        <a:spcAft>
                          <a:spcPts val="0"/>
                        </a:spcAft>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Cao </a:t>
                      </a: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nhất</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52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tuần</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(VND)</a:t>
                      </a:r>
                      <a:endParaRPr lang="ko-KR" altLang="en-US" sz="800" b="0" kern="100" spc="-2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0" marR="0" marT="0" marB="0" anchor="ctr">
                    <a:lnB w="6350" cap="flat" cmpd="sng" algn="ctr">
                      <a:noFill/>
                      <a:prstDash val="solid"/>
                      <a:round/>
                      <a:headEnd type="none" w="med" len="med"/>
                      <a:tailEnd type="none" w="med" len="med"/>
                    </a:lnB>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70,200 </a:t>
                      </a:r>
                    </a:p>
                  </a:txBody>
                  <a:tcPr marL="9525" marR="9525" marT="9525" marB="0" anchor="ctr">
                    <a:lnB w="6350" cap="flat" cmpd="sng" algn="ctr">
                      <a:no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graphicFrame>
        <p:nvGraphicFramePr>
          <p:cNvPr id="13" name="표 12">
            <a:extLst>
              <a:ext uri="{FF2B5EF4-FFF2-40B4-BE49-F238E27FC236}">
                <a16:creationId xmlns:a16="http://schemas.microsoft.com/office/drawing/2014/main" id="{5434DA4B-CA9D-DEB2-ACA4-90B75B2BC772}"/>
              </a:ext>
            </a:extLst>
          </p:cNvPr>
          <p:cNvGraphicFramePr>
            <a:graphicFrameLocks noGrp="1"/>
          </p:cNvGraphicFramePr>
          <p:nvPr/>
        </p:nvGraphicFramePr>
        <p:xfrm>
          <a:off x="452099" y="1175844"/>
          <a:ext cx="2426476" cy="2037132"/>
        </p:xfrm>
        <a:graphic>
          <a:graphicData uri="http://schemas.openxmlformats.org/drawingml/2006/table">
            <a:tbl>
              <a:tblPr firstRow="1" firstCol="1" bandRow="1">
                <a:tableStyleId>{5C22544A-7EE6-4342-B048-85BDC9FD1C3A}</a:tableStyleId>
              </a:tblPr>
              <a:tblGrid>
                <a:gridCol w="1324828">
                  <a:extLst>
                    <a:ext uri="{9D8B030D-6E8A-4147-A177-3AD203B41FA5}">
                      <a16:colId xmlns:a16="http://schemas.microsoft.com/office/drawing/2014/main" val="20000"/>
                    </a:ext>
                  </a:extLst>
                </a:gridCol>
                <a:gridCol w="1101648">
                  <a:extLst>
                    <a:ext uri="{9D8B030D-6E8A-4147-A177-3AD203B41FA5}">
                      <a16:colId xmlns:a16="http://schemas.microsoft.com/office/drawing/2014/main" val="20001"/>
                    </a:ext>
                  </a:extLst>
                </a:gridCol>
              </a:tblGrid>
              <a:tr h="509283">
                <a:tc>
                  <a:txBody>
                    <a:bodyPr/>
                    <a:lstStyle/>
                    <a:p>
                      <a:pPr marL="0" algn="l" defTabSz="457200" rtl="0" eaLnBrk="1" latinLnBrk="1" hangingPunct="1">
                        <a:lnSpc>
                          <a:spcPts val="1200"/>
                        </a:lnSpc>
                        <a:spcAft>
                          <a:spcPts val="0"/>
                        </a:spcAft>
                      </a:pPr>
                      <a:r>
                        <a:rPr lang="en-US"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r>
                        <a:rPr lang="en-US" sz="900" b="1" kern="12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Cập</a:t>
                      </a:r>
                      <a:r>
                        <a:rPr lang="en-US"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900" b="1" kern="12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nhật</a:t>
                      </a:r>
                      <a:r>
                        <a:rPr lang="en-US" altLang="ko-KR"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endParaRPr>
                    </a:p>
                  </a:txBody>
                  <a:tcPr marL="36000" marR="36000"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1" kern="100" spc="0" baseline="0" dirty="0">
                          <a:solidFill>
                            <a:schemeClr val="tx1"/>
                          </a:solidFill>
                          <a:effectLst/>
                          <a:latin typeface="+mn-lt"/>
                          <a:ea typeface="KoPub돋움체_Pro Bold" pitchFamily="18" charset="-127"/>
                          <a:cs typeface="Noto Sans" panose="020B0502040504020204" pitchFamily="34" charset="0"/>
                        </a:rPr>
                        <a:t>NẮM GIỮ</a:t>
                      </a:r>
                      <a:endParaRPr lang="ko-KR" sz="900" b="1"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509283">
                <a:tc>
                  <a:txBody>
                    <a:bodyPr/>
                    <a:lstStyle/>
                    <a:p>
                      <a:pPr marL="0" algn="l" defTabSz="457200" rtl="0" eaLnBrk="1" latinLnBrk="1" hangingPunct="1">
                        <a:lnSpc>
                          <a:spcPts val="1200"/>
                        </a:lnSpc>
                        <a:spcAft>
                          <a:spcPts val="0"/>
                        </a:spcAft>
                      </a:pPr>
                      <a:r>
                        <a:rPr lang="en-US" altLang="ko-KR" sz="900" b="1" kern="1200" spc="0" baseline="0" dirty="0" err="1">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Giá</a:t>
                      </a:r>
                      <a:r>
                        <a:rPr lang="en-US" alt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 </a:t>
                      </a:r>
                      <a:r>
                        <a:rPr lang="en-US" altLang="ko-KR" sz="900" b="1" kern="1200" spc="0" baseline="0" dirty="0" err="1">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mục</a:t>
                      </a:r>
                      <a:r>
                        <a:rPr lang="en-US" alt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 </a:t>
                      </a:r>
                      <a:r>
                        <a:rPr lang="en-US" altLang="ko-KR" sz="900" b="1" kern="1200" spc="0" baseline="0" dirty="0" err="1">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tiêu</a:t>
                      </a:r>
                      <a:r>
                        <a:rPr lang="en-US" alt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 </a:t>
                      </a:r>
                    </a:p>
                    <a:p>
                      <a:pPr marL="0" algn="l" defTabSz="457200" rtl="0" eaLnBrk="1" latinLnBrk="1" hangingPunct="1">
                        <a:lnSpc>
                          <a:spcPts val="1200"/>
                        </a:lnSpc>
                        <a:spcAft>
                          <a:spcPts val="0"/>
                        </a:spcAft>
                      </a:pPr>
                      <a:r>
                        <a:rPr lang="en-US" altLang="ko-KR"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(VND, 12T)</a:t>
                      </a:r>
                      <a:endParaRPr lang="ko-KR" alt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endParaRPr>
                    </a:p>
                  </a:txBody>
                  <a:tcPr marL="36000" marR="36000"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1"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77,800</a:t>
                      </a:r>
                      <a:endParaRPr lang="ko-KR" altLang="en-US" sz="900" b="1"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1"/>
                  </a:ext>
                </a:extLst>
              </a:tr>
              <a:tr h="509283">
                <a:tc>
                  <a:txBody>
                    <a:bodyPr/>
                    <a:lstStyle/>
                    <a:p>
                      <a:pPr marL="0" algn="l" defTabSz="457200" rtl="0" eaLnBrk="1" latinLnBrk="1" hangingPunct="1">
                        <a:lnSpc>
                          <a:spcPts val="1200"/>
                        </a:lnSpc>
                        <a:spcAft>
                          <a:spcPts val="0"/>
                        </a:spcAft>
                      </a:pPr>
                      <a:r>
                        <a:rPr lang="en-US" altLang="ko-KR" sz="900" b="0" kern="1200" spc="0" baseline="0" dirty="0" err="1">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rPr>
                        <a:t>Thị</a:t>
                      </a:r>
                      <a:r>
                        <a:rPr lang="en-US" altLang="ko-KR" sz="900" b="0" kern="1200" spc="0" baseline="0" dirty="0">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rPr>
                        <a:t> </a:t>
                      </a:r>
                      <a:r>
                        <a:rPr lang="en-US" altLang="ko-KR" sz="900" b="0" kern="1200" spc="0" baseline="0" dirty="0" err="1">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rPr>
                        <a:t>giá</a:t>
                      </a:r>
                      <a:r>
                        <a:rPr lang="en-US" altLang="ko-KR" sz="900" b="0" kern="1200" spc="0" baseline="0" dirty="0">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rPr>
                        <a:t> </a:t>
                      </a:r>
                    </a:p>
                    <a:p>
                      <a:pPr marL="0" marR="0" lvl="0" indent="0" algn="l" defTabSz="457200" rtl="0" eaLnBrk="1" fontAlgn="auto" latinLnBrk="1" hangingPunct="1">
                        <a:lnSpc>
                          <a:spcPts val="1200"/>
                        </a:lnSpc>
                        <a:spcBef>
                          <a:spcPts val="0"/>
                        </a:spcBef>
                        <a:spcAft>
                          <a:spcPts val="0"/>
                        </a:spcAft>
                        <a:buClrTx/>
                        <a:buSzTx/>
                        <a:buFontTx/>
                        <a:buNone/>
                        <a:tabLst/>
                        <a:defRPr/>
                      </a:pPr>
                      <a:r>
                        <a:rPr lang="en-US" altLang="ko-KR" sz="900" b="0"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(16/06/26)</a:t>
                      </a:r>
                      <a:endParaRPr lang="ko-KR" altLang="ko-KR" sz="900" b="0" kern="1200" spc="0" baseline="0" dirty="0">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lvl="0" indent="0" algn="r" defTabSz="457200" rtl="0" eaLnBrk="1" fontAlgn="auto" latinLnBrk="1" hangingPunct="0">
                        <a:lnSpc>
                          <a:spcPts val="1200"/>
                        </a:lnSpc>
                        <a:spcBef>
                          <a:spcPts val="0"/>
                        </a:spcBef>
                        <a:spcAft>
                          <a:spcPts val="0"/>
                        </a:spcAft>
                        <a:buClrTx/>
                        <a:buSzTx/>
                        <a:buFontTx/>
                        <a:buNone/>
                        <a:tabLst/>
                        <a:defRPr/>
                      </a:pPr>
                      <a:r>
                        <a:rPr lang="en-US" altLang="ko-KR"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71,300</a:t>
                      </a:r>
                      <a:endParaRPr lang="ko-KR" altLang="en-US"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2"/>
                  </a:ext>
                </a:extLst>
              </a:tr>
              <a:tr h="509283">
                <a:tc>
                  <a:txBody>
                    <a:bodyPr/>
                    <a:lstStyle/>
                    <a:p>
                      <a:pPr marL="0" algn="l" defTabSz="457200" rtl="0" eaLnBrk="1" latinLnBrk="1" hangingPunct="1">
                        <a:lnSpc>
                          <a:spcPts val="1200"/>
                        </a:lnSpc>
                        <a:spcAft>
                          <a:spcPts val="0"/>
                        </a:spcAft>
                      </a:pPr>
                      <a:r>
                        <a:rPr lang="en-US" altLang="ko-KR" sz="900" b="0" kern="12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Lợi </a:t>
                      </a:r>
                      <a:r>
                        <a:rPr lang="en-US" altLang="ko-KR" sz="900" b="0" kern="1200" spc="0" baseline="0" dirty="0" err="1">
                          <a:solidFill>
                            <a:schemeClr val="tx1"/>
                          </a:solidFill>
                          <a:effectLst/>
                          <a:latin typeface="Noto Sans" panose="020B0502040504020204" pitchFamily="34" charset="0"/>
                          <a:ea typeface="KoPub돋움체_Pro Medium" pitchFamily="18" charset="-127"/>
                          <a:cs typeface="Noto Sans" panose="020B0502040504020204" pitchFamily="34" charset="0"/>
                        </a:rPr>
                        <a:t>nhuận</a:t>
                      </a:r>
                      <a:r>
                        <a:rPr lang="en-US" altLang="ko-KR" sz="900" b="0" kern="12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 </a:t>
                      </a:r>
                      <a:r>
                        <a:rPr lang="en-US" altLang="ko-KR" sz="900" b="0" kern="1200" spc="0" baseline="0" dirty="0" err="1">
                          <a:solidFill>
                            <a:schemeClr val="tx1"/>
                          </a:solidFill>
                          <a:effectLst/>
                          <a:latin typeface="Noto Sans" panose="020B0502040504020204" pitchFamily="34" charset="0"/>
                          <a:ea typeface="KoPub돋움체_Pro Medium" pitchFamily="18" charset="-127"/>
                          <a:cs typeface="Noto Sans" panose="020B0502040504020204" pitchFamily="34" charset="0"/>
                        </a:rPr>
                        <a:t>kỳ</a:t>
                      </a:r>
                      <a:r>
                        <a:rPr lang="en-US" altLang="ko-KR" sz="900" b="0" kern="12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 </a:t>
                      </a:r>
                      <a:r>
                        <a:rPr lang="en-US" altLang="ko-KR" sz="900" b="0" kern="1200" spc="0" baseline="0" dirty="0" err="1">
                          <a:solidFill>
                            <a:schemeClr val="tx1"/>
                          </a:solidFill>
                          <a:effectLst/>
                          <a:latin typeface="Noto Sans" panose="020B0502040504020204" pitchFamily="34" charset="0"/>
                          <a:ea typeface="KoPub돋움체_Pro Medium" pitchFamily="18" charset="-127"/>
                          <a:cs typeface="Noto Sans" panose="020B0502040504020204" pitchFamily="34" charset="0"/>
                        </a:rPr>
                        <a:t>vọng</a:t>
                      </a:r>
                      <a:endParaRPr lang="ko-KR" sz="900" b="0" kern="12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9.1%</a:t>
                      </a:r>
                      <a:endParaRPr lang="ko-KR" altLang="en-US"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4"/>
                  </a:ext>
                </a:extLst>
              </a:tr>
            </a:tbl>
          </a:graphicData>
        </a:graphic>
      </p:graphicFrame>
      <p:sp>
        <p:nvSpPr>
          <p:cNvPr id="15" name="Rectangle 15">
            <a:extLst>
              <a:ext uri="{FF2B5EF4-FFF2-40B4-BE49-F238E27FC236}">
                <a16:creationId xmlns:a16="http://schemas.microsoft.com/office/drawing/2014/main" id="{DB1B19D8-8B25-74E1-946D-2264F4A1DBB7}"/>
              </a:ext>
            </a:extLst>
          </p:cNvPr>
          <p:cNvSpPr>
            <a:spLocks noChangeArrowheads="1"/>
          </p:cNvSpPr>
          <p:nvPr/>
        </p:nvSpPr>
        <p:spPr bwMode="auto">
          <a:xfrm>
            <a:off x="3142100" y="1088740"/>
            <a:ext cx="8593283" cy="3010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36000" rIns="0" bIns="0"/>
          <a:lstStyle/>
          <a:p>
            <a:pPr marL="0" marR="0" lvl="0" indent="0" algn="just" defTabSz="914400" rtl="0" eaLnBrk="1" fontAlgn="ctr" latinLnBrk="0" hangingPunct="1">
              <a:lnSpc>
                <a:spcPts val="1200"/>
              </a:lnSpc>
              <a:spcBef>
                <a:spcPct val="0"/>
              </a:spcBef>
              <a:spcAft>
                <a:spcPts val="500"/>
              </a:spcAft>
              <a:buClrTx/>
              <a:buSzPct val="130000"/>
              <a:buFontTx/>
              <a:buNone/>
              <a:tabLst/>
              <a:defRPr/>
            </a:pPr>
            <a:r>
              <a:rPr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Đ</a:t>
            </a:r>
            <a:r>
              <a:rPr kumimoji="1" lang="en-US" altLang="ko-KR" sz="800" b="1"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iểm</a:t>
            </a:r>
            <a:r>
              <a:rPr kumimoji="1" lang="en-US" altLang="ko-KR" sz="8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1"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nhấn</a:t>
            </a:r>
            <a:r>
              <a:rPr kumimoji="1" lang="en-US" altLang="ko-KR" sz="8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1"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đầu</a:t>
            </a:r>
            <a:r>
              <a:rPr kumimoji="1" lang="en-US" altLang="ko-KR" sz="8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1"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tư</a:t>
            </a:r>
            <a:endParaRPr kumimoji="1" lang="en-US" altLang="ko-KR" sz="8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endParaRPr>
          </a:p>
          <a:p>
            <a:pPr lvl="0" algn="just" fontAlgn="ctr" latinLnBrk="0">
              <a:lnSpc>
                <a:spcPts val="1200"/>
              </a:lnSpc>
              <a:spcAft>
                <a:spcPts val="500"/>
              </a:spcAft>
              <a:buSzPct val="130000"/>
              <a:defRPr/>
            </a:pPr>
            <a:r>
              <a:rPr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KQKD Q2/2026 (sơ bộ): </a:t>
            </a:r>
          </a:p>
          <a:p>
            <a:pPr marL="171450" lvl="0" indent="-171450" algn="just" fontAlgn="ctr" latinLnBrk="0">
              <a:lnSpc>
                <a:spcPts val="1200"/>
              </a:lnSpc>
              <a:spcAft>
                <a:spcPts val="500"/>
              </a:spcAft>
              <a:buSzPct val="130000"/>
              <a:buFont typeface="Arial" panose="020B0604020202020204" pitchFamily="34" charset="0"/>
              <a:buChar char="•"/>
              <a:defRPr/>
            </a:pPr>
            <a:r>
              <a:rPr lang="vi-VN"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LNTT Q2/2026 ước đạt ~1,900–2,000 tỷ đồng (≈-50% CK), đưa LNTT 1H26 lên ~4,000–4,100 tỷ đồng (-45% CK; ~50% kế hoạch năm 8,100 tỷ đồng). BCTC chính thức Q2/2026 chưa công bố — số liệu phản ánh ước tính của ngân hàng và dự phóng của các CTCK (LNST Q2/2026 đồng thuận ~1,666 tỷ đồng, -42% CK). Nguyên nhân chính là NIM tiếp tục chịu áp lực trong bối cảnh cạnh tranh huy động gay gắt, cùng việc đẩy mạnh xử lý tài sản tồn đọng: chi phí dự phòng Q2/2026 ước vượt 4,700 tỷ đồng — mức cao kỷ lục theo quý và thuộc nhóm cao nhất ngành — sau mức 2,024 tỷ đồng trong Q1/2026.</a:t>
            </a:r>
          </a:p>
          <a:p>
            <a:pPr marL="171450" lvl="0" indent="-171450" algn="just" fontAlgn="ctr" latinLnBrk="0">
              <a:lnSpc>
                <a:spcPts val="1200"/>
              </a:lnSpc>
              <a:spcAft>
                <a:spcPts val="500"/>
              </a:spcAft>
              <a:buSzPct val="130000"/>
              <a:buFont typeface="Arial" panose="020B0604020202020204" pitchFamily="34" charset="0"/>
              <a:buChar char="•"/>
              <a:defRPr/>
            </a:pPr>
            <a:r>
              <a:rPr lang="vi-VN"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Tỷ lệ NPL cuối Q2/2026 ước ~5.6% (từ 6.62% cuối Q1/2026) nhờ đẩy nhanh xóa nợ và xử lý tài sản đảm bảo, song vẫn cao hơn mục tiêu dưới 4.5% cho FY26. Nhắc lại Q1/2026: LNTT 2,106 tỷ đồng (-42.7% CK), NII 6,042 tỷ đồng (-12.0% CK), CASA 15.9%, CIR 45.2%.</a:t>
            </a:r>
            <a:endPar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a:p>
            <a:pPr algn="just" fontAlgn="ctr" latinLnBrk="0">
              <a:lnSpc>
                <a:spcPts val="1200"/>
              </a:lnSpc>
              <a:spcAft>
                <a:spcPts val="500"/>
              </a:spcAft>
              <a:buSzPct val="130000"/>
              <a:defRPr/>
            </a:pPr>
            <a:r>
              <a:rPr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Sacombank </a:t>
            </a:r>
            <a:r>
              <a:rPr lang="en-US" altLang="ko-KR" sz="800"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đã</a:t>
            </a:r>
            <a:r>
              <a:rPr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thu hồi hơn 500 sổ đỏ tại Viva City của LDG</a:t>
            </a:r>
            <a:r>
              <a:rPr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a:t>
            </a:r>
          </a:p>
          <a:p>
            <a:pPr marL="171450" indent="-171450" algn="just" fontAlgn="ctr" latinLnBrk="0">
              <a:lnSpc>
                <a:spcPts val="1200"/>
              </a:lnSpc>
              <a:spcAft>
                <a:spcPts val="500"/>
              </a:spcAft>
              <a:buSzPct val="130000"/>
              <a:buFont typeface="Arial" panose="020B0604020202020204" pitchFamily="34" charset="0"/>
              <a:buChar char="•"/>
              <a:defRPr/>
            </a:pP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Sacombank đã thu giữ 507 sổ đỏ thuộc dự án Viva City (Đồng Nai) do LDG vi phạm nghĩa vụ tín dụng, với dư nợ quá hạn gần 350 tỷ đồng và hơn 82 tỷ đồng lãi chậm trả. Dù thanh khoản bất động sản còn thách thức, việc nắm giữ tài sản đảm bảo giúp STB tăng khả năng thu hồi nợ xấu. Quy mô dư nợ LDG hiện chưa đủ lớn để ảnh hưởng đáng kể đến danh mục tín dụng của ngân hàng.</a:t>
            </a:r>
            <a:endPar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a:p>
            <a:pPr algn="just" fontAlgn="ctr" latinLnBrk="0">
              <a:lnSpc>
                <a:spcPts val="1200"/>
              </a:lnSpc>
              <a:spcAft>
                <a:spcPts val="500"/>
              </a:spcAft>
              <a:buSzPct val="130000"/>
              <a:defRPr/>
            </a:pPr>
            <a:r>
              <a:rPr kumimoji="1" lang="vi-VN" altLang="ko-KR" sz="8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Dự phóng kịch bản cơ sở: </a:t>
            </a:r>
            <a:r>
              <a:rPr kumimoji="1" lang="en-US" altLang="ko-KR" sz="8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Chúng tôi điều chỉnh giảm dự phóng LNTT FY26 của STB từ 9,093 tỷ đồng (+19.2% </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CK</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xuống 8,</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455</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tỷ đồng (+1</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0</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.8% </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CK</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chủ yếu do tăng trưởng tín dụng thấp hơn kỳ vọng trong Q1/</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20</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26. Theo đó, NII được hạ từ 28.5 nghìn tỷ đồng (+6.8% </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CK</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xuống 27,</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010</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tỷ đồng (+1.</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2</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CK</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Ngược lại, thu nhập khác được nâng lên 1,3</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27</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tỷ đồng (+</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5</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CK</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phản ánh kỳ vọng đẩy mạnh xử lý các tài sản đã thu hồi</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0"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Tăng</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0"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trưởng</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0"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cho</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0"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vay</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0"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đạt</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10,1% (</a:t>
            </a:r>
            <a:r>
              <a:rPr kumimoji="1" lang="en-US" altLang="ko-KR" sz="800" b="0"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sv</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0"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mức</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16,1% FY25). </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NIM đạt 2.9</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4</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38</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bps </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CK</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chi phí dự phòng 10.5 nghìn tỷ đồng (-</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8</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.9% </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CK</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và CIR ở mức 42.</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9</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+2</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.2%p</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CK</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a:t>
            </a:r>
            <a:endParaRPr kumimoji="1" lang="vi-VN" altLang="ko-KR" sz="80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endParaRPr>
          </a:p>
          <a:p>
            <a:pPr marL="171450" lvl="0" indent="-171450" algn="just" fontAlgn="ctr" latinLnBrk="0">
              <a:lnSpc>
                <a:spcPts val="1200"/>
              </a:lnSpc>
              <a:spcAft>
                <a:spcPts val="500"/>
              </a:spcAft>
              <a:buSzPct val="130000"/>
              <a:buFont typeface="Arial" panose="020B0604020202020204" pitchFamily="34" charset="0"/>
              <a:buChar char="•"/>
              <a:defRPr/>
            </a:pPr>
            <a:endPar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endParaRPr>
          </a:p>
        </p:txBody>
      </p:sp>
      <p:graphicFrame>
        <p:nvGraphicFramePr>
          <p:cNvPr id="16" name="표 14">
            <a:extLst>
              <a:ext uri="{FF2B5EF4-FFF2-40B4-BE49-F238E27FC236}">
                <a16:creationId xmlns:a16="http://schemas.microsoft.com/office/drawing/2014/main" id="{043C02F0-1467-A4FD-BD87-931B5241F4B9}"/>
              </a:ext>
            </a:extLst>
          </p:cNvPr>
          <p:cNvGraphicFramePr>
            <a:graphicFrameLocks noGrp="1"/>
          </p:cNvGraphicFramePr>
          <p:nvPr/>
        </p:nvGraphicFramePr>
        <p:xfrm>
          <a:off x="6010273" y="4183739"/>
          <a:ext cx="5718758" cy="2312310"/>
        </p:xfrm>
        <a:graphic>
          <a:graphicData uri="http://schemas.openxmlformats.org/drawingml/2006/table">
            <a:tbl>
              <a:tblPr firstRow="1" firstCol="1" bandRow="1">
                <a:tableStyleId>{5C22544A-7EE6-4342-B048-85BDC9FD1C3A}</a:tableStyleId>
              </a:tblPr>
              <a:tblGrid>
                <a:gridCol w="1390082">
                  <a:extLst>
                    <a:ext uri="{9D8B030D-6E8A-4147-A177-3AD203B41FA5}">
                      <a16:colId xmlns:a16="http://schemas.microsoft.com/office/drawing/2014/main" val="20000"/>
                    </a:ext>
                  </a:extLst>
                </a:gridCol>
                <a:gridCol w="721446">
                  <a:extLst>
                    <a:ext uri="{9D8B030D-6E8A-4147-A177-3AD203B41FA5}">
                      <a16:colId xmlns:a16="http://schemas.microsoft.com/office/drawing/2014/main" val="20002"/>
                    </a:ext>
                  </a:extLst>
                </a:gridCol>
                <a:gridCol w="721446">
                  <a:extLst>
                    <a:ext uri="{9D8B030D-6E8A-4147-A177-3AD203B41FA5}">
                      <a16:colId xmlns:a16="http://schemas.microsoft.com/office/drawing/2014/main" val="20003"/>
                    </a:ext>
                  </a:extLst>
                </a:gridCol>
                <a:gridCol w="721446">
                  <a:extLst>
                    <a:ext uri="{9D8B030D-6E8A-4147-A177-3AD203B41FA5}">
                      <a16:colId xmlns:a16="http://schemas.microsoft.com/office/drawing/2014/main" val="20004"/>
                    </a:ext>
                  </a:extLst>
                </a:gridCol>
                <a:gridCol w="721446">
                  <a:extLst>
                    <a:ext uri="{9D8B030D-6E8A-4147-A177-3AD203B41FA5}">
                      <a16:colId xmlns:a16="http://schemas.microsoft.com/office/drawing/2014/main" val="20005"/>
                    </a:ext>
                  </a:extLst>
                </a:gridCol>
                <a:gridCol w="721446">
                  <a:extLst>
                    <a:ext uri="{9D8B030D-6E8A-4147-A177-3AD203B41FA5}">
                      <a16:colId xmlns:a16="http://schemas.microsoft.com/office/drawing/2014/main" val="20006"/>
                    </a:ext>
                  </a:extLst>
                </a:gridCol>
                <a:gridCol w="721446">
                  <a:extLst>
                    <a:ext uri="{9D8B030D-6E8A-4147-A177-3AD203B41FA5}">
                      <a16:colId xmlns:a16="http://schemas.microsoft.com/office/drawing/2014/main" val="1619028315"/>
                    </a:ext>
                  </a:extLst>
                </a:gridCol>
              </a:tblGrid>
              <a:tr h="177870">
                <a:tc>
                  <a:txBody>
                    <a:bodyPr/>
                    <a:lstStyle/>
                    <a:p>
                      <a:pPr marL="0" algn="l" defTabSz="457200" rtl="0" eaLnBrk="1" latinLnBrk="1" hangingPunct="0">
                        <a:lnSpc>
                          <a:spcPct val="100000"/>
                        </a:lnSpc>
                        <a:spcAft>
                          <a:spcPts val="0"/>
                        </a:spcAft>
                      </a:pPr>
                      <a:r>
                        <a:rPr lang="en-US" altLang="ko-KR" sz="800" b="1" i="0" kern="100" spc="0" baseline="0" dirty="0">
                          <a:solidFill>
                            <a:schemeClr val="tx1"/>
                          </a:solidFill>
                          <a:effectLst/>
                          <a:latin typeface="+mj-lt"/>
                          <a:ea typeface="Noto Sans" panose="020B0502040504020204" pitchFamily="34" charset="0"/>
                          <a:cs typeface="Noto Sans" panose="020B0502040504020204" pitchFamily="34" charset="0"/>
                        </a:rPr>
                        <a:t> FY (31/12)</a:t>
                      </a:r>
                      <a:endParaRPr lang="ko-KR" sz="800" b="1" i="0" kern="100" spc="0" baseline="0" dirty="0">
                        <a:solidFill>
                          <a:schemeClr val="tx1"/>
                        </a:solidFill>
                        <a:effectLst/>
                        <a:latin typeface="+mj-lt"/>
                        <a:ea typeface="KoPub돋움체_Pro Bold" pitchFamily="18" charset="-127"/>
                        <a:cs typeface="Noto Sans" panose="020B0502040504020204" pitchFamily="34" charset="0"/>
                      </a:endParaRPr>
                    </a:p>
                  </a:txBody>
                  <a:tcPr marL="9144" marR="9144"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mj-lt"/>
                        </a:rPr>
                        <a:t>FY23</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mj-lt"/>
                        </a:rPr>
                        <a:t>FY24</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mj-lt"/>
                        </a:rPr>
                        <a:t>FY25</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mj-lt"/>
                        </a:rPr>
                        <a:t>FY26F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r>
                        <a:rPr lang="en-US" sz="800" b="1" i="0" u="none" strike="noStrike" dirty="0">
                          <a:solidFill>
                            <a:srgbClr val="000000"/>
                          </a:solidFill>
                          <a:effectLst/>
                          <a:latin typeface="+mj-lt"/>
                        </a:rPr>
                        <a:t>FY27F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sz="800" b="1" i="0" u="none" strike="noStrike" dirty="0">
                          <a:solidFill>
                            <a:srgbClr val="000000"/>
                          </a:solidFill>
                          <a:effectLst/>
                          <a:latin typeface="+mj-lt"/>
                        </a:rPr>
                        <a:t>FY28F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77870">
                <a:tc>
                  <a:txBody>
                    <a:bodyPr/>
                    <a:lstStyle/>
                    <a:p>
                      <a:pPr marL="0" marR="41910" algn="l" latinLnBrk="1" hangingPunct="0">
                        <a:lnSpc>
                          <a:spcPts val="950"/>
                        </a:lnSpc>
                        <a:spcBef>
                          <a:spcPts val="0"/>
                        </a:spcBef>
                        <a:spcAft>
                          <a:spcPts val="0"/>
                        </a:spcAft>
                      </a:pPr>
                      <a:r>
                        <a:rPr lang="en-US" sz="800" b="0" kern="1200" spc="-40" dirty="0">
                          <a:solidFill>
                            <a:srgbClr val="000000"/>
                          </a:solidFill>
                          <a:effectLst/>
                          <a:latin typeface="+mj-lt"/>
                          <a:ea typeface="Noto Sans" panose="020B0502040504020204" pitchFamily="34" charset="0"/>
                          <a:cs typeface="Noto Sans" panose="020B0502040504020204" pitchFamily="34" charset="0"/>
                        </a:rPr>
                        <a:t>Thu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nhập</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lãi</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thuần</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tỷ</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mj-lt"/>
                          <a:ea typeface="Noto Sans" panose="020B0502040504020204" pitchFamily="34" charset="0"/>
                          <a:cs typeface="Noto Sans" panose="020B0502040504020204" pitchFamily="34" charset="0"/>
                        </a:rPr>
                        <a:t>)</a:t>
                      </a:r>
                    </a:p>
                  </a:txBody>
                  <a:tcPr marL="9144" marR="9144"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22,072</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24,532</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26,681</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27,010</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30,212</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35,478</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77870">
                <a:tc>
                  <a:txBody>
                    <a:bodyPr/>
                    <a:lstStyle/>
                    <a:p>
                      <a:pPr marL="0" marR="41910" algn="l" latinLnBrk="1" hangingPunct="0">
                        <a:lnSpc>
                          <a:spcPts val="950"/>
                        </a:lnSpc>
                        <a:spcBef>
                          <a:spcPts val="0"/>
                        </a:spcBef>
                        <a:spcAft>
                          <a:spcPts val="0"/>
                        </a:spcAft>
                      </a:pPr>
                      <a:r>
                        <a:rPr lang="en-US" sz="800" b="0" kern="1200" spc="-40" dirty="0">
                          <a:solidFill>
                            <a:srgbClr val="000000"/>
                          </a:solidFill>
                          <a:effectLst/>
                          <a:latin typeface="+mj-lt"/>
                          <a:ea typeface="Noto Sans" panose="020B0502040504020204" pitchFamily="34" charset="0"/>
                          <a:cs typeface="Noto Sans" panose="020B0502040504020204" pitchFamily="34" charset="0"/>
                        </a:rPr>
                        <a:t>Thu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nhập</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ngoài</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lãi</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tỷ</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mj-lt"/>
                          <a:ea typeface="Noto Sans" panose="020B0502040504020204" pitchFamily="34" charset="0"/>
                          <a:cs typeface="Noto Sans" panose="020B0502040504020204" pitchFamily="34" charset="0"/>
                        </a:rPr>
                        <a:t>)</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4,101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4,145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5,376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5,950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6,344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7,039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77870">
                <a:tc>
                  <a:txBody>
                    <a:bodyPr/>
                    <a:lstStyle/>
                    <a:p>
                      <a:pPr marL="0" marR="41910" algn="l" latinLnBrk="1" hangingPunct="0">
                        <a:lnSpc>
                          <a:spcPts val="950"/>
                        </a:lnSpc>
                        <a:spcBef>
                          <a:spcPts val="0"/>
                        </a:spcBef>
                        <a:spcAft>
                          <a:spcPts val="0"/>
                        </a:spcAft>
                      </a:pPr>
                      <a:r>
                        <a:rPr lang="en-US" sz="800" b="0" kern="1200" spc="-40" dirty="0" err="1">
                          <a:solidFill>
                            <a:srgbClr val="000000"/>
                          </a:solidFill>
                          <a:effectLst/>
                          <a:latin typeface="+mj-lt"/>
                          <a:ea typeface="Noto Sans" panose="020B0502040504020204" pitchFamily="34" charset="0"/>
                          <a:cs typeface="Noto Sans" panose="020B0502040504020204" pitchFamily="34" charset="0"/>
                        </a:rPr>
                        <a:t>Lợi</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nhuận</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hoạt</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động</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tỷ</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mj-lt"/>
                          <a:ea typeface="Noto Sans" panose="020B0502040504020204" pitchFamily="34" charset="0"/>
                          <a:cs typeface="Noto Sans" panose="020B0502040504020204" pitchFamily="34" charset="0"/>
                        </a:rPr>
                        <a:t>)</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9,595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12,720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7,628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8,455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15,811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19,437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77870">
                <a:tc>
                  <a:txBody>
                    <a:bodyPr/>
                    <a:lstStyle/>
                    <a:p>
                      <a:pPr marL="0" marR="41910" algn="l" latinLnBrk="1" hangingPunct="0">
                        <a:lnSpc>
                          <a:spcPts val="950"/>
                        </a:lnSpc>
                        <a:spcBef>
                          <a:spcPts val="0"/>
                        </a:spcBef>
                        <a:spcAft>
                          <a:spcPts val="0"/>
                        </a:spcAft>
                      </a:pPr>
                      <a:r>
                        <a:rPr lang="en-US" sz="800" b="0" kern="1200" spc="-40" dirty="0">
                          <a:solidFill>
                            <a:srgbClr val="000000"/>
                          </a:solidFill>
                          <a:effectLst/>
                          <a:latin typeface="+mj-lt"/>
                          <a:ea typeface="Noto Sans" panose="020B0502040504020204" pitchFamily="34" charset="0"/>
                          <a:cs typeface="Noto Sans" panose="020B0502040504020204" pitchFamily="34" charset="0"/>
                        </a:rPr>
                        <a:t>LNST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tỷ</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mj-lt"/>
                          <a:ea typeface="Noto Sans" panose="020B0502040504020204" pitchFamily="34" charset="0"/>
                          <a:cs typeface="Noto Sans" panose="020B0502040504020204" pitchFamily="34" charset="0"/>
                        </a:rPr>
                        <a:t>)</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7,719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10,087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5,939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6,583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12,311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15,134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39360553"/>
                  </a:ext>
                </a:extLst>
              </a:tr>
              <a:tr h="177870">
                <a:tc>
                  <a:txBody>
                    <a:bodyPr/>
                    <a:lstStyle/>
                    <a:p>
                      <a:pPr marL="0" marR="0" algn="l" latinLnBrk="1" hangingPunct="0">
                        <a:lnSpc>
                          <a:spcPts val="950"/>
                        </a:lnSpc>
                        <a:spcBef>
                          <a:spcPts val="0"/>
                        </a:spcBef>
                        <a:spcAft>
                          <a:spcPts val="0"/>
                        </a:spcAft>
                      </a:pPr>
                      <a:r>
                        <a:rPr lang="en-US" sz="800" b="0" kern="1200" spc="-40" dirty="0">
                          <a:solidFill>
                            <a:srgbClr val="000000"/>
                          </a:solidFill>
                          <a:effectLst/>
                          <a:latin typeface="+mj-lt"/>
                          <a:ea typeface="Noto Sans" panose="020B0502040504020204" pitchFamily="34" charset="0"/>
                          <a:cs typeface="Noto Sans" panose="020B0502040504020204" pitchFamily="34" charset="0"/>
                        </a:rPr>
                        <a:t>EPS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mj-lt"/>
                          <a:ea typeface="Noto Sans" panose="020B0502040504020204" pitchFamily="34" charset="0"/>
                          <a:cs typeface="Noto Sans" panose="020B0502040504020204" pitchFamily="34" charset="0"/>
                        </a:rPr>
                        <a:t>)</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3,747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4,896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2,883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         3,195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        5,976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        7,346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77870">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mj-lt"/>
                          <a:ea typeface="Noto Sans" panose="020B0502040504020204" pitchFamily="34" charset="0"/>
                          <a:cs typeface="Noto Sans" panose="020B0502040504020204" pitchFamily="34" charset="0"/>
                        </a:rPr>
                        <a:t>ROE (%)</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18.3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20.0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10.3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9.9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dirty="0">
                          <a:effectLst/>
                          <a:latin typeface="Noto Sans" panose="020B0502040504020204" pitchFamily="34" charset="0"/>
                        </a:rPr>
                        <a:t>16.9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17.5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77870">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mj-lt"/>
                          <a:ea typeface="Noto Sans" panose="020B0502040504020204" pitchFamily="34" charset="0"/>
                          <a:cs typeface="Noto Sans" panose="020B0502040504020204" pitchFamily="34" charset="0"/>
                        </a:rPr>
                        <a:t>P/E (x)</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20.7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15.8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26.9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24.3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13.0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10.6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77870">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mj-lt"/>
                          <a:ea typeface="Noto Sans" panose="020B0502040504020204" pitchFamily="34" charset="0"/>
                          <a:cs typeface="Noto Sans" panose="020B0502040504020204" pitchFamily="34" charset="0"/>
                        </a:rPr>
                        <a:t>P/B (x)</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3.5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2.4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2.0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1.7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77870">
                <a:tc>
                  <a:txBody>
                    <a:bodyPr/>
                    <a:lstStyle/>
                    <a:p>
                      <a:pPr marL="0" marR="0" algn="l" latinLnBrk="1" hangingPunct="0">
                        <a:lnSpc>
                          <a:spcPts val="950"/>
                        </a:lnSpc>
                        <a:spcBef>
                          <a:spcPts val="0"/>
                        </a:spcBef>
                        <a:spcAft>
                          <a:spcPts val="0"/>
                        </a:spcAft>
                      </a:pPr>
                      <a:r>
                        <a:rPr lang="en-US" sz="800" b="0" spc="-40" dirty="0" err="1">
                          <a:solidFill>
                            <a:srgbClr val="000000"/>
                          </a:solidFill>
                          <a:effectLst/>
                          <a:latin typeface="+mj-lt"/>
                          <a:ea typeface="Noto Sans" panose="020B0502040504020204" pitchFamily="34" charset="0"/>
                          <a:cs typeface="Noto Sans" panose="020B0502040504020204" pitchFamily="34" charset="0"/>
                        </a:rPr>
                        <a:t>Tổng</a:t>
                      </a:r>
                      <a:r>
                        <a:rPr lang="en-US" sz="800" b="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tài</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sản</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altLang="ko-KR" sz="800" b="0" i="0" kern="100" spc="0" baseline="0" dirty="0">
                          <a:solidFill>
                            <a:schemeClr val="tx1"/>
                          </a:solidFill>
                          <a:effectLst/>
                          <a:latin typeface="+mj-lt"/>
                          <a:ea typeface="Noto Sans" panose="020B0502040504020204" pitchFamily="34" charset="0"/>
                          <a:cs typeface="Noto Sans" panose="020B0502040504020204" pitchFamily="34" charset="0"/>
                        </a:rPr>
                        <a:t>(</a:t>
                      </a:r>
                      <a:r>
                        <a:rPr lang="en-US" altLang="ko-KR" sz="800" b="0" i="0" kern="100" spc="0" baseline="0" dirty="0" err="1">
                          <a:solidFill>
                            <a:schemeClr val="tx1"/>
                          </a:solidFill>
                          <a:effectLst/>
                          <a:latin typeface="+mj-lt"/>
                          <a:ea typeface="Noto Sans" panose="020B0502040504020204" pitchFamily="34" charset="0"/>
                          <a:cs typeface="Noto Sans" panose="020B0502040504020204" pitchFamily="34" charset="0"/>
                        </a:rPr>
                        <a:t>tỷ</a:t>
                      </a:r>
                      <a:r>
                        <a:rPr lang="en-US" altLang="ko-KR" sz="800" b="0" i="0" kern="100" spc="0" baseline="0" dirty="0">
                          <a:solidFill>
                            <a:schemeClr val="tx1"/>
                          </a:solidFill>
                          <a:effectLst/>
                          <a:latin typeface="+mj-lt"/>
                          <a:ea typeface="Noto Sans" panose="020B0502040504020204" pitchFamily="34" charset="0"/>
                          <a:cs typeface="Noto Sans" panose="020B0502040504020204" pitchFamily="34" charset="0"/>
                        </a:rPr>
                        <a:t> </a:t>
                      </a:r>
                      <a:r>
                        <a:rPr lang="en-US" altLang="ko-KR" sz="800" b="0" i="0" kern="100" spc="0" baseline="0" dirty="0" err="1">
                          <a:solidFill>
                            <a:schemeClr val="tx1"/>
                          </a:solidFill>
                          <a:effectLst/>
                          <a:latin typeface="+mj-lt"/>
                          <a:ea typeface="Noto Sans" panose="020B0502040504020204" pitchFamily="34" charset="0"/>
                          <a:cs typeface="Noto Sans" panose="020B0502040504020204" pitchFamily="34" charset="0"/>
                        </a:rPr>
                        <a:t>đồng</a:t>
                      </a:r>
                      <a:r>
                        <a:rPr lang="en-US" altLang="ko-KR" sz="800" b="0" i="0" kern="100" spc="0" baseline="0" dirty="0">
                          <a:solidFill>
                            <a:schemeClr val="tx1"/>
                          </a:solidFill>
                          <a:effectLst/>
                          <a:latin typeface="+mj-lt"/>
                          <a:ea typeface="Noto Sans" panose="020B0502040504020204" pitchFamily="34" charset="0"/>
                          <a:cs typeface="Noto Sans" panose="020B0502040504020204" pitchFamily="34" charset="0"/>
                        </a:rPr>
                        <a:t>)</a:t>
                      </a:r>
                      <a:endParaRPr lang="en-US" sz="800" b="0" spc="-40" dirty="0">
                        <a:solidFill>
                          <a:srgbClr val="000000"/>
                        </a:solidFill>
                        <a:effectLst/>
                        <a:latin typeface="+mj-lt"/>
                        <a:ea typeface="Noto Sans" panose="020B0502040504020204" pitchFamily="34" charset="0"/>
                        <a:cs typeface="Noto Sans" panose="020B0502040504020204" pitchFamily="34" charset="0"/>
                      </a:endParaRP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674,390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748,095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917,106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1,014,328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1,130,794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1,271,286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72680368"/>
                  </a:ext>
                </a:extLst>
              </a:tr>
              <a:tr h="177870">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mj-lt"/>
                          <a:ea typeface="Noto Sans" panose="020B0502040504020204" pitchFamily="34" charset="0"/>
                          <a:cs typeface="Noto Sans" panose="020B0502040504020204" pitchFamily="34" charset="0"/>
                        </a:rPr>
                        <a:t>VCSH </a:t>
                      </a:r>
                      <a:r>
                        <a:rPr lang="en-US" altLang="ko-KR" sz="800" b="0" i="0" kern="100" spc="0" baseline="0" dirty="0">
                          <a:solidFill>
                            <a:schemeClr val="tx1"/>
                          </a:solidFill>
                          <a:effectLst/>
                          <a:latin typeface="+mj-lt"/>
                          <a:ea typeface="Noto Sans" panose="020B0502040504020204" pitchFamily="34" charset="0"/>
                          <a:cs typeface="Noto Sans" panose="020B0502040504020204" pitchFamily="34" charset="0"/>
                        </a:rPr>
                        <a:t>(</a:t>
                      </a:r>
                      <a:r>
                        <a:rPr lang="en-US" altLang="ko-KR" sz="800" b="0" i="0" kern="100" spc="0" baseline="0" dirty="0" err="1">
                          <a:solidFill>
                            <a:schemeClr val="tx1"/>
                          </a:solidFill>
                          <a:effectLst/>
                          <a:latin typeface="+mj-lt"/>
                          <a:ea typeface="Noto Sans" panose="020B0502040504020204" pitchFamily="34" charset="0"/>
                          <a:cs typeface="Noto Sans" panose="020B0502040504020204" pitchFamily="34" charset="0"/>
                        </a:rPr>
                        <a:t>tỷ</a:t>
                      </a:r>
                      <a:r>
                        <a:rPr lang="en-US" altLang="ko-KR" sz="800" b="0" i="0" kern="100" spc="0" baseline="0" dirty="0">
                          <a:solidFill>
                            <a:schemeClr val="tx1"/>
                          </a:solidFill>
                          <a:effectLst/>
                          <a:latin typeface="+mj-lt"/>
                          <a:ea typeface="Noto Sans" panose="020B0502040504020204" pitchFamily="34" charset="0"/>
                          <a:cs typeface="Noto Sans" panose="020B0502040504020204" pitchFamily="34" charset="0"/>
                        </a:rPr>
                        <a:t> </a:t>
                      </a:r>
                      <a:r>
                        <a:rPr lang="en-US" altLang="ko-KR" sz="800" b="0" i="0" kern="100" spc="0" baseline="0" dirty="0" err="1">
                          <a:solidFill>
                            <a:schemeClr val="tx1"/>
                          </a:solidFill>
                          <a:effectLst/>
                          <a:latin typeface="+mj-lt"/>
                          <a:ea typeface="Noto Sans" panose="020B0502040504020204" pitchFamily="34" charset="0"/>
                          <a:cs typeface="Noto Sans" panose="020B0502040504020204" pitchFamily="34" charset="0"/>
                        </a:rPr>
                        <a:t>đồng</a:t>
                      </a:r>
                      <a:r>
                        <a:rPr lang="en-US" altLang="ko-KR" sz="800" b="0" i="0" kern="100" spc="0" baseline="0" dirty="0">
                          <a:solidFill>
                            <a:schemeClr val="tx1"/>
                          </a:solidFill>
                          <a:effectLst/>
                          <a:latin typeface="+mj-lt"/>
                          <a:ea typeface="Noto Sans" panose="020B0502040504020204" pitchFamily="34" charset="0"/>
                          <a:cs typeface="Noto Sans" panose="020B0502040504020204" pitchFamily="34" charset="0"/>
                        </a:rPr>
                        <a:t>)</a:t>
                      </a:r>
                      <a:endParaRPr lang="en-US" sz="800" b="0" spc="-40" dirty="0">
                        <a:solidFill>
                          <a:srgbClr val="000000"/>
                        </a:solidFill>
                        <a:effectLst/>
                        <a:latin typeface="+mj-lt"/>
                        <a:ea typeface="Noto Sans" panose="020B0502040504020204" pitchFamily="34" charset="0"/>
                        <a:cs typeface="Noto Sans" panose="020B0502040504020204" pitchFamily="34" charset="0"/>
                      </a:endParaRP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45,734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54,972</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59,867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66,503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dirty="0">
                          <a:effectLst/>
                          <a:latin typeface="Noto Sans" panose="020B0502040504020204" pitchFamily="34" charset="0"/>
                        </a:rPr>
                        <a:t>78,814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93,947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58685419"/>
                  </a:ext>
                </a:extLst>
              </a:tr>
              <a:tr h="177870">
                <a:tc>
                  <a:txBody>
                    <a:bodyPr/>
                    <a:lstStyle/>
                    <a:p>
                      <a:pPr marL="0" marR="0" algn="l" latinLnBrk="1" hangingPunct="0">
                        <a:lnSpc>
                          <a:spcPts val="950"/>
                        </a:lnSpc>
                        <a:spcBef>
                          <a:spcPts val="0"/>
                        </a:spcBef>
                        <a:spcAft>
                          <a:spcPts val="0"/>
                        </a:spcAft>
                      </a:pPr>
                      <a:r>
                        <a:rPr lang="en-US" sz="800" b="0" kern="1200" spc="-40" dirty="0" err="1">
                          <a:solidFill>
                            <a:srgbClr val="000000"/>
                          </a:solidFill>
                          <a:effectLst/>
                          <a:latin typeface="+mj-lt"/>
                          <a:ea typeface="Noto Sans" panose="020B0502040504020204" pitchFamily="34" charset="0"/>
                          <a:cs typeface="Noto Sans" panose="020B0502040504020204" pitchFamily="34" charset="0"/>
                        </a:rPr>
                        <a:t>Giá</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trị</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sổ</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sách</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mj-lt"/>
                          <a:ea typeface="Noto Sans" panose="020B0502040504020204" pitchFamily="34" charset="0"/>
                          <a:cs typeface="Noto Sans" panose="020B0502040504020204" pitchFamily="34" charset="0"/>
                        </a:rPr>
                        <a:t>)</a:t>
                      </a:r>
                    </a:p>
                  </a:txBody>
                  <a:tcPr marL="9144" marR="9144"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22,199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26,683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29,059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 32,281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 38,256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 45,602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77870">
                <a:tc gridSpan="6">
                  <a:txBody>
                    <a:bodyPr/>
                    <a:lstStyle/>
                    <a:p>
                      <a:pPr marL="0" marR="0" indent="0" algn="l" defTabSz="457200" rtl="0" eaLnBrk="1" fontAlgn="auto" latinLnBrk="1" hangingPunct="0">
                        <a:lnSpc>
                          <a:spcPts val="950"/>
                        </a:lnSpc>
                        <a:spcBef>
                          <a:spcPts val="0"/>
                        </a:spcBef>
                        <a:spcAft>
                          <a:spcPts val="0"/>
                        </a:spcAft>
                        <a:buClrTx/>
                        <a:buSzTx/>
                        <a:buFontTx/>
                        <a:buNone/>
                        <a:tabLst/>
                        <a:defRPr/>
                      </a:pPr>
                      <a:r>
                        <a:rPr lang="en-US" sz="800" b="0" i="0" kern="100" spc="0" baseline="0" dirty="0" err="1">
                          <a:solidFill>
                            <a:schemeClr val="tx1"/>
                          </a:solidFill>
                          <a:effectLst/>
                          <a:latin typeface="+mj-lt"/>
                          <a:ea typeface="Noto Sans" panose="020B0502040504020204" pitchFamily="34" charset="0"/>
                          <a:cs typeface="Noto Sans" panose="020B0502040504020204" pitchFamily="34" charset="0"/>
                        </a:rPr>
                        <a:t>Nguồn</a:t>
                      </a:r>
                      <a:r>
                        <a:rPr lang="en-US" sz="800" b="0" i="0" kern="100" spc="0" baseline="0" dirty="0">
                          <a:solidFill>
                            <a:schemeClr val="tx1"/>
                          </a:solidFill>
                          <a:effectLst/>
                          <a:latin typeface="+mj-lt"/>
                          <a:ea typeface="Noto Sans" panose="020B0502040504020204" pitchFamily="34" charset="0"/>
                          <a:cs typeface="Noto Sans" panose="020B0502040504020204" pitchFamily="34" charset="0"/>
                        </a:rPr>
                        <a:t>: </a:t>
                      </a:r>
                      <a:r>
                        <a:rPr lang="en-US" sz="800" b="0" i="0" kern="100" spc="0" baseline="0" dirty="0" err="1">
                          <a:solidFill>
                            <a:schemeClr val="tx1"/>
                          </a:solidFill>
                          <a:effectLst/>
                          <a:latin typeface="+mj-lt"/>
                          <a:ea typeface="Noto Sans" panose="020B0502040504020204" pitchFamily="34" charset="0"/>
                          <a:cs typeface="Noto Sans" panose="020B0502040504020204" pitchFamily="34" charset="0"/>
                        </a:rPr>
                        <a:t>Dữ</a:t>
                      </a:r>
                      <a:r>
                        <a:rPr lang="en-US" sz="800" b="0" i="0" kern="100" spc="0" baseline="0" dirty="0">
                          <a:solidFill>
                            <a:schemeClr val="tx1"/>
                          </a:solidFill>
                          <a:effectLst/>
                          <a:latin typeface="+mj-lt"/>
                          <a:ea typeface="Noto Sans" panose="020B0502040504020204" pitchFamily="34" charset="0"/>
                          <a:cs typeface="Noto Sans" panose="020B0502040504020204" pitchFamily="34" charset="0"/>
                        </a:rPr>
                        <a:t> </a:t>
                      </a:r>
                      <a:r>
                        <a:rPr lang="en-US" sz="800" b="0" i="0" kern="100" spc="0" baseline="0" dirty="0" err="1">
                          <a:solidFill>
                            <a:schemeClr val="tx1"/>
                          </a:solidFill>
                          <a:effectLst/>
                          <a:latin typeface="+mj-lt"/>
                          <a:ea typeface="Noto Sans" panose="020B0502040504020204" pitchFamily="34" charset="0"/>
                          <a:cs typeface="Noto Sans" panose="020B0502040504020204" pitchFamily="34" charset="0"/>
                        </a:rPr>
                        <a:t>liệu</a:t>
                      </a:r>
                      <a:r>
                        <a:rPr lang="en-US" sz="800" b="0" i="0" kern="100" spc="0" baseline="0" dirty="0">
                          <a:solidFill>
                            <a:schemeClr val="tx1"/>
                          </a:solidFill>
                          <a:effectLst/>
                          <a:latin typeface="+mj-lt"/>
                          <a:ea typeface="Noto Sans" panose="020B0502040504020204" pitchFamily="34" charset="0"/>
                          <a:cs typeface="Noto Sans" panose="020B0502040504020204" pitchFamily="34" charset="0"/>
                        </a:rPr>
                        <a:t> </a:t>
                      </a:r>
                      <a:r>
                        <a:rPr lang="en-US" sz="800" b="0" i="0" kern="100" spc="0" baseline="0" dirty="0" err="1">
                          <a:solidFill>
                            <a:schemeClr val="tx1"/>
                          </a:solidFill>
                          <a:effectLst/>
                          <a:latin typeface="+mj-lt"/>
                          <a:ea typeface="Noto Sans" panose="020B0502040504020204" pitchFamily="34" charset="0"/>
                          <a:cs typeface="Noto Sans" panose="020B0502040504020204" pitchFamily="34" charset="0"/>
                        </a:rPr>
                        <a:t>công</a:t>
                      </a:r>
                      <a:r>
                        <a:rPr lang="en-US" sz="800" b="0" i="0" kern="100" spc="0" baseline="0" dirty="0">
                          <a:solidFill>
                            <a:schemeClr val="tx1"/>
                          </a:solidFill>
                          <a:effectLst/>
                          <a:latin typeface="+mj-lt"/>
                          <a:ea typeface="Noto Sans" panose="020B0502040504020204" pitchFamily="34" charset="0"/>
                          <a:cs typeface="Noto Sans" panose="020B0502040504020204" pitchFamily="34" charset="0"/>
                        </a:rPr>
                        <a:t> ty, Mirae Asset Vietnam Research</a:t>
                      </a:r>
                    </a:p>
                  </a:txBody>
                  <a:tcPr marL="9144" marR="9144"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hMerge="1">
                  <a:txBody>
                    <a:bodyPr/>
                    <a:lstStyle/>
                    <a:p>
                      <a:pPr latinLnBrk="1"/>
                      <a:endParaRPr lang="ko-KR" altLang="en-US"/>
                    </a:p>
                  </a:txBody>
                  <a:tcPr>
                    <a:lnL w="12700" cmpd="sng">
                      <a:noFill/>
                    </a:lnL>
                    <a:lnT w="12700" cmpd="sng">
                      <a:noFill/>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marL="0" marR="0" indent="0" algn="l" defTabSz="457200" rtl="0" eaLnBrk="1" fontAlgn="auto" latinLnBrk="1" hangingPunct="0">
                        <a:lnSpc>
                          <a:spcPts val="950"/>
                        </a:lnSpc>
                        <a:spcBef>
                          <a:spcPts val="0"/>
                        </a:spcBef>
                        <a:spcAft>
                          <a:spcPts val="0"/>
                        </a:spcAft>
                        <a:buClrTx/>
                        <a:buSzTx/>
                        <a:buFontTx/>
                        <a:buNone/>
                        <a:tabLst/>
                        <a:defRPr/>
                      </a:pPr>
                      <a:endParaRPr lang="en-US" sz="800" b="0" i="0" kern="100" spc="0" baseline="0" dirty="0">
                        <a:solidFill>
                          <a:schemeClr val="tx1"/>
                        </a:solidFill>
                        <a:effectLst/>
                        <a:latin typeface="+mj-lt"/>
                        <a:ea typeface="Noto Sans" panose="020B0502040504020204" pitchFamily="34" charset="0"/>
                        <a:cs typeface="Noto Sans" panose="020B0502040504020204" pitchFamily="34" charset="0"/>
                      </a:endParaRPr>
                    </a:p>
                  </a:txBody>
                  <a:tcPr marL="9144" marR="9144"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bl>
          </a:graphicData>
        </a:graphic>
      </p:graphicFrame>
      <p:sp>
        <p:nvSpPr>
          <p:cNvPr id="17" name="TextBox 16">
            <a:extLst>
              <a:ext uri="{FF2B5EF4-FFF2-40B4-BE49-F238E27FC236}">
                <a16:creationId xmlns:a16="http://schemas.microsoft.com/office/drawing/2014/main" id="{C7171360-BB16-DD37-444C-3DCEDA13B985}"/>
              </a:ext>
            </a:extLst>
          </p:cNvPr>
          <p:cNvSpPr txBox="1"/>
          <p:nvPr/>
        </p:nvSpPr>
        <p:spPr bwMode="auto">
          <a:xfrm>
            <a:off x="447930" y="872717"/>
            <a:ext cx="2106705" cy="218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rtlCol="0">
            <a:spAutoFit/>
          </a:bodyPr>
          <a:lstStyle/>
          <a:p>
            <a:pPr marL="0" marR="0" lvl="0" indent="0" algn="l" defTabSz="898525" rtl="0" eaLnBrk="0" fontAlgn="base" latinLnBrk="0" hangingPunct="0">
              <a:lnSpc>
                <a:spcPts val="2000"/>
              </a:lnSpc>
              <a:spcBef>
                <a:spcPct val="0"/>
              </a:spcBef>
              <a:spcAft>
                <a:spcPct val="50000"/>
              </a:spcAft>
              <a:buClrTx/>
              <a:buSzTx/>
              <a:buFontTx/>
              <a:buNone/>
              <a:tabLst>
                <a:tab pos="266700" algn="l"/>
                <a:tab pos="4305300" algn="r"/>
              </a:tabLst>
              <a:defRPr/>
            </a:pP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Tôn </a:t>
            </a:r>
            <a:r>
              <a:rPr kumimoji="0" lang="en-US" sz="700" b="1"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Đạt</a:t>
            </a: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0" lang="en-US" sz="700" b="1"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Quân</a:t>
            </a: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0" lang="en-US" sz="7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quan.td@miraeasset.com.vn</a:t>
            </a:r>
          </a:p>
        </p:txBody>
      </p:sp>
      <p:sp>
        <p:nvSpPr>
          <p:cNvPr id="4" name="모서리가 둥근 직사각형 8">
            <a:extLst>
              <a:ext uri="{FF2B5EF4-FFF2-40B4-BE49-F238E27FC236}">
                <a16:creationId xmlns:a16="http://schemas.microsoft.com/office/drawing/2014/main" id="{184A992F-1E7A-5127-DB56-72EBCACB5591}"/>
              </a:ext>
            </a:extLst>
          </p:cNvPr>
          <p:cNvSpPr/>
          <p:nvPr/>
        </p:nvSpPr>
        <p:spPr>
          <a:xfrm>
            <a:off x="10644562" y="296652"/>
            <a:ext cx="1097280" cy="2520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36000" rtlCol="0" anchor="ct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900" b="1" dirty="0" err="1">
                <a:solidFill>
                  <a:prstClr val="white"/>
                </a:solidFill>
                <a:latin typeface="Noto Sans" panose="020B0502040504020204" pitchFamily="34" charset="0"/>
                <a:ea typeface="Noto Sans" panose="020B0502040504020204" pitchFamily="34" charset="0"/>
                <a:cs typeface="Noto Sans" panose="020B0502040504020204" pitchFamily="34" charset="0"/>
              </a:rPr>
              <a:t>Ngân</a:t>
            </a:r>
            <a:r>
              <a:rPr kumimoji="1" lang="en-US" altLang="ko-KR" sz="900" b="1" dirty="0">
                <a:solidFill>
                  <a:prstClr val="white"/>
                </a:solidFill>
                <a:latin typeface="Noto Sans" panose="020B0502040504020204" pitchFamily="34" charset="0"/>
                <a:ea typeface="Noto Sans" panose="020B0502040504020204" pitchFamily="34" charset="0"/>
                <a:cs typeface="Noto Sans" panose="020B0502040504020204" pitchFamily="34" charset="0"/>
              </a:rPr>
              <a:t> </a:t>
            </a:r>
            <a:r>
              <a:rPr kumimoji="1" lang="en-US" altLang="ko-KR" sz="900" b="1" dirty="0" err="1">
                <a:solidFill>
                  <a:prstClr val="white"/>
                </a:solidFill>
                <a:latin typeface="Noto Sans" panose="020B0502040504020204" pitchFamily="34" charset="0"/>
                <a:ea typeface="Noto Sans" panose="020B0502040504020204" pitchFamily="34" charset="0"/>
                <a:cs typeface="Noto Sans" panose="020B0502040504020204" pitchFamily="34" charset="0"/>
              </a:rPr>
              <a:t>hàng</a:t>
            </a:r>
            <a:endParaRPr kumimoji="1" lang="ko-KR" altLang="en-US" sz="900" b="1" i="0" u="none" strike="noStrike" kern="1200" cap="none" spc="0" normalizeH="0" baseline="0" noProof="0" dirty="0">
              <a:ln>
                <a:noFill/>
              </a:ln>
              <a:solidFill>
                <a:prstClr val="white"/>
              </a:solidFill>
              <a:effectLst/>
              <a:uLnTx/>
              <a:uFillTx/>
              <a:latin typeface="Noto Sans" panose="020B0502040504020204" pitchFamily="34" charset="0"/>
              <a:ea typeface="KoPub돋움체_Pro Bold" pitchFamily="18" charset="-127"/>
              <a:cs typeface="Noto Sans" panose="020B0502040504020204" pitchFamily="34" charset="0"/>
            </a:endParaRPr>
          </a:p>
        </p:txBody>
      </p:sp>
      <p:pic>
        <p:nvPicPr>
          <p:cNvPr id="3" name="Picture 2">
            <a:extLst>
              <a:ext uri="{FF2B5EF4-FFF2-40B4-BE49-F238E27FC236}">
                <a16:creationId xmlns:a16="http://schemas.microsoft.com/office/drawing/2014/main" id="{B42DFDAB-BA43-DE40-C1C4-DCD24C19CB2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78085" y="761626"/>
            <a:ext cx="1563757" cy="252807"/>
          </a:xfrm>
          <a:prstGeom prst="rect">
            <a:avLst/>
          </a:prstGeom>
          <a:noFill/>
          <a:extLst>
            <a:ext uri="{909E8E84-426E-40DD-AFC4-6F175D3DCCD1}">
              <a14:hiddenFill xmlns:a14="http://schemas.microsoft.com/office/drawing/2010/main">
                <a:solidFill>
                  <a:srgbClr val="FFFFFF"/>
                </a:solidFill>
              </a14:hiddenFill>
            </a:ext>
          </a:extLst>
        </p:spPr>
      </p:pic>
      <p:sp>
        <p:nvSpPr>
          <p:cNvPr id="2" name="제목 44">
            <a:extLst>
              <a:ext uri="{FF2B5EF4-FFF2-40B4-BE49-F238E27FC236}">
                <a16:creationId xmlns:a16="http://schemas.microsoft.com/office/drawing/2014/main" id="{B256B368-F20F-E0D5-DDA5-F87362DD709D}"/>
              </a:ext>
            </a:extLst>
          </p:cNvPr>
          <p:cNvSpPr txBox="1">
            <a:spLocks/>
          </p:cNvSpPr>
          <p:nvPr/>
        </p:nvSpPr>
        <p:spPr bwMode="auto">
          <a:xfrm>
            <a:off x="448251" y="0"/>
            <a:ext cx="8497888" cy="648000"/>
          </a:xfrm>
          <a:prstGeom prst="rect">
            <a:avLst/>
          </a:prstGeom>
          <a:noFill/>
          <a:ln>
            <a:noFill/>
          </a:ln>
          <a:effectLst/>
        </p:spPr>
        <p:txBody>
          <a:bodyPr lIns="0" tIns="36000" rIns="0" bIns="72000" anchor="b" anchorCtr="0"/>
          <a:lstStyle>
            <a:defPPr>
              <a:defRPr lang="ko-KR"/>
            </a:defPPr>
            <a:lvl1pPr algn="l">
              <a:defRPr kumimoji="0" sz="2100">
                <a:solidFill>
                  <a:schemeClr val="tx1">
                    <a:lumMod val="85000"/>
                    <a:lumOff val="15000"/>
                  </a:schemeClr>
                </a:solidFill>
                <a:latin typeface="Noto Sans" panose="020B0502040504020204" pitchFamily="34" charset="0"/>
                <a:ea typeface="Noto Sans" panose="020B0502040504020204" pitchFamily="34" charset="0"/>
                <a:cs typeface="Noto Sans" panose="020B0502040504020204" pitchFamily="34" charset="0"/>
              </a:defRPr>
            </a:lvl1pPr>
            <a:lvl2pPr marL="742950" indent="-285750" algn="l">
              <a:defRPr>
                <a:latin typeface="맑은 고딕" pitchFamily="50" charset="-127"/>
                <a:ea typeface="맑은 고딕" pitchFamily="50" charset="-127"/>
              </a:defRPr>
            </a:lvl2pPr>
            <a:lvl3pPr marL="1141413" indent="-227013" algn="l">
              <a:defRPr>
                <a:latin typeface="맑은 고딕" pitchFamily="50" charset="-127"/>
                <a:ea typeface="맑은 고딕" pitchFamily="50" charset="-127"/>
              </a:defRPr>
            </a:lvl3pPr>
            <a:lvl4pPr marL="1600200" indent="-231775" algn="l">
              <a:defRPr>
                <a:latin typeface="맑은 고딕" pitchFamily="50" charset="-127"/>
                <a:ea typeface="맑은 고딕" pitchFamily="50" charset="-127"/>
              </a:defRPr>
            </a:lvl4pPr>
            <a:lvl5pPr marL="2055813" indent="-227013" algn="l">
              <a:defRPr>
                <a:latin typeface="맑은 고딕" pitchFamily="50" charset="-127"/>
                <a:ea typeface="맑은 고딕" pitchFamily="50" charset="-127"/>
              </a:defRPr>
            </a:lvl5pPr>
            <a:lvl6pPr marL="2513013" indent="-227013" fontAlgn="base">
              <a:spcBef>
                <a:spcPct val="0"/>
              </a:spcBef>
              <a:spcAft>
                <a:spcPct val="0"/>
              </a:spcAft>
              <a:defRPr>
                <a:latin typeface="맑은 고딕" pitchFamily="50" charset="-127"/>
                <a:ea typeface="맑은 고딕" pitchFamily="50" charset="-127"/>
              </a:defRPr>
            </a:lvl6pPr>
            <a:lvl7pPr marL="2970213" indent="-227013" fontAlgn="base">
              <a:spcBef>
                <a:spcPct val="0"/>
              </a:spcBef>
              <a:spcAft>
                <a:spcPct val="0"/>
              </a:spcAft>
              <a:defRPr>
                <a:latin typeface="맑은 고딕" pitchFamily="50" charset="-127"/>
                <a:ea typeface="맑은 고딕" pitchFamily="50" charset="-127"/>
              </a:defRPr>
            </a:lvl7pPr>
            <a:lvl8pPr marL="3427413" indent="-227013" fontAlgn="base">
              <a:spcBef>
                <a:spcPct val="0"/>
              </a:spcBef>
              <a:spcAft>
                <a:spcPct val="0"/>
              </a:spcAft>
              <a:defRPr>
                <a:latin typeface="맑은 고딕" pitchFamily="50" charset="-127"/>
                <a:ea typeface="맑은 고딕" pitchFamily="50" charset="-127"/>
              </a:defRPr>
            </a:lvl8pPr>
            <a:lvl9pPr marL="3884613" indent="-227013" fontAlgn="base">
              <a:spcBef>
                <a:spcPct val="0"/>
              </a:spcBef>
              <a:spcAft>
                <a:spcPct val="0"/>
              </a:spcAft>
              <a:defRPr>
                <a:latin typeface="맑은 고딕" pitchFamily="50" charset="-127"/>
                <a:ea typeface="맑은 고딕" pitchFamily="50"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0" lang="vi-VN" altLang="ko-KR" sz="2100" b="1" i="0" u="none" strike="noStrike" kern="1200" cap="none" spc="0" normalizeH="0" baseline="0" noProof="0" dirty="0">
                <a:ln>
                  <a:noFill/>
                </a:ln>
                <a:solidFill>
                  <a:srgbClr val="000000">
                    <a:lumMod val="85000"/>
                    <a:lumOff val="15000"/>
                  </a:srgbClr>
                </a:solidFill>
                <a:effectLst/>
                <a:uLnTx/>
                <a:uFillTx/>
                <a:latin typeface="Noto Sans" panose="020B0502040504020204" pitchFamily="34" charset="0"/>
                <a:ea typeface="Noto Sans" panose="020B0502040504020204" pitchFamily="34" charset="0"/>
                <a:cs typeface="Noto Sans" panose="020B0502040504020204" pitchFamily="34" charset="0"/>
              </a:rPr>
              <a:t>Ngân hàng TMCP Sài Gòn Thương Tín</a:t>
            </a:r>
            <a:r>
              <a:rPr kumimoji="0" lang="vi-VN" altLang="ko-KR" sz="1500" b="1" i="0" u="none" strike="noStrike" kern="1200" cap="none" spc="0" normalizeH="0" baseline="0" noProof="0" dirty="0">
                <a:ln>
                  <a:noFill/>
                </a:ln>
                <a:solidFill>
                  <a:srgbClr val="000000">
                    <a:lumMod val="85000"/>
                    <a:lumOff val="15000"/>
                  </a:srgbClr>
                </a:solidFill>
                <a:effectLst/>
                <a:uLnTx/>
                <a:uFillTx/>
                <a:latin typeface="Noto Sans" panose="020B0502040504020204" pitchFamily="34" charset="0"/>
                <a:ea typeface="Noto Sans" panose="020B0502040504020204" pitchFamily="34" charset="0"/>
                <a:cs typeface="Noto Sans" panose="020B0502040504020204" pitchFamily="34" charset="0"/>
              </a:rPr>
              <a:t> (HOSE: STB)</a:t>
            </a:r>
            <a:endParaRPr kumimoji="0" lang="en-US" altLang="ko-KR" sz="1500" b="1" i="0" u="none" strike="noStrike" kern="1200" cap="none" spc="0" normalizeH="0" baseline="0" noProof="0" dirty="0">
              <a:ln>
                <a:noFill/>
              </a:ln>
              <a:solidFill>
                <a:srgbClr val="000000">
                  <a:lumMod val="85000"/>
                  <a:lumOff val="15000"/>
                </a:srgbClr>
              </a:solidFill>
              <a:effectLst/>
              <a:uLnTx/>
              <a:uFillTx/>
              <a:latin typeface="Noto Sans" panose="020B0502040504020204" pitchFamily="34" charset="0"/>
              <a:ea typeface="Noto Sans" panose="020B0502040504020204" pitchFamily="34" charset="0"/>
              <a:cs typeface="Noto Sans" panose="020B0502040504020204" pitchFamily="34" charset="0"/>
            </a:endParaRPr>
          </a:p>
        </p:txBody>
      </p:sp>
      <p:pic>
        <p:nvPicPr>
          <p:cNvPr id="5" name="Picture 4">
            <a:extLst>
              <a:ext uri="{FF2B5EF4-FFF2-40B4-BE49-F238E27FC236}">
                <a16:creationId xmlns:a16="http://schemas.microsoft.com/office/drawing/2014/main" id="{95F78FE9-D9FF-7137-3795-8A780C19462E}"/>
              </a:ext>
            </a:extLst>
          </p:cNvPr>
          <p:cNvPicPr>
            <a:picLocks noChangeAspect="1"/>
          </p:cNvPicPr>
          <p:nvPr/>
        </p:nvPicPr>
        <p:blipFill>
          <a:blip r:embed="rId4"/>
          <a:stretch>
            <a:fillRect/>
          </a:stretch>
        </p:blipFill>
        <p:spPr>
          <a:xfrm>
            <a:off x="3097090" y="4248750"/>
            <a:ext cx="2694666" cy="2011854"/>
          </a:xfrm>
          <a:prstGeom prst="rect">
            <a:avLst/>
          </a:prstGeom>
        </p:spPr>
      </p:pic>
    </p:spTree>
    <p:extLst>
      <p:ext uri="{BB962C8B-B14F-4D97-AF65-F5344CB8AC3E}">
        <p14:creationId xmlns:p14="http://schemas.microsoft.com/office/powerpoint/2010/main" val="334482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4"/>
          <p:cNvSpPr>
            <a:spLocks noChangeArrowheads="1"/>
          </p:cNvSpPr>
          <p:nvPr/>
        </p:nvSpPr>
        <p:spPr bwMode="auto">
          <a:xfrm>
            <a:off x="448250" y="692696"/>
            <a:ext cx="6021130" cy="363538"/>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l" fontAlgn="base" latinLnBrk="1" hangingPunct="0">
              <a:lnSpc>
                <a:spcPct val="120000"/>
              </a:lnSpc>
              <a:spcBef>
                <a:spcPct val="0"/>
              </a:spcBef>
              <a:spcAft>
                <a:spcPct val="0"/>
              </a:spcAft>
              <a:tabLst>
                <a:tab pos="247650" algn="l"/>
              </a:tabLst>
            </a:pPr>
            <a:r>
              <a:rPr kumimoji="1" lang="en-US" altLang="ko-KR" sz="1200" b="1" dirty="0">
                <a:solidFill>
                  <a:srgbClr val="F58220"/>
                </a:solidFill>
                <a:latin typeface="Noto Sans" panose="020B0502040504020204" pitchFamily="34" charset="0"/>
                <a:ea typeface="나눔고딕" pitchFamily="50" charset="-127"/>
              </a:rPr>
              <a:t>Slow start to the year</a:t>
            </a:r>
          </a:p>
        </p:txBody>
      </p:sp>
      <p:graphicFrame>
        <p:nvGraphicFramePr>
          <p:cNvPr id="11" name="표 10"/>
          <p:cNvGraphicFramePr>
            <a:graphicFrameLocks noGrp="1"/>
          </p:cNvGraphicFramePr>
          <p:nvPr/>
        </p:nvGraphicFramePr>
        <p:xfrm>
          <a:off x="441632" y="5619033"/>
          <a:ext cx="2436943" cy="581760"/>
        </p:xfrm>
        <a:graphic>
          <a:graphicData uri="http://schemas.openxmlformats.org/drawingml/2006/table">
            <a:tbl>
              <a:tblPr firstRow="1" firstCol="1" bandRow="1">
                <a:tableStyleId>{5C22544A-7EE6-4342-B048-85BDC9FD1C3A}</a:tableStyleId>
              </a:tblPr>
              <a:tblGrid>
                <a:gridCol w="840598">
                  <a:extLst>
                    <a:ext uri="{9D8B030D-6E8A-4147-A177-3AD203B41FA5}">
                      <a16:colId xmlns:a16="http://schemas.microsoft.com/office/drawing/2014/main" val="20000"/>
                    </a:ext>
                  </a:extLst>
                </a:gridCol>
                <a:gridCol w="532115">
                  <a:extLst>
                    <a:ext uri="{9D8B030D-6E8A-4147-A177-3AD203B41FA5}">
                      <a16:colId xmlns:a16="http://schemas.microsoft.com/office/drawing/2014/main" val="20001"/>
                    </a:ext>
                  </a:extLst>
                </a:gridCol>
                <a:gridCol w="532115">
                  <a:extLst>
                    <a:ext uri="{9D8B030D-6E8A-4147-A177-3AD203B41FA5}">
                      <a16:colId xmlns:a16="http://schemas.microsoft.com/office/drawing/2014/main" val="20002"/>
                    </a:ext>
                  </a:extLst>
                </a:gridCol>
                <a:gridCol w="532115">
                  <a:extLst>
                    <a:ext uri="{9D8B030D-6E8A-4147-A177-3AD203B41FA5}">
                      <a16:colId xmlns:a16="http://schemas.microsoft.com/office/drawing/2014/main" val="20003"/>
                    </a:ext>
                  </a:extLst>
                </a:gridCol>
              </a:tblGrid>
              <a:tr h="99808">
                <a:tc>
                  <a:txBody>
                    <a:bodyPr/>
                    <a:lstStyle/>
                    <a:p>
                      <a:pPr marL="0" marR="38100" indent="0" algn="l" defTabSz="457200" rtl="0" eaLnBrk="1" fontAlgn="auto" latinLnBrk="1" hangingPunct="0">
                        <a:lnSpc>
                          <a:spcPct val="100000"/>
                        </a:lnSpc>
                        <a:spcBef>
                          <a:spcPts val="0"/>
                        </a:spcBef>
                        <a:spcAft>
                          <a:spcPts val="0"/>
                        </a:spcAft>
                        <a:buClrTx/>
                        <a:buSzTx/>
                        <a:buFontTx/>
                        <a:buNone/>
                        <a:tabLst/>
                        <a:defRPr/>
                      </a:pPr>
                      <a:r>
                        <a:rPr lang="en-US" sz="800" b="1"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sz="800" b="1"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1M</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6M</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12M</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pPr marL="0" algn="l" defTabSz="457200" rtl="0" eaLnBrk="1" latinLnBrk="1" hangingPunct="0">
                        <a:lnSpc>
                          <a:spcPct val="100000"/>
                        </a:lnSpc>
                        <a:spcAft>
                          <a:spcPts val="0"/>
                        </a:spcAft>
                      </a:pP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Absolute</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-2.9</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-1.1</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11.7</a:t>
                      </a:r>
                    </a:p>
                  </a:txBody>
                  <a:tcPr marL="9525" marR="9525" marT="9525"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1"/>
                  </a:ext>
                </a:extLst>
              </a:tr>
              <a:tr h="0">
                <a:tc>
                  <a:txBody>
                    <a:bodyPr/>
                    <a:lstStyle/>
                    <a:p>
                      <a:pPr marL="0" algn="l" defTabSz="457200" rtl="0" eaLnBrk="1" latinLnBrk="1" hangingPunct="0">
                        <a:lnSpc>
                          <a:spcPct val="100000"/>
                        </a:lnSpc>
                        <a:spcAft>
                          <a:spcPts val="0"/>
                        </a:spcAft>
                      </a:pP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Relative</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-14.3</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-15.3</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-39.5</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12" name="표 11"/>
          <p:cNvGraphicFramePr>
            <a:graphicFrameLocks noGrp="1"/>
          </p:cNvGraphicFramePr>
          <p:nvPr/>
        </p:nvGraphicFramePr>
        <p:xfrm>
          <a:off x="452098" y="3284467"/>
          <a:ext cx="2426476" cy="2286000"/>
        </p:xfrm>
        <a:graphic>
          <a:graphicData uri="http://schemas.openxmlformats.org/drawingml/2006/table">
            <a:tbl>
              <a:tblPr firstRow="1" firstCol="1" bandRow="1">
                <a:tableStyleId>{5C22544A-7EE6-4342-B048-85BDC9FD1C3A}</a:tableStyleId>
              </a:tblPr>
              <a:tblGrid>
                <a:gridCol w="1657236">
                  <a:extLst>
                    <a:ext uri="{9D8B030D-6E8A-4147-A177-3AD203B41FA5}">
                      <a16:colId xmlns:a16="http://schemas.microsoft.com/office/drawing/2014/main" val="20000"/>
                    </a:ext>
                  </a:extLst>
                </a:gridCol>
                <a:gridCol w="769240">
                  <a:extLst>
                    <a:ext uri="{9D8B030D-6E8A-4147-A177-3AD203B41FA5}">
                      <a16:colId xmlns:a16="http://schemas.microsoft.com/office/drawing/2014/main" val="20001"/>
                    </a:ext>
                  </a:extLst>
                </a:gridCol>
              </a:tblGrid>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NPATMI (26F, VNDbn)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T w="12700" cap="flat" cmpd="sng" algn="ctr">
                      <a:solidFill>
                        <a:schemeClr val="bg1"/>
                      </a:solidFill>
                      <a:prstDash val="solid"/>
                      <a:round/>
                      <a:headEnd type="none" w="med" len="med"/>
                      <a:tailEnd type="none" w="med" len="med"/>
                    </a:lnT>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1,971</a:t>
                      </a:r>
                    </a:p>
                  </a:txBody>
                  <a:tcPr marL="0" marR="0" marT="0"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0"/>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Market consensus (26F, VNDbn)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N/A</a:t>
                      </a:r>
                    </a:p>
                  </a:txBody>
                  <a:tcPr marL="0" marR="0" marT="0" marB="0" anchor="ctr">
                    <a:noFill/>
                  </a:tcPr>
                </a:tc>
                <a:extLst>
                  <a:ext uri="{0D108BD9-81ED-4DB2-BD59-A6C34878D82A}">
                    <a16:rowId xmlns:a16="http://schemas.microsoft.com/office/drawing/2014/main" val="10001"/>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EPS Growth (26F, %)</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173.0</a:t>
                      </a:r>
                    </a:p>
                  </a:txBody>
                  <a:tcPr marL="0" marR="0" marT="0" marB="0" anchor="ctr">
                    <a:noFill/>
                  </a:tcPr>
                </a:tc>
                <a:extLst>
                  <a:ext uri="{0D108BD9-81ED-4DB2-BD59-A6C34878D82A}">
                    <a16:rowId xmlns:a16="http://schemas.microsoft.com/office/drawing/2014/main" val="10002"/>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P/E (26F, x)</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24.3</a:t>
                      </a: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3"/>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Market cap (VNDbn)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T w="6350" cap="flat" cmpd="sng" algn="ctr">
                      <a:solidFill>
                        <a:schemeClr val="tx1">
                          <a:lumMod val="50000"/>
                          <a:lumOff val="50000"/>
                        </a:schemeClr>
                      </a:solidFill>
                      <a:prstDash val="solid"/>
                      <a:round/>
                      <a:headEnd type="none" w="med" len="med"/>
                      <a:tailEnd type="none" w="med" len="med"/>
                    </a:lnT>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40,048</a:t>
                      </a:r>
                    </a:p>
                  </a:txBody>
                  <a:tcPr marL="9525" marR="9525" marT="9525" marB="0" anchor="ctr">
                    <a:lnT w="6350" cap="flat" cmpd="sng" algn="ctr">
                      <a:solidFill>
                        <a:schemeClr val="tx1">
                          <a:lumMod val="50000"/>
                          <a:lumOff val="50000"/>
                        </a:schemeClr>
                      </a:solidFill>
                      <a:prstDash val="solid"/>
                      <a:round/>
                      <a:headEnd type="none" w="med" len="med"/>
                      <a:tailEnd type="none" w="med" len="med"/>
                    </a:lnT>
                    <a:noFill/>
                  </a:tcPr>
                </a:tc>
                <a:extLst>
                  <a:ext uri="{0D108BD9-81ED-4DB2-BD59-A6C34878D82A}">
                    <a16:rowId xmlns:a16="http://schemas.microsoft.com/office/drawing/2014/main" val="10004"/>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Shares outstanding (mn)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1,863</a:t>
                      </a:r>
                    </a:p>
                  </a:txBody>
                  <a:tcPr marL="9525" marR="9525" marT="9525" marB="0" anchor="ctr">
                    <a:noFill/>
                  </a:tcPr>
                </a:tc>
                <a:extLst>
                  <a:ext uri="{0D108BD9-81ED-4DB2-BD59-A6C34878D82A}">
                    <a16:rowId xmlns:a16="http://schemas.microsoft.com/office/drawing/2014/main" val="10005"/>
                  </a:ext>
                </a:extLst>
              </a:tr>
              <a:tr h="228600">
                <a:tc>
                  <a:txBody>
                    <a:bodyPr/>
                    <a:lstStyle/>
                    <a:p>
                      <a:pPr algn="l"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Free float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97.9</a:t>
                      </a:r>
                    </a:p>
                  </a:txBody>
                  <a:tcPr marL="9525" marR="9525" marT="9525" marB="0" anchor="ctr">
                    <a:noFill/>
                  </a:tcPr>
                </a:tc>
                <a:extLst>
                  <a:ext uri="{0D108BD9-81ED-4DB2-BD59-A6C34878D82A}">
                    <a16:rowId xmlns:a16="http://schemas.microsoft.com/office/drawing/2014/main" val="10006"/>
                  </a:ext>
                </a:extLst>
              </a:tr>
              <a:tr h="228600">
                <a:tc>
                  <a:txBody>
                    <a:bodyPr/>
                    <a:lstStyle/>
                    <a:p>
                      <a:pPr marL="0" algn="l" defTabSz="457200" rtl="0" eaLnBrk="1"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Foreign ownership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3.0</a:t>
                      </a:r>
                    </a:p>
                  </a:txBody>
                  <a:tcPr marL="9525" marR="9525" marT="9525" marB="0" anchor="ctr">
                    <a:noFill/>
                  </a:tcPr>
                </a:tc>
                <a:extLst>
                  <a:ext uri="{0D108BD9-81ED-4DB2-BD59-A6C34878D82A}">
                    <a16:rowId xmlns:a16="http://schemas.microsoft.com/office/drawing/2014/main" val="4090528875"/>
                  </a:ext>
                </a:extLst>
              </a:tr>
              <a:tr h="228600">
                <a:tc>
                  <a:txBody>
                    <a:bodyPr/>
                    <a:lstStyle/>
                    <a:p>
                      <a:pPr algn="l"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52-week low (VND)</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18,850</a:t>
                      </a:r>
                    </a:p>
                  </a:txBody>
                  <a:tcPr marL="9525" marR="9525" marT="9525" marB="0" anchor="ctr">
                    <a:noFill/>
                  </a:tcPr>
                </a:tc>
                <a:extLst>
                  <a:ext uri="{0D108BD9-81ED-4DB2-BD59-A6C34878D82A}">
                    <a16:rowId xmlns:a16="http://schemas.microsoft.com/office/drawing/2014/main" val="10007"/>
                  </a:ext>
                </a:extLst>
              </a:tr>
              <a:tr h="228600">
                <a:tc>
                  <a:txBody>
                    <a:bodyPr/>
                    <a:lstStyle/>
                    <a:p>
                      <a:pPr algn="l"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52-week high (VND)</a:t>
                      </a:r>
                    </a:p>
                  </a:txBody>
                  <a:tcPr marL="0" marR="0" marT="0" marB="0" anchor="ctr">
                    <a:lnB w="6350" cap="flat" cmpd="sng" algn="ctr">
                      <a:noFill/>
                      <a:prstDash val="solid"/>
                      <a:round/>
                      <a:headEnd type="none" w="med" len="med"/>
                      <a:tailEnd type="none" w="med" len="med"/>
                    </a:lnB>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31,650</a:t>
                      </a:r>
                    </a:p>
                  </a:txBody>
                  <a:tcPr marL="9525" marR="9525" marT="9525" marB="0" anchor="ctr">
                    <a:lnB w="6350" cap="flat" cmpd="sng" algn="ctr">
                      <a:no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graphicFrame>
        <p:nvGraphicFramePr>
          <p:cNvPr id="13" name="표 12"/>
          <p:cNvGraphicFramePr>
            <a:graphicFrameLocks noGrp="1"/>
          </p:cNvGraphicFramePr>
          <p:nvPr/>
        </p:nvGraphicFramePr>
        <p:xfrm>
          <a:off x="452099" y="1175844"/>
          <a:ext cx="2426476" cy="2037132"/>
        </p:xfrm>
        <a:graphic>
          <a:graphicData uri="http://schemas.openxmlformats.org/drawingml/2006/table">
            <a:tbl>
              <a:tblPr firstRow="1" firstCol="1" bandRow="1">
                <a:tableStyleId>{5C22544A-7EE6-4342-B048-85BDC9FD1C3A}</a:tableStyleId>
              </a:tblPr>
              <a:tblGrid>
                <a:gridCol w="1324828">
                  <a:extLst>
                    <a:ext uri="{9D8B030D-6E8A-4147-A177-3AD203B41FA5}">
                      <a16:colId xmlns:a16="http://schemas.microsoft.com/office/drawing/2014/main" val="20000"/>
                    </a:ext>
                  </a:extLst>
                </a:gridCol>
                <a:gridCol w="1101648">
                  <a:extLst>
                    <a:ext uri="{9D8B030D-6E8A-4147-A177-3AD203B41FA5}">
                      <a16:colId xmlns:a16="http://schemas.microsoft.com/office/drawing/2014/main" val="20001"/>
                    </a:ext>
                  </a:extLst>
                </a:gridCol>
              </a:tblGrid>
              <a:tr h="509283">
                <a:tc>
                  <a:txBody>
                    <a:bodyPr/>
                    <a:lstStyle/>
                    <a:p>
                      <a:pPr marL="0" algn="l" defTabSz="457200" rtl="0" eaLnBrk="1" latinLnBrk="1" hangingPunct="1">
                        <a:lnSpc>
                          <a:spcPts val="1200"/>
                        </a:lnSpc>
                        <a:spcAft>
                          <a:spcPts val="0"/>
                        </a:spcAft>
                      </a:pPr>
                      <a:r>
                        <a:rPr lang="en-US" sz="900" b="1" kern="1200" spc="0" baseline="0" dirty="0">
                          <a:solidFill>
                            <a:schemeClr val="tx1"/>
                          </a:solidFill>
                          <a:effectLst/>
                          <a:latin typeface="+mj-lt"/>
                          <a:ea typeface="Noto Sans" panose="020B0502040504020204" pitchFamily="34" charset="0"/>
                          <a:cs typeface="Noto Sans" panose="020B0502040504020204" pitchFamily="34" charset="0"/>
                        </a:rPr>
                        <a:t>(Update</a:t>
                      </a:r>
                      <a:r>
                        <a:rPr lang="en-US" altLang="ko-KR" sz="900" b="1" kern="1200" spc="0" baseline="0" dirty="0">
                          <a:solidFill>
                            <a:schemeClr val="tx1"/>
                          </a:solidFill>
                          <a:effectLst/>
                          <a:latin typeface="+mj-lt"/>
                          <a:ea typeface="Noto Sans" panose="020B0502040504020204" pitchFamily="34" charset="0"/>
                          <a:cs typeface="Noto Sans" panose="020B0502040504020204" pitchFamily="34" charset="0"/>
                        </a:rPr>
                        <a:t>)</a:t>
                      </a:r>
                      <a:endParaRPr lang="ko-KR" sz="900" b="1" kern="1200" spc="0" baseline="0" dirty="0">
                        <a:solidFill>
                          <a:schemeClr val="tx1"/>
                        </a:solidFill>
                        <a:effectLst/>
                        <a:latin typeface="+mj-lt"/>
                        <a:ea typeface="KoPub돋움체_Pro Bold" panose="02020603020101020101" pitchFamily="18" charset="-127"/>
                        <a:cs typeface="Noto Sans" panose="020B0502040504020204" pitchFamily="34" charset="0"/>
                      </a:endParaRPr>
                    </a:p>
                  </a:txBody>
                  <a:tcPr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1" kern="100" spc="0" baseline="0" dirty="0">
                          <a:solidFill>
                            <a:schemeClr val="tx1"/>
                          </a:solidFill>
                          <a:effectLst/>
                          <a:latin typeface="+mj-lt"/>
                          <a:ea typeface="Noto Sans" panose="020B0502040504020204" pitchFamily="34" charset="0"/>
                          <a:cs typeface="Noto Sans" panose="020B0502040504020204" pitchFamily="34" charset="0"/>
                        </a:rPr>
                        <a:t>HOLD</a:t>
                      </a:r>
                      <a:endParaRPr lang="ko-KR" sz="900" b="1" kern="100" spc="0" baseline="0" dirty="0">
                        <a:solidFill>
                          <a:schemeClr val="tx1"/>
                        </a:solidFill>
                        <a:effectLst/>
                        <a:latin typeface="+mj-lt"/>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509283">
                <a:tc>
                  <a:txBody>
                    <a:bodyPr/>
                    <a:lstStyle/>
                    <a:p>
                      <a:pPr marL="0" algn="l" defTabSz="457200" rtl="0" eaLnBrk="1" latinLnBrk="1" hangingPunct="1">
                        <a:lnSpc>
                          <a:spcPts val="1200"/>
                        </a:lnSpc>
                        <a:spcAft>
                          <a:spcPts val="0"/>
                        </a:spcAft>
                      </a:pPr>
                      <a:r>
                        <a:rPr lang="en-US" altLang="ko-KR" sz="900" b="1" kern="1200" spc="0" baseline="0" dirty="0">
                          <a:solidFill>
                            <a:schemeClr val="tx1"/>
                          </a:solidFill>
                          <a:effectLst/>
                          <a:latin typeface="+mj-lt"/>
                          <a:ea typeface="Noto Sans" panose="020B0502040504020204" pitchFamily="34" charset="0"/>
                          <a:cs typeface="Noto Sans" panose="020B0502040504020204" pitchFamily="34" charset="0"/>
                        </a:rPr>
                        <a:t>Target price </a:t>
                      </a:r>
                    </a:p>
                    <a:p>
                      <a:pPr marL="0" algn="l" defTabSz="457200" rtl="0" eaLnBrk="1" latinLnBrk="1" hangingPunct="1">
                        <a:lnSpc>
                          <a:spcPts val="1200"/>
                        </a:lnSpc>
                        <a:spcAft>
                          <a:spcPts val="0"/>
                        </a:spcAft>
                      </a:pPr>
                      <a:r>
                        <a:rPr lang="en-US" altLang="ko-KR" sz="900" b="1" kern="1200" spc="0" baseline="0" dirty="0">
                          <a:solidFill>
                            <a:schemeClr val="tx1"/>
                          </a:solidFill>
                          <a:effectLst/>
                          <a:latin typeface="+mj-lt"/>
                          <a:ea typeface="Noto Sans" panose="020B0502040504020204" pitchFamily="34" charset="0"/>
                          <a:cs typeface="Noto Sans" panose="020B0502040504020204" pitchFamily="34" charset="0"/>
                        </a:rPr>
                        <a:t>(VND, 12M)</a:t>
                      </a:r>
                      <a:endParaRPr lang="ko-KR" altLang="ko-KR" sz="900" b="1" kern="1200" spc="0" baseline="0" dirty="0">
                        <a:solidFill>
                          <a:schemeClr val="tx1"/>
                        </a:solidFill>
                        <a:effectLst/>
                        <a:latin typeface="+mj-lt"/>
                        <a:ea typeface="KoPub돋움체_Pro Bold" panose="02020603020101020101" pitchFamily="18" charset="-127"/>
                        <a:cs typeface="Noto Sans" panose="020B0502040504020204" pitchFamily="34" charset="0"/>
                      </a:endParaRPr>
                    </a:p>
                  </a:txBody>
                  <a:tcPr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lvl="0" indent="0" algn="r" defTabSz="457200" rtl="0" eaLnBrk="1" fontAlgn="auto" latinLnBrk="1" hangingPunct="0">
                        <a:lnSpc>
                          <a:spcPts val="1200"/>
                        </a:lnSpc>
                        <a:spcBef>
                          <a:spcPts val="0"/>
                        </a:spcBef>
                        <a:spcAft>
                          <a:spcPts val="0"/>
                        </a:spcAft>
                        <a:buClrTx/>
                        <a:buSzTx/>
                        <a:buFontTx/>
                        <a:buNone/>
                        <a:tabLst/>
                        <a:defRPr/>
                      </a:pPr>
                      <a:r>
                        <a:rPr lang="en-US" sz="900" b="1" kern="100" spc="0" baseline="0" dirty="0">
                          <a:solidFill>
                            <a:schemeClr val="tx1"/>
                          </a:solidFill>
                          <a:effectLst/>
                          <a:latin typeface="+mj-lt"/>
                          <a:ea typeface="Noto Sans" panose="020B0502040504020204" pitchFamily="34" charset="0"/>
                          <a:cs typeface="Noto Sans" panose="020B0502040504020204" pitchFamily="34" charset="0"/>
                        </a:rPr>
                        <a:t>23,400</a:t>
                      </a:r>
                      <a:endParaRPr lang="ko-KR" altLang="en-US" sz="900" b="1" kern="100" spc="0" baseline="0" dirty="0">
                        <a:solidFill>
                          <a:schemeClr val="tx1"/>
                        </a:solidFill>
                        <a:effectLst/>
                        <a:latin typeface="+mj-lt"/>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1"/>
                  </a:ext>
                </a:extLst>
              </a:tr>
              <a:tr h="509283">
                <a:tc>
                  <a:txBody>
                    <a:bodyPr/>
                    <a:lstStyle/>
                    <a:p>
                      <a:pPr marL="0" algn="l" defTabSz="457200" rtl="0" eaLnBrk="1" latinLnBrk="1" hangingPunct="1">
                        <a:lnSpc>
                          <a:spcPts val="1200"/>
                        </a:lnSpc>
                        <a:spcAft>
                          <a:spcPts val="0"/>
                        </a:spcAft>
                      </a:pPr>
                      <a:r>
                        <a:rPr lang="en-US" altLang="ko-KR" sz="900" b="0" kern="1200" spc="0" baseline="0" dirty="0">
                          <a:solidFill>
                            <a:schemeClr val="tx1"/>
                          </a:solidFill>
                          <a:effectLst/>
                          <a:latin typeface="+mj-lt"/>
                          <a:ea typeface="Noto Sans" panose="020B0502040504020204" pitchFamily="34" charset="0"/>
                          <a:cs typeface="Noto Sans" panose="020B0502040504020204" pitchFamily="34" charset="0"/>
                        </a:rPr>
                        <a:t>Current price </a:t>
                      </a:r>
                    </a:p>
                    <a:p>
                      <a:pPr marL="0" marR="0" lvl="0" indent="0" algn="l" defTabSz="457200" rtl="0" eaLnBrk="1" fontAlgn="auto" latinLnBrk="1" hangingPunct="1">
                        <a:lnSpc>
                          <a:spcPts val="1200"/>
                        </a:lnSpc>
                        <a:spcBef>
                          <a:spcPts val="0"/>
                        </a:spcBef>
                        <a:spcAft>
                          <a:spcPts val="0"/>
                        </a:spcAft>
                        <a:buClrTx/>
                        <a:buSzTx/>
                        <a:buFontTx/>
                        <a:buNone/>
                        <a:tabLst/>
                        <a:defRPr/>
                      </a:pPr>
                      <a:r>
                        <a:rPr lang="en-US" altLang="ko-KR" sz="900" b="0" kern="1200" spc="0" baseline="0" dirty="0">
                          <a:solidFill>
                            <a:schemeClr val="tx1"/>
                          </a:solidFill>
                          <a:effectLst/>
                          <a:latin typeface="+mj-lt"/>
                          <a:ea typeface="Noto Sans" panose="020B0502040504020204" pitchFamily="34" charset="0"/>
                          <a:cs typeface="Noto Sans" panose="020B0502040504020204" pitchFamily="34" charset="0"/>
                        </a:rPr>
                        <a:t>(05/06/26)</a:t>
                      </a:r>
                      <a:endParaRPr lang="ko-KR" altLang="ko-KR" sz="900" b="0" kern="1200" spc="0" baseline="0" dirty="0">
                        <a:solidFill>
                          <a:schemeClr val="tx1"/>
                        </a:solidFill>
                        <a:effectLst/>
                        <a:latin typeface="+mj-lt"/>
                        <a:ea typeface="KoPub돋움체_Pro Medium" panose="02020603020101020101" pitchFamily="18" charset="-127"/>
                        <a:cs typeface="Noto Sans" panose="020B0502040504020204" pitchFamily="34" charset="0"/>
                      </a:endParaRPr>
                    </a:p>
                  </a:txBody>
                  <a:tcPr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0" kern="100" spc="0" baseline="0" dirty="0">
                          <a:solidFill>
                            <a:schemeClr val="tx1"/>
                          </a:solidFill>
                          <a:effectLst/>
                          <a:latin typeface="+mj-lt"/>
                          <a:ea typeface="KoPub돋움체_Pro Medium" pitchFamily="18" charset="-127"/>
                          <a:cs typeface="Noto Sans" panose="020B0502040504020204" pitchFamily="34" charset="0"/>
                        </a:rPr>
                        <a:t>21,550</a:t>
                      </a:r>
                      <a:endParaRPr lang="ko-KR" sz="900" b="0" kern="100" spc="0" baseline="0" dirty="0">
                        <a:solidFill>
                          <a:schemeClr val="tx1"/>
                        </a:solidFill>
                        <a:effectLst/>
                        <a:latin typeface="+mj-lt"/>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2"/>
                  </a:ext>
                </a:extLst>
              </a:tr>
              <a:tr h="509283">
                <a:tc>
                  <a:txBody>
                    <a:bodyPr/>
                    <a:lstStyle/>
                    <a:p>
                      <a:pPr marL="0" algn="l" defTabSz="457200" rtl="0" eaLnBrk="1" latinLnBrk="1" hangingPunct="1">
                        <a:lnSpc>
                          <a:spcPts val="1200"/>
                        </a:lnSpc>
                        <a:spcAft>
                          <a:spcPts val="0"/>
                        </a:spcAft>
                      </a:pPr>
                      <a:r>
                        <a:rPr lang="en-US" altLang="ko-KR" sz="900" b="0" kern="1200" spc="0" baseline="0" dirty="0">
                          <a:solidFill>
                            <a:schemeClr val="tx1"/>
                          </a:solidFill>
                          <a:effectLst/>
                          <a:latin typeface="+mj-lt"/>
                          <a:ea typeface="Noto Sans" panose="020B0502040504020204" pitchFamily="34" charset="0"/>
                          <a:cs typeface="Noto Sans" panose="020B0502040504020204" pitchFamily="34" charset="0"/>
                        </a:rPr>
                        <a:t>Expected return</a:t>
                      </a:r>
                      <a:endParaRPr lang="ko-KR" sz="900" b="0" kern="1200" spc="0" baseline="0" dirty="0">
                        <a:solidFill>
                          <a:schemeClr val="tx1"/>
                        </a:solidFill>
                        <a:effectLst/>
                        <a:latin typeface="+mj-lt"/>
                        <a:ea typeface="KoPub돋움체_Pro Medium" pitchFamily="18" charset="-127"/>
                        <a:cs typeface="Noto Sans" panose="020B0502040504020204" pitchFamily="34" charset="0"/>
                      </a:endParaRPr>
                    </a:p>
                  </a:txBody>
                  <a:tcPr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0" kern="100" spc="0" baseline="0" dirty="0">
                          <a:solidFill>
                            <a:schemeClr val="tx1"/>
                          </a:solidFill>
                          <a:effectLst/>
                          <a:latin typeface="+mj-lt"/>
                          <a:ea typeface="KoPub돋움체_Pro Medium" pitchFamily="18" charset="-127"/>
                          <a:cs typeface="Noto Sans" panose="020B0502040504020204" pitchFamily="34" charset="0"/>
                        </a:rPr>
                        <a:t>9%</a:t>
                      </a:r>
                      <a:endParaRPr lang="ko-KR" altLang="en-US" sz="900" b="0" kern="100" spc="0" baseline="0" dirty="0">
                        <a:solidFill>
                          <a:schemeClr val="tx1"/>
                        </a:solidFill>
                        <a:effectLst/>
                        <a:latin typeface="+mj-lt"/>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4"/>
                  </a:ext>
                </a:extLst>
              </a:tr>
            </a:tbl>
          </a:graphicData>
        </a:graphic>
      </p:graphicFrame>
      <p:sp>
        <p:nvSpPr>
          <p:cNvPr id="15" name="Rectangle 15">
            <a:extLst>
              <a:ext uri="{FF2B5EF4-FFF2-40B4-BE49-F238E27FC236}">
                <a16:creationId xmlns:a16="http://schemas.microsoft.com/office/drawing/2014/main" id="{7F35B422-7E3A-4069-B466-AC6A262FB4A7}"/>
              </a:ext>
            </a:extLst>
          </p:cNvPr>
          <p:cNvSpPr>
            <a:spLocks noChangeArrowheads="1"/>
          </p:cNvSpPr>
          <p:nvPr/>
        </p:nvSpPr>
        <p:spPr bwMode="auto">
          <a:xfrm>
            <a:off x="3135750" y="1130779"/>
            <a:ext cx="8593283" cy="3054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36000" rIns="0" bIns="0"/>
          <a:lstStyle/>
          <a:p>
            <a:pPr algn="just" fontAlgn="ctr">
              <a:lnSpc>
                <a:spcPts val="1200"/>
              </a:lnSpc>
              <a:spcBef>
                <a:spcPct val="0"/>
              </a:spcBef>
              <a:spcAft>
                <a:spcPts val="600"/>
              </a:spcAft>
              <a:buSzPct val="130000"/>
              <a:defRPr/>
            </a:pP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Investment points</a:t>
            </a:r>
          </a:p>
          <a:p>
            <a:pPr algn="just" fontAlgn="ctr">
              <a:lnSpc>
                <a:spcPts val="1200"/>
              </a:lnSpc>
              <a:spcBef>
                <a:spcPct val="0"/>
              </a:spcBef>
              <a:spcAft>
                <a:spcPts val="600"/>
              </a:spcAft>
              <a:buSzPct val="130000"/>
              <a:defRPr/>
            </a:pP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2Q26 preview: </a:t>
            </a:r>
            <a:r>
              <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EIB has yet to release official 2Q26 financial statements. MBS Research forecasts 2Q26 PBT of ~VND 387bn (-41% YoY; NPAT ~VND 309bn), implying 1H26 PBT of ~VND 725bn (≈-51% YoY) — ~48% of the revised FY26 plan (VND 1,515bn) and ~29% of our FY26F (VND 2,464bn), consistent with our view that the recovery is skewed toward 2H. The projected decline reflects continued NIM compression — funding-cost pressure from the structurally higher share of valuable papers in IBL (9.1% at 1Q26) — a still-muted recovery in non-interest income, and elevated provisioning after the NPL ratio crossed 3% in 1Q26 (3.07%; Group 2 +33% QoQ; LLR 38%). Recall 1Q26: PBT VND 338bn (-59% YoY), TOI VND 1,528bn (-15.5% YoY), CIR 57%, PPOP VND 657bn (-31% YoY).</a:t>
            </a:r>
            <a:endPar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a:p>
            <a:pPr algn="just" fontAlgn="ctr">
              <a:lnSpc>
                <a:spcPts val="1200"/>
              </a:lnSpc>
              <a:spcBef>
                <a:spcPct val="0"/>
              </a:spcBef>
              <a:spcAft>
                <a:spcPts val="600"/>
              </a:spcAft>
              <a:buSzPct val="130000"/>
              <a:defRPr/>
            </a:pPr>
            <a:r>
              <a:rPr kumimoji="1" lang="en-US" altLang="ko-KR" sz="800"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Eximbank</a:t>
            </a: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revises its plan: </a:t>
            </a:r>
            <a:r>
              <a:rPr kumimoji="1" lang="en-US" altLang="ko-KR" sz="800"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Eximbank</a:t>
            </a:r>
            <a:r>
              <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 has sharply cut its 2026 PBT plan to VND 1,515bn (-63% versus the original plan of VND 4,066bn), while continuing to submit a no-dividend proposal to the AGM in order to strengthen its capital base. The bank targets total assets of VND 310tn (+13.4% YoY), with customer deposits and credit of VND 232.6tn (+17.8% YoY) and VND 228.4tn (+16.5% YoY), respectively. Management aims to bring the NPL ratio down from 2.86% (end-2025) to below 2.5% by end-2026.</a:t>
            </a:r>
            <a:endPar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a:p>
            <a:pPr algn="just" fontAlgn="ctr">
              <a:lnSpc>
                <a:spcPts val="1200"/>
              </a:lnSpc>
              <a:spcBef>
                <a:spcPct val="0"/>
              </a:spcBef>
              <a:spcAft>
                <a:spcPts val="600"/>
              </a:spcAft>
              <a:buSzPct val="130000"/>
              <a:defRPr/>
            </a:pP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Our projection: </a:t>
            </a:r>
            <a:r>
              <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We cut our FY26F PBT forecast to VND 2,464bn (+63% YoY) from VND 3,530bn previously, while lowering our credit-growth assumption from +16% to +14.5%. First, NII growth is reduced from +25.4% to +13.8% to reflect funding costs that are hard to cool down, as the structural shift toward valuable papers is now structural in nature, slowing the NIM recovery path through 2H. Second, provisioning expense is raised to VND 2,101bn (+37.6% YoY) to reflect the asset quality formed in Q1/2026, with Group 2 debt +33% QoQ signaling that credit costs will stay elevated in 2H. The recovery momentum in fee income (+163% YoY to VND 633bn) and the normalization of CIR to 49% are kept unchanged; however, we note that both components are skewed toward 2H. The CIR assumption is based on the expectation that earlier technology investments begin to bear fruit, but it will still depend on an income recovery rather than cost discipline. Our adjusted PBT is VND 949bn higher than management's revised plan (VND 1,515bn) but lower than the original plan of VND 4,066bn.</a:t>
            </a:r>
          </a:p>
          <a:p>
            <a:pPr algn="just" fontAlgn="ctr">
              <a:lnSpc>
                <a:spcPts val="1200"/>
              </a:lnSpc>
              <a:spcBef>
                <a:spcPct val="0"/>
              </a:spcBef>
              <a:spcAft>
                <a:spcPts val="600"/>
              </a:spcAft>
              <a:buSzPct val="130000"/>
              <a:defRPr/>
            </a:pPr>
            <a:endPar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p:txBody>
      </p:sp>
      <p:graphicFrame>
        <p:nvGraphicFramePr>
          <p:cNvPr id="16" name="표 14">
            <a:extLst>
              <a:ext uri="{FF2B5EF4-FFF2-40B4-BE49-F238E27FC236}">
                <a16:creationId xmlns:a16="http://schemas.microsoft.com/office/drawing/2014/main" id="{C861129E-156C-495D-9183-2BF9CC07152A}"/>
              </a:ext>
            </a:extLst>
          </p:cNvPr>
          <p:cNvGraphicFramePr>
            <a:graphicFrameLocks noGrp="1"/>
          </p:cNvGraphicFramePr>
          <p:nvPr/>
        </p:nvGraphicFramePr>
        <p:xfrm>
          <a:off x="6010273" y="4182363"/>
          <a:ext cx="5729627" cy="2258568"/>
        </p:xfrm>
        <a:graphic>
          <a:graphicData uri="http://schemas.openxmlformats.org/drawingml/2006/table">
            <a:tbl>
              <a:tblPr firstRow="1" firstCol="1" bandRow="1">
                <a:tableStyleId>{5C22544A-7EE6-4342-B048-85BDC9FD1C3A}</a:tableStyleId>
              </a:tblPr>
              <a:tblGrid>
                <a:gridCol w="1385951">
                  <a:extLst>
                    <a:ext uri="{9D8B030D-6E8A-4147-A177-3AD203B41FA5}">
                      <a16:colId xmlns:a16="http://schemas.microsoft.com/office/drawing/2014/main" val="20000"/>
                    </a:ext>
                  </a:extLst>
                </a:gridCol>
                <a:gridCol w="747166">
                  <a:extLst>
                    <a:ext uri="{9D8B030D-6E8A-4147-A177-3AD203B41FA5}">
                      <a16:colId xmlns:a16="http://schemas.microsoft.com/office/drawing/2014/main" val="20001"/>
                    </a:ext>
                  </a:extLst>
                </a:gridCol>
                <a:gridCol w="719302">
                  <a:extLst>
                    <a:ext uri="{9D8B030D-6E8A-4147-A177-3AD203B41FA5}">
                      <a16:colId xmlns:a16="http://schemas.microsoft.com/office/drawing/2014/main" val="20002"/>
                    </a:ext>
                  </a:extLst>
                </a:gridCol>
                <a:gridCol w="719302">
                  <a:extLst>
                    <a:ext uri="{9D8B030D-6E8A-4147-A177-3AD203B41FA5}">
                      <a16:colId xmlns:a16="http://schemas.microsoft.com/office/drawing/2014/main" val="20003"/>
                    </a:ext>
                  </a:extLst>
                </a:gridCol>
                <a:gridCol w="719302">
                  <a:extLst>
                    <a:ext uri="{9D8B030D-6E8A-4147-A177-3AD203B41FA5}">
                      <a16:colId xmlns:a16="http://schemas.microsoft.com/office/drawing/2014/main" val="20004"/>
                    </a:ext>
                  </a:extLst>
                </a:gridCol>
                <a:gridCol w="719302">
                  <a:extLst>
                    <a:ext uri="{9D8B030D-6E8A-4147-A177-3AD203B41FA5}">
                      <a16:colId xmlns:a16="http://schemas.microsoft.com/office/drawing/2014/main" val="20005"/>
                    </a:ext>
                  </a:extLst>
                </a:gridCol>
                <a:gridCol w="719302">
                  <a:extLst>
                    <a:ext uri="{9D8B030D-6E8A-4147-A177-3AD203B41FA5}">
                      <a16:colId xmlns:a16="http://schemas.microsoft.com/office/drawing/2014/main" val="20006"/>
                    </a:ext>
                  </a:extLst>
                </a:gridCol>
              </a:tblGrid>
              <a:tr h="173736">
                <a:tc>
                  <a:txBody>
                    <a:bodyPr/>
                    <a:lstStyle/>
                    <a:p>
                      <a:pPr marL="0" algn="l" defTabSz="457200" rtl="0" eaLnBrk="1" latinLnBrk="1" hangingPunct="0">
                        <a:lnSpc>
                          <a:spcPct val="100000"/>
                        </a:lnSpc>
                        <a:spcAft>
                          <a:spcPts val="0"/>
                        </a:spcAft>
                      </a:pPr>
                      <a:r>
                        <a:rPr lang="en-US" altLang="ko-KR" sz="800" b="1" i="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FY (31/12)</a:t>
                      </a:r>
                      <a:endParaRPr lang="ko-KR" sz="800" b="1" i="0"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FY23</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FY24</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FY25</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FY26F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r>
                        <a:rPr lang="en-US" sz="800" b="1" i="0" u="none" strike="noStrike" dirty="0">
                          <a:solidFill>
                            <a:srgbClr val="000000"/>
                          </a:solidFill>
                          <a:effectLst/>
                          <a:latin typeface="Noto Sans" panose="020B0502040504020204" pitchFamily="34" charset="0"/>
                        </a:rPr>
                        <a:t>FY27F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FY28F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73736">
                <a:tc>
                  <a:txBody>
                    <a:bodyPr/>
                    <a:lstStyle/>
                    <a:p>
                      <a:pPr marL="0" marR="0" lvl="0" indent="0" algn="l" defTabSz="457200" rtl="0" eaLnBrk="1" fontAlgn="auto" latinLnBrk="1" hangingPunct="0">
                        <a:lnSpc>
                          <a:spcPts val="950"/>
                        </a:lnSpc>
                        <a:spcBef>
                          <a:spcPts val="0"/>
                        </a:spcBef>
                        <a:spcAft>
                          <a:spcPts val="0"/>
                        </a:spcAft>
                        <a:buClrTx/>
                        <a:buSzTx/>
                        <a:buFontTx/>
                        <a:buNone/>
                        <a:tabLst/>
                        <a:defRPr/>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Net interest income </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(VNDbn)</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        4,597 </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        5,924 </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         5,980 </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        6,805 </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        8,296 </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      10,002 </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73736">
                <a:tc>
                  <a:txBody>
                    <a:bodyPr/>
                    <a:lstStyle/>
                    <a:p>
                      <a:pPr marL="0" marR="4191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Net non-interest inc. (VNDbn)</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750" b="0" i="0" u="none" strike="noStrike">
                          <a:effectLst/>
                          <a:latin typeface="Noto Sans" panose="020B0502040504020204" pitchFamily="34" charset="0"/>
                        </a:rPr>
                        <a:t> 1,958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750" b="0" i="0" u="none" strike="noStrike">
                          <a:effectLst/>
                          <a:latin typeface="Noto Sans" panose="020B0502040504020204" pitchFamily="34" charset="0"/>
                        </a:rPr>
                        <a:t> 2,634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750" b="0" i="0" u="none" strike="noStrike">
                          <a:effectLst/>
                          <a:latin typeface="Noto Sans" panose="020B0502040504020204" pitchFamily="34" charset="0"/>
                        </a:rPr>
                        <a:t> 1,312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750" b="0" i="0" u="none" strike="noStrike">
                          <a:effectLst/>
                          <a:latin typeface="Noto Sans" panose="020B0502040504020204" pitchFamily="34" charset="0"/>
                        </a:rPr>
                        <a:t> 2,145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750" b="0" i="0" u="none" strike="noStrike">
                          <a:effectLst/>
                          <a:latin typeface="Noto Sans" panose="020B0502040504020204" pitchFamily="34" charset="0"/>
                        </a:rPr>
                        <a:t> 2,793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750" b="0" i="0" u="none" strike="noStrike">
                          <a:effectLst/>
                          <a:latin typeface="Noto Sans" panose="020B0502040504020204" pitchFamily="34" charset="0"/>
                        </a:rPr>
                        <a:t> 2,668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73736">
                <a:tc>
                  <a:txBody>
                    <a:bodyPr/>
                    <a:lstStyle/>
                    <a:p>
                      <a:pPr marL="0" marR="4191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Operating profit (VNDbn)</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2,720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4,188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1,512</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2,464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3,867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5,264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Net Profit (VNDbn)</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2,165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3,326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1,137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1,971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3,094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4,211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39360553"/>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EPS (VND)</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1,233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1,771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605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1,049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1,647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2,242</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ROE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10.1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14.0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4.4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7.3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10.5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12.7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P/E (x)</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20.7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14.4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42.1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24.3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15.5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11.4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P/B (x)</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Total assets (VNDbn)</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201,417</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239,768</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273,270</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307,544</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348,334</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398,004</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73736">
                <a:tc>
                  <a:txBody>
                    <a:bodyPr/>
                    <a:lstStyle/>
                    <a:p>
                      <a:pPr marL="0" marR="0" lvl="0" indent="0" algn="l" defTabSz="457200" rtl="0" eaLnBrk="1" fontAlgn="auto" latinLnBrk="1" hangingPunct="0">
                        <a:lnSpc>
                          <a:spcPts val="950"/>
                        </a:lnSpc>
                        <a:spcBef>
                          <a:spcPts val="0"/>
                        </a:spcBef>
                        <a:spcAft>
                          <a:spcPts val="0"/>
                        </a:spcAft>
                        <a:buClrTx/>
                        <a:buSzTx/>
                        <a:buFontTx/>
                        <a:buNone/>
                        <a:tabLst/>
                        <a:defRPr/>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Equity (VNDbn)</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22,445</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25,099</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26,006</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27,977</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31,071</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35,282</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5519379"/>
                  </a:ext>
                </a:extLst>
              </a:tr>
              <a:tr h="173736">
                <a:tc>
                  <a:txBody>
                    <a:bodyPr/>
                    <a:lstStyle/>
                    <a:p>
                      <a:pPr marL="0" marR="0" algn="l" latinLnBrk="1" hangingPunct="0">
                        <a:lnSpc>
                          <a:spcPts val="950"/>
                        </a:lnSpc>
                        <a:spcBef>
                          <a:spcPts val="0"/>
                        </a:spcBef>
                        <a:spcAft>
                          <a:spcPts val="0"/>
                        </a:spcAft>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BVPS (VND)</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12,780</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13,364</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13,847</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14,896</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16,543</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dirty="0">
                          <a:solidFill>
                            <a:srgbClr val="000000"/>
                          </a:solidFill>
                          <a:effectLst/>
                          <a:latin typeface="Noto Sans" panose="020B0502040504020204" pitchFamily="34" charset="0"/>
                        </a:rPr>
                        <a:t>18,786</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36674412"/>
                  </a:ext>
                </a:extLst>
              </a:tr>
              <a:tr h="173736">
                <a:tc gridSpan="7">
                  <a:txBody>
                    <a:bodyPr/>
                    <a:lstStyle/>
                    <a:p>
                      <a:pPr marL="0" marR="0" indent="0" algn="l" defTabSz="457200" rtl="0" eaLnBrk="1" fontAlgn="auto" latinLnBrk="1" hangingPunct="0">
                        <a:lnSpc>
                          <a:spcPts val="950"/>
                        </a:lnSpc>
                        <a:spcBef>
                          <a:spcPts val="0"/>
                        </a:spcBef>
                        <a:spcAft>
                          <a:spcPts val="0"/>
                        </a:spcAft>
                        <a:buClrTx/>
                        <a:buSzTx/>
                        <a:buFontTx/>
                        <a:buNone/>
                        <a:tabLst/>
                        <a:defRPr/>
                      </a:pPr>
                      <a:r>
                        <a:rPr lang="en-US" sz="800" b="0" i="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Source: Company data, Mirae Asset Vietnam Research</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9"/>
                  </a:ext>
                </a:extLst>
              </a:tr>
            </a:tbl>
          </a:graphicData>
        </a:graphic>
      </p:graphicFrame>
      <p:sp>
        <p:nvSpPr>
          <p:cNvPr id="4" name="모서리가 둥근 직사각형 8">
            <a:extLst>
              <a:ext uri="{FF2B5EF4-FFF2-40B4-BE49-F238E27FC236}">
                <a16:creationId xmlns:a16="http://schemas.microsoft.com/office/drawing/2014/main" id="{884B52BA-13F8-297D-E7F6-44053EF7F343}"/>
              </a:ext>
            </a:extLst>
          </p:cNvPr>
          <p:cNvSpPr/>
          <p:nvPr/>
        </p:nvSpPr>
        <p:spPr>
          <a:xfrm>
            <a:off x="10644562" y="296652"/>
            <a:ext cx="1097280" cy="2520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36000" rtlCol="0" anchor="ctr"/>
          <a:lstStyle/>
          <a:p>
            <a:pPr algn="ctr" fontAlgn="base" latinLnBrk="1">
              <a:spcBef>
                <a:spcPct val="0"/>
              </a:spcBef>
              <a:spcAft>
                <a:spcPct val="0"/>
              </a:spcAft>
            </a:pPr>
            <a:r>
              <a:rPr kumimoji="1" lang="en-US" altLang="ko-KR" sz="900" b="1" dirty="0">
                <a:solidFill>
                  <a:prstClr val="white"/>
                </a:solidFill>
                <a:latin typeface="Noto Sans" panose="020B0502040504020204" pitchFamily="34" charset="0"/>
                <a:ea typeface="Noto Sans" panose="020B0502040504020204" pitchFamily="34" charset="0"/>
                <a:cs typeface="Noto Sans" panose="020B0502040504020204" pitchFamily="34" charset="0"/>
              </a:rPr>
              <a:t>Banks</a:t>
            </a:r>
            <a:endParaRPr kumimoji="1" lang="ko-KR" altLang="en-US" sz="900" b="1" dirty="0">
              <a:solidFill>
                <a:prstClr val="white"/>
              </a:solidFill>
              <a:latin typeface="Noto Sans" panose="020B0502040504020204" pitchFamily="34" charset="0"/>
              <a:ea typeface="KoPub돋움체_Pro Bold" pitchFamily="18" charset="-127"/>
              <a:cs typeface="Noto Sans" panose="020B0502040504020204" pitchFamily="34" charset="0"/>
            </a:endParaRPr>
          </a:p>
        </p:txBody>
      </p:sp>
      <p:pic>
        <p:nvPicPr>
          <p:cNvPr id="1026" name="Picture 2" descr="Thương hiệu Eximbank">
            <a:extLst>
              <a:ext uri="{FF2B5EF4-FFF2-40B4-BE49-F238E27FC236}">
                <a16:creationId xmlns:a16="http://schemas.microsoft.com/office/drawing/2014/main" id="{698011D1-D049-51F6-CCDF-4DFAC134B386}"/>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746" t="27646" r="5835" b="7164"/>
          <a:stretch>
            <a:fillRect/>
          </a:stretch>
        </p:blipFill>
        <p:spPr bwMode="auto">
          <a:xfrm>
            <a:off x="10317018" y="714457"/>
            <a:ext cx="1422882" cy="38151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Chart 4">
            <a:extLst>
              <a:ext uri="{FF2B5EF4-FFF2-40B4-BE49-F238E27FC236}">
                <a16:creationId xmlns:a16="http://schemas.microsoft.com/office/drawing/2014/main" id="{8A51B9AA-E9E2-4109-93F1-802FD26A9E40}"/>
              </a:ext>
            </a:extLst>
          </p:cNvPr>
          <p:cNvGraphicFramePr>
            <a:graphicFrameLocks/>
          </p:cNvGraphicFramePr>
          <p:nvPr/>
        </p:nvGraphicFramePr>
        <p:xfrm>
          <a:off x="3124883" y="4182363"/>
          <a:ext cx="2628197" cy="2018430"/>
        </p:xfrm>
        <a:graphic>
          <a:graphicData uri="http://schemas.openxmlformats.org/drawingml/2006/chart">
            <c:chart xmlns:c="http://schemas.openxmlformats.org/drawingml/2006/chart" xmlns:r="http://schemas.openxmlformats.org/officeDocument/2006/relationships" r:id="rId4"/>
          </a:graphicData>
        </a:graphic>
      </p:graphicFrame>
      <p:sp>
        <p:nvSpPr>
          <p:cNvPr id="2" name="제목 44">
            <a:extLst>
              <a:ext uri="{FF2B5EF4-FFF2-40B4-BE49-F238E27FC236}">
                <a16:creationId xmlns:a16="http://schemas.microsoft.com/office/drawing/2014/main" id="{1EDE874D-5357-ECB1-54CD-6E97B08F1E3B}"/>
              </a:ext>
            </a:extLst>
          </p:cNvPr>
          <p:cNvSpPr txBox="1">
            <a:spLocks/>
          </p:cNvSpPr>
          <p:nvPr/>
        </p:nvSpPr>
        <p:spPr bwMode="auto">
          <a:xfrm>
            <a:off x="448251" y="0"/>
            <a:ext cx="8497888" cy="648000"/>
          </a:xfrm>
          <a:prstGeom prst="rect">
            <a:avLst/>
          </a:prstGeom>
          <a:noFill/>
          <a:ln>
            <a:noFill/>
          </a:ln>
          <a:effectLst/>
        </p:spPr>
        <p:txBody>
          <a:bodyPr lIns="0" tIns="36000" rIns="0" bIns="72000" anchor="b" anchorCtr="0"/>
          <a:lstStyle>
            <a:defPPr>
              <a:defRPr lang="ko-KR"/>
            </a:defPPr>
            <a:lvl1pPr algn="l">
              <a:defRPr kumimoji="0" sz="2100">
                <a:solidFill>
                  <a:schemeClr val="tx1">
                    <a:lumMod val="85000"/>
                    <a:lumOff val="15000"/>
                  </a:schemeClr>
                </a:solidFill>
                <a:latin typeface="Noto Sans" panose="020B0502040504020204" pitchFamily="34" charset="0"/>
                <a:ea typeface="Noto Sans" panose="020B0502040504020204" pitchFamily="34" charset="0"/>
                <a:cs typeface="Noto Sans" panose="020B0502040504020204" pitchFamily="34" charset="0"/>
              </a:defRPr>
            </a:lvl1pPr>
            <a:lvl2pPr marL="742950" indent="-285750" algn="l">
              <a:defRPr>
                <a:latin typeface="맑은 고딕" pitchFamily="50" charset="-127"/>
                <a:ea typeface="맑은 고딕" pitchFamily="50" charset="-127"/>
              </a:defRPr>
            </a:lvl2pPr>
            <a:lvl3pPr marL="1141413" indent="-227013" algn="l">
              <a:defRPr>
                <a:latin typeface="맑은 고딕" pitchFamily="50" charset="-127"/>
                <a:ea typeface="맑은 고딕" pitchFamily="50" charset="-127"/>
              </a:defRPr>
            </a:lvl3pPr>
            <a:lvl4pPr marL="1600200" indent="-231775" algn="l">
              <a:defRPr>
                <a:latin typeface="맑은 고딕" pitchFamily="50" charset="-127"/>
                <a:ea typeface="맑은 고딕" pitchFamily="50" charset="-127"/>
              </a:defRPr>
            </a:lvl4pPr>
            <a:lvl5pPr marL="2055813" indent="-227013" algn="l">
              <a:defRPr>
                <a:latin typeface="맑은 고딕" pitchFamily="50" charset="-127"/>
                <a:ea typeface="맑은 고딕" pitchFamily="50" charset="-127"/>
              </a:defRPr>
            </a:lvl5pPr>
            <a:lvl6pPr marL="2513013" indent="-227013" fontAlgn="base">
              <a:spcBef>
                <a:spcPct val="0"/>
              </a:spcBef>
              <a:spcAft>
                <a:spcPct val="0"/>
              </a:spcAft>
              <a:defRPr>
                <a:latin typeface="맑은 고딕" pitchFamily="50" charset="-127"/>
                <a:ea typeface="맑은 고딕" pitchFamily="50" charset="-127"/>
              </a:defRPr>
            </a:lvl6pPr>
            <a:lvl7pPr marL="2970213" indent="-227013" fontAlgn="base">
              <a:spcBef>
                <a:spcPct val="0"/>
              </a:spcBef>
              <a:spcAft>
                <a:spcPct val="0"/>
              </a:spcAft>
              <a:defRPr>
                <a:latin typeface="맑은 고딕" pitchFamily="50" charset="-127"/>
                <a:ea typeface="맑은 고딕" pitchFamily="50" charset="-127"/>
              </a:defRPr>
            </a:lvl7pPr>
            <a:lvl8pPr marL="3427413" indent="-227013" fontAlgn="base">
              <a:spcBef>
                <a:spcPct val="0"/>
              </a:spcBef>
              <a:spcAft>
                <a:spcPct val="0"/>
              </a:spcAft>
              <a:defRPr>
                <a:latin typeface="맑은 고딕" pitchFamily="50" charset="-127"/>
                <a:ea typeface="맑은 고딕" pitchFamily="50" charset="-127"/>
              </a:defRPr>
            </a:lvl8pPr>
            <a:lvl9pPr marL="3884613" indent="-227013" fontAlgn="base">
              <a:spcBef>
                <a:spcPct val="0"/>
              </a:spcBef>
              <a:spcAft>
                <a:spcPct val="0"/>
              </a:spcAft>
              <a:defRPr>
                <a:latin typeface="맑은 고딕" pitchFamily="50" charset="-127"/>
                <a:ea typeface="맑은 고딕" pitchFamily="50" charset="-127"/>
              </a:defRPr>
            </a:lvl9pPr>
          </a:lstStyle>
          <a:p>
            <a:pPr fontAlgn="base" latinLnBrk="1">
              <a:spcBef>
                <a:spcPct val="0"/>
              </a:spcBef>
              <a:spcAft>
                <a:spcPct val="0"/>
              </a:spcAft>
              <a:defRPr/>
            </a:pPr>
            <a:r>
              <a:rPr lang="en-US" altLang="ko-KR" b="1" dirty="0">
                <a:solidFill>
                  <a:srgbClr val="000000">
                    <a:lumMod val="85000"/>
                    <a:lumOff val="15000"/>
                  </a:srgbClr>
                </a:solidFill>
              </a:rPr>
              <a:t>Vietnam Export Import CJSB</a:t>
            </a:r>
            <a:r>
              <a:rPr kumimoji="0" lang="en-US" altLang="ko-KR" sz="2100" b="1" i="0" u="none" strike="noStrike" kern="1200" cap="none" spc="0" normalizeH="0" baseline="0" noProof="0" dirty="0">
                <a:ln>
                  <a:noFill/>
                </a:ln>
                <a:solidFill>
                  <a:srgbClr val="000000">
                    <a:lumMod val="85000"/>
                    <a:lumOff val="15000"/>
                  </a:srgbClr>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lang="en-US" altLang="ko-KR" sz="1500" b="1" dirty="0">
                <a:solidFill>
                  <a:srgbClr val="000000">
                    <a:lumMod val="85000"/>
                    <a:lumOff val="15000"/>
                  </a:srgbClr>
                </a:solidFill>
              </a:rPr>
              <a:t>(EIB VN)</a:t>
            </a:r>
          </a:p>
        </p:txBody>
      </p:sp>
      <p:sp>
        <p:nvSpPr>
          <p:cNvPr id="6" name="TextBox 5">
            <a:extLst>
              <a:ext uri="{FF2B5EF4-FFF2-40B4-BE49-F238E27FC236}">
                <a16:creationId xmlns:a16="http://schemas.microsoft.com/office/drawing/2014/main" id="{FEFCB194-3326-4D86-FED0-39A53B2CE388}"/>
              </a:ext>
            </a:extLst>
          </p:cNvPr>
          <p:cNvSpPr txBox="1"/>
          <p:nvPr/>
        </p:nvSpPr>
        <p:spPr bwMode="auto">
          <a:xfrm>
            <a:off x="447930" y="872717"/>
            <a:ext cx="2106705" cy="218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rtlCol="0">
            <a:spAutoFit/>
          </a:bodyPr>
          <a:lstStyle/>
          <a:p>
            <a:pPr marL="0" marR="0" lvl="0" indent="0" algn="l" defTabSz="898525" rtl="0" eaLnBrk="0" fontAlgn="base" latinLnBrk="0" hangingPunct="0">
              <a:lnSpc>
                <a:spcPts val="2000"/>
              </a:lnSpc>
              <a:spcBef>
                <a:spcPct val="0"/>
              </a:spcBef>
              <a:spcAft>
                <a:spcPct val="50000"/>
              </a:spcAft>
              <a:buClrTx/>
              <a:buSzTx/>
              <a:buFontTx/>
              <a:buNone/>
              <a:tabLst>
                <a:tab pos="266700" algn="l"/>
                <a:tab pos="4305300" algn="r"/>
              </a:tabLst>
              <a:defRPr/>
            </a:pP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Quan Ton, </a:t>
            </a:r>
            <a:r>
              <a:rPr kumimoji="0" lang="en-US" sz="7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quan.td@miraeasset.com.vn</a:t>
            </a:r>
          </a:p>
        </p:txBody>
      </p:sp>
    </p:spTree>
    <p:extLst>
      <p:ext uri="{BB962C8B-B14F-4D97-AF65-F5344CB8AC3E}">
        <p14:creationId xmlns:p14="http://schemas.microsoft.com/office/powerpoint/2010/main" val="15092982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E6809-FBE0-1EE6-873D-19A397544DFA}"/>
            </a:ext>
          </a:extLst>
        </p:cNvPr>
        <p:cNvGrpSpPr/>
        <p:nvPr/>
      </p:nvGrpSpPr>
      <p:grpSpPr>
        <a:xfrm>
          <a:off x="0" y="0"/>
          <a:ext cx="0" cy="0"/>
          <a:chOff x="0" y="0"/>
          <a:chExt cx="0" cy="0"/>
        </a:xfrm>
      </p:grpSpPr>
      <p:sp>
        <p:nvSpPr>
          <p:cNvPr id="14" name="Rectangle 4">
            <a:extLst>
              <a:ext uri="{FF2B5EF4-FFF2-40B4-BE49-F238E27FC236}">
                <a16:creationId xmlns:a16="http://schemas.microsoft.com/office/drawing/2014/main" id="{28F25DAC-D395-7570-1EBD-07B3A6C19EEC}"/>
              </a:ext>
            </a:extLst>
          </p:cNvPr>
          <p:cNvSpPr>
            <a:spLocks noChangeArrowheads="1"/>
          </p:cNvSpPr>
          <p:nvPr/>
        </p:nvSpPr>
        <p:spPr bwMode="auto">
          <a:xfrm>
            <a:off x="448250" y="692696"/>
            <a:ext cx="6249730" cy="363538"/>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l" hangingPunct="0">
              <a:lnSpc>
                <a:spcPct val="120000"/>
              </a:lnSpc>
              <a:tabLst>
                <a:tab pos="247650" algn="l"/>
              </a:tabLst>
            </a:pPr>
            <a:r>
              <a:rPr lang="en-US" altLang="ko-KR" sz="1200" b="1" dirty="0">
                <a:solidFill>
                  <a:srgbClr val="F58220"/>
                </a:solidFill>
                <a:latin typeface="Noto Sans" panose="020B0502040504020204" pitchFamily="34" charset="0"/>
              </a:rPr>
              <a:t>Định </a:t>
            </a:r>
            <a:r>
              <a:rPr lang="en-US" altLang="ko-KR" sz="1200" b="1" dirty="0" err="1">
                <a:solidFill>
                  <a:srgbClr val="F58220"/>
                </a:solidFill>
                <a:latin typeface="Noto Sans" panose="020B0502040504020204" pitchFamily="34" charset="0"/>
              </a:rPr>
              <a:t>hình</a:t>
            </a:r>
            <a:r>
              <a:rPr lang="en-US" altLang="ko-KR" sz="1200" b="1" dirty="0">
                <a:solidFill>
                  <a:srgbClr val="F58220"/>
                </a:solidFill>
                <a:latin typeface="Noto Sans" panose="020B0502040504020204" pitchFamily="34" charset="0"/>
              </a:rPr>
              <a:t> </a:t>
            </a:r>
            <a:r>
              <a:rPr lang="en-US" altLang="ko-KR" sz="1200" b="1" dirty="0" err="1">
                <a:solidFill>
                  <a:srgbClr val="F58220"/>
                </a:solidFill>
                <a:latin typeface="Noto Sans" panose="020B0502040504020204" pitchFamily="34" charset="0"/>
              </a:rPr>
              <a:t>giai</a:t>
            </a:r>
            <a:r>
              <a:rPr lang="en-US" altLang="ko-KR" sz="1200" b="1" dirty="0">
                <a:solidFill>
                  <a:srgbClr val="F58220"/>
                </a:solidFill>
                <a:latin typeface="Noto Sans" panose="020B0502040504020204" pitchFamily="34" charset="0"/>
              </a:rPr>
              <a:t> </a:t>
            </a:r>
            <a:r>
              <a:rPr lang="en-US" altLang="ko-KR" sz="1200" b="1" dirty="0" err="1">
                <a:solidFill>
                  <a:srgbClr val="F58220"/>
                </a:solidFill>
                <a:latin typeface="Noto Sans" panose="020B0502040504020204" pitchFamily="34" charset="0"/>
              </a:rPr>
              <a:t>đoạn</a:t>
            </a:r>
            <a:r>
              <a:rPr lang="en-US" altLang="ko-KR" sz="1200" b="1" dirty="0">
                <a:solidFill>
                  <a:srgbClr val="F58220"/>
                </a:solidFill>
                <a:latin typeface="Noto Sans" panose="020B0502040504020204" pitchFamily="34" charset="0"/>
              </a:rPr>
              <a:t> </a:t>
            </a:r>
            <a:r>
              <a:rPr lang="en-US" altLang="ko-KR" sz="1200" b="1" dirty="0" err="1">
                <a:solidFill>
                  <a:srgbClr val="F58220"/>
                </a:solidFill>
                <a:latin typeface="Noto Sans" panose="020B0502040504020204" pitchFamily="34" charset="0"/>
              </a:rPr>
              <a:t>mới</a:t>
            </a:r>
            <a:endParaRPr lang="vi-VN" altLang="ko-KR" sz="1200" b="1" dirty="0">
              <a:solidFill>
                <a:srgbClr val="F58220"/>
              </a:solidFill>
              <a:latin typeface="Noto Sans" panose="020B0502040504020204" pitchFamily="34" charset="0"/>
            </a:endParaRPr>
          </a:p>
        </p:txBody>
      </p:sp>
      <p:graphicFrame>
        <p:nvGraphicFramePr>
          <p:cNvPr id="11" name="표 10">
            <a:extLst>
              <a:ext uri="{FF2B5EF4-FFF2-40B4-BE49-F238E27FC236}">
                <a16:creationId xmlns:a16="http://schemas.microsoft.com/office/drawing/2014/main" id="{BDC5B537-832B-E271-4614-40A8A0D1FC57}"/>
              </a:ext>
            </a:extLst>
          </p:cNvPr>
          <p:cNvGraphicFramePr>
            <a:graphicFrameLocks noGrp="1"/>
          </p:cNvGraphicFramePr>
          <p:nvPr/>
        </p:nvGraphicFramePr>
        <p:xfrm>
          <a:off x="441632" y="5619033"/>
          <a:ext cx="2436943" cy="581760"/>
        </p:xfrm>
        <a:graphic>
          <a:graphicData uri="http://schemas.openxmlformats.org/drawingml/2006/table">
            <a:tbl>
              <a:tblPr firstRow="1" firstCol="1" bandRow="1">
                <a:tableStyleId>{5C22544A-7EE6-4342-B048-85BDC9FD1C3A}</a:tableStyleId>
              </a:tblPr>
              <a:tblGrid>
                <a:gridCol w="840598">
                  <a:extLst>
                    <a:ext uri="{9D8B030D-6E8A-4147-A177-3AD203B41FA5}">
                      <a16:colId xmlns:a16="http://schemas.microsoft.com/office/drawing/2014/main" val="20000"/>
                    </a:ext>
                  </a:extLst>
                </a:gridCol>
                <a:gridCol w="532115">
                  <a:extLst>
                    <a:ext uri="{9D8B030D-6E8A-4147-A177-3AD203B41FA5}">
                      <a16:colId xmlns:a16="http://schemas.microsoft.com/office/drawing/2014/main" val="20001"/>
                    </a:ext>
                  </a:extLst>
                </a:gridCol>
                <a:gridCol w="532115">
                  <a:extLst>
                    <a:ext uri="{9D8B030D-6E8A-4147-A177-3AD203B41FA5}">
                      <a16:colId xmlns:a16="http://schemas.microsoft.com/office/drawing/2014/main" val="20002"/>
                    </a:ext>
                  </a:extLst>
                </a:gridCol>
                <a:gridCol w="532115">
                  <a:extLst>
                    <a:ext uri="{9D8B030D-6E8A-4147-A177-3AD203B41FA5}">
                      <a16:colId xmlns:a16="http://schemas.microsoft.com/office/drawing/2014/main" val="20003"/>
                    </a:ext>
                  </a:extLst>
                </a:gridCol>
              </a:tblGrid>
              <a:tr h="99808">
                <a:tc>
                  <a:txBody>
                    <a:bodyPr/>
                    <a:lstStyle/>
                    <a:p>
                      <a:pPr marL="0" marR="38100" indent="0" algn="l" defTabSz="457200" rtl="0" eaLnBrk="1" fontAlgn="auto" latinLnBrk="1" hangingPunct="0">
                        <a:lnSpc>
                          <a:spcPct val="100000"/>
                        </a:lnSpc>
                        <a:spcBef>
                          <a:spcPts val="0"/>
                        </a:spcBef>
                        <a:spcAft>
                          <a:spcPts val="0"/>
                        </a:spcAft>
                        <a:buClrTx/>
                        <a:buSzTx/>
                        <a:buFontTx/>
                        <a:buNone/>
                        <a:tabLst/>
                        <a:defRPr/>
                      </a:pPr>
                      <a:r>
                        <a:rPr lang="en-US" sz="800" b="1"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sz="800" b="1"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1T</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6T</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12T</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pPr marL="0" algn="l" defTabSz="457200" rtl="0" eaLnBrk="1" latinLnBrk="1" hangingPunct="0">
                        <a:lnSpc>
                          <a:spcPct val="100000"/>
                        </a:lnSpc>
                        <a:spcAft>
                          <a:spcPts val="0"/>
                        </a:spcAft>
                      </a:pP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Tuyệt</a:t>
                      </a: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đối</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-2.9</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-1.1</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11.7</a:t>
                      </a:r>
                    </a:p>
                  </a:txBody>
                  <a:tcPr marL="9525" marR="9525" marT="9525"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1"/>
                  </a:ext>
                </a:extLst>
              </a:tr>
              <a:tr h="0">
                <a:tc>
                  <a:txBody>
                    <a:bodyPr/>
                    <a:lstStyle/>
                    <a:p>
                      <a:pPr marL="0" algn="l" defTabSz="457200" rtl="0" eaLnBrk="1" latinLnBrk="1" hangingPunct="0">
                        <a:lnSpc>
                          <a:spcPct val="100000"/>
                        </a:lnSpc>
                        <a:spcAft>
                          <a:spcPts val="0"/>
                        </a:spcAft>
                      </a:pP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Tương</a:t>
                      </a: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đối</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-14.3</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-15.3</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-39.5</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12" name="표 11">
            <a:extLst>
              <a:ext uri="{FF2B5EF4-FFF2-40B4-BE49-F238E27FC236}">
                <a16:creationId xmlns:a16="http://schemas.microsoft.com/office/drawing/2014/main" id="{1B2DFC17-7750-5C3F-E5C4-A0F1F7D032C3}"/>
              </a:ext>
            </a:extLst>
          </p:cNvPr>
          <p:cNvGraphicFramePr>
            <a:graphicFrameLocks noGrp="1"/>
          </p:cNvGraphicFramePr>
          <p:nvPr/>
        </p:nvGraphicFramePr>
        <p:xfrm>
          <a:off x="452098" y="3284467"/>
          <a:ext cx="2426476" cy="2286000"/>
        </p:xfrm>
        <a:graphic>
          <a:graphicData uri="http://schemas.openxmlformats.org/drawingml/2006/table">
            <a:tbl>
              <a:tblPr firstRow="1" firstCol="1" bandRow="1">
                <a:tableStyleId>{5C22544A-7EE6-4342-B048-85BDC9FD1C3A}</a:tableStyleId>
              </a:tblPr>
              <a:tblGrid>
                <a:gridCol w="1657236">
                  <a:extLst>
                    <a:ext uri="{9D8B030D-6E8A-4147-A177-3AD203B41FA5}">
                      <a16:colId xmlns:a16="http://schemas.microsoft.com/office/drawing/2014/main" val="20000"/>
                    </a:ext>
                  </a:extLst>
                </a:gridCol>
                <a:gridCol w="769240">
                  <a:extLst>
                    <a:ext uri="{9D8B030D-6E8A-4147-A177-3AD203B41FA5}">
                      <a16:colId xmlns:a16="http://schemas.microsoft.com/office/drawing/2014/main" val="20001"/>
                    </a:ext>
                  </a:extLst>
                </a:gridCol>
              </a:tblGrid>
              <a:tr h="228600">
                <a:tc>
                  <a:txBody>
                    <a:bodyPr/>
                    <a:lstStyle/>
                    <a:p>
                      <a:pPr algn="l" latinLnBrk="1" hangingPunct="0">
                        <a:lnSpc>
                          <a:spcPts val="950"/>
                        </a:lnSpc>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LNST (26F,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đồng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a:t>
                      </a:r>
                      <a:endParaRPr lang="en-CA"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T w="12700" cap="flat" cmpd="sng" algn="ctr">
                      <a:solidFill>
                        <a:schemeClr val="bg1"/>
                      </a:solidFill>
                      <a:prstDash val="solid"/>
                      <a:round/>
                      <a:headEnd type="none" w="med" len="med"/>
                      <a:tailEnd type="none" w="med" len="med"/>
                    </a:lnT>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1,971</a:t>
                      </a:r>
                    </a:p>
                  </a:txBody>
                  <a:tcPr marL="0" marR="0" marT="0"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0"/>
                  </a:ext>
                </a:extLst>
              </a:tr>
              <a:tr h="228600">
                <a:tc>
                  <a:txBody>
                    <a:bodyPr/>
                    <a:lstStyle/>
                    <a:p>
                      <a:pPr algn="l" latinLnBrk="1" hangingPunct="0">
                        <a:lnSpc>
                          <a:spcPts val="950"/>
                        </a:lnSpc>
                      </a:pP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Kỳ</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vọng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thị</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trường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(26F,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đồng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a:t>
                      </a:r>
                      <a:endParaRPr lang="en-CA"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N/A</a:t>
                      </a:r>
                    </a:p>
                  </a:txBody>
                  <a:tcPr marL="0" marR="0" marT="0" marB="0" anchor="ctr">
                    <a:noFill/>
                  </a:tcPr>
                </a:tc>
                <a:extLst>
                  <a:ext uri="{0D108BD9-81ED-4DB2-BD59-A6C34878D82A}">
                    <a16:rowId xmlns:a16="http://schemas.microsoft.com/office/drawing/2014/main" val="10001"/>
                  </a:ext>
                </a:extLst>
              </a:tr>
              <a:tr h="228600">
                <a:tc>
                  <a:txBody>
                    <a:bodyPr/>
                    <a:lstStyle/>
                    <a:p>
                      <a:pPr algn="l" latinLnBrk="1" hangingPunct="0">
                        <a:lnSpc>
                          <a:spcPts val="950"/>
                        </a:lnSpc>
                      </a:pP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Tăng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trưởng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EPS </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(26F, %)</a:t>
                      </a:r>
                      <a:endParaRPr lang="en-CA"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73.4</a:t>
                      </a:r>
                    </a:p>
                  </a:txBody>
                  <a:tcPr marL="0" marR="0" marT="0" marB="0" anchor="ctr">
                    <a:noFill/>
                  </a:tcPr>
                </a:tc>
                <a:extLst>
                  <a:ext uri="{0D108BD9-81ED-4DB2-BD59-A6C34878D82A}">
                    <a16:rowId xmlns:a16="http://schemas.microsoft.com/office/drawing/2014/main" val="10002"/>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P/E (26F, x)</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24.3</a:t>
                      </a: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3"/>
                  </a:ext>
                </a:extLst>
              </a:tr>
              <a:tr h="228600">
                <a:tc>
                  <a:txBody>
                    <a:bodyPr/>
                    <a:lstStyle/>
                    <a:p>
                      <a:pPr marL="0" algn="l" defTabSz="457200" rtl="0" eaLnBrk="1" latinLnBrk="1" hangingPunct="0">
                        <a:lnSpc>
                          <a:spcPct val="100000"/>
                        </a:lnSpc>
                        <a:spcAft>
                          <a:spcPts val="0"/>
                        </a:spcAft>
                      </a:pP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Vốn</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hóa</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đồng</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altLang="en-US" sz="800" b="0" kern="100" spc="-2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0" marR="0" marT="0" marB="0" anchor="ctr">
                    <a:lnT w="6350" cap="flat" cmpd="sng" algn="ctr">
                      <a:solidFill>
                        <a:schemeClr val="tx1">
                          <a:lumMod val="50000"/>
                          <a:lumOff val="50000"/>
                        </a:schemeClr>
                      </a:solidFill>
                      <a:prstDash val="solid"/>
                      <a:round/>
                      <a:headEnd type="none" w="med" len="med"/>
                      <a:tailEnd type="none" w="med" len="med"/>
                    </a:lnT>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40,048</a:t>
                      </a:r>
                    </a:p>
                  </a:txBody>
                  <a:tcPr marL="9525" marR="9525" marT="9525" marB="0" anchor="ctr">
                    <a:lnT w="6350" cap="flat" cmpd="sng" algn="ctr">
                      <a:solidFill>
                        <a:schemeClr val="tx1">
                          <a:lumMod val="50000"/>
                          <a:lumOff val="50000"/>
                        </a:schemeClr>
                      </a:solidFill>
                      <a:prstDash val="solid"/>
                      <a:round/>
                      <a:headEnd type="none" w="med" len="med"/>
                      <a:tailEnd type="none" w="med" len="med"/>
                    </a:lnT>
                    <a:noFill/>
                  </a:tcPr>
                </a:tc>
                <a:extLst>
                  <a:ext uri="{0D108BD9-81ED-4DB2-BD59-A6C34878D82A}">
                    <a16:rowId xmlns:a16="http://schemas.microsoft.com/office/drawing/2014/main" val="10004"/>
                  </a:ext>
                </a:extLst>
              </a:tr>
              <a:tr h="228600">
                <a:tc>
                  <a:txBody>
                    <a:bodyPr/>
                    <a:lstStyle/>
                    <a:p>
                      <a:pPr algn="l" latinLnBrk="1" hangingPunct="0">
                        <a:lnSpc>
                          <a:spcPts val="950"/>
                        </a:lnSpc>
                        <a:spcAft>
                          <a:spcPts val="0"/>
                        </a:spcAft>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SLCP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đang</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lưu</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hành</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triệu</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cp)</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1,863</a:t>
                      </a:r>
                    </a:p>
                  </a:txBody>
                  <a:tcPr marL="9525" marR="9525" marT="9525" marB="0" anchor="ctr">
                    <a:noFill/>
                  </a:tcPr>
                </a:tc>
                <a:extLst>
                  <a:ext uri="{0D108BD9-81ED-4DB2-BD59-A6C34878D82A}">
                    <a16:rowId xmlns:a16="http://schemas.microsoft.com/office/drawing/2014/main" val="10005"/>
                  </a:ext>
                </a:extLst>
              </a:tr>
              <a:tr h="228600">
                <a:tc>
                  <a:txBody>
                    <a:bodyPr/>
                    <a:lstStyle/>
                    <a:p>
                      <a:pPr algn="l" latinLnBrk="1" hangingPunct="0">
                        <a:lnSpc>
                          <a:spcPts val="950"/>
                        </a:lnSpc>
                        <a:spcAft>
                          <a:spcPts val="0"/>
                        </a:spcAft>
                      </a:pP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lê</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CP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tự</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do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chuyển</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nhượng</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97.9</a:t>
                      </a:r>
                    </a:p>
                  </a:txBody>
                  <a:tcPr marL="9525" marR="9525" marT="9525" marB="0" anchor="ctr">
                    <a:noFill/>
                  </a:tcPr>
                </a:tc>
                <a:extLst>
                  <a:ext uri="{0D108BD9-81ED-4DB2-BD59-A6C34878D82A}">
                    <a16:rowId xmlns:a16="http://schemas.microsoft.com/office/drawing/2014/main" val="10006"/>
                  </a:ext>
                </a:extLst>
              </a:tr>
              <a:tr h="228600">
                <a:tc>
                  <a:txBody>
                    <a:bodyPr/>
                    <a:lstStyle/>
                    <a:p>
                      <a:pPr algn="l" latinLnBrk="1" hangingPunct="0">
                        <a:lnSpc>
                          <a:spcPts val="950"/>
                        </a:lnSpc>
                        <a:spcAft>
                          <a:spcPts val="0"/>
                        </a:spcAft>
                      </a:pP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lệ</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sở</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hữu</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của</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NĐTNN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3.0</a:t>
                      </a:r>
                    </a:p>
                  </a:txBody>
                  <a:tcPr marL="9525" marR="9525" marT="9525" marB="0" anchor="ctr">
                    <a:noFill/>
                  </a:tcPr>
                </a:tc>
                <a:extLst>
                  <a:ext uri="{0D108BD9-81ED-4DB2-BD59-A6C34878D82A}">
                    <a16:rowId xmlns:a16="http://schemas.microsoft.com/office/drawing/2014/main" val="4090528875"/>
                  </a:ext>
                </a:extLst>
              </a:tr>
              <a:tr h="228600">
                <a:tc>
                  <a:txBody>
                    <a:bodyPr/>
                    <a:lstStyle/>
                    <a:p>
                      <a:pPr marL="0" algn="l" defTabSz="457200" rtl="0" eaLnBrk="1" latinLnBrk="1" hangingPunct="0">
                        <a:lnSpc>
                          <a:spcPct val="100000"/>
                        </a:lnSpc>
                        <a:spcAft>
                          <a:spcPts val="0"/>
                        </a:spcAft>
                      </a:pP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Thấp</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nhất</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52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tuần</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(VND)</a:t>
                      </a:r>
                      <a:endParaRPr lang="ko-KR" altLang="en-US" sz="800" b="0" kern="100" spc="-2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18,850</a:t>
                      </a:r>
                    </a:p>
                  </a:txBody>
                  <a:tcPr marL="9525" marR="9525" marT="9525" marB="0" anchor="ctr">
                    <a:noFill/>
                  </a:tcPr>
                </a:tc>
                <a:extLst>
                  <a:ext uri="{0D108BD9-81ED-4DB2-BD59-A6C34878D82A}">
                    <a16:rowId xmlns:a16="http://schemas.microsoft.com/office/drawing/2014/main" val="10007"/>
                  </a:ext>
                </a:extLst>
              </a:tr>
              <a:tr h="228600">
                <a:tc>
                  <a:txBody>
                    <a:bodyPr/>
                    <a:lstStyle/>
                    <a:p>
                      <a:pPr marL="0" algn="l" defTabSz="457200" rtl="0" eaLnBrk="1" latinLnBrk="1" hangingPunct="0">
                        <a:lnSpc>
                          <a:spcPct val="100000"/>
                        </a:lnSpc>
                        <a:spcAft>
                          <a:spcPts val="0"/>
                        </a:spcAft>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Cao </a:t>
                      </a: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nhất</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52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tuần</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(VND)</a:t>
                      </a:r>
                      <a:endParaRPr lang="ko-KR" altLang="en-US" sz="800" b="0" kern="100" spc="-2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0" marR="0" marT="0" marB="0" anchor="ctr">
                    <a:lnB w="6350" cap="flat" cmpd="sng" algn="ctr">
                      <a:noFill/>
                      <a:prstDash val="solid"/>
                      <a:round/>
                      <a:headEnd type="none" w="med" len="med"/>
                      <a:tailEnd type="none" w="med" len="med"/>
                    </a:lnB>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31,650</a:t>
                      </a:r>
                    </a:p>
                  </a:txBody>
                  <a:tcPr marL="9525" marR="9525" marT="9525" marB="0" anchor="ctr">
                    <a:lnB w="6350" cap="flat" cmpd="sng" algn="ctr">
                      <a:no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graphicFrame>
        <p:nvGraphicFramePr>
          <p:cNvPr id="13" name="표 12">
            <a:extLst>
              <a:ext uri="{FF2B5EF4-FFF2-40B4-BE49-F238E27FC236}">
                <a16:creationId xmlns:a16="http://schemas.microsoft.com/office/drawing/2014/main" id="{E2C05D81-3F5E-8CBF-DE30-095022709D34}"/>
              </a:ext>
            </a:extLst>
          </p:cNvPr>
          <p:cNvGraphicFramePr>
            <a:graphicFrameLocks noGrp="1"/>
          </p:cNvGraphicFramePr>
          <p:nvPr/>
        </p:nvGraphicFramePr>
        <p:xfrm>
          <a:off x="452099" y="1175844"/>
          <a:ext cx="2426476" cy="2037132"/>
        </p:xfrm>
        <a:graphic>
          <a:graphicData uri="http://schemas.openxmlformats.org/drawingml/2006/table">
            <a:tbl>
              <a:tblPr firstRow="1" firstCol="1" bandRow="1">
                <a:tableStyleId>{5C22544A-7EE6-4342-B048-85BDC9FD1C3A}</a:tableStyleId>
              </a:tblPr>
              <a:tblGrid>
                <a:gridCol w="1324828">
                  <a:extLst>
                    <a:ext uri="{9D8B030D-6E8A-4147-A177-3AD203B41FA5}">
                      <a16:colId xmlns:a16="http://schemas.microsoft.com/office/drawing/2014/main" val="20000"/>
                    </a:ext>
                  </a:extLst>
                </a:gridCol>
                <a:gridCol w="1101648">
                  <a:extLst>
                    <a:ext uri="{9D8B030D-6E8A-4147-A177-3AD203B41FA5}">
                      <a16:colId xmlns:a16="http://schemas.microsoft.com/office/drawing/2014/main" val="20001"/>
                    </a:ext>
                  </a:extLst>
                </a:gridCol>
              </a:tblGrid>
              <a:tr h="509283">
                <a:tc>
                  <a:txBody>
                    <a:bodyPr/>
                    <a:lstStyle/>
                    <a:p>
                      <a:pPr marL="0" algn="l" defTabSz="457200" rtl="0" eaLnBrk="1" latinLnBrk="1" hangingPunct="1">
                        <a:lnSpc>
                          <a:spcPts val="1200"/>
                        </a:lnSpc>
                        <a:spcAft>
                          <a:spcPts val="0"/>
                        </a:spcAft>
                      </a:pPr>
                      <a:r>
                        <a:rPr lang="en-US"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r>
                        <a:rPr lang="en-US" sz="900" b="1" kern="12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Cập</a:t>
                      </a:r>
                      <a:r>
                        <a:rPr lang="en-US"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900" b="1" kern="12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nhật</a:t>
                      </a:r>
                      <a:r>
                        <a:rPr lang="en-US" altLang="ko-KR"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endParaRPr>
                    </a:p>
                  </a:txBody>
                  <a:tcPr marL="36000" marR="36000"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1"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MUA</a:t>
                      </a:r>
                      <a:endParaRPr lang="ko-KR" sz="900" b="1"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509283">
                <a:tc>
                  <a:txBody>
                    <a:bodyPr/>
                    <a:lstStyle/>
                    <a:p>
                      <a:pPr marL="0" algn="l" defTabSz="457200" rtl="0" eaLnBrk="1" latinLnBrk="1" hangingPunct="1">
                        <a:lnSpc>
                          <a:spcPts val="1200"/>
                        </a:lnSpc>
                        <a:spcAft>
                          <a:spcPts val="0"/>
                        </a:spcAft>
                      </a:pPr>
                      <a:r>
                        <a:rPr lang="en-US" altLang="ko-KR" sz="900" b="1" kern="1200" spc="0" baseline="0" dirty="0" err="1">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Giá</a:t>
                      </a:r>
                      <a:r>
                        <a:rPr lang="en-US" alt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 </a:t>
                      </a:r>
                      <a:r>
                        <a:rPr lang="en-US" altLang="ko-KR" sz="900" b="1" kern="1200" spc="0" baseline="0" dirty="0" err="1">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mục</a:t>
                      </a:r>
                      <a:r>
                        <a:rPr lang="en-US" alt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 </a:t>
                      </a:r>
                      <a:r>
                        <a:rPr lang="en-US" altLang="ko-KR" sz="900" b="1" kern="1200" spc="0" baseline="0" dirty="0" err="1">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tiêu</a:t>
                      </a:r>
                      <a:r>
                        <a:rPr lang="en-US" alt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 </a:t>
                      </a:r>
                    </a:p>
                    <a:p>
                      <a:pPr marL="0" algn="l" defTabSz="457200" rtl="0" eaLnBrk="1" latinLnBrk="1" hangingPunct="1">
                        <a:lnSpc>
                          <a:spcPts val="1200"/>
                        </a:lnSpc>
                        <a:spcAft>
                          <a:spcPts val="0"/>
                        </a:spcAft>
                      </a:pPr>
                      <a:r>
                        <a:rPr lang="en-US" altLang="ko-KR"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(VND, 12T)</a:t>
                      </a:r>
                      <a:endParaRPr lang="ko-KR" alt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endParaRPr>
                    </a:p>
                  </a:txBody>
                  <a:tcPr marL="36000" marR="36000"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lvl="0" indent="0" algn="r" defTabSz="457200" rtl="0" eaLnBrk="1" fontAlgn="auto" latinLnBrk="1" hangingPunct="0">
                        <a:lnSpc>
                          <a:spcPts val="1200"/>
                        </a:lnSpc>
                        <a:spcBef>
                          <a:spcPts val="0"/>
                        </a:spcBef>
                        <a:spcAft>
                          <a:spcPts val="0"/>
                        </a:spcAft>
                        <a:buClrTx/>
                        <a:buSzTx/>
                        <a:buFontTx/>
                        <a:buNone/>
                        <a:tabLst/>
                        <a:defRPr/>
                      </a:pPr>
                      <a:r>
                        <a:rPr lang="en-US" sz="900" b="1" kern="100" spc="0" baseline="0" dirty="0">
                          <a:solidFill>
                            <a:schemeClr val="tx1"/>
                          </a:solidFill>
                          <a:effectLst/>
                          <a:latin typeface="+mj-lt"/>
                          <a:ea typeface="Noto Sans" panose="020B0502040504020204" pitchFamily="34" charset="0"/>
                          <a:cs typeface="Noto Sans" panose="020B0502040504020204" pitchFamily="34" charset="0"/>
                        </a:rPr>
                        <a:t>25,500</a:t>
                      </a:r>
                      <a:endParaRPr lang="ko-KR" altLang="en-US" sz="900" b="1" kern="100" spc="0" baseline="0" dirty="0">
                        <a:solidFill>
                          <a:schemeClr val="tx1"/>
                        </a:solidFill>
                        <a:effectLst/>
                        <a:latin typeface="+mj-lt"/>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1"/>
                  </a:ext>
                </a:extLst>
              </a:tr>
              <a:tr h="509283">
                <a:tc>
                  <a:txBody>
                    <a:bodyPr/>
                    <a:lstStyle/>
                    <a:p>
                      <a:pPr marL="0" algn="l" defTabSz="457200" rtl="0" eaLnBrk="1" latinLnBrk="1" hangingPunct="1">
                        <a:lnSpc>
                          <a:spcPts val="1200"/>
                        </a:lnSpc>
                        <a:spcAft>
                          <a:spcPts val="0"/>
                        </a:spcAft>
                      </a:pPr>
                      <a:r>
                        <a:rPr lang="en-US" altLang="ko-KR" sz="900" b="0" kern="1200" spc="0" baseline="0" dirty="0" err="1">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rPr>
                        <a:t>Thị</a:t>
                      </a:r>
                      <a:r>
                        <a:rPr lang="en-US" altLang="ko-KR" sz="900" b="0" kern="1200" spc="0" baseline="0" dirty="0">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rPr>
                        <a:t> </a:t>
                      </a:r>
                      <a:r>
                        <a:rPr lang="en-US" altLang="ko-KR" sz="900" b="0" kern="1200" spc="0" baseline="0" dirty="0" err="1">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rPr>
                        <a:t>giá</a:t>
                      </a:r>
                      <a:r>
                        <a:rPr lang="en-US" altLang="ko-KR" sz="900" b="0" kern="1200" spc="0" baseline="0" dirty="0">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rPr>
                        <a:t> </a:t>
                      </a:r>
                    </a:p>
                    <a:p>
                      <a:pPr marL="0" marR="0" lvl="0" indent="0" algn="l" defTabSz="457200" rtl="0" eaLnBrk="1" fontAlgn="auto" latinLnBrk="1" hangingPunct="1">
                        <a:lnSpc>
                          <a:spcPts val="1200"/>
                        </a:lnSpc>
                        <a:spcBef>
                          <a:spcPts val="0"/>
                        </a:spcBef>
                        <a:spcAft>
                          <a:spcPts val="0"/>
                        </a:spcAft>
                        <a:buClrTx/>
                        <a:buSzTx/>
                        <a:buFontTx/>
                        <a:buNone/>
                        <a:tabLst/>
                        <a:defRPr/>
                      </a:pPr>
                      <a:r>
                        <a:rPr lang="en-US" altLang="ko-KR" sz="900" b="0"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(16/06/26)</a:t>
                      </a:r>
                      <a:endParaRPr lang="ko-KR" altLang="ko-KR" sz="900" b="0" kern="1200" spc="0" baseline="0" dirty="0">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0" kern="100" spc="0" baseline="0" dirty="0">
                          <a:solidFill>
                            <a:schemeClr val="tx1"/>
                          </a:solidFill>
                          <a:effectLst/>
                          <a:latin typeface="+mj-lt"/>
                          <a:ea typeface="KoPub돋움체_Pro Medium" pitchFamily="18" charset="-127"/>
                          <a:cs typeface="Noto Sans" panose="020B0502040504020204" pitchFamily="34" charset="0"/>
                        </a:rPr>
                        <a:t>21,200</a:t>
                      </a:r>
                      <a:endParaRPr lang="ko-KR" sz="900" b="0" kern="100" spc="0" baseline="0" dirty="0">
                        <a:solidFill>
                          <a:schemeClr val="tx1"/>
                        </a:solidFill>
                        <a:effectLst/>
                        <a:latin typeface="+mj-lt"/>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2"/>
                  </a:ext>
                </a:extLst>
              </a:tr>
              <a:tr h="509283">
                <a:tc>
                  <a:txBody>
                    <a:bodyPr/>
                    <a:lstStyle/>
                    <a:p>
                      <a:pPr marL="0" algn="l" defTabSz="457200" rtl="0" eaLnBrk="1" latinLnBrk="1" hangingPunct="1">
                        <a:lnSpc>
                          <a:spcPts val="1200"/>
                        </a:lnSpc>
                        <a:spcAft>
                          <a:spcPts val="0"/>
                        </a:spcAft>
                      </a:pPr>
                      <a:r>
                        <a:rPr lang="en-US" altLang="ko-KR" sz="900" b="0" kern="12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Lợi </a:t>
                      </a:r>
                      <a:r>
                        <a:rPr lang="en-US" altLang="ko-KR" sz="900" b="0" kern="1200" spc="0" baseline="0" dirty="0" err="1">
                          <a:solidFill>
                            <a:schemeClr val="tx1"/>
                          </a:solidFill>
                          <a:effectLst/>
                          <a:latin typeface="Noto Sans" panose="020B0502040504020204" pitchFamily="34" charset="0"/>
                          <a:ea typeface="KoPub돋움체_Pro Medium" pitchFamily="18" charset="-127"/>
                          <a:cs typeface="Noto Sans" panose="020B0502040504020204" pitchFamily="34" charset="0"/>
                        </a:rPr>
                        <a:t>nhuận</a:t>
                      </a:r>
                      <a:r>
                        <a:rPr lang="en-US" altLang="ko-KR" sz="900" b="0" kern="12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 </a:t>
                      </a:r>
                      <a:r>
                        <a:rPr lang="en-US" altLang="ko-KR" sz="900" b="0" kern="1200" spc="0" baseline="0" dirty="0" err="1">
                          <a:solidFill>
                            <a:schemeClr val="tx1"/>
                          </a:solidFill>
                          <a:effectLst/>
                          <a:latin typeface="Noto Sans" panose="020B0502040504020204" pitchFamily="34" charset="0"/>
                          <a:ea typeface="KoPub돋움체_Pro Medium" pitchFamily="18" charset="-127"/>
                          <a:cs typeface="Noto Sans" panose="020B0502040504020204" pitchFamily="34" charset="0"/>
                        </a:rPr>
                        <a:t>kỳ</a:t>
                      </a:r>
                      <a:r>
                        <a:rPr lang="en-US" altLang="ko-KR" sz="900" b="0" kern="12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 </a:t>
                      </a:r>
                      <a:r>
                        <a:rPr lang="en-US" altLang="ko-KR" sz="900" b="0" kern="1200" spc="0" baseline="0" dirty="0" err="1">
                          <a:solidFill>
                            <a:schemeClr val="tx1"/>
                          </a:solidFill>
                          <a:effectLst/>
                          <a:latin typeface="Noto Sans" panose="020B0502040504020204" pitchFamily="34" charset="0"/>
                          <a:ea typeface="KoPub돋움체_Pro Medium" pitchFamily="18" charset="-127"/>
                          <a:cs typeface="Noto Sans" panose="020B0502040504020204" pitchFamily="34" charset="0"/>
                        </a:rPr>
                        <a:t>vọng</a:t>
                      </a:r>
                      <a:endParaRPr lang="ko-KR" sz="900" b="0" kern="12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0" kern="100" spc="0" baseline="0" dirty="0">
                          <a:solidFill>
                            <a:schemeClr val="tx1"/>
                          </a:solidFill>
                          <a:effectLst/>
                          <a:latin typeface="+mj-lt"/>
                          <a:ea typeface="KoPub돋움체_Pro Medium" pitchFamily="18" charset="-127"/>
                          <a:cs typeface="Noto Sans" panose="020B0502040504020204" pitchFamily="34" charset="0"/>
                        </a:rPr>
                        <a:t>20%</a:t>
                      </a:r>
                      <a:endParaRPr lang="ko-KR" altLang="en-US" sz="900" b="0" kern="100" spc="0" baseline="0" dirty="0">
                        <a:solidFill>
                          <a:schemeClr val="tx1"/>
                        </a:solidFill>
                        <a:effectLst/>
                        <a:latin typeface="+mj-lt"/>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4"/>
                  </a:ext>
                </a:extLst>
              </a:tr>
            </a:tbl>
          </a:graphicData>
        </a:graphic>
      </p:graphicFrame>
      <p:sp>
        <p:nvSpPr>
          <p:cNvPr id="15" name="Rectangle 15">
            <a:extLst>
              <a:ext uri="{FF2B5EF4-FFF2-40B4-BE49-F238E27FC236}">
                <a16:creationId xmlns:a16="http://schemas.microsoft.com/office/drawing/2014/main" id="{6985EDC9-4B95-8C93-90E9-135FA09846C9}"/>
              </a:ext>
            </a:extLst>
          </p:cNvPr>
          <p:cNvSpPr>
            <a:spLocks noChangeArrowheads="1"/>
          </p:cNvSpPr>
          <p:nvPr/>
        </p:nvSpPr>
        <p:spPr bwMode="auto">
          <a:xfrm>
            <a:off x="3135750" y="1128058"/>
            <a:ext cx="8593283" cy="2954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36000" rIns="0" bIns="0"/>
          <a:lstStyle/>
          <a:p>
            <a:pPr algn="just" fontAlgn="ctr">
              <a:lnSpc>
                <a:spcPts val="1200"/>
              </a:lnSpc>
              <a:spcBef>
                <a:spcPct val="0"/>
              </a:spcBef>
              <a:spcAft>
                <a:spcPts val="600"/>
              </a:spcAft>
              <a:buSzPct val="130000"/>
              <a:defRPr/>
            </a:pPr>
            <a:r>
              <a:rPr lang="en-US" altLang="ko-KR" sz="800"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Đ</a:t>
            </a:r>
            <a:r>
              <a:rPr kumimoji="1" lang="en-US" altLang="ko-KR" sz="800"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iểm</a:t>
            </a:r>
            <a:r>
              <a:rPr kumimoji="1"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nhấn</a:t>
            </a: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a:t>
            </a:r>
            <a:r>
              <a:rPr kumimoji="1"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đầu tư</a:t>
            </a: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a:t>
            </a:r>
          </a:p>
          <a:p>
            <a:pPr algn="just" fontAlgn="ctr">
              <a:lnSpc>
                <a:spcPts val="1200"/>
              </a:lnSpc>
              <a:spcAft>
                <a:spcPts val="600"/>
              </a:spcAft>
              <a:buSzPct val="130000"/>
              <a:defRPr/>
            </a:pPr>
            <a:r>
              <a:rPr kumimoji="1"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KQKD </a:t>
            </a: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Q2/2026 (dự báo): </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EIB chưa công bố BCTC chính thức Q2/2026. MBS Research dự báo LNTT Q2/2026 đạt ~387 tỷ đồng (-41% CK; LNST ~309 tỷ đồng), tương ứng LNTT 1H26 ~725 tỷ đồng (≈-51% CK) — bằng ~48% kế hoạch điều chỉnh FY26 (1,515 tỷ đồng) và ~29% dự phóng FY26F của chúng tôi (2,464 tỷ đồng), phù hợp với quan điểm lợi nhuận dồn về 2H. Đà giảm phản ánh NIM tiếp tục thu hẹp — áp lực chi phí huy động khi tỷ trọng giấy tờ có giá trong IBL duy trì ở mức cao (9.1% tại Q1/2026) — thu nhập ngoài lãi phục hồi chưa rõ nét, và chi phí dự phòng ở mức cao sau khi tỷ lệ NPL vượt 3% trong Q1/2026 (3.07%; Nợ nhóm 2 +33% QoQ; LLR 38%). Nhắc lại Q1/2026: LNTT 338 tỷ đồng (-59% CK), TOI 1,528 tỷ đồng (-15.5% CK), CIR 57%, PPOP 657 tỷ đồng (-31% CK).</a:t>
            </a:r>
          </a:p>
          <a:p>
            <a:pPr algn="just" fontAlgn="ctr">
              <a:lnSpc>
                <a:spcPts val="1200"/>
              </a:lnSpc>
              <a:spcBef>
                <a:spcPct val="0"/>
              </a:spcBef>
              <a:spcAft>
                <a:spcPts val="600"/>
              </a:spcAft>
              <a:buSzPct val="130000"/>
              <a:defRPr/>
            </a:pPr>
            <a:r>
              <a:rPr kumimoji="1"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Eximbank đã điều chỉnh giảm mạnh kế hoạch LNTT 2026 xuống 1</a:t>
            </a: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a:t>
            </a:r>
            <a:r>
              <a:rPr kumimoji="1"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515 tỷ (</a:t>
            </a: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a:t>
            </a:r>
            <a:r>
              <a:rPr kumimoji="1"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6</a:t>
            </a: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3</a:t>
            </a:r>
            <a:r>
              <a:rPr kumimoji="1"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so với kế hoạch ban đầu 4</a:t>
            </a: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a:t>
            </a:r>
            <a:r>
              <a:rPr kumimoji="1"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0</a:t>
            </a: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66</a:t>
            </a:r>
            <a:r>
              <a:rPr kumimoji="1"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tỷ), </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đồng thời tiếp tục trình ĐHCĐ phương án không chia cổ tức nhằm củng cố nền vốn. Ngân hàng đặt mục tiêu tổng tài sản 310 nghìn tỷ (+13</a:t>
            </a:r>
            <a:r>
              <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4% CK), tiền gửi khách hàng và tín dụng lần lượt 232</a:t>
            </a:r>
            <a:r>
              <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6 nghìn tỷ (+17</a:t>
            </a:r>
            <a:r>
              <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8% CK) và 228</a:t>
            </a:r>
            <a:r>
              <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4 nghìn tỷ (+16</a:t>
            </a:r>
            <a:r>
              <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5% CK). Ban lãnh đạo định hướng kéo tỷ lệ NPL từ 2.86% (cuối 2025) xuống dưới 2.5% vào cuối 2026.</a:t>
            </a:r>
          </a:p>
          <a:p>
            <a:pPr algn="just" fontAlgn="ctr">
              <a:lnSpc>
                <a:spcPts val="1200"/>
              </a:lnSpc>
              <a:spcBef>
                <a:spcPct val="0"/>
              </a:spcBef>
              <a:spcAft>
                <a:spcPts val="600"/>
              </a:spcAft>
              <a:buSzPct val="130000"/>
              <a:defRPr/>
            </a:pPr>
            <a:r>
              <a:rPr kumimoji="1"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Chúng tôi hạ dự phóng LNTT FY26F xuống 2,4</a:t>
            </a: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64</a:t>
            </a:r>
            <a:r>
              <a:rPr kumimoji="1"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tỷ đồng (+</a:t>
            </a: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63</a:t>
            </a:r>
            <a:r>
              <a:rPr kumimoji="1"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CK) từ mức 3,530 tỷ đồng trước đó</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đồng thời hạ giả định tăng trưởng tín dụng từ +16% xuống +14.5%. Thứ nhất, tăng trưởng NII được hạ từ +25.4% xuống +13</a:t>
            </a:r>
            <a:r>
              <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.8</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để phản ánh chi phí huy động khó hạ nhiệt khi sự dịch chuyển cơ cấu sang giấy tờ có giá hiện mang tính cấu trúc, làm chậm lộ trình phục hồi NIM qua 2H. Thứ hai, chi phí dự phòng được nâng lên 2,1</a:t>
            </a:r>
            <a:r>
              <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01</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tỷ đồng (+</a:t>
            </a:r>
            <a:r>
              <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37.6</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CK) để phản ánh chất lượng tài sản hình thành trong Q</a:t>
            </a:r>
            <a:r>
              <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1/2026</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với Nợ nhóm 2 +33% QoQ báo hiệu chi phí tín dụng tiếp tục ở mức cao trong 2H. Đà phục hồi thu nhập phí (+163% </a:t>
            </a:r>
            <a:r>
              <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CK</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lên 633 tỷ đồng) và việc CIR chuẩn hóa về 49% được giữ nguy</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ê</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n</a:t>
            </a:r>
            <a:r>
              <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a:t>
            </a:r>
            <a:r>
              <a:rPr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tuy nhiên, chúng tôi lưu ý cả hai cấu phần này đều dồn về 2H</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a:t>
            </a:r>
            <a:r>
              <a:rPr lang="en-US" altLang="ko-KR" sz="800" b="0"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Giả</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a:t>
            </a:r>
            <a:r>
              <a:rPr lang="en-US" altLang="ko-KR" sz="800" b="0"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định</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CIR</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dựa trên kỳ vọng các khoản đầu tư công nghệ trước đây bắt đầu phát huy hiệu quả; </a:t>
            </a:r>
            <a:r>
              <a:rPr kumimoji="1" lang="en-US" altLang="ko-KR" sz="800" b="0"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nhưng</a:t>
            </a:r>
            <a:r>
              <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0"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vẫn</a:t>
            </a:r>
            <a:r>
              <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0"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sẽ</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phụ thuộc vào sự phục hồi của thu nhập hơn là kỷ luật chi phí. Mức LNTT điều chỉnh của chúng tôi cao hơn </a:t>
            </a:r>
            <a:r>
              <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949</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tỷ đồng so với kế hoạch điều chỉnh của ban điều hành (1</a:t>
            </a:r>
            <a:r>
              <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515 tỷ đồng) nhưng thấp hơn so với kế hoạch ban đầu 4</a:t>
            </a:r>
            <a:r>
              <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0</a:t>
            </a:r>
            <a:r>
              <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66</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tỷ đồng.</a:t>
            </a:r>
            <a:endPar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p:txBody>
      </p:sp>
      <p:graphicFrame>
        <p:nvGraphicFramePr>
          <p:cNvPr id="16" name="표 14">
            <a:extLst>
              <a:ext uri="{FF2B5EF4-FFF2-40B4-BE49-F238E27FC236}">
                <a16:creationId xmlns:a16="http://schemas.microsoft.com/office/drawing/2014/main" id="{F62319EB-F7B6-F39F-3DDA-57803733E99B}"/>
              </a:ext>
            </a:extLst>
          </p:cNvPr>
          <p:cNvGraphicFramePr>
            <a:graphicFrameLocks noGrp="1"/>
          </p:cNvGraphicFramePr>
          <p:nvPr/>
        </p:nvGraphicFramePr>
        <p:xfrm>
          <a:off x="6010273" y="4182363"/>
          <a:ext cx="5738041" cy="2258568"/>
        </p:xfrm>
        <a:graphic>
          <a:graphicData uri="http://schemas.openxmlformats.org/drawingml/2006/table">
            <a:tbl>
              <a:tblPr firstRow="1" firstCol="1" bandRow="1">
                <a:tableStyleId>{5C22544A-7EE6-4342-B048-85BDC9FD1C3A}</a:tableStyleId>
              </a:tblPr>
              <a:tblGrid>
                <a:gridCol w="1372235">
                  <a:extLst>
                    <a:ext uri="{9D8B030D-6E8A-4147-A177-3AD203B41FA5}">
                      <a16:colId xmlns:a16="http://schemas.microsoft.com/office/drawing/2014/main" val="20000"/>
                    </a:ext>
                  </a:extLst>
                </a:gridCol>
                <a:gridCol w="665796">
                  <a:extLst>
                    <a:ext uri="{9D8B030D-6E8A-4147-A177-3AD203B41FA5}">
                      <a16:colId xmlns:a16="http://schemas.microsoft.com/office/drawing/2014/main" val="20001"/>
                    </a:ext>
                  </a:extLst>
                </a:gridCol>
                <a:gridCol w="740002">
                  <a:extLst>
                    <a:ext uri="{9D8B030D-6E8A-4147-A177-3AD203B41FA5}">
                      <a16:colId xmlns:a16="http://schemas.microsoft.com/office/drawing/2014/main" val="20002"/>
                    </a:ext>
                  </a:extLst>
                </a:gridCol>
                <a:gridCol w="740002">
                  <a:extLst>
                    <a:ext uri="{9D8B030D-6E8A-4147-A177-3AD203B41FA5}">
                      <a16:colId xmlns:a16="http://schemas.microsoft.com/office/drawing/2014/main" val="20003"/>
                    </a:ext>
                  </a:extLst>
                </a:gridCol>
                <a:gridCol w="740002">
                  <a:extLst>
                    <a:ext uri="{9D8B030D-6E8A-4147-A177-3AD203B41FA5}">
                      <a16:colId xmlns:a16="http://schemas.microsoft.com/office/drawing/2014/main" val="20004"/>
                    </a:ext>
                  </a:extLst>
                </a:gridCol>
                <a:gridCol w="740002">
                  <a:extLst>
                    <a:ext uri="{9D8B030D-6E8A-4147-A177-3AD203B41FA5}">
                      <a16:colId xmlns:a16="http://schemas.microsoft.com/office/drawing/2014/main" val="20005"/>
                    </a:ext>
                  </a:extLst>
                </a:gridCol>
                <a:gridCol w="740002">
                  <a:extLst>
                    <a:ext uri="{9D8B030D-6E8A-4147-A177-3AD203B41FA5}">
                      <a16:colId xmlns:a16="http://schemas.microsoft.com/office/drawing/2014/main" val="20006"/>
                    </a:ext>
                  </a:extLst>
                </a:gridCol>
              </a:tblGrid>
              <a:tr h="173736">
                <a:tc>
                  <a:txBody>
                    <a:bodyPr/>
                    <a:lstStyle/>
                    <a:p>
                      <a:pPr marL="0" algn="l" defTabSz="457200" rtl="0" eaLnBrk="1" latinLnBrk="1" hangingPunct="0">
                        <a:lnSpc>
                          <a:spcPct val="100000"/>
                        </a:lnSpc>
                        <a:spcAft>
                          <a:spcPts val="0"/>
                        </a:spcAft>
                      </a:pPr>
                      <a:r>
                        <a:rPr lang="en-US" altLang="ko-KR" sz="800" b="1" i="0" kern="100" spc="0" baseline="0" dirty="0">
                          <a:solidFill>
                            <a:schemeClr val="tx1"/>
                          </a:solidFill>
                          <a:effectLst/>
                          <a:latin typeface="+mj-lt"/>
                          <a:ea typeface="Noto Sans" panose="020B0502040504020204" pitchFamily="34" charset="0"/>
                          <a:cs typeface="Noto Sans" panose="020B0502040504020204" pitchFamily="34" charset="0"/>
                        </a:rPr>
                        <a:t> FY (31/12)</a:t>
                      </a:r>
                      <a:endParaRPr lang="ko-KR" sz="800" b="1" i="0" kern="100" spc="0" baseline="0" dirty="0">
                        <a:solidFill>
                          <a:schemeClr val="tx1"/>
                        </a:solidFill>
                        <a:effectLst/>
                        <a:latin typeface="+mj-lt"/>
                        <a:ea typeface="KoPub돋움체_Pro Bold" pitchFamily="18" charset="-127"/>
                        <a:cs typeface="Noto Sans" panose="020B0502040504020204" pitchFamily="34" charset="0"/>
                      </a:endParaRP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FY23</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FY24</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FY25</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FY26F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r>
                        <a:rPr lang="en-US" sz="800" b="1" i="0" u="none" strike="noStrike" dirty="0">
                          <a:solidFill>
                            <a:srgbClr val="000000"/>
                          </a:solidFill>
                          <a:effectLst/>
                          <a:latin typeface="Noto Sans" panose="020B0502040504020204" pitchFamily="34" charset="0"/>
                        </a:rPr>
                        <a:t>FY27F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FY28F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73736">
                <a:tc>
                  <a:txBody>
                    <a:bodyPr/>
                    <a:lstStyle/>
                    <a:p>
                      <a:pPr marL="0" marR="41910" algn="l" latinLnBrk="1" hangingPunct="0">
                        <a:lnSpc>
                          <a:spcPts val="950"/>
                        </a:lnSpc>
                        <a:spcBef>
                          <a:spcPts val="0"/>
                        </a:spcBef>
                        <a:spcAft>
                          <a:spcPts val="0"/>
                        </a:spcAft>
                      </a:pPr>
                      <a:r>
                        <a:rPr lang="en-US" sz="800" b="0" kern="1200" spc="-40" dirty="0">
                          <a:solidFill>
                            <a:srgbClr val="000000"/>
                          </a:solidFill>
                          <a:effectLst/>
                          <a:latin typeface="+mj-lt"/>
                          <a:ea typeface="Noto Sans" panose="020B0502040504020204" pitchFamily="34" charset="0"/>
                          <a:cs typeface="Noto Sans" panose="020B0502040504020204" pitchFamily="34" charset="0"/>
                        </a:rPr>
                        <a:t>Thu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nhập</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lãi</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thuần</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tỷ</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mj-lt"/>
                          <a:ea typeface="Noto Sans" panose="020B0502040504020204" pitchFamily="34" charset="0"/>
                          <a:cs typeface="Noto Sans" panose="020B0502040504020204" pitchFamily="34" charset="0"/>
                        </a:rPr>
                        <a:t>)</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4,597 </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5,924 </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 5,980 </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6,805 </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8,296 </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10,002 </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73736">
                <a:tc>
                  <a:txBody>
                    <a:bodyPr/>
                    <a:lstStyle/>
                    <a:p>
                      <a:pPr marL="0" marR="41910" algn="l" latinLnBrk="1" hangingPunct="0">
                        <a:lnSpc>
                          <a:spcPts val="950"/>
                        </a:lnSpc>
                        <a:spcBef>
                          <a:spcPts val="0"/>
                        </a:spcBef>
                        <a:spcAft>
                          <a:spcPts val="0"/>
                        </a:spcAft>
                      </a:pPr>
                      <a:r>
                        <a:rPr lang="en-US" sz="800" b="0" kern="1200" spc="-40" dirty="0">
                          <a:solidFill>
                            <a:srgbClr val="000000"/>
                          </a:solidFill>
                          <a:effectLst/>
                          <a:latin typeface="+mj-lt"/>
                          <a:ea typeface="Noto Sans" panose="020B0502040504020204" pitchFamily="34" charset="0"/>
                          <a:cs typeface="Noto Sans" panose="020B0502040504020204" pitchFamily="34" charset="0"/>
                        </a:rPr>
                        <a:t>Thu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nhập</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ngoài</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lãi</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tỷ</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mj-lt"/>
                          <a:ea typeface="Noto Sans" panose="020B0502040504020204" pitchFamily="34" charset="0"/>
                          <a:cs typeface="Noto Sans" panose="020B0502040504020204" pitchFamily="34" charset="0"/>
                        </a:rPr>
                        <a:t>)</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 1,958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 2,634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 1,312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 2,145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dirty="0">
                          <a:effectLst/>
                          <a:latin typeface="Noto Sans" panose="020B0502040504020204" pitchFamily="34" charset="0"/>
                        </a:rPr>
                        <a:t> 2,793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 2,668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73736">
                <a:tc>
                  <a:txBody>
                    <a:bodyPr/>
                    <a:lstStyle/>
                    <a:p>
                      <a:pPr marL="0" marR="41910" algn="l" latinLnBrk="1" hangingPunct="0">
                        <a:lnSpc>
                          <a:spcPts val="950"/>
                        </a:lnSpc>
                        <a:spcBef>
                          <a:spcPts val="0"/>
                        </a:spcBef>
                        <a:spcAft>
                          <a:spcPts val="0"/>
                        </a:spcAft>
                      </a:pPr>
                      <a:r>
                        <a:rPr lang="en-US" sz="800" b="0" kern="1200" spc="-40" dirty="0" err="1">
                          <a:solidFill>
                            <a:srgbClr val="000000"/>
                          </a:solidFill>
                          <a:effectLst/>
                          <a:latin typeface="+mj-lt"/>
                          <a:ea typeface="Noto Sans" panose="020B0502040504020204" pitchFamily="34" charset="0"/>
                          <a:cs typeface="Noto Sans" panose="020B0502040504020204" pitchFamily="34" charset="0"/>
                        </a:rPr>
                        <a:t>Lợi</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nhuận</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hoạt</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động</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tỷ</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mj-lt"/>
                          <a:ea typeface="Noto Sans" panose="020B0502040504020204" pitchFamily="34" charset="0"/>
                          <a:cs typeface="Noto Sans" panose="020B0502040504020204" pitchFamily="34" charset="0"/>
                        </a:rPr>
                        <a:t>)</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2,720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4,188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1,512</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2,464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3,867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5,264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73736">
                <a:tc>
                  <a:txBody>
                    <a:bodyPr/>
                    <a:lstStyle/>
                    <a:p>
                      <a:pPr marL="0" marR="41910" algn="l" latinLnBrk="1" hangingPunct="0">
                        <a:lnSpc>
                          <a:spcPts val="950"/>
                        </a:lnSpc>
                        <a:spcBef>
                          <a:spcPts val="0"/>
                        </a:spcBef>
                        <a:spcAft>
                          <a:spcPts val="0"/>
                        </a:spcAft>
                      </a:pPr>
                      <a:r>
                        <a:rPr lang="en-US" sz="800" b="0" kern="1200" spc="-40" dirty="0">
                          <a:solidFill>
                            <a:srgbClr val="000000"/>
                          </a:solidFill>
                          <a:effectLst/>
                          <a:latin typeface="+mj-lt"/>
                          <a:ea typeface="Noto Sans" panose="020B0502040504020204" pitchFamily="34" charset="0"/>
                          <a:cs typeface="Noto Sans" panose="020B0502040504020204" pitchFamily="34" charset="0"/>
                        </a:rPr>
                        <a:t>LNST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tỷ</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mj-lt"/>
                          <a:ea typeface="Noto Sans" panose="020B0502040504020204" pitchFamily="34" charset="0"/>
                          <a:cs typeface="Noto Sans" panose="020B0502040504020204" pitchFamily="34" charset="0"/>
                        </a:rPr>
                        <a:t>)</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2,165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3,326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1,137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1,971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3,094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4,211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39360553"/>
                  </a:ext>
                </a:extLst>
              </a:tr>
              <a:tr h="173736">
                <a:tc>
                  <a:txBody>
                    <a:bodyPr/>
                    <a:lstStyle/>
                    <a:p>
                      <a:pPr marL="0" marR="0" algn="l" latinLnBrk="1" hangingPunct="0">
                        <a:lnSpc>
                          <a:spcPts val="950"/>
                        </a:lnSpc>
                        <a:spcBef>
                          <a:spcPts val="0"/>
                        </a:spcBef>
                        <a:spcAft>
                          <a:spcPts val="0"/>
                        </a:spcAft>
                      </a:pPr>
                      <a:r>
                        <a:rPr lang="en-US" sz="800" b="0" kern="1200" spc="-40" dirty="0">
                          <a:solidFill>
                            <a:srgbClr val="000000"/>
                          </a:solidFill>
                          <a:effectLst/>
                          <a:latin typeface="+mj-lt"/>
                          <a:ea typeface="Noto Sans" panose="020B0502040504020204" pitchFamily="34" charset="0"/>
                          <a:cs typeface="Noto Sans" panose="020B0502040504020204" pitchFamily="34" charset="0"/>
                        </a:rPr>
                        <a:t>EPS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mj-lt"/>
                          <a:ea typeface="Noto Sans" panose="020B0502040504020204" pitchFamily="34" charset="0"/>
                          <a:cs typeface="Noto Sans" panose="020B0502040504020204" pitchFamily="34" charset="0"/>
                        </a:rPr>
                        <a:t>)</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1,233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1,771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605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1,049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1,647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2,242</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mj-lt"/>
                          <a:ea typeface="Noto Sans" panose="020B0502040504020204" pitchFamily="34" charset="0"/>
                          <a:cs typeface="Noto Sans" panose="020B0502040504020204" pitchFamily="34" charset="0"/>
                        </a:rPr>
                        <a:t>ROE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10.1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14.0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4.4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7.3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10.5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12.7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mj-lt"/>
                          <a:ea typeface="Noto Sans" panose="020B0502040504020204" pitchFamily="34" charset="0"/>
                          <a:cs typeface="Noto Sans" panose="020B0502040504020204" pitchFamily="34" charset="0"/>
                        </a:rPr>
                        <a:t>P/E (x)</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20.7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14.4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42.1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24.3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15.5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11.4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mj-lt"/>
                          <a:ea typeface="Noto Sans" panose="020B0502040504020204" pitchFamily="34" charset="0"/>
                          <a:cs typeface="Noto Sans" panose="020B0502040504020204" pitchFamily="34" charset="0"/>
                        </a:rPr>
                        <a:t>P/B (x)</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73736">
                <a:tc>
                  <a:txBody>
                    <a:bodyPr/>
                    <a:lstStyle/>
                    <a:p>
                      <a:pPr marL="0" marR="0" algn="l" latinLnBrk="1" hangingPunct="0">
                        <a:lnSpc>
                          <a:spcPts val="950"/>
                        </a:lnSpc>
                        <a:spcBef>
                          <a:spcPts val="0"/>
                        </a:spcBef>
                        <a:spcAft>
                          <a:spcPts val="0"/>
                        </a:spcAft>
                      </a:pPr>
                      <a:r>
                        <a:rPr lang="en-US" sz="800" b="0" spc="-40" dirty="0" err="1">
                          <a:solidFill>
                            <a:srgbClr val="000000"/>
                          </a:solidFill>
                          <a:effectLst/>
                          <a:latin typeface="+mj-lt"/>
                          <a:ea typeface="Noto Sans" panose="020B0502040504020204" pitchFamily="34" charset="0"/>
                          <a:cs typeface="Noto Sans" panose="020B0502040504020204" pitchFamily="34" charset="0"/>
                        </a:rPr>
                        <a:t>Tổng</a:t>
                      </a:r>
                      <a:r>
                        <a:rPr lang="en-US" sz="800" b="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tài</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sản</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altLang="ko-KR" sz="800" b="0" i="0" kern="100" spc="0" baseline="0" dirty="0">
                          <a:solidFill>
                            <a:schemeClr val="tx1"/>
                          </a:solidFill>
                          <a:effectLst/>
                          <a:latin typeface="+mj-lt"/>
                          <a:ea typeface="Noto Sans" panose="020B0502040504020204" pitchFamily="34" charset="0"/>
                          <a:cs typeface="Noto Sans" panose="020B0502040504020204" pitchFamily="34" charset="0"/>
                        </a:rPr>
                        <a:t>(</a:t>
                      </a:r>
                      <a:r>
                        <a:rPr lang="en-US" altLang="ko-KR" sz="800" b="0" i="0" kern="100" spc="0" baseline="0" dirty="0" err="1">
                          <a:solidFill>
                            <a:schemeClr val="tx1"/>
                          </a:solidFill>
                          <a:effectLst/>
                          <a:latin typeface="+mj-lt"/>
                          <a:ea typeface="Noto Sans" panose="020B0502040504020204" pitchFamily="34" charset="0"/>
                          <a:cs typeface="Noto Sans" panose="020B0502040504020204" pitchFamily="34" charset="0"/>
                        </a:rPr>
                        <a:t>tỷ</a:t>
                      </a:r>
                      <a:r>
                        <a:rPr lang="en-US" altLang="ko-KR" sz="800" b="0" i="0" kern="100" spc="0" baseline="0" dirty="0">
                          <a:solidFill>
                            <a:schemeClr val="tx1"/>
                          </a:solidFill>
                          <a:effectLst/>
                          <a:latin typeface="+mj-lt"/>
                          <a:ea typeface="Noto Sans" panose="020B0502040504020204" pitchFamily="34" charset="0"/>
                          <a:cs typeface="Noto Sans" panose="020B0502040504020204" pitchFamily="34" charset="0"/>
                        </a:rPr>
                        <a:t> </a:t>
                      </a:r>
                      <a:r>
                        <a:rPr lang="en-US" altLang="ko-KR" sz="800" b="0" i="0" kern="100" spc="0" baseline="0" dirty="0" err="1">
                          <a:solidFill>
                            <a:schemeClr val="tx1"/>
                          </a:solidFill>
                          <a:effectLst/>
                          <a:latin typeface="+mj-lt"/>
                          <a:ea typeface="Noto Sans" panose="020B0502040504020204" pitchFamily="34" charset="0"/>
                          <a:cs typeface="Noto Sans" panose="020B0502040504020204" pitchFamily="34" charset="0"/>
                        </a:rPr>
                        <a:t>đồng</a:t>
                      </a:r>
                      <a:r>
                        <a:rPr lang="en-US" altLang="ko-KR" sz="800" b="0" i="0" kern="100" spc="0" baseline="0" dirty="0">
                          <a:solidFill>
                            <a:schemeClr val="tx1"/>
                          </a:solidFill>
                          <a:effectLst/>
                          <a:latin typeface="+mj-lt"/>
                          <a:ea typeface="Noto Sans" panose="020B0502040504020204" pitchFamily="34" charset="0"/>
                          <a:cs typeface="Noto Sans" panose="020B0502040504020204" pitchFamily="34" charset="0"/>
                        </a:rPr>
                        <a:t>)</a:t>
                      </a:r>
                      <a:endParaRPr lang="en-US" sz="800" b="0" spc="-40" dirty="0">
                        <a:solidFill>
                          <a:srgbClr val="000000"/>
                        </a:solidFill>
                        <a:effectLst/>
                        <a:latin typeface="+mj-lt"/>
                        <a:ea typeface="Noto Sans" panose="020B0502040504020204" pitchFamily="34" charset="0"/>
                        <a:cs typeface="Noto Sans" panose="020B0502040504020204" pitchFamily="34" charset="0"/>
                      </a:endParaRP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201,417</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239,768</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273,270</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307,544</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348,334</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398,004</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mj-lt"/>
                          <a:ea typeface="Noto Sans" panose="020B0502040504020204" pitchFamily="34" charset="0"/>
                          <a:cs typeface="Noto Sans" panose="020B0502040504020204" pitchFamily="34" charset="0"/>
                        </a:rPr>
                        <a:t>VCSH </a:t>
                      </a:r>
                      <a:r>
                        <a:rPr lang="en-US" altLang="ko-KR" sz="800" b="0" i="0" kern="100" spc="0" baseline="0" dirty="0">
                          <a:solidFill>
                            <a:schemeClr val="tx1"/>
                          </a:solidFill>
                          <a:effectLst/>
                          <a:latin typeface="+mj-lt"/>
                          <a:ea typeface="Noto Sans" panose="020B0502040504020204" pitchFamily="34" charset="0"/>
                          <a:cs typeface="Noto Sans" panose="020B0502040504020204" pitchFamily="34" charset="0"/>
                        </a:rPr>
                        <a:t>(</a:t>
                      </a:r>
                      <a:r>
                        <a:rPr lang="en-US" altLang="ko-KR" sz="800" b="0" i="0" kern="100" spc="0" baseline="0" dirty="0" err="1">
                          <a:solidFill>
                            <a:schemeClr val="tx1"/>
                          </a:solidFill>
                          <a:effectLst/>
                          <a:latin typeface="+mj-lt"/>
                          <a:ea typeface="Noto Sans" panose="020B0502040504020204" pitchFamily="34" charset="0"/>
                          <a:cs typeface="Noto Sans" panose="020B0502040504020204" pitchFamily="34" charset="0"/>
                        </a:rPr>
                        <a:t>tỷ</a:t>
                      </a:r>
                      <a:r>
                        <a:rPr lang="en-US" altLang="ko-KR" sz="800" b="0" i="0" kern="100" spc="0" baseline="0" dirty="0">
                          <a:solidFill>
                            <a:schemeClr val="tx1"/>
                          </a:solidFill>
                          <a:effectLst/>
                          <a:latin typeface="+mj-lt"/>
                          <a:ea typeface="Noto Sans" panose="020B0502040504020204" pitchFamily="34" charset="0"/>
                          <a:cs typeface="Noto Sans" panose="020B0502040504020204" pitchFamily="34" charset="0"/>
                        </a:rPr>
                        <a:t> </a:t>
                      </a:r>
                      <a:r>
                        <a:rPr lang="en-US" altLang="ko-KR" sz="800" b="0" i="0" kern="100" spc="0" baseline="0" dirty="0" err="1">
                          <a:solidFill>
                            <a:schemeClr val="tx1"/>
                          </a:solidFill>
                          <a:effectLst/>
                          <a:latin typeface="+mj-lt"/>
                          <a:ea typeface="Noto Sans" panose="020B0502040504020204" pitchFamily="34" charset="0"/>
                          <a:cs typeface="Noto Sans" panose="020B0502040504020204" pitchFamily="34" charset="0"/>
                        </a:rPr>
                        <a:t>đồng</a:t>
                      </a:r>
                      <a:r>
                        <a:rPr lang="en-US" altLang="ko-KR" sz="800" b="0" i="0" kern="100" spc="0" baseline="0" dirty="0">
                          <a:solidFill>
                            <a:schemeClr val="tx1"/>
                          </a:solidFill>
                          <a:effectLst/>
                          <a:latin typeface="+mj-lt"/>
                          <a:ea typeface="Noto Sans" panose="020B0502040504020204" pitchFamily="34" charset="0"/>
                          <a:cs typeface="Noto Sans" panose="020B0502040504020204" pitchFamily="34" charset="0"/>
                        </a:rPr>
                        <a:t>)</a:t>
                      </a:r>
                      <a:endParaRPr lang="en-US" sz="800" b="0" spc="-40" dirty="0">
                        <a:solidFill>
                          <a:srgbClr val="000000"/>
                        </a:solidFill>
                        <a:effectLst/>
                        <a:latin typeface="+mj-lt"/>
                        <a:ea typeface="Noto Sans" panose="020B0502040504020204" pitchFamily="34" charset="0"/>
                        <a:cs typeface="Noto Sans" panose="020B0502040504020204" pitchFamily="34" charset="0"/>
                      </a:endParaRP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22,445</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25,099</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26,006</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27,977</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31,071</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35,282</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5519379"/>
                  </a:ext>
                </a:extLst>
              </a:tr>
              <a:tr h="173736">
                <a:tc>
                  <a:txBody>
                    <a:bodyPr/>
                    <a:lstStyle/>
                    <a:p>
                      <a:pPr marL="0" marR="0" algn="l" latinLnBrk="1" hangingPunct="0">
                        <a:lnSpc>
                          <a:spcPts val="950"/>
                        </a:lnSpc>
                        <a:spcBef>
                          <a:spcPts val="0"/>
                        </a:spcBef>
                        <a:spcAft>
                          <a:spcPts val="0"/>
                        </a:spcAft>
                      </a:pPr>
                      <a:r>
                        <a:rPr lang="en-US" sz="800" b="0" kern="1200" spc="-40" dirty="0" err="1">
                          <a:solidFill>
                            <a:srgbClr val="000000"/>
                          </a:solidFill>
                          <a:effectLst/>
                          <a:latin typeface="+mj-lt"/>
                          <a:ea typeface="Noto Sans" panose="020B0502040504020204" pitchFamily="34" charset="0"/>
                          <a:cs typeface="Noto Sans" panose="020B0502040504020204" pitchFamily="34" charset="0"/>
                        </a:rPr>
                        <a:t>Giá</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trị</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sổ</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sách</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mj-lt"/>
                          <a:ea typeface="Noto Sans" panose="020B0502040504020204" pitchFamily="34" charset="0"/>
                          <a:cs typeface="Noto Sans" panose="020B0502040504020204" pitchFamily="34" charset="0"/>
                        </a:rPr>
                        <a:t>)</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12,780</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13,364</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13,847</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14,896</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16,543</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18,786</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36674412"/>
                  </a:ext>
                </a:extLst>
              </a:tr>
              <a:tr h="173736">
                <a:tc gridSpan="7">
                  <a:txBody>
                    <a:bodyPr/>
                    <a:lstStyle/>
                    <a:p>
                      <a:pPr marL="0" marR="0" lvl="0" indent="0" algn="l" defTabSz="457200" rtl="0" eaLnBrk="1" fontAlgn="auto" latinLnBrk="1" hangingPunct="0">
                        <a:lnSpc>
                          <a:spcPts val="950"/>
                        </a:lnSpc>
                        <a:spcBef>
                          <a:spcPts val="0"/>
                        </a:spcBef>
                        <a:spcAft>
                          <a:spcPts val="0"/>
                        </a:spcAft>
                        <a:buClrTx/>
                        <a:buSzTx/>
                        <a:buFontTx/>
                        <a:buNone/>
                        <a:tabLst/>
                        <a:defRPr/>
                      </a:pPr>
                      <a:r>
                        <a:rPr lang="en-US" sz="800" b="0" i="0" kern="100" spc="0" baseline="0" dirty="0" err="1">
                          <a:solidFill>
                            <a:schemeClr val="tx1"/>
                          </a:solidFill>
                          <a:effectLst/>
                          <a:latin typeface="+mj-lt"/>
                          <a:ea typeface="Noto Sans" panose="020B0502040504020204" pitchFamily="34" charset="0"/>
                          <a:cs typeface="Arial" panose="020B0604020202020204" pitchFamily="34" charset="0"/>
                        </a:rPr>
                        <a:t>Nguồn</a:t>
                      </a:r>
                      <a:r>
                        <a:rPr lang="en-US" sz="800" b="0" i="0" kern="100" spc="0" baseline="0" dirty="0">
                          <a:solidFill>
                            <a:schemeClr val="tx1"/>
                          </a:solidFill>
                          <a:effectLst/>
                          <a:latin typeface="+mj-lt"/>
                          <a:ea typeface="Noto Sans" panose="020B0502040504020204" pitchFamily="34" charset="0"/>
                          <a:cs typeface="Arial" panose="020B0604020202020204" pitchFamily="34" charset="0"/>
                        </a:rPr>
                        <a:t>: </a:t>
                      </a:r>
                      <a:r>
                        <a:rPr lang="en-US" sz="800" b="0" i="0" kern="100" spc="0" baseline="0" dirty="0" err="1">
                          <a:solidFill>
                            <a:schemeClr val="tx1"/>
                          </a:solidFill>
                          <a:effectLst/>
                          <a:latin typeface="+mj-lt"/>
                          <a:ea typeface="Noto Sans" panose="020B0502040504020204" pitchFamily="34" charset="0"/>
                          <a:cs typeface="Arial" panose="020B0604020202020204" pitchFamily="34" charset="0"/>
                        </a:rPr>
                        <a:t>Dữ</a:t>
                      </a:r>
                      <a:r>
                        <a:rPr lang="en-US" sz="800" b="0" i="0" kern="100" spc="0" baseline="0" dirty="0">
                          <a:solidFill>
                            <a:schemeClr val="tx1"/>
                          </a:solidFill>
                          <a:effectLst/>
                          <a:latin typeface="+mj-lt"/>
                          <a:ea typeface="Noto Sans" panose="020B0502040504020204" pitchFamily="34" charset="0"/>
                          <a:cs typeface="Arial" panose="020B0604020202020204" pitchFamily="34" charset="0"/>
                        </a:rPr>
                        <a:t> </a:t>
                      </a:r>
                      <a:r>
                        <a:rPr lang="en-US" sz="800" b="0" i="0" kern="100" spc="0" baseline="0" dirty="0" err="1">
                          <a:solidFill>
                            <a:schemeClr val="tx1"/>
                          </a:solidFill>
                          <a:effectLst/>
                          <a:latin typeface="+mj-lt"/>
                          <a:ea typeface="Noto Sans" panose="020B0502040504020204" pitchFamily="34" charset="0"/>
                          <a:cs typeface="Arial" panose="020B0604020202020204" pitchFamily="34" charset="0"/>
                        </a:rPr>
                        <a:t>liệu</a:t>
                      </a:r>
                      <a:r>
                        <a:rPr lang="en-US" sz="800" b="0" i="0" kern="100" spc="0" baseline="0" dirty="0">
                          <a:solidFill>
                            <a:schemeClr val="tx1"/>
                          </a:solidFill>
                          <a:effectLst/>
                          <a:latin typeface="+mj-lt"/>
                          <a:ea typeface="Noto Sans" panose="020B0502040504020204" pitchFamily="34" charset="0"/>
                          <a:cs typeface="Arial" panose="020B0604020202020204" pitchFamily="34" charset="0"/>
                        </a:rPr>
                        <a:t> </a:t>
                      </a:r>
                      <a:r>
                        <a:rPr lang="en-US" sz="800" b="0" i="0" kern="100" spc="0" baseline="0" dirty="0" err="1">
                          <a:solidFill>
                            <a:schemeClr val="tx1"/>
                          </a:solidFill>
                          <a:effectLst/>
                          <a:latin typeface="+mj-lt"/>
                          <a:ea typeface="Noto Sans" panose="020B0502040504020204" pitchFamily="34" charset="0"/>
                          <a:cs typeface="Arial" panose="020B0604020202020204" pitchFamily="34" charset="0"/>
                        </a:rPr>
                        <a:t>công</a:t>
                      </a:r>
                      <a:r>
                        <a:rPr lang="en-US" sz="800" b="0" i="0" kern="100" spc="0" baseline="0" dirty="0">
                          <a:solidFill>
                            <a:schemeClr val="tx1"/>
                          </a:solidFill>
                          <a:effectLst/>
                          <a:latin typeface="+mj-lt"/>
                          <a:ea typeface="Noto Sans" panose="020B0502040504020204" pitchFamily="34" charset="0"/>
                          <a:cs typeface="Arial" panose="020B0604020202020204" pitchFamily="34" charset="0"/>
                        </a:rPr>
                        <a:t> ty, Mirae Asset Vietnam Research</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9"/>
                  </a:ext>
                </a:extLst>
              </a:tr>
            </a:tbl>
          </a:graphicData>
        </a:graphic>
      </p:graphicFrame>
      <p:sp>
        <p:nvSpPr>
          <p:cNvPr id="4" name="모서리가 둥근 직사각형 8">
            <a:extLst>
              <a:ext uri="{FF2B5EF4-FFF2-40B4-BE49-F238E27FC236}">
                <a16:creationId xmlns:a16="http://schemas.microsoft.com/office/drawing/2014/main" id="{4C4760AF-4369-F93D-7CB6-D6E086C5AD66}"/>
              </a:ext>
            </a:extLst>
          </p:cNvPr>
          <p:cNvSpPr/>
          <p:nvPr/>
        </p:nvSpPr>
        <p:spPr>
          <a:xfrm>
            <a:off x="10644562" y="296652"/>
            <a:ext cx="1097280" cy="2520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36000" rtlCol="0" anchor="ctr"/>
          <a:lstStyle/>
          <a:p>
            <a:pPr lvl="0" algn="ctr" fontAlgn="base" latinLnBrk="1">
              <a:spcBef>
                <a:spcPct val="0"/>
              </a:spcBef>
              <a:spcAft>
                <a:spcPct val="0"/>
              </a:spcAft>
              <a:defRPr/>
            </a:pPr>
            <a:r>
              <a:rPr kumimoji="1" lang="en-US" altLang="ko-KR" sz="900" b="1" dirty="0">
                <a:solidFill>
                  <a:prstClr val="white"/>
                </a:solidFill>
                <a:latin typeface="Noto Sans" panose="020B0502040504020204" pitchFamily="34" charset="0"/>
                <a:ea typeface="Noto Sans" panose="020B0502040504020204" pitchFamily="34" charset="0"/>
                <a:cs typeface="Noto Sans" panose="020B0502040504020204" pitchFamily="34" charset="0"/>
              </a:rPr>
              <a:t>Ngân </a:t>
            </a:r>
            <a:r>
              <a:rPr kumimoji="1" lang="en-US" altLang="ko-KR" sz="900" b="1" dirty="0" err="1">
                <a:solidFill>
                  <a:prstClr val="white"/>
                </a:solidFill>
                <a:latin typeface="Noto Sans" panose="020B0502040504020204" pitchFamily="34" charset="0"/>
                <a:ea typeface="Noto Sans" panose="020B0502040504020204" pitchFamily="34" charset="0"/>
                <a:cs typeface="Noto Sans" panose="020B0502040504020204" pitchFamily="34" charset="0"/>
              </a:rPr>
              <a:t>hàng</a:t>
            </a:r>
            <a:endParaRPr kumimoji="1" lang="ko-KR" altLang="en-US" sz="900" b="1" dirty="0">
              <a:solidFill>
                <a:prstClr val="white"/>
              </a:solidFill>
              <a:latin typeface="Noto Sans" panose="020B0502040504020204" pitchFamily="34" charset="0"/>
              <a:ea typeface="KoPub돋움체_Pro Bold" pitchFamily="18" charset="-127"/>
              <a:cs typeface="Noto Sans" panose="020B0502040504020204" pitchFamily="34" charset="0"/>
            </a:endParaRPr>
          </a:p>
        </p:txBody>
      </p:sp>
      <p:pic>
        <p:nvPicPr>
          <p:cNvPr id="3" name="Picture 2" descr="Thương hiệu Eximbank">
            <a:extLst>
              <a:ext uri="{FF2B5EF4-FFF2-40B4-BE49-F238E27FC236}">
                <a16:creationId xmlns:a16="http://schemas.microsoft.com/office/drawing/2014/main" id="{40479517-15A6-D0F8-3EDD-F182743EA22E}"/>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746" t="27646" r="5835" b="7164"/>
          <a:stretch>
            <a:fillRect/>
          </a:stretch>
        </p:blipFill>
        <p:spPr bwMode="auto">
          <a:xfrm>
            <a:off x="10317018" y="714457"/>
            <a:ext cx="1422882" cy="381517"/>
          </a:xfrm>
          <a:prstGeom prst="rect">
            <a:avLst/>
          </a:prstGeom>
          <a:noFill/>
          <a:extLst>
            <a:ext uri="{909E8E84-426E-40DD-AFC4-6F175D3DCCD1}">
              <a14:hiddenFill xmlns:a14="http://schemas.microsoft.com/office/drawing/2010/main">
                <a:solidFill>
                  <a:srgbClr val="FFFFFF"/>
                </a:solidFill>
              </a14:hiddenFill>
            </a:ext>
          </a:extLst>
        </p:spPr>
      </p:pic>
      <p:sp>
        <p:nvSpPr>
          <p:cNvPr id="5" name="제목 44">
            <a:extLst>
              <a:ext uri="{FF2B5EF4-FFF2-40B4-BE49-F238E27FC236}">
                <a16:creationId xmlns:a16="http://schemas.microsoft.com/office/drawing/2014/main" id="{95D6092A-66F0-D1E6-1994-25C96AD9D2AB}"/>
              </a:ext>
            </a:extLst>
          </p:cNvPr>
          <p:cNvSpPr txBox="1">
            <a:spLocks/>
          </p:cNvSpPr>
          <p:nvPr/>
        </p:nvSpPr>
        <p:spPr bwMode="auto">
          <a:xfrm>
            <a:off x="448251" y="0"/>
            <a:ext cx="8497888" cy="648000"/>
          </a:xfrm>
          <a:prstGeom prst="rect">
            <a:avLst/>
          </a:prstGeom>
          <a:noFill/>
          <a:ln>
            <a:noFill/>
          </a:ln>
          <a:effectLst/>
        </p:spPr>
        <p:txBody>
          <a:bodyPr lIns="0" tIns="36000" rIns="0" bIns="72000" anchor="b" anchorCtr="0"/>
          <a:lstStyle>
            <a:defPPr>
              <a:defRPr lang="ko-KR"/>
            </a:defPPr>
            <a:lvl1pPr algn="l">
              <a:defRPr kumimoji="0" sz="2100">
                <a:solidFill>
                  <a:schemeClr val="tx1">
                    <a:lumMod val="85000"/>
                    <a:lumOff val="15000"/>
                  </a:schemeClr>
                </a:solidFill>
                <a:latin typeface="Noto Sans" panose="020B0502040504020204" pitchFamily="34" charset="0"/>
                <a:ea typeface="Noto Sans" panose="020B0502040504020204" pitchFamily="34" charset="0"/>
                <a:cs typeface="Noto Sans" panose="020B0502040504020204" pitchFamily="34" charset="0"/>
              </a:defRPr>
            </a:lvl1pPr>
            <a:lvl2pPr marL="742950" indent="-285750" algn="l">
              <a:defRPr>
                <a:latin typeface="맑은 고딕" pitchFamily="50" charset="-127"/>
                <a:ea typeface="맑은 고딕" pitchFamily="50" charset="-127"/>
              </a:defRPr>
            </a:lvl2pPr>
            <a:lvl3pPr marL="1141413" indent="-227013" algn="l">
              <a:defRPr>
                <a:latin typeface="맑은 고딕" pitchFamily="50" charset="-127"/>
                <a:ea typeface="맑은 고딕" pitchFamily="50" charset="-127"/>
              </a:defRPr>
            </a:lvl3pPr>
            <a:lvl4pPr marL="1600200" indent="-231775" algn="l">
              <a:defRPr>
                <a:latin typeface="맑은 고딕" pitchFamily="50" charset="-127"/>
                <a:ea typeface="맑은 고딕" pitchFamily="50" charset="-127"/>
              </a:defRPr>
            </a:lvl4pPr>
            <a:lvl5pPr marL="2055813" indent="-227013" algn="l">
              <a:defRPr>
                <a:latin typeface="맑은 고딕" pitchFamily="50" charset="-127"/>
                <a:ea typeface="맑은 고딕" pitchFamily="50" charset="-127"/>
              </a:defRPr>
            </a:lvl5pPr>
            <a:lvl6pPr marL="2513013" indent="-227013" fontAlgn="base">
              <a:spcBef>
                <a:spcPct val="0"/>
              </a:spcBef>
              <a:spcAft>
                <a:spcPct val="0"/>
              </a:spcAft>
              <a:defRPr>
                <a:latin typeface="맑은 고딕" pitchFamily="50" charset="-127"/>
                <a:ea typeface="맑은 고딕" pitchFamily="50" charset="-127"/>
              </a:defRPr>
            </a:lvl6pPr>
            <a:lvl7pPr marL="2970213" indent="-227013" fontAlgn="base">
              <a:spcBef>
                <a:spcPct val="0"/>
              </a:spcBef>
              <a:spcAft>
                <a:spcPct val="0"/>
              </a:spcAft>
              <a:defRPr>
                <a:latin typeface="맑은 고딕" pitchFamily="50" charset="-127"/>
                <a:ea typeface="맑은 고딕" pitchFamily="50" charset="-127"/>
              </a:defRPr>
            </a:lvl7pPr>
            <a:lvl8pPr marL="3427413" indent="-227013" fontAlgn="base">
              <a:spcBef>
                <a:spcPct val="0"/>
              </a:spcBef>
              <a:spcAft>
                <a:spcPct val="0"/>
              </a:spcAft>
              <a:defRPr>
                <a:latin typeface="맑은 고딕" pitchFamily="50" charset="-127"/>
                <a:ea typeface="맑은 고딕" pitchFamily="50" charset="-127"/>
              </a:defRPr>
            </a:lvl8pPr>
            <a:lvl9pPr marL="3884613" indent="-227013" fontAlgn="base">
              <a:spcBef>
                <a:spcPct val="0"/>
              </a:spcBef>
              <a:spcAft>
                <a:spcPct val="0"/>
              </a:spcAft>
              <a:defRPr>
                <a:latin typeface="맑은 고딕" pitchFamily="50" charset="-127"/>
                <a:ea typeface="맑은 고딕" pitchFamily="50" charset="-127"/>
              </a:defRPr>
            </a:lvl9pPr>
          </a:lstStyle>
          <a:p>
            <a:pPr>
              <a:defRPr/>
            </a:pPr>
            <a:r>
              <a:rPr lang="en-US" b="1" dirty="0"/>
              <a:t>Ngân </a:t>
            </a:r>
            <a:r>
              <a:rPr lang="en-US" b="1" dirty="0" err="1"/>
              <a:t>hàng</a:t>
            </a:r>
            <a:r>
              <a:rPr lang="en-US" b="1" dirty="0"/>
              <a:t> TMCP </a:t>
            </a:r>
            <a:r>
              <a:rPr lang="en-US" b="1" dirty="0" err="1"/>
              <a:t>Xuất</a:t>
            </a:r>
            <a:r>
              <a:rPr lang="en-US" b="1" dirty="0"/>
              <a:t> </a:t>
            </a:r>
            <a:r>
              <a:rPr lang="en-US" b="1" dirty="0" err="1"/>
              <a:t>nhập</a:t>
            </a:r>
            <a:r>
              <a:rPr lang="en-US" b="1" dirty="0"/>
              <a:t> </a:t>
            </a:r>
            <a:r>
              <a:rPr lang="en-US" b="1" dirty="0" err="1"/>
              <a:t>khẩu</a:t>
            </a:r>
            <a:r>
              <a:rPr lang="en-US" b="1" dirty="0"/>
              <a:t> Việt Nam</a:t>
            </a:r>
            <a:r>
              <a:rPr kumimoji="0" lang="en-US" altLang="ko-KR" sz="2100" b="1" i="0" u="none" strike="noStrike" kern="1200" cap="none" spc="0" normalizeH="0" baseline="0" noProof="0" dirty="0">
                <a:ln>
                  <a:noFill/>
                </a:ln>
                <a:solidFill>
                  <a:srgbClr val="000000">
                    <a:lumMod val="85000"/>
                    <a:lumOff val="15000"/>
                  </a:srgbClr>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lang="en-US" altLang="ko-KR" sz="1500" b="1" dirty="0">
                <a:solidFill>
                  <a:srgbClr val="000000">
                    <a:lumMod val="85000"/>
                    <a:lumOff val="15000"/>
                  </a:srgbClr>
                </a:solidFill>
              </a:rPr>
              <a:t>(HOSE: EIB)</a:t>
            </a:r>
          </a:p>
        </p:txBody>
      </p:sp>
      <p:sp>
        <p:nvSpPr>
          <p:cNvPr id="6" name="TextBox 5">
            <a:extLst>
              <a:ext uri="{FF2B5EF4-FFF2-40B4-BE49-F238E27FC236}">
                <a16:creationId xmlns:a16="http://schemas.microsoft.com/office/drawing/2014/main" id="{1CE97FB1-8D6A-1DB9-A6D7-647EF07613CC}"/>
              </a:ext>
            </a:extLst>
          </p:cNvPr>
          <p:cNvSpPr txBox="1"/>
          <p:nvPr/>
        </p:nvSpPr>
        <p:spPr bwMode="auto">
          <a:xfrm>
            <a:off x="447930" y="872717"/>
            <a:ext cx="2106705" cy="218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rtlCol="0">
            <a:spAutoFit/>
          </a:bodyPr>
          <a:lstStyle/>
          <a:p>
            <a:pPr marL="0" marR="0" lvl="0" indent="0" algn="l" defTabSz="898525" rtl="0" eaLnBrk="0" fontAlgn="base" latinLnBrk="0" hangingPunct="0">
              <a:lnSpc>
                <a:spcPts val="2000"/>
              </a:lnSpc>
              <a:spcBef>
                <a:spcPct val="0"/>
              </a:spcBef>
              <a:spcAft>
                <a:spcPct val="50000"/>
              </a:spcAft>
              <a:buClrTx/>
              <a:buSzTx/>
              <a:buFontTx/>
              <a:buNone/>
              <a:tabLst>
                <a:tab pos="266700" algn="l"/>
                <a:tab pos="4305300" algn="r"/>
              </a:tabLst>
              <a:defRPr/>
            </a:pP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Tôn </a:t>
            </a:r>
            <a:r>
              <a:rPr kumimoji="0" lang="en-US" sz="700" b="1"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Đạt</a:t>
            </a: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0" lang="en-US" sz="700" b="1"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Quân</a:t>
            </a: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0" lang="en-US" sz="7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quan.td@miraeasset.com.vn</a:t>
            </a:r>
          </a:p>
        </p:txBody>
      </p:sp>
      <p:pic>
        <p:nvPicPr>
          <p:cNvPr id="7" name="Picture 6">
            <a:extLst>
              <a:ext uri="{FF2B5EF4-FFF2-40B4-BE49-F238E27FC236}">
                <a16:creationId xmlns:a16="http://schemas.microsoft.com/office/drawing/2014/main" id="{598A0FDB-362A-DD4C-2C2D-2ABD5E496A79}"/>
              </a:ext>
            </a:extLst>
          </p:cNvPr>
          <p:cNvPicPr>
            <a:picLocks noChangeAspect="1"/>
          </p:cNvPicPr>
          <p:nvPr/>
        </p:nvPicPr>
        <p:blipFill>
          <a:blip r:embed="rId4"/>
          <a:stretch>
            <a:fillRect/>
          </a:stretch>
        </p:blipFill>
        <p:spPr>
          <a:xfrm>
            <a:off x="3097090" y="4307080"/>
            <a:ext cx="2694666" cy="2011854"/>
          </a:xfrm>
          <a:prstGeom prst="rect">
            <a:avLst/>
          </a:prstGeom>
        </p:spPr>
      </p:pic>
    </p:spTree>
    <p:extLst>
      <p:ext uri="{BB962C8B-B14F-4D97-AF65-F5344CB8AC3E}">
        <p14:creationId xmlns:p14="http://schemas.microsoft.com/office/powerpoint/2010/main" val="17428859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199</TotalTime>
  <Words>3518</Words>
  <Application>Microsoft Office PowerPoint</Application>
  <PresentationFormat>Widescreen</PresentationFormat>
  <Paragraphs>547</Paragraphs>
  <Slides>4</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Aptos</vt:lpstr>
      <vt:lpstr>Aptos Display</vt:lpstr>
      <vt:lpstr>Arial</vt:lpstr>
      <vt:lpstr>Noto Sans</vt:lpstr>
      <vt:lpstr>Symbol</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Quan, Ton Dat</dc:creator>
  <cp:lastModifiedBy>Quan, Ton Dat</cp:lastModifiedBy>
  <cp:revision>10</cp:revision>
  <dcterms:created xsi:type="dcterms:W3CDTF">2026-06-23T08:27:54Z</dcterms:created>
  <dcterms:modified xsi:type="dcterms:W3CDTF">2026-06-25T04:05:06Z</dcterms:modified>
</cp:coreProperties>
</file>