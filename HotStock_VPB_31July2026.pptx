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charts/colors3.xml" ContentType="application/vnd.ms-office.chartcolorstyle+xml"/>
  <Override PartName="/ppt/charts/style3.xml" ContentType="application/vnd.ms-office.chartstyle+xml"/>
  <Override PartName="/ppt/diagrams/colors2.xml" ContentType="application/vnd.openxmlformats-officedocument.drawingml.diagramColors+xml"/>
  <Override PartName="/ppt/diagrams/data2.xml" ContentType="application/vnd.openxmlformats-officedocument.drawingml.diagramData+xml"/>
  <Override PartName="/ppt/diagrams/drawing2.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375" r:id="rId6"/>
    <p:sldId id="381" r:id="rId7"/>
    <p:sldId id="383" r:id="rId8"/>
    <p:sldId id="378" r:id="rId10"/>
  </p:sldIdLst>
  <p:sldSz cx="10287000" cy="13716000"/>
  <p:notesSz cx="6858000" cy="9144000"/>
  <p:custDataLst>
    <p:tags r:id="rId1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 STB" id="{947F27A8-BCCF-472A-AE92-129A7DFEA83E}">
          <p14:sldIdLst>
            <p14:sldId id="362"/>
            <p14:sldId id="374"/>
            <p14:sldId id="382"/>
            <p14:sldId id="364"/>
          </p14:sldIdLst>
        </p14:section>
        <p14:section name="VN - STB" id="{81E5BC43-F459-4D08-B07D-E0B1FCC722E8}">
          <p14:sldIdLst>
            <p14:sldId id="375"/>
            <p14:sldId id="381"/>
            <p14:sldId id="383"/>
            <p14:sldId id="384"/>
            <p14:sldId id="3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6AB"/>
    <a:srgbClr val="F48120"/>
    <a:srgbClr val="00427A"/>
    <a:srgbClr val="01437C"/>
    <a:srgbClr val="F38120"/>
    <a:srgbClr val="FE6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889" autoAdjust="0"/>
  </p:normalViewPr>
  <p:slideViewPr>
    <p:cSldViewPr snapToGrid="0">
      <p:cViewPr varScale="1">
        <p:scale>
          <a:sx n="54" d="100"/>
          <a:sy n="54" d="100"/>
        </p:scale>
        <p:origin x="334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tags" Target="tags/tag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s>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Noto Sans" panose="020B0502040504020204" pitchFamily="34" charset="0"/>
                <a:ea typeface="Noto Sans" panose="020B0502040504020204" pitchFamily="34" charset="0"/>
                <a:cs typeface="+mn-cs"/>
              </a:defRPr>
            </a:pPr>
            <a:r>
              <a:rPr lang="vi-VN" sz="2000" dirty="0"/>
              <a:t>(tỷ đồng)</a:t>
            </a:r>
          </a:p>
        </c:rich>
      </c:tx>
      <c:layout>
        <c:manualLayout>
          <c:xMode val="edge"/>
          <c:yMode val="edge"/>
          <c:x val="4.5311773634288392E-2"/>
          <c:y val="5.2450331681392921E-3"/>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title>
    <c:autoTitleDeleted val="0"/>
    <c:plotArea>
      <c:layout/>
      <c:barChart>
        <c:barDir val="col"/>
        <c:grouping val="clustered"/>
        <c:varyColors val="0"/>
        <c:ser>
          <c:idx val="0"/>
          <c:order val="0"/>
          <c:tx>
            <c:v>LNTT hợp nhất</c:v>
          </c:tx>
          <c:spPr>
            <a:solidFill>
              <a:schemeClr val="accent1"/>
            </a:solidFill>
            <a:ln>
              <a:noFill/>
            </a:ln>
            <a:effectLst/>
          </c:spPr>
          <c:invertIfNegative val="0"/>
          <c:dPt>
            <c:idx val="0"/>
            <c:invertIfNegative val="0"/>
            <c:bubble3D val="0"/>
            <c:spPr>
              <a:solidFill>
                <a:schemeClr val="accent1"/>
              </a:solidFill>
              <a:ln>
                <a:noFill/>
              </a:ln>
              <a:effectLst/>
            </c:spPr>
          </c:dPt>
          <c:dPt>
            <c:idx val="1"/>
            <c:invertIfNegative val="0"/>
            <c:bubble3D val="0"/>
            <c:spPr>
              <a:solidFill>
                <a:schemeClr val="accent1"/>
              </a:solidFill>
              <a:ln>
                <a:noFill/>
              </a:ln>
              <a:effectLst/>
            </c:spPr>
          </c:dPt>
          <c:dPt>
            <c:idx val="2"/>
            <c:invertIfNegative val="0"/>
            <c:bubble3D val="0"/>
            <c:spPr>
              <a:solidFill>
                <a:schemeClr val="accent1"/>
              </a:solidFill>
              <a:ln>
                <a:noFill/>
              </a:ln>
              <a:effectLst/>
            </c:spPr>
          </c:dPt>
          <c:dPt>
            <c:idx val="3"/>
            <c:invertIfNegative val="0"/>
            <c:bubble3D val="0"/>
            <c:spPr>
              <a:solidFill>
                <a:schemeClr val="accent1"/>
              </a:solidFill>
              <a:ln>
                <a:noFill/>
              </a:ln>
              <a:effectLst/>
            </c:spPr>
          </c:dPt>
          <c:dPt>
            <c:idx val="4"/>
            <c:invertIfNegative val="0"/>
            <c:bubble3D val="0"/>
            <c:spPr>
              <a:solidFill>
                <a:schemeClr val="accent3"/>
              </a:solidFill>
              <a:ln>
                <a:noFill/>
              </a:ln>
              <a:effectLst/>
            </c:spPr>
          </c:dPt>
          <c:dPt>
            <c:idx val="5"/>
            <c:invertIfNegative val="0"/>
            <c:bubble3D val="0"/>
            <c:spPr>
              <a:solidFill>
                <a:schemeClr val="accent3"/>
              </a:solidFill>
              <a:ln>
                <a:noFill/>
              </a:ln>
              <a:effectLst/>
            </c:spPr>
          </c:dPt>
          <c:dLbls>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dLblPos val="outEnd"/>
            <c:showLegendKey val="0"/>
            <c:showVal val="1"/>
            <c:showCatName val="0"/>
            <c:showSerName val="0"/>
            <c:showPercent val="0"/>
            <c:showBubbleSize val="0"/>
          </c:dLbls>
          <c:cat>
            <c:strRef>
              <c:f>Sheet1!$B$1:$G$1</c:f>
              <c:strCache>
                <c:ptCount val="6"/>
                <c:pt idx="0">
                  <c:v>1Q25</c:v>
                </c:pt>
                <c:pt idx="1">
                  <c:v>2Q25</c:v>
                </c:pt>
                <c:pt idx="2">
                  <c:v>3Q25</c:v>
                </c:pt>
                <c:pt idx="3">
                  <c:v>4Q25</c:v>
                </c:pt>
                <c:pt idx="4">
                  <c:v>1Q26</c:v>
                </c:pt>
                <c:pt idx="5">
                  <c:v>2Q26</c:v>
                </c:pt>
              </c:strCache>
            </c:strRef>
          </c:cat>
          <c:val>
            <c:numRef>
              <c:f>Sheet1!$B$2:$G$2</c:f>
              <c:numCache>
                <c:formatCode>#,##0</c:formatCode>
                <c:ptCount val="6"/>
                <c:pt idx="0">
                  <c:v>5010</c:v>
                </c:pt>
                <c:pt idx="1">
                  <c:v>6230</c:v>
                </c:pt>
                <c:pt idx="2">
                  <c:v>9160</c:v>
                </c:pt>
                <c:pt idx="3">
                  <c:v>10200</c:v>
                </c:pt>
                <c:pt idx="4">
                  <c:v>7920</c:v>
                </c:pt>
                <c:pt idx="5">
                  <c:v>10960</c:v>
                </c:pt>
              </c:numCache>
            </c:numRef>
          </c:val>
        </c:ser>
        <c:gapWidth val="80"/>
        <c:overlap val="-27"/>
        <c:axId val="1317633407"/>
        <c:axId val="1317637247"/>
      </c:barChart>
      <c:catAx>
        <c:axId val="131763340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7247"/>
        <c:crosses val="autoZero"/>
        <c:auto val="1"/>
        <c:lblAlgn val="ctr"/>
        <c:lblOffset val="100"/>
        <c:noMultiLvlLbl val="0"/>
      </c:catAx>
      <c:valAx>
        <c:axId val="1317637247"/>
        <c:scaling>
          <c:orientation val="minMax"/>
          <c:min val="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3407"/>
        <c:crosses val="autoZero"/>
        <c:crossBetween val="between"/>
        <c:majorUnit val="3000"/>
      </c:valAx>
      <c:spPr>
        <a:noFill/>
        <a:ln>
          <a:noFill/>
        </a:ln>
        <a:effectLst/>
      </c:spPr>
    </c:plotArea>
    <c:plotVisOnly val="1"/>
    <c:dispBlanksAs val="gap"/>
    <c:showDLblsOverMax val="0"/>
  </c:chart>
  <c:spPr>
    <a:noFill/>
    <a:ln w="9525" cap="flat" cmpd="sng" algn="ctr">
      <a:noFill/>
      <a:round/>
    </a:ln>
    <a:effectLst/>
  </c:spPr>
  <c:txPr>
    <a:bodyPr/>
    <a:lstStyle/>
    <a:p>
      <a:pPr>
        <a:defRPr sz="2000">
          <a:latin typeface="Noto Sans" panose="020B0502040504020204" pitchFamily="34" charset="0"/>
          <a:ea typeface="Noto Sans" panose="020B0502040504020204" pitchFamily="34" charset="0"/>
          <a:cs typeface="+mn-cs"/>
        </a:defRPr>
      </a:pPr>
      <a:endParaRPr lang="en-US"/>
    </a:p>
  </c:txPr>
</c:chartSpac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2.xml><?xml version="1.0" encoding="utf-8"?>
<dgm:dataModel xmlns:dgm="http://schemas.openxmlformats.org/drawingml/2006/diagram" xmlns:a="http://schemas.openxmlformats.org/drawingml/2006/main">
  <dgm:ptLst>
    <dgm:pt modelId="{A270CA04-D3AC-4836-B672-BD10C381E938}"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043EA2E-4196-402C-9BC9-C3EA5C5CC5B0}">
      <dgm:prSet phldrT="[Text]" custT="1"/>
      <dgm:spPr/>
      <dgm:t>
        <a:bodyPr vert="vert270"/>
        <a:lstStyle/>
        <a:p>
          <a:pPr algn="r"/>
          <a:r>
            <a:rPr lang="en-US" sz="3200" b="1" dirty="0">
              <a:solidFill>
                <a:srgbClr val="F48120"/>
              </a:solidFill>
              <a:latin typeface="SVN-Gilroy" panose="00000500000000000000" pitchFamily="50" charset="0"/>
            </a:rPr>
            <a:t>KQKD 1H26</a:t>
          </a:r>
        </a:p>
      </dgm:t>
    </dgm:pt>
    <dgm:pt modelId="{418974FA-C7D1-46D3-8208-6B99BFDD87B0}" type="par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C2C239A5-2D51-4505-8080-1CA8D13C5DB3}" type="sib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B7118F00-7FEB-4E8C-A6F9-B6514EFDA034}">
      <dgm:prSet phldrT="[Text]" custT="1"/>
      <dgm:spPr/>
      <dgm:t>
        <a:bodyPr/>
        <a:lstStyle/>
        <a:p>
          <a:r>
            <a:rPr lang="vi-VN" sz="2900" dirty="0">
              <a:latin typeface="SVN-Gilroy" panose="00000500000000000000" pitchFamily="50" charset="0"/>
            </a:rPr>
            <a:t>LNTT hợp nhất 18,880 tỷ (+68% CK), tương đương ~46% kế hoạch năm</a:t>
          </a:r>
        </a:p>
        <a:p>
          <a:r>
            <a:rPr lang="en-US" sz="2900" dirty="0">
              <a:latin typeface="SVN-Gilroy" panose="00000500000000000000" pitchFamily="50" charset="0"/>
            </a:rPr>
            <a:t>- Riêng Q2/26 đạt 10,959 tỷ (+76% CK), mức cao nhất 4 năm</a:t>
          </a:r>
          <a:endParaRPr lang="vi-VN" sz="2900" dirty="0">
            <a:latin typeface="SVN-Gilroy" panose="00000500000000000000" pitchFamily="50" charset="0"/>
          </a:endParaRPr>
        </a:p>
        <a:p>
          <a:r>
            <a:rPr lang="en-US" sz="2900" dirty="0">
              <a:latin typeface="SVN-Gilroy" panose="00000500000000000000" pitchFamily="50" charset="0"/>
            </a:rPr>
            <a:t>- TOI 43,400 tỷ (+35.2%); tổng tài sản vượt 1.5 triệu tỷ (+19.2% so đầu năm)</a:t>
          </a:r>
        </a:p>
        <a:p>
          <a:r>
            <a:rPr lang="en-US" sz="2900" dirty="0">
              <a:latin typeface="SVN-Gilroy" panose="00000500000000000000" pitchFamily="50" charset="0"/>
            </a:rPr>
            <a:t>- Tín dụng ngân hàng mẹ ~1.06 triệu tỷ (+24.6%); nợ xấu ngân hàng mẹ (TT31) ~2%, hợp nhất dưới 3%</a:t>
          </a:r>
          <a:endParaRPr lang="en-US" sz="2900" b="1" dirty="0">
            <a:latin typeface="SVN-Gilroy" panose="00000500000000000000" pitchFamily="50" charset="0"/>
          </a:endParaRPr>
        </a:p>
      </dgm:t>
    </dgm:pt>
    <dgm:pt modelId="{E7E99523-35F4-4B8A-8522-ED3D34CD219D}" type="par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BE2211A5-733F-4AFC-81A6-F3EFEADBA076}" type="sib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EC0346FF-A004-4169-BFD8-F5F84A6E5BF8}">
      <dgm:prSet phldrT="[Text]" custT="1"/>
      <dgm:spPr/>
      <dgm:t>
        <a:bodyPr vert="vert270"/>
        <a:lstStyle/>
        <a:p>
          <a:pPr algn="r"/>
          <a:r>
            <a:rPr lang="en-US" sz="3200" b="1" dirty="0">
              <a:solidFill>
                <a:srgbClr val="F48120"/>
              </a:solidFill>
              <a:latin typeface="SVN-Gilroy" panose="00000500000000000000" pitchFamily="50" charset="0"/>
            </a:rPr>
            <a:t>Tăng vốn &amp; room ngoại</a:t>
          </a:r>
        </a:p>
      </dgm:t>
    </dgm:pt>
    <dgm:pt modelId="{0F46AD0D-CC96-4ADE-A664-43D0A08B0DEC}" type="sib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40254663-3182-4150-8563-CE48A854047E}" type="par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F81811C9-FA20-4D45-B8AF-EBDE53D82F5E}">
      <dgm:prSet custT="1"/>
      <dgm:spPr/>
      <dgm:t>
        <a:bodyPr/>
        <a:lstStyle/>
        <a:p>
          <a:pPr>
            <a:buFont typeface="Arial" panose="020B0604020202020204" pitchFamily="34" charset="0"/>
            <a:buChar char="•"/>
          </a:pPr>
          <a:r>
            <a:rPr lang="en-US" sz="2900" dirty="0">
              <a:latin typeface="SVN-Gilroy" panose="00000500000000000000" pitchFamily="50" charset="0"/>
            </a:rPr>
            <a:t>Vốn điều lệ tăng từ 79,339 lên 106,243 tỷ - cao nhất hệ thống</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p>
        <a:p>
          <a:pPr>
            <a:buFont typeface="Arial" panose="020B0604020202020204" pitchFamily="34" charset="0"/>
            <a:buChar char="•"/>
          </a:pPr>
          <a:r>
            <a:rPr lang="en-US" sz="2900" dirty="0">
              <a:latin typeface="SVN-Gilroy" panose="00000500000000000000" pitchFamily="50" charset="0"/>
            </a:rPr>
            <a:t>- Bước 1: cổ tức cổ phiếu 26.04% (~2.06 tỷ cp) từ LNST giữ lại, dự kiến Q3-Q4/26</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p>
        <a:p>
          <a:pPr>
            <a:buFont typeface="Arial" panose="020B0604020202020204" pitchFamily="34" charset="0"/>
            <a:buChar char="•"/>
          </a:pPr>
          <a:r>
            <a:rPr lang="en-US" sz="2900" dirty="0">
              <a:latin typeface="SVN-Gilroy" panose="00000500000000000000" pitchFamily="50" charset="0"/>
            </a:rPr>
            <a:t>- Bước 2: chào bán riêng lẻ 624 triệu cp cho đối tác ngoại (~6,243 tỷ), sở hữu ngoại có thể lên ~34%</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p>
        <a:p>
          <a:pPr>
            <a:buFont typeface="Arial" panose="020B0604020202020204" pitchFamily="34" charset="0"/>
            <a:buChar char="•"/>
          </a:pPr>
          <a:r>
            <a:rPr lang="en-US" sz="2900" dirty="0">
              <a:latin typeface="SVN-Gilroy" panose="00000500000000000000" pitchFamily="50" charset="0"/>
            </a:rPr>
            <a:t>- Nghị định 69/2025: ngân hàng nhận chuyển giao (VPB nhận GPBank) được nới room ngoại tối đa 49%; hiện 24.3%. Cổ tức tiền mặt 5% (~3,900 tỷ)</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r>
            <a:rPr lang="en-US" sz="2900" dirty="0" err="1">
              <a:latin typeface="SVN-Gilroy" panose="00000500000000000000" pitchFamily="50" charset="0"/>
            </a:rPr>
            <a:t/>
          </a:r>
          <a:r>
            <a:rPr lang="en-US" sz="2900" dirty="0">
              <a:latin typeface="SVN-Gilroy" panose="00000500000000000000" pitchFamily="50" charset="0"/>
            </a:rPr>
            <a:t/>
          </a:r>
          <a:endParaRPr lang="en-US" sz="2900" b="0" dirty="0"/>
        </a:p>
      </dgm:t>
    </dgm:pt>
    <dgm:pt modelId="{99AF29C3-8602-4616-9666-4986D725BBE6}" type="parTrans" cxnId="{02DDB73E-FA92-470B-8C74-1A278BC728FD}">
      <dgm:prSet/>
      <dgm:spPr/>
      <dgm:t>
        <a:bodyPr/>
        <a:lstStyle/>
        <a:p>
          <a:endParaRPr lang="en-US"/>
        </a:p>
      </dgm:t>
    </dgm:pt>
    <dgm:pt modelId="{13422DB2-DB45-4A4F-B04E-B4CBBA477BAF}" type="sibTrans" cxnId="{02DDB73E-FA92-470B-8C74-1A278BC728FD}">
      <dgm:prSet/>
      <dgm:spPr/>
      <dgm:t>
        <a:bodyPr/>
        <a:lstStyle/>
        <a:p>
          <a:endParaRPr lang="en-US"/>
        </a:p>
      </dgm:t>
    </dgm:pt>
    <dgm:pt modelId="{9394690C-4DA7-4E12-A375-C402BFB51A8A}">
      <dgm:prSet phldrT="[Text]" custT="1"/>
      <dgm:spPr/>
      <dgm:t>
        <a:bodyPr vert="vert270"/>
        <a:lstStyle/>
        <a:p>
          <a:pPr algn="r"/>
          <a:r>
            <a:rPr lang="en-US" sz="3200" b="1" dirty="0" err="1">
              <a:solidFill>
                <a:srgbClr val="F48120"/>
              </a:solidFill>
              <a:latin typeface="SVN-Gilroy" panose="00000500000000000000" pitchFamily="50" charset="0"/>
            </a:rPr>
            <a:t>Định giá &amp; rủi ro</a:t>
          </a:r>
          <a:r>
            <a:rPr lang="en-US" sz="3200" b="1" dirty="0">
              <a:solidFill>
                <a:srgbClr val="F48120"/>
              </a:solidFill>
              <a:latin typeface="SVN-Gilroy" panose="00000500000000000000" pitchFamily="50" charset="0"/>
            </a:rPr>
            <a:t/>
          </a:r>
          <a:r>
            <a:rPr lang="en-US" sz="3200" b="1" dirty="0" err="1">
              <a:solidFill>
                <a:srgbClr val="F48120"/>
              </a:solidFill>
              <a:latin typeface="SVN-Gilroy" panose="00000500000000000000" pitchFamily="50" charset="0"/>
            </a:rPr>
            <a:t/>
          </a:r>
          <a:endParaRPr lang="en-US" sz="3200" b="1" dirty="0">
            <a:solidFill>
              <a:srgbClr val="F48120"/>
            </a:solidFill>
            <a:latin typeface="SVN-Gilroy" panose="00000500000000000000" pitchFamily="50" charset="0"/>
          </a:endParaRPr>
        </a:p>
      </dgm:t>
    </dgm:pt>
    <dgm:pt modelId="{915B3AF5-FE0B-4065-999C-B6A69CCF7CFD}" type="sib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B8AD241D-B6D8-4F56-A8AB-5DDE1EAF3EC0}" type="par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7B83FE9A-4336-4300-A36D-1E2EF76EDF36}">
      <dgm:prSet phldrT="[Text]" custT="1"/>
      <dgm:spPr/>
      <dgm:t>
        <a:bodyPr/>
        <a:lstStyle/>
        <a:p>
          <a:pPr algn="l"/>
          <a:r>
            <a:rPr lang="en-US" sz="2900" b="0" dirty="0">
              <a:latin typeface="SVN-Gilroy" panose="00000500000000000000"/>
            </a:rPr>
            <a:t>Giá mục tiêu 33,800đ, tiềm năng ~+37% so giá 24,600đ (28/07/26)</a:t>
          </a:r>
          <a:r>
            <a:rPr lang="vi-VN" sz="2900" b="0" dirty="0">
              <a:latin typeface="SVN-Gilroy" panose="00000500000000000000"/>
            </a:rPr>
            <a:t/>
          </a:r>
          <a:r>
            <a:rPr lang="en-US" sz="2900" b="0" dirty="0">
              <a:latin typeface="SVN-Gilroy" panose="00000500000000000000"/>
            </a:rPr>
            <a:t/>
          </a:r>
          <a:r>
            <a:rPr lang="vi-VN" sz="2900" b="0" dirty="0">
              <a:latin typeface="SVN-Gilroy" panose="00000500000000000000"/>
            </a:rPr>
            <a:t/>
          </a:r>
          <a:r>
            <a:rPr lang="en-US" sz="2900" b="0" dirty="0">
              <a:latin typeface="SVN-Gilroy" panose="00000500000000000000"/>
            </a:rPr>
            <a:t/>
          </a:r>
          <a:r>
            <a:rPr lang="vi-VN" sz="2900" b="0" dirty="0">
              <a:latin typeface="SVN-Gilroy" panose="00000500000000000000"/>
            </a:rPr>
            <a:t/>
          </a:r>
          <a:r>
            <a:rPr lang="en-US" sz="2900" b="0" dirty="0">
              <a:latin typeface="SVN-Gilroy" panose="00000500000000000000"/>
            </a:rPr>
            <a:t/>
          </a:r>
        </a:p>
        <a:p>
          <a:pPr algn="l"/>
          <a:r>
            <a:rPr lang="en-US" sz="2900" b="0" dirty="0">
              <a:latin typeface="SVN-Gilroy" panose="00000500000000000000"/>
            </a:rPr>
            <a:t>- Dự phóng LNST-CĐTS 2026F 29,056 tỷ; 2027F 36,119 tỷ (+24.3%)</a:t>
          </a:r>
          <a:r>
            <a:rPr lang="vi-VN" sz="2900" b="0" dirty="0">
              <a:latin typeface="SVN-Gilroy" panose="00000500000000000000"/>
            </a:rPr>
            <a:t/>
          </a:r>
          <a:r>
            <a:rPr lang="en-US" sz="2900" b="0" dirty="0" err="1">
              <a:latin typeface="SVN-Gilroy" panose="00000500000000000000"/>
            </a:rPr>
            <a:t/>
          </a:r>
          <a:r>
            <a:rPr lang="en-US" sz="2900" b="0" dirty="0">
              <a:latin typeface="SVN-Gilroy" panose="00000500000000000000"/>
            </a:rPr>
            <a:t/>
          </a:r>
          <a:r>
            <a:rPr lang="en-US" sz="2900" b="0" dirty="0" err="1">
              <a:latin typeface="SVN-Gilroy" panose="00000500000000000000"/>
            </a:rPr>
            <a:t/>
          </a:r>
          <a:r>
            <a:rPr lang="en-US" sz="2900" b="0" dirty="0">
              <a:latin typeface="SVN-Gilroy" panose="00000500000000000000"/>
            </a:rPr>
            <a:t/>
          </a:r>
        </a:p>
        <a:p>
          <a:pPr algn="l"/>
          <a:r>
            <a:rPr lang="en-US" sz="2900" b="0" dirty="0">
              <a:solidFill>
                <a:schemeClr val="tx1"/>
              </a:solidFill>
              <a:latin typeface="SVN-Gilroy" panose="00000500000000000000"/>
            </a:rPr>
            <a:t>- Nền so sánh 2H25 cao (LNTT 2H25 ~19,400 tỷ) nên tốc độ tăng sẽ chậm lại rõ trong 2H26</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p>
        <a:p>
          <a:pPr algn="l"/>
          <a:r>
            <a:rPr lang="en-US" sz="2900" b="0" dirty="0">
              <a:solidFill>
                <a:schemeClr val="tx1"/>
              </a:solidFill>
              <a:latin typeface="SVN-Gilroy" panose="00000500000000000000"/>
            </a:rPr>
            <a:t>- Pha loãng ~21% từ cổ tức cổ phiếu; thời điểm phát hành riêng lẻ chưa chắc chắn</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r>
            <a:rPr lang="vi-VN" sz="2900" b="0" dirty="0">
              <a:solidFill>
                <a:schemeClr val="tx1"/>
              </a:solidFill>
              <a:latin typeface="SVN-Gilroy" panose="00000500000000000000"/>
            </a:rPr>
            <a:t/>
          </a:r>
          <a:r>
            <a:rPr lang="en-US" sz="2900" b="0" dirty="0">
              <a:solidFill>
                <a:schemeClr val="tx1"/>
              </a:solidFill>
              <a:latin typeface="SVN-Gilroy" panose="00000500000000000000"/>
            </a:rPr>
            <a:t/>
          </a:r>
          <a:r>
            <a:rPr lang="vi-VN" sz="2900" b="0" dirty="0">
              <a:solidFill>
                <a:schemeClr val="tx1"/>
              </a:solidFill>
              <a:latin typeface="SVN-Gilroy" panose="00000500000000000000"/>
            </a:rPr>
            <a:t/>
          </a:r>
          <a:endParaRPr lang="en-US" sz="2900" b="0" dirty="0">
            <a:solidFill>
              <a:schemeClr val="tx1"/>
            </a:solidFill>
            <a:latin typeface="SVN-Gilroy" panose="00000500000000000000"/>
          </a:endParaRPr>
        </a:p>
      </dgm:t>
    </dgm:pt>
    <dgm:pt modelId="{2CEA675D-DFB2-48DD-B6E7-9ABD72084365}" type="sib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D4C5D6EC-16EC-4982-BA91-C9C9CD058C20}" type="par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6511B27F-EEA1-4D85-ADA3-BB8A1C4A521F}" type="pres">
      <dgm:prSet presAssocID="{A270CA04-D3AC-4836-B672-BD10C381E938}" presName="vert0" presStyleCnt="0">
        <dgm:presLayoutVars>
          <dgm:dir/>
          <dgm:animOne val="branch"/>
          <dgm:animLvl val="lvl"/>
        </dgm:presLayoutVars>
      </dgm:prSet>
      <dgm:spPr/>
    </dgm:pt>
    <dgm:pt modelId="{E077197D-4B0C-4DCD-95A6-A131DE9108F9}" type="pres">
      <dgm:prSet presAssocID="{F043EA2E-4196-402C-9BC9-C3EA5C5CC5B0}" presName="thickLine" presStyleLbl="alignNode1" presStyleIdx="0" presStyleCnt="3"/>
      <dgm:spPr/>
    </dgm:pt>
    <dgm:pt modelId="{0445D92D-7E05-4267-8384-8CE229F72B43}" type="pres">
      <dgm:prSet presAssocID="{F043EA2E-4196-402C-9BC9-C3EA5C5CC5B0}" presName="horz1" presStyleCnt="0"/>
      <dgm:spPr/>
    </dgm:pt>
    <dgm:pt modelId="{E17A2724-0B5A-462E-B77B-58652340526B}" type="pres">
      <dgm:prSet presAssocID="{F043EA2E-4196-402C-9BC9-C3EA5C5CC5B0}" presName="tx1" presStyleLbl="revTx" presStyleIdx="0" presStyleCnt="6"/>
      <dgm:spPr/>
    </dgm:pt>
    <dgm:pt modelId="{984964C0-C857-4360-9C5A-82DD00195D7A}" type="pres">
      <dgm:prSet presAssocID="{F043EA2E-4196-402C-9BC9-C3EA5C5CC5B0}" presName="vert1" presStyleCnt="0"/>
      <dgm:spPr/>
    </dgm:pt>
    <dgm:pt modelId="{9FDEC3F5-3A19-4B1A-9069-7BCFA3642B50}" type="pres">
      <dgm:prSet presAssocID="{B7118F00-7FEB-4E8C-A6F9-B6514EFDA034}" presName="vertSpace2a" presStyleCnt="0"/>
      <dgm:spPr/>
    </dgm:pt>
    <dgm:pt modelId="{6E4C71E2-A522-46B2-8AED-0F9C40D9BCBC}" type="pres">
      <dgm:prSet presAssocID="{B7118F00-7FEB-4E8C-A6F9-B6514EFDA034}" presName="horz2" presStyleCnt="0"/>
      <dgm:spPr/>
    </dgm:pt>
    <dgm:pt modelId="{DB0CC87B-120A-4351-B2FC-71DB6ACEEAED}" type="pres">
      <dgm:prSet presAssocID="{B7118F00-7FEB-4E8C-A6F9-B6514EFDA034}" presName="horzSpace2" presStyleCnt="0"/>
      <dgm:spPr/>
    </dgm:pt>
    <dgm:pt modelId="{51A4165D-A36D-4DEC-9AE1-1258F91F63AF}" type="pres">
      <dgm:prSet presAssocID="{B7118F00-7FEB-4E8C-A6F9-B6514EFDA034}" presName="tx2" presStyleLbl="revTx" presStyleIdx="1" presStyleCnt="6"/>
      <dgm:spPr/>
    </dgm:pt>
    <dgm:pt modelId="{CB80B963-C887-438D-8979-8B355F0D9FF7}" type="pres">
      <dgm:prSet presAssocID="{B7118F00-7FEB-4E8C-A6F9-B6514EFDA034}" presName="vert2" presStyleCnt="0"/>
      <dgm:spPr/>
    </dgm:pt>
    <dgm:pt modelId="{7E155229-CA86-45BB-A8D5-F7883D161019}" type="pres">
      <dgm:prSet presAssocID="{B7118F00-7FEB-4E8C-A6F9-B6514EFDA034}" presName="thinLine2b" presStyleLbl="callout" presStyleIdx="0" presStyleCnt="3"/>
      <dgm:spPr/>
    </dgm:pt>
    <dgm:pt modelId="{389E8BA4-90B0-422C-BBCA-77C473774F59}" type="pres">
      <dgm:prSet presAssocID="{B7118F00-7FEB-4E8C-A6F9-B6514EFDA034}" presName="vertSpace2b" presStyleCnt="0"/>
      <dgm:spPr/>
    </dgm:pt>
    <dgm:pt modelId="{0D165F9C-C58D-47FA-82E9-EB9399B91F93}" type="pres">
      <dgm:prSet presAssocID="{EC0346FF-A004-4169-BFD8-F5F84A6E5BF8}" presName="thickLine" presStyleLbl="alignNode1" presStyleIdx="1" presStyleCnt="3"/>
      <dgm:spPr/>
    </dgm:pt>
    <dgm:pt modelId="{D7BC3CAF-3A0A-42D0-ABB6-BA45E18E859B}" type="pres">
      <dgm:prSet presAssocID="{EC0346FF-A004-4169-BFD8-F5F84A6E5BF8}" presName="horz1" presStyleCnt="0"/>
      <dgm:spPr/>
    </dgm:pt>
    <dgm:pt modelId="{80312583-44D2-4B9B-92DB-40EC84CD5BAB}" type="pres">
      <dgm:prSet presAssocID="{EC0346FF-A004-4169-BFD8-F5F84A6E5BF8}" presName="tx1" presStyleLbl="revTx" presStyleIdx="2" presStyleCnt="6"/>
      <dgm:spPr/>
    </dgm:pt>
    <dgm:pt modelId="{430BEB21-C986-4D1F-9243-FF631773F051}" type="pres">
      <dgm:prSet presAssocID="{EC0346FF-A004-4169-BFD8-F5F84A6E5BF8}" presName="vert1" presStyleCnt="0"/>
      <dgm:spPr/>
    </dgm:pt>
    <dgm:pt modelId="{B3F47804-E5B9-4CA3-B552-FC18EF89C360}" type="pres">
      <dgm:prSet presAssocID="{F81811C9-FA20-4D45-B8AF-EBDE53D82F5E}" presName="vertSpace2a" presStyleCnt="0"/>
      <dgm:spPr/>
    </dgm:pt>
    <dgm:pt modelId="{49FDA3A9-1888-4988-B8D1-8B7E371CA2D7}" type="pres">
      <dgm:prSet presAssocID="{F81811C9-FA20-4D45-B8AF-EBDE53D82F5E}" presName="horz2" presStyleCnt="0"/>
      <dgm:spPr/>
    </dgm:pt>
    <dgm:pt modelId="{33C9A926-70CD-48F2-87CC-130C9AD40C50}" type="pres">
      <dgm:prSet presAssocID="{F81811C9-FA20-4D45-B8AF-EBDE53D82F5E}" presName="horzSpace2" presStyleCnt="0"/>
      <dgm:spPr/>
    </dgm:pt>
    <dgm:pt modelId="{9E1D8196-0D28-4775-86F5-83D56A2A7A47}" type="pres">
      <dgm:prSet presAssocID="{F81811C9-FA20-4D45-B8AF-EBDE53D82F5E}" presName="tx2" presStyleLbl="revTx" presStyleIdx="3" presStyleCnt="6"/>
      <dgm:spPr/>
    </dgm:pt>
    <dgm:pt modelId="{69FF3A77-52CB-4E16-811A-C370524175C4}" type="pres">
      <dgm:prSet presAssocID="{F81811C9-FA20-4D45-B8AF-EBDE53D82F5E}" presName="vert2" presStyleCnt="0"/>
      <dgm:spPr/>
    </dgm:pt>
    <dgm:pt modelId="{FE381216-8BFF-4319-BE04-5AEAD29E7AC5}" type="pres">
      <dgm:prSet presAssocID="{F81811C9-FA20-4D45-B8AF-EBDE53D82F5E}" presName="thinLine2b" presStyleLbl="callout" presStyleIdx="1" presStyleCnt="3"/>
      <dgm:spPr/>
    </dgm:pt>
    <dgm:pt modelId="{26E966DC-94AF-44A2-A9AC-EE44225F30EB}" type="pres">
      <dgm:prSet presAssocID="{F81811C9-FA20-4D45-B8AF-EBDE53D82F5E}" presName="vertSpace2b" presStyleCnt="0"/>
      <dgm:spPr/>
    </dgm:pt>
    <dgm:pt modelId="{3E26720F-3CA2-4523-A55E-954B7C927416}" type="pres">
      <dgm:prSet presAssocID="{9394690C-4DA7-4E12-A375-C402BFB51A8A}" presName="thickLine" presStyleLbl="alignNode1" presStyleIdx="2" presStyleCnt="3"/>
      <dgm:spPr/>
    </dgm:pt>
    <dgm:pt modelId="{083B224C-33EF-4D34-8730-AC8033C0D9C4}" type="pres">
      <dgm:prSet presAssocID="{9394690C-4DA7-4E12-A375-C402BFB51A8A}" presName="horz1" presStyleCnt="0"/>
      <dgm:spPr/>
    </dgm:pt>
    <dgm:pt modelId="{2BFFF2C3-AEAF-4446-8495-D72F8576438F}" type="pres">
      <dgm:prSet presAssocID="{9394690C-4DA7-4E12-A375-C402BFB51A8A}" presName="tx1" presStyleLbl="revTx" presStyleIdx="4" presStyleCnt="6"/>
      <dgm:spPr/>
    </dgm:pt>
    <dgm:pt modelId="{69167CC8-01A7-4B0F-AAF0-CCB5D4F00296}" type="pres">
      <dgm:prSet presAssocID="{9394690C-4DA7-4E12-A375-C402BFB51A8A}" presName="vert1" presStyleCnt="0"/>
      <dgm:spPr/>
    </dgm:pt>
    <dgm:pt modelId="{E882B6A8-042D-4F53-A439-D971639C247E}" type="pres">
      <dgm:prSet presAssocID="{7B83FE9A-4336-4300-A36D-1E2EF76EDF36}" presName="vertSpace2a" presStyleCnt="0"/>
      <dgm:spPr/>
    </dgm:pt>
    <dgm:pt modelId="{EB407710-B73F-4B3B-8B81-1F0285AD3FDC}" type="pres">
      <dgm:prSet presAssocID="{7B83FE9A-4336-4300-A36D-1E2EF76EDF36}" presName="horz2" presStyleCnt="0"/>
      <dgm:spPr/>
    </dgm:pt>
    <dgm:pt modelId="{619C9760-3B32-4B80-8FA2-64DC768517C2}" type="pres">
      <dgm:prSet presAssocID="{7B83FE9A-4336-4300-A36D-1E2EF76EDF36}" presName="horzSpace2" presStyleCnt="0"/>
      <dgm:spPr/>
    </dgm:pt>
    <dgm:pt modelId="{3421DB87-7763-4E9E-80AB-3A4244DA1062}" type="pres">
      <dgm:prSet presAssocID="{7B83FE9A-4336-4300-A36D-1E2EF76EDF36}" presName="tx2" presStyleLbl="revTx" presStyleIdx="5" presStyleCnt="6"/>
      <dgm:spPr/>
    </dgm:pt>
    <dgm:pt modelId="{7E4E7C3A-4E97-440E-860E-650021CFBD33}" type="pres">
      <dgm:prSet presAssocID="{7B83FE9A-4336-4300-A36D-1E2EF76EDF36}" presName="vert2" presStyleCnt="0"/>
      <dgm:spPr/>
    </dgm:pt>
    <dgm:pt modelId="{8A374915-E3F2-4D55-80CD-735D6CFC31F4}" type="pres">
      <dgm:prSet presAssocID="{7B83FE9A-4336-4300-A36D-1E2EF76EDF36}" presName="thinLine2b" presStyleLbl="callout" presStyleIdx="2" presStyleCnt="3"/>
      <dgm:spPr/>
    </dgm:pt>
    <dgm:pt modelId="{ECB70442-5E5B-4625-99D5-7C35EDA0EE43}" type="pres">
      <dgm:prSet presAssocID="{7B83FE9A-4336-4300-A36D-1E2EF76EDF36}" presName="vertSpace2b" presStyleCnt="0"/>
      <dgm:spPr/>
    </dgm:pt>
  </dgm:ptLst>
  <dgm:cxnLst>
    <dgm:cxn modelId="{CB581B08-44B9-43C9-9E33-EFE21A6BC254}" type="presOf" srcId="{A270CA04-D3AC-4836-B672-BD10C381E938}" destId="{6511B27F-EEA1-4D85-ADA3-BB8A1C4A521F}" srcOrd="0" destOrd="0" presId="urn:microsoft.com/office/officeart/2008/layout/LinedList"/>
    <dgm:cxn modelId="{02DDB73E-FA92-470B-8C74-1A278BC728FD}" srcId="{EC0346FF-A004-4169-BFD8-F5F84A6E5BF8}" destId="{F81811C9-FA20-4D45-B8AF-EBDE53D82F5E}" srcOrd="0" destOrd="0" parTransId="{99AF29C3-8602-4616-9666-4986D725BBE6}" sibTransId="{13422DB2-DB45-4A4F-B04E-B4CBBA477BAF}"/>
    <dgm:cxn modelId="{9C53D35C-BC8C-44A8-B269-22DB2A360D5F}" srcId="{F043EA2E-4196-402C-9BC9-C3EA5C5CC5B0}" destId="{B7118F00-7FEB-4E8C-A6F9-B6514EFDA034}" srcOrd="0" destOrd="0" parTransId="{E7E99523-35F4-4B8A-8522-ED3D34CD219D}" sibTransId="{BE2211A5-733F-4AFC-81A6-F3EFEADBA076}"/>
    <dgm:cxn modelId="{5E31326A-77FF-4662-981A-85912943EDA8}" srcId="{9394690C-4DA7-4E12-A375-C402BFB51A8A}" destId="{7B83FE9A-4336-4300-A36D-1E2EF76EDF36}" srcOrd="0" destOrd="0" parTransId="{D4C5D6EC-16EC-4982-BA91-C9C9CD058C20}" sibTransId="{2CEA675D-DFB2-48DD-B6E7-9ABD72084365}"/>
    <dgm:cxn modelId="{0800F74F-7F7C-44C6-9EB0-165422B289D4}" srcId="{A270CA04-D3AC-4836-B672-BD10C381E938}" destId="{9394690C-4DA7-4E12-A375-C402BFB51A8A}" srcOrd="2" destOrd="0" parTransId="{B8AD241D-B6D8-4F56-A8AB-5DDE1EAF3EC0}" sibTransId="{915B3AF5-FE0B-4065-999C-B6A69CCF7CFD}"/>
    <dgm:cxn modelId="{F9D77452-0DFF-4C95-B95D-76D26C3A319C}" srcId="{A270CA04-D3AC-4836-B672-BD10C381E938}" destId="{EC0346FF-A004-4169-BFD8-F5F84A6E5BF8}" srcOrd="1" destOrd="0" parTransId="{40254663-3182-4150-8563-CE48A854047E}" sibTransId="{0F46AD0D-CC96-4ADE-A664-43D0A08B0DEC}"/>
    <dgm:cxn modelId="{93190291-1269-4815-BEF6-F5CF56EB8F41}" srcId="{A270CA04-D3AC-4836-B672-BD10C381E938}" destId="{F043EA2E-4196-402C-9BC9-C3EA5C5CC5B0}" srcOrd="0" destOrd="0" parTransId="{418974FA-C7D1-46D3-8208-6B99BFDD87B0}" sibTransId="{C2C239A5-2D51-4505-8080-1CA8D13C5DB3}"/>
    <dgm:cxn modelId="{9B41BD92-2161-48D2-9BCC-502E1AC4663D}" type="presOf" srcId="{B7118F00-7FEB-4E8C-A6F9-B6514EFDA034}" destId="{51A4165D-A36D-4DEC-9AE1-1258F91F63AF}" srcOrd="0" destOrd="0" presId="urn:microsoft.com/office/officeart/2008/layout/LinedList"/>
    <dgm:cxn modelId="{3FB3559B-9C51-4D6C-B644-243DE5BCD990}" type="presOf" srcId="{F81811C9-FA20-4D45-B8AF-EBDE53D82F5E}" destId="{9E1D8196-0D28-4775-86F5-83D56A2A7A47}" srcOrd="0" destOrd="0" presId="urn:microsoft.com/office/officeart/2008/layout/LinedList"/>
    <dgm:cxn modelId="{36B9BCC8-271C-4F59-9EB8-4C7DB1E37E9D}" type="presOf" srcId="{7B83FE9A-4336-4300-A36D-1E2EF76EDF36}" destId="{3421DB87-7763-4E9E-80AB-3A4244DA1062}" srcOrd="0" destOrd="0" presId="urn:microsoft.com/office/officeart/2008/layout/LinedList"/>
    <dgm:cxn modelId="{0F9A33E3-872E-435A-BE93-F28C636D87E7}" type="presOf" srcId="{F043EA2E-4196-402C-9BC9-C3EA5C5CC5B0}" destId="{E17A2724-0B5A-462E-B77B-58652340526B}" srcOrd="0" destOrd="0" presId="urn:microsoft.com/office/officeart/2008/layout/LinedList"/>
    <dgm:cxn modelId="{6A757AF5-41F1-4237-8F18-30C0168A6A3B}" type="presOf" srcId="{9394690C-4DA7-4E12-A375-C402BFB51A8A}" destId="{2BFFF2C3-AEAF-4446-8495-D72F8576438F}" srcOrd="0" destOrd="0" presId="urn:microsoft.com/office/officeart/2008/layout/LinedList"/>
    <dgm:cxn modelId="{AFE46EF8-C1B1-488F-A4EA-1DD6C4B31446}" type="presOf" srcId="{EC0346FF-A004-4169-BFD8-F5F84A6E5BF8}" destId="{80312583-44D2-4B9B-92DB-40EC84CD5BAB}" srcOrd="0" destOrd="0" presId="urn:microsoft.com/office/officeart/2008/layout/LinedList"/>
    <dgm:cxn modelId="{FAEC4F8A-D765-4F70-AEB9-ADB7773C3032}" type="presParOf" srcId="{6511B27F-EEA1-4D85-ADA3-BB8A1C4A521F}" destId="{E077197D-4B0C-4DCD-95A6-A131DE9108F9}" srcOrd="0" destOrd="0" presId="urn:microsoft.com/office/officeart/2008/layout/LinedList"/>
    <dgm:cxn modelId="{3E7441A1-4BB2-4D6C-B128-94DB3150F5EE}" type="presParOf" srcId="{6511B27F-EEA1-4D85-ADA3-BB8A1C4A521F}" destId="{0445D92D-7E05-4267-8384-8CE229F72B43}" srcOrd="1" destOrd="0" presId="urn:microsoft.com/office/officeart/2008/layout/LinedList"/>
    <dgm:cxn modelId="{5DF8CDF7-9543-45DA-A076-3EE3B7B0CB98}" type="presParOf" srcId="{0445D92D-7E05-4267-8384-8CE229F72B43}" destId="{E17A2724-0B5A-462E-B77B-58652340526B}" srcOrd="0" destOrd="0" presId="urn:microsoft.com/office/officeart/2008/layout/LinedList"/>
    <dgm:cxn modelId="{F33C25A9-CECC-4E0D-92EC-4770FB2EAED5}" type="presParOf" srcId="{0445D92D-7E05-4267-8384-8CE229F72B43}" destId="{984964C0-C857-4360-9C5A-82DD00195D7A}" srcOrd="1" destOrd="0" presId="urn:microsoft.com/office/officeart/2008/layout/LinedList"/>
    <dgm:cxn modelId="{775A5E6C-34C3-48D2-BB80-9DFB867C0181}" type="presParOf" srcId="{984964C0-C857-4360-9C5A-82DD00195D7A}" destId="{9FDEC3F5-3A19-4B1A-9069-7BCFA3642B50}" srcOrd="0" destOrd="0" presId="urn:microsoft.com/office/officeart/2008/layout/LinedList"/>
    <dgm:cxn modelId="{31AE8D67-1866-4106-965C-647C924EAB2F}" type="presParOf" srcId="{984964C0-C857-4360-9C5A-82DD00195D7A}" destId="{6E4C71E2-A522-46B2-8AED-0F9C40D9BCBC}" srcOrd="1" destOrd="0" presId="urn:microsoft.com/office/officeart/2008/layout/LinedList"/>
    <dgm:cxn modelId="{CC7F0A69-6C35-4238-993A-FB5565867851}" type="presParOf" srcId="{6E4C71E2-A522-46B2-8AED-0F9C40D9BCBC}" destId="{DB0CC87B-120A-4351-B2FC-71DB6ACEEAED}" srcOrd="0" destOrd="0" presId="urn:microsoft.com/office/officeart/2008/layout/LinedList"/>
    <dgm:cxn modelId="{5A5A4573-952E-4D86-B15C-50B09BBC6F8C}" type="presParOf" srcId="{6E4C71E2-A522-46B2-8AED-0F9C40D9BCBC}" destId="{51A4165D-A36D-4DEC-9AE1-1258F91F63AF}" srcOrd="1" destOrd="0" presId="urn:microsoft.com/office/officeart/2008/layout/LinedList"/>
    <dgm:cxn modelId="{04F1B9AE-5741-4D3F-A2FE-8D74DB2C929C}" type="presParOf" srcId="{6E4C71E2-A522-46B2-8AED-0F9C40D9BCBC}" destId="{CB80B963-C887-438D-8979-8B355F0D9FF7}" srcOrd="2" destOrd="0" presId="urn:microsoft.com/office/officeart/2008/layout/LinedList"/>
    <dgm:cxn modelId="{3570C4FC-559E-4B1E-8BD4-CA625981A04F}" type="presParOf" srcId="{984964C0-C857-4360-9C5A-82DD00195D7A}" destId="{7E155229-CA86-45BB-A8D5-F7883D161019}" srcOrd="2" destOrd="0" presId="urn:microsoft.com/office/officeart/2008/layout/LinedList"/>
    <dgm:cxn modelId="{300C297D-B86B-4FEE-B948-23AA162F162C}" type="presParOf" srcId="{984964C0-C857-4360-9C5A-82DD00195D7A}" destId="{389E8BA4-90B0-422C-BBCA-77C473774F59}" srcOrd="3" destOrd="0" presId="urn:microsoft.com/office/officeart/2008/layout/LinedList"/>
    <dgm:cxn modelId="{38F4A8EA-A4C5-448E-8C13-2DFBC774BD37}" type="presParOf" srcId="{6511B27F-EEA1-4D85-ADA3-BB8A1C4A521F}" destId="{0D165F9C-C58D-47FA-82E9-EB9399B91F93}" srcOrd="2" destOrd="0" presId="urn:microsoft.com/office/officeart/2008/layout/LinedList"/>
    <dgm:cxn modelId="{E6971411-B1D2-459F-A1D1-3201FA284C3F}" type="presParOf" srcId="{6511B27F-EEA1-4D85-ADA3-BB8A1C4A521F}" destId="{D7BC3CAF-3A0A-42D0-ABB6-BA45E18E859B}" srcOrd="3" destOrd="0" presId="urn:microsoft.com/office/officeart/2008/layout/LinedList"/>
    <dgm:cxn modelId="{97034E6B-4DD4-4C72-BE09-9C43F6A7C4EA}" type="presParOf" srcId="{D7BC3CAF-3A0A-42D0-ABB6-BA45E18E859B}" destId="{80312583-44D2-4B9B-92DB-40EC84CD5BAB}" srcOrd="0" destOrd="0" presId="urn:microsoft.com/office/officeart/2008/layout/LinedList"/>
    <dgm:cxn modelId="{573AD96F-C3CC-4E50-B08A-9E65DADD7CFA}" type="presParOf" srcId="{D7BC3CAF-3A0A-42D0-ABB6-BA45E18E859B}" destId="{430BEB21-C986-4D1F-9243-FF631773F051}" srcOrd="1" destOrd="0" presId="urn:microsoft.com/office/officeart/2008/layout/LinedList"/>
    <dgm:cxn modelId="{4F14E2DF-9543-4DA6-B4A1-1FEC76067EA8}" type="presParOf" srcId="{430BEB21-C986-4D1F-9243-FF631773F051}" destId="{B3F47804-E5B9-4CA3-B552-FC18EF89C360}" srcOrd="0" destOrd="0" presId="urn:microsoft.com/office/officeart/2008/layout/LinedList"/>
    <dgm:cxn modelId="{72985CC0-8E1E-412E-A8D8-474EFB4400E9}" type="presParOf" srcId="{430BEB21-C986-4D1F-9243-FF631773F051}" destId="{49FDA3A9-1888-4988-B8D1-8B7E371CA2D7}" srcOrd="1" destOrd="0" presId="urn:microsoft.com/office/officeart/2008/layout/LinedList"/>
    <dgm:cxn modelId="{D9695CC1-8767-429A-8B1F-A1B2C8C2DC09}" type="presParOf" srcId="{49FDA3A9-1888-4988-B8D1-8B7E371CA2D7}" destId="{33C9A926-70CD-48F2-87CC-130C9AD40C50}" srcOrd="0" destOrd="0" presId="urn:microsoft.com/office/officeart/2008/layout/LinedList"/>
    <dgm:cxn modelId="{22C770C7-B771-4E66-8D56-E0F4069347B8}" type="presParOf" srcId="{49FDA3A9-1888-4988-B8D1-8B7E371CA2D7}" destId="{9E1D8196-0D28-4775-86F5-83D56A2A7A47}" srcOrd="1" destOrd="0" presId="urn:microsoft.com/office/officeart/2008/layout/LinedList"/>
    <dgm:cxn modelId="{48BE56A9-2348-4723-AF45-97EB687A6806}" type="presParOf" srcId="{49FDA3A9-1888-4988-B8D1-8B7E371CA2D7}" destId="{69FF3A77-52CB-4E16-811A-C370524175C4}" srcOrd="2" destOrd="0" presId="urn:microsoft.com/office/officeart/2008/layout/LinedList"/>
    <dgm:cxn modelId="{D83B17BC-92E7-4B68-A866-B23F5D0C3155}" type="presParOf" srcId="{430BEB21-C986-4D1F-9243-FF631773F051}" destId="{FE381216-8BFF-4319-BE04-5AEAD29E7AC5}" srcOrd="2" destOrd="0" presId="urn:microsoft.com/office/officeart/2008/layout/LinedList"/>
    <dgm:cxn modelId="{BDAA1A7D-08F1-43D8-96BE-31203BEE91CA}" type="presParOf" srcId="{430BEB21-C986-4D1F-9243-FF631773F051}" destId="{26E966DC-94AF-44A2-A9AC-EE44225F30EB}" srcOrd="3" destOrd="0" presId="urn:microsoft.com/office/officeart/2008/layout/LinedList"/>
    <dgm:cxn modelId="{9A859151-C16C-4679-A1AB-05C1F0E91942}" type="presParOf" srcId="{6511B27F-EEA1-4D85-ADA3-BB8A1C4A521F}" destId="{3E26720F-3CA2-4523-A55E-954B7C927416}" srcOrd="4" destOrd="0" presId="urn:microsoft.com/office/officeart/2008/layout/LinedList"/>
    <dgm:cxn modelId="{1AD6003D-01A7-4542-B4AE-F04459B65168}" type="presParOf" srcId="{6511B27F-EEA1-4D85-ADA3-BB8A1C4A521F}" destId="{083B224C-33EF-4D34-8730-AC8033C0D9C4}" srcOrd="5" destOrd="0" presId="urn:microsoft.com/office/officeart/2008/layout/LinedList"/>
    <dgm:cxn modelId="{0292C224-91DF-416F-ADCD-92682945AC33}" type="presParOf" srcId="{083B224C-33EF-4D34-8730-AC8033C0D9C4}" destId="{2BFFF2C3-AEAF-4446-8495-D72F8576438F}" srcOrd="0" destOrd="0" presId="urn:microsoft.com/office/officeart/2008/layout/LinedList"/>
    <dgm:cxn modelId="{E1960CB9-1C4C-4183-8149-F186CA623B5F}" type="presParOf" srcId="{083B224C-33EF-4D34-8730-AC8033C0D9C4}" destId="{69167CC8-01A7-4B0F-AAF0-CCB5D4F00296}" srcOrd="1" destOrd="0" presId="urn:microsoft.com/office/officeart/2008/layout/LinedList"/>
    <dgm:cxn modelId="{DF2D22AE-91B2-48EE-8353-2A141A03D1E7}" type="presParOf" srcId="{69167CC8-01A7-4B0F-AAF0-CCB5D4F00296}" destId="{E882B6A8-042D-4F53-A439-D971639C247E}" srcOrd="0" destOrd="0" presId="urn:microsoft.com/office/officeart/2008/layout/LinedList"/>
    <dgm:cxn modelId="{1A30AD1C-713F-44D1-A2F5-C1D11E915880}" type="presParOf" srcId="{69167CC8-01A7-4B0F-AAF0-CCB5D4F00296}" destId="{EB407710-B73F-4B3B-8B81-1F0285AD3FDC}" srcOrd="1" destOrd="0" presId="urn:microsoft.com/office/officeart/2008/layout/LinedList"/>
    <dgm:cxn modelId="{0309ECE3-6196-4F29-AA5B-70EDA7CD1377}" type="presParOf" srcId="{EB407710-B73F-4B3B-8B81-1F0285AD3FDC}" destId="{619C9760-3B32-4B80-8FA2-64DC768517C2}" srcOrd="0" destOrd="0" presId="urn:microsoft.com/office/officeart/2008/layout/LinedList"/>
    <dgm:cxn modelId="{31D4E23F-C9B3-4A6E-A5AA-23747C7F07A7}" type="presParOf" srcId="{EB407710-B73F-4B3B-8B81-1F0285AD3FDC}" destId="{3421DB87-7763-4E9E-80AB-3A4244DA1062}" srcOrd="1" destOrd="0" presId="urn:microsoft.com/office/officeart/2008/layout/LinedList"/>
    <dgm:cxn modelId="{C3663FA0-4969-44A4-94B0-ACECAC195AEB}" type="presParOf" srcId="{EB407710-B73F-4B3B-8B81-1F0285AD3FDC}" destId="{7E4E7C3A-4E97-440E-860E-650021CFBD33}" srcOrd="2" destOrd="0" presId="urn:microsoft.com/office/officeart/2008/layout/LinedList"/>
    <dgm:cxn modelId="{7B1B8A06-2343-4538-96CD-4C08608D3773}" type="presParOf" srcId="{69167CC8-01A7-4B0F-AAF0-CCB5D4F00296}" destId="{8A374915-E3F2-4D55-80CD-735D6CFC31F4}" srcOrd="2" destOrd="0" presId="urn:microsoft.com/office/officeart/2008/layout/LinedList"/>
    <dgm:cxn modelId="{69CD1207-35B3-4C18-9160-101387AA2E6F}" type="presParOf" srcId="{69167CC8-01A7-4B0F-AAF0-CCB5D4F00296}" destId="{ECB70442-5E5B-4625-99D5-7C35EDA0EE43}"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197D-4B0C-4DCD-95A6-A131DE9108F9}">
      <dsp:nvSpPr>
        <dsp:cNvPr id="0" name=""/>
        <dsp:cNvSpPr/>
      </dsp:nvSpPr>
      <dsp:spPr>
        <a:xfrm>
          <a:off x="0" y="5215"/>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17A2724-0B5A-462E-B77B-58652340526B}">
      <dsp:nvSpPr>
        <dsp:cNvPr id="0" name=""/>
        <dsp:cNvSpPr/>
      </dsp:nvSpPr>
      <dsp:spPr>
        <a:xfrm>
          <a:off x="0" y="5215"/>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KQKD 1H26</a:t>
          </a:r>
        </a:p>
      </dsp:txBody>
      <dsp:txXfrm>
        <a:off x="0" y="5215"/>
        <a:ext cx="1593243" cy="3556652"/>
      </dsp:txXfrm>
    </dsp:sp>
    <dsp:sp modelId="{51A4165D-A36D-4DEC-9AE1-1258F91F63AF}">
      <dsp:nvSpPr>
        <dsp:cNvPr id="0" name=""/>
        <dsp:cNvSpPr/>
      </dsp:nvSpPr>
      <dsp:spPr>
        <a:xfrm>
          <a:off x="1712736" y="166723"/>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vi-VN" sz="2900" kern="1200" dirty="0">
              <a:latin typeface="SVN-Gilroy" panose="00000500000000000000" pitchFamily="50" charset="0"/>
            </a:rPr>
            <a:t>LNTT hợp nhất 18,880 tỷ (+68% CK), tương đương ~46% kế hoạch năm</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Riêng Q2/26 đạt 10,959 tỷ (+76% CK), mức cao nhất 4 năm</a:t>
          </a:r>
          <a:endParaRPr lang="vi-VN" sz="2900" kern="1200" dirty="0">
            <a:latin typeface="SVN-Gilroy" panose="00000500000000000000" pitchFamily="50" charset="0"/>
          </a:endParaRP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TOI 43,400 tỷ (+35.2%); tổng tài sản vượt 1.5 triệu tỷ (+19.2% so đầu năm)</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Tín dụng ngân hàng mẹ ~1.06 triệu tỷ (+24.6%); nợ xấu ngân hàng mẹ (TT31) ~2%, hợp nhất dưới 3%</a:t>
          </a:r>
          <a:endParaRPr lang="en-US" sz="2900" b="1" kern="1200" dirty="0">
            <a:latin typeface="SVN-Gilroy" panose="00000500000000000000" pitchFamily="50" charset="0"/>
          </a:endParaRPr>
        </a:p>
      </dsp:txBody>
      <dsp:txXfrm>
        <a:off x="1712736" y="166723"/>
        <a:ext cx="6253481" cy="3230163"/>
      </dsp:txXfrm>
    </dsp:sp>
    <dsp:sp modelId="{7E155229-CA86-45BB-A8D5-F7883D161019}">
      <dsp:nvSpPr>
        <dsp:cNvPr id="0" name=""/>
        <dsp:cNvSpPr/>
      </dsp:nvSpPr>
      <dsp:spPr>
        <a:xfrm>
          <a:off x="1593243" y="3396886"/>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D165F9C-C58D-47FA-82E9-EB9399B91F93}">
      <dsp:nvSpPr>
        <dsp:cNvPr id="0" name=""/>
        <dsp:cNvSpPr/>
      </dsp:nvSpPr>
      <dsp:spPr>
        <a:xfrm>
          <a:off x="0" y="3561867"/>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0312583-44D2-4B9B-92DB-40EC84CD5BAB}">
      <dsp:nvSpPr>
        <dsp:cNvPr id="0" name=""/>
        <dsp:cNvSpPr/>
      </dsp:nvSpPr>
      <dsp:spPr>
        <a:xfrm>
          <a:off x="0" y="3561867"/>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Tăng vốn &amp; room ngoại</a:t>
          </a:r>
        </a:p>
      </dsp:txBody>
      <dsp:txXfrm>
        <a:off x="0" y="3561867"/>
        <a:ext cx="1593243" cy="3556652"/>
      </dsp:txXfrm>
    </dsp:sp>
    <dsp:sp modelId="{9E1D8196-0D28-4775-86F5-83D56A2A7A47}">
      <dsp:nvSpPr>
        <dsp:cNvPr id="0" name=""/>
        <dsp:cNvSpPr/>
      </dsp:nvSpPr>
      <dsp:spPr>
        <a:xfrm>
          <a:off x="1712736" y="3723375"/>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Vốn điều lệ tăng từ 79,339 lên 106,243 tỷ - cao nhất hệ thống</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Bước 1: cổ tức cổ phiếu 26.04% (~2.06 tỷ cp) từ LNST giữ lại, dự kiến Q3-Q4/26</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Bước 2: chào bán riêng lẻ 624 triệu cp cho đối tác ngoại (~6,243 tỷ), sở hữu ngoại có thể lên ~34%</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Nghị định 69/2025: ngân hàng nhận chuyển giao (VPB nhận GPBank) được nới room ngoại tối đa 49%; hiện 24.3%. Cổ tức tiền mặt 5% (~3,900 tỷ)</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r>
            <a:rPr lang="en-US" sz="2900" kern="1200" dirty="0" err="1">
              <a:latin typeface="SVN-Gilroy" panose="00000500000000000000" pitchFamily="50" charset="0"/>
            </a:rPr>
            <a:t/>
          </a:r>
          <a:r>
            <a:rPr lang="en-US" sz="2900" kern="1200" dirty="0">
              <a:latin typeface="SVN-Gilroy" panose="00000500000000000000" pitchFamily="50" charset="0"/>
            </a:rPr>
            <a:t/>
          </a:r>
          <a:endParaRPr lang="en-US" sz="2900" b="0" kern="1200" dirty="0"/>
        </a:p>
      </dsp:txBody>
      <dsp:txXfrm>
        <a:off x="1712736" y="3723375"/>
        <a:ext cx="6253481" cy="3230163"/>
      </dsp:txXfrm>
    </dsp:sp>
    <dsp:sp modelId="{FE381216-8BFF-4319-BE04-5AEAD29E7AC5}">
      <dsp:nvSpPr>
        <dsp:cNvPr id="0" name=""/>
        <dsp:cNvSpPr/>
      </dsp:nvSpPr>
      <dsp:spPr>
        <a:xfrm>
          <a:off x="1593243" y="6953538"/>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3E26720F-3CA2-4523-A55E-954B7C927416}">
      <dsp:nvSpPr>
        <dsp:cNvPr id="0" name=""/>
        <dsp:cNvSpPr/>
      </dsp:nvSpPr>
      <dsp:spPr>
        <a:xfrm>
          <a:off x="0" y="7118520"/>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BFFF2C3-AEAF-4446-8495-D72F8576438F}">
      <dsp:nvSpPr>
        <dsp:cNvPr id="0" name=""/>
        <dsp:cNvSpPr/>
      </dsp:nvSpPr>
      <dsp:spPr>
        <a:xfrm>
          <a:off x="0" y="7118520"/>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err="1">
              <a:solidFill>
                <a:srgbClr val="F48120"/>
              </a:solidFill>
              <a:latin typeface="SVN-Gilroy" panose="00000500000000000000" pitchFamily="50" charset="0"/>
            </a:rPr>
            <a:t>Định giá &amp; rủi ro</a:t>
          </a:r>
          <a:r>
            <a:rPr lang="en-US" sz="3200" b="1" kern="1200" dirty="0">
              <a:solidFill>
                <a:srgbClr val="F48120"/>
              </a:solidFill>
              <a:latin typeface="SVN-Gilroy" panose="00000500000000000000" pitchFamily="50" charset="0"/>
            </a:rPr>
            <a:t/>
          </a:r>
          <a:r>
            <a:rPr lang="en-US" sz="3200" b="1" kern="1200" dirty="0" err="1">
              <a:solidFill>
                <a:srgbClr val="F48120"/>
              </a:solidFill>
              <a:latin typeface="SVN-Gilroy" panose="00000500000000000000" pitchFamily="50" charset="0"/>
            </a:rPr>
            <a:t/>
          </a:r>
          <a:endParaRPr lang="en-US" sz="3200" b="1" kern="1200" dirty="0">
            <a:solidFill>
              <a:srgbClr val="F48120"/>
            </a:solidFill>
            <a:latin typeface="SVN-Gilroy" panose="00000500000000000000" pitchFamily="50" charset="0"/>
          </a:endParaRPr>
        </a:p>
      </dsp:txBody>
      <dsp:txXfrm>
        <a:off x="0" y="7118520"/>
        <a:ext cx="1593243" cy="3556652"/>
      </dsp:txXfrm>
    </dsp:sp>
    <dsp:sp modelId="{3421DB87-7763-4E9E-80AB-3A4244DA1062}">
      <dsp:nvSpPr>
        <dsp:cNvPr id="0" name=""/>
        <dsp:cNvSpPr/>
      </dsp:nvSpPr>
      <dsp:spPr>
        <a:xfrm>
          <a:off x="1712736" y="7280028"/>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a:latin typeface="SVN-Gilroy" panose="00000500000000000000"/>
            </a:rPr>
            <a:t>Giá mục tiêu 33,800đ, tiềm năng ~+37% so giá 24,600đ (28/07/26)</a:t>
          </a:r>
          <a:r>
            <a:rPr lang="vi-VN" sz="2900" b="0" kern="1200" dirty="0">
              <a:latin typeface="SVN-Gilroy" panose="00000500000000000000"/>
            </a:rPr>
            <a:t/>
          </a:r>
          <a:r>
            <a:rPr lang="en-US" sz="2900" b="0" kern="1200" dirty="0">
              <a:latin typeface="SVN-Gilroy" panose="00000500000000000000"/>
            </a:rPr>
            <a:t/>
          </a:r>
          <a:r>
            <a:rPr lang="vi-VN" sz="2900" b="0" kern="1200" dirty="0">
              <a:latin typeface="SVN-Gilroy" panose="00000500000000000000"/>
            </a:rPr>
            <a:t/>
          </a:r>
          <a:r>
            <a:rPr lang="en-US" sz="2900" b="0" kern="1200" dirty="0">
              <a:latin typeface="SVN-Gilroy" panose="00000500000000000000"/>
            </a:rPr>
            <a:t/>
          </a:r>
          <a:r>
            <a:rPr lang="vi-VN" sz="2900" b="0" kern="1200" dirty="0">
              <a:latin typeface="SVN-Gilroy" panose="00000500000000000000"/>
            </a:rPr>
            <a:t/>
          </a:r>
          <a:r>
            <a:rPr lang="en-US" sz="2900" b="0" kern="1200" dirty="0">
              <a:latin typeface="SVN-Gilroy" panose="00000500000000000000"/>
            </a:rPr>
            <a:t/>
          </a:r>
        </a:p>
        <a:p>
          <a:pPr marL="0" lvl="0" indent="0" algn="l" defTabSz="1289050">
            <a:lnSpc>
              <a:spcPct val="90000"/>
            </a:lnSpc>
            <a:spcBef>
              <a:spcPct val="0"/>
            </a:spcBef>
            <a:spcAft>
              <a:spcPct val="35000"/>
            </a:spcAft>
            <a:buNone/>
          </a:pPr>
          <a:r>
            <a:rPr lang="en-US" sz="2900" b="0" kern="1200" dirty="0">
              <a:latin typeface="SVN-Gilroy" panose="00000500000000000000"/>
            </a:rPr>
            <a:t>- Dự phóng LNST-CĐTS 2026F 29,056 tỷ; 2027F 36,119 tỷ (+24.3%)</a:t>
          </a:r>
          <a:r>
            <a:rPr lang="vi-VN" sz="2900" b="0" kern="1200" dirty="0">
              <a:latin typeface="SVN-Gilroy" panose="00000500000000000000"/>
            </a:rPr>
            <a:t/>
          </a:r>
          <a:r>
            <a:rPr lang="en-US" sz="2900" b="0" kern="1200" dirty="0" err="1">
              <a:latin typeface="SVN-Gilroy" panose="00000500000000000000"/>
            </a:rPr>
            <a:t/>
          </a:r>
          <a:r>
            <a:rPr lang="en-US" sz="2900" b="0" kern="1200" dirty="0">
              <a:latin typeface="SVN-Gilroy" panose="00000500000000000000"/>
            </a:rPr>
            <a:t/>
          </a:r>
          <a:r>
            <a:rPr lang="en-US" sz="2900" b="0" kern="1200" dirty="0" err="1">
              <a:latin typeface="SVN-Gilroy" panose="00000500000000000000"/>
            </a:rPr>
            <a:t/>
          </a:r>
          <a:r>
            <a:rPr lang="en-US" sz="2900" b="0" kern="1200" dirty="0">
              <a:latin typeface="SVN-Gilroy" panose="00000500000000000000"/>
            </a:rPr>
            <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Nền so sánh 2H25 cao (LNTT 2H25 ~19,400 tỷ) nên tốc độ tăng sẽ chậm lại rõ trong 2H26</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Pha loãng ~21% từ cổ tức cổ phiếu; thời điểm phát hành riêng lẻ chưa chắc chắn</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r>
            <a:rPr lang="vi-VN" sz="2900" b="0" kern="1200" dirty="0">
              <a:solidFill>
                <a:schemeClr val="tx1"/>
              </a:solidFill>
              <a:latin typeface="SVN-Gilroy" panose="00000500000000000000"/>
            </a:rPr>
            <a:t/>
          </a:r>
          <a:r>
            <a:rPr lang="en-US" sz="2900" b="0" kern="1200" dirty="0">
              <a:solidFill>
                <a:schemeClr val="tx1"/>
              </a:solidFill>
              <a:latin typeface="SVN-Gilroy" panose="00000500000000000000"/>
            </a:rPr>
            <a:t/>
          </a:r>
          <a:r>
            <a:rPr lang="vi-VN" sz="2900" b="0" kern="1200" dirty="0">
              <a:solidFill>
                <a:schemeClr val="tx1"/>
              </a:solidFill>
              <a:latin typeface="SVN-Gilroy" panose="00000500000000000000"/>
            </a:rPr>
            <a:t/>
          </a:r>
          <a:endParaRPr lang="en-US" sz="2900" b="0" kern="1200" dirty="0">
            <a:solidFill>
              <a:schemeClr val="tx1"/>
            </a:solidFill>
            <a:latin typeface="SVN-Gilroy" panose="00000500000000000000"/>
          </a:endParaRPr>
        </a:p>
      </dsp:txBody>
      <dsp:txXfrm>
        <a:off x="1712736" y="7280028"/>
        <a:ext cx="6253481" cy="3230163"/>
      </dsp:txXfrm>
    </dsp:sp>
    <dsp:sp modelId="{8A374915-E3F2-4D55-80CD-735D6CFC31F4}">
      <dsp:nvSpPr>
        <dsp:cNvPr id="0" name=""/>
        <dsp:cNvSpPr/>
      </dsp:nvSpPr>
      <dsp:spPr>
        <a:xfrm>
          <a:off x="1593243" y="10510191"/>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761CF3-D2B1-41E7-B7AD-014CE5A9FC8F}" type="datetimeFigureOut">
              <a:rPr lang="en-US" smtClean="0"/>
              <a:t>6/25/2026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3BF73-1B2E-4727-90FE-C4A7E363EF2B}" type="slidenum">
              <a:rPr lang="en-US" smtClean="0"/>
              <a:t>‹#›</a:t>
            </a:fld>
            <a:endParaRPr lang="en-US" dirty="0"/>
          </a:p>
        </p:txBody>
      </p:sp>
    </p:spTree>
    <p:extLst>
      <p:ext uri="{BB962C8B-B14F-4D97-AF65-F5344CB8AC3E}">
        <p14:creationId xmlns:p14="http://schemas.microsoft.com/office/powerpoint/2010/main" val="424583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3A4335E7-334C-4156-45DE-F50C889C63C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endParaRPr lang="en-US" dirty="0"/>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91629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F592DA13-A42C-57EE-91EC-244E159F5EA2}"/>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209676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endParaRPr lang="en-US" dirty="0"/>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56298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40582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19902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251174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58612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7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dirty="0"/>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70508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61204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531718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6/25/2026</a:t>
            </a:fld>
            <a:endParaRPr lang="en-US" dirty="0"/>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dirty="0"/>
          </a:p>
        </p:txBody>
      </p:sp>
    </p:spTree>
    <p:extLst>
      <p:ext uri="{BB962C8B-B14F-4D97-AF65-F5344CB8AC3E}">
        <p14:creationId xmlns:p14="http://schemas.microsoft.com/office/powerpoint/2010/main" val="36762698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080A-1BF5-AFC3-122C-56F736CB63A5}"/>
            </a:ext>
          </a:extLst>
        </p:cNvPr>
        <p:cNvGrpSpPr/>
        <p:nvPr/>
      </p:nvGrpSpPr>
      <p:grpSpPr>
        <a:xfrm>
          <a:off x="0" y="0"/>
          <a:ext cx="0" cy="0"/>
          <a:chOff x="0" y="0"/>
          <a:chExt cx="0" cy="0"/>
        </a:xfrm>
      </p:grpSpPr>
      <p:pic>
        <p:nvPicPr>
          <p:cNvPr id="8" name="Picture 7" descr="A white rectangular object with a pink border&#10;&#10;Description automatically generated">
            <a:extLst>
              <a:ext uri="{FF2B5EF4-FFF2-40B4-BE49-F238E27FC236}">
                <a16:creationId xmlns:a16="http://schemas.microsoft.com/office/drawing/2014/main" id="{77D9D435-ED2C-E0FB-DAAF-33E9371BEAA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6" name="TextBox 5">
            <a:extLst>
              <a:ext uri="{FF2B5EF4-FFF2-40B4-BE49-F238E27FC236}">
                <a16:creationId xmlns:a16="http://schemas.microsoft.com/office/drawing/2014/main" id="{A914B5F8-E1EB-70B1-B389-060E2921B1F7}"/>
              </a:ext>
            </a:extLst>
          </p:cNvPr>
          <p:cNvSpPr txBox="1"/>
          <p:nvPr/>
        </p:nvSpPr>
        <p:spPr>
          <a:xfrm>
            <a:off x="559467" y="399526"/>
            <a:ext cx="6501244" cy="738664"/>
          </a:xfrm>
          <a:prstGeom prst="rect">
            <a:avLst/>
          </a:prstGeom>
          <a:noFill/>
        </p:spPr>
        <p:txBody>
          <a:bodyPr wrap="square" rtlCol="0">
            <a:spAutoFit/>
          </a:bodyPr>
          <a:lstStyle/>
          <a:p>
            <a:r>
              <a:rPr lang="en-US" sz="4200" dirty="0">
                <a:solidFill>
                  <a:srgbClr val="F38120"/>
                </a:solidFill>
                <a:latin typeface="SVN-Gilroy XBold" panose="00000900000000000000" pitchFamily="50" charset="0"/>
              </a:rPr>
              <a:t>Ngân hàng</a:t>
            </a:r>
            <a:r>
              <a:rPr lang="en-US" sz="4200" dirty="0" err="1">
                <a:solidFill>
                  <a:srgbClr val="F38120"/>
                </a:solidFill>
                <a:latin typeface="SVN-Gilroy XBold" panose="00000900000000000000" pitchFamily="50" charset="0"/>
              </a:rPr>
              <a:t/>
            </a:r>
            <a:r>
              <a:rPr lang="en-US" sz="4200" dirty="0">
                <a:solidFill>
                  <a:srgbClr val="F38120"/>
                </a:solidFill>
                <a:latin typeface="SVN-Gilroy XBold" panose="00000900000000000000" pitchFamily="50" charset="0"/>
              </a:rPr>
              <a:t/>
            </a:r>
          </a:p>
        </p:txBody>
      </p:sp>
      <p:sp>
        <p:nvSpPr>
          <p:cNvPr id="7" name="TextBox 6">
            <a:extLst>
              <a:ext uri="{FF2B5EF4-FFF2-40B4-BE49-F238E27FC236}">
                <a16:creationId xmlns:a16="http://schemas.microsoft.com/office/drawing/2014/main" id="{6A96A606-D1B5-EE58-A08A-3B9212285C6D}"/>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31.07.2026</a:t>
            </a:r>
          </a:p>
        </p:txBody>
      </p:sp>
      <p:sp>
        <p:nvSpPr>
          <p:cNvPr id="2" name="TextBox 1">
            <a:extLst>
              <a:ext uri="{FF2B5EF4-FFF2-40B4-BE49-F238E27FC236}">
                <a16:creationId xmlns:a16="http://schemas.microsoft.com/office/drawing/2014/main" id="{D5708BFA-DD95-5F7F-DB97-C61B49917AE0}"/>
              </a:ext>
            </a:extLst>
          </p:cNvPr>
          <p:cNvSpPr txBox="1"/>
          <p:nvPr/>
        </p:nvSpPr>
        <p:spPr>
          <a:xfrm>
            <a:off x="1156710" y="4050087"/>
            <a:ext cx="7973568" cy="2862322"/>
          </a:xfrm>
          <a:prstGeom prst="rect">
            <a:avLst/>
          </a:prstGeom>
          <a:noFill/>
        </p:spPr>
        <p:txBody>
          <a:bodyPr wrap="square" rtlCol="0">
            <a:spAutoFit/>
          </a:bodyPr>
          <a:lstStyle/>
          <a:p>
            <a:pPr algn="ctr"/>
            <a:r>
              <a:rPr lang="en-US" sz="6000" dirty="0">
                <a:solidFill>
                  <a:srgbClr val="F38120"/>
                </a:solidFill>
                <a:latin typeface="SVN-Gilroy XBold" panose="00000900000000000000" pitchFamily="50" charset="0"/>
              </a:rPr>
              <a:t>Ngân hàng VPBank</a:t>
            </a:r>
            <a:r>
              <a:rPr lang="en-US" sz="6000" dirty="0" err="1">
                <a:solidFill>
                  <a:srgbClr val="F38120"/>
                </a:solidFill>
                <a:latin typeface="SVN-Gilroy XBold" panose="00000900000000000000" pitchFamily="50" charset="0"/>
              </a:rPr>
              <a:t/>
            </a:r>
            <a:r>
              <a:rPr lang="en-US" sz="6000" dirty="0">
                <a:solidFill>
                  <a:srgbClr val="F38120"/>
                </a:solidFill>
                <a:latin typeface="SVN-Gilroy XBold" panose="00000900000000000000" pitchFamily="50" charset="0"/>
              </a:rPr>
              <a:t/>
            </a:r>
            <a:r>
              <a:rPr lang="en-US" sz="6000" dirty="0" err="1">
                <a:solidFill>
                  <a:srgbClr val="F38120"/>
                </a:solidFill>
                <a:latin typeface="SVN-Gilroy XBold" panose="00000900000000000000" pitchFamily="50" charset="0"/>
              </a:rPr>
              <a:t/>
            </a:r>
            <a:endParaRPr lang="en-US" sz="6000" dirty="0">
              <a:solidFill>
                <a:srgbClr val="F38120"/>
              </a:solidFill>
              <a:latin typeface="SVN-Gilroy XBold" panose="00000900000000000000" pitchFamily="50" charset="0"/>
            </a:endParaRPr>
          </a:p>
          <a:p>
            <a:pPr algn="ctr"/>
            <a:r>
              <a:rPr lang="en-US" sz="6000" dirty="0">
                <a:solidFill>
                  <a:srgbClr val="F38120"/>
                </a:solidFill>
                <a:latin typeface="SVN-Gilroy XBold" panose="00000900000000000000" pitchFamily="50" charset="0"/>
              </a:rPr>
              <a:t>(HOSE: VPB)</a:t>
            </a:r>
          </a:p>
        </p:txBody>
      </p:sp>
      <p:sp>
        <p:nvSpPr>
          <p:cNvPr id="4" name="TextBox 3">
            <a:extLst>
              <a:ext uri="{FF2B5EF4-FFF2-40B4-BE49-F238E27FC236}">
                <a16:creationId xmlns:a16="http://schemas.microsoft.com/office/drawing/2014/main" id="{2E1692FE-8D2A-CF6A-866B-0B0422273BDD}"/>
              </a:ext>
            </a:extLst>
          </p:cNvPr>
          <p:cNvSpPr txBox="1"/>
          <p:nvPr/>
        </p:nvSpPr>
        <p:spPr>
          <a:xfrm>
            <a:off x="652999" y="7126168"/>
            <a:ext cx="8980991" cy="1231106"/>
          </a:xfrm>
          <a:prstGeom prst="rect">
            <a:avLst/>
          </a:prstGeom>
          <a:noFill/>
        </p:spPr>
        <p:txBody>
          <a:bodyPr wrap="square" rtlCol="0">
            <a:spAutoFit/>
          </a:bodyPr>
          <a:lstStyle/>
          <a:p>
            <a:pPr algn="ctr"/>
            <a:r>
              <a:rPr lang="vi-VN" sz="3700" b="1" dirty="0">
                <a:solidFill>
                  <a:srgbClr val="01437C"/>
                </a:solidFill>
                <a:latin typeface="SVN-Gilroy" panose="00000500000000000000" pitchFamily="50" charset="0"/>
                <a:ea typeface="Karla" pitchFamily="2" charset="0"/>
                <a:cs typeface="Poppins" panose="00000500000000000000" pitchFamily="2" charset="0"/>
              </a:rPr>
              <a:t>Lãi kỷ lục, chờ câu chuyện tăng vốn</a:t>
            </a:r>
          </a:p>
        </p:txBody>
      </p:sp>
      <p:grpSp>
        <p:nvGrpSpPr>
          <p:cNvPr id="13" name="Group 12">
            <a:extLst>
              <a:ext uri="{FF2B5EF4-FFF2-40B4-BE49-F238E27FC236}">
                <a16:creationId xmlns:a16="http://schemas.microsoft.com/office/drawing/2014/main" id="{638356BC-700A-EB7E-38C5-8059B2064F78}"/>
              </a:ext>
            </a:extLst>
          </p:cNvPr>
          <p:cNvGrpSpPr/>
          <p:nvPr/>
        </p:nvGrpSpPr>
        <p:grpSpPr>
          <a:xfrm>
            <a:off x="3336461" y="8625441"/>
            <a:ext cx="4109367" cy="1451113"/>
            <a:chOff x="3336461" y="8784465"/>
            <a:chExt cx="4109367" cy="1451113"/>
          </a:xfrm>
        </p:grpSpPr>
        <p:sp>
          <p:nvSpPr>
            <p:cNvPr id="5" name="Rectangle: Rounded Corners 4">
              <a:extLst>
                <a:ext uri="{FF2B5EF4-FFF2-40B4-BE49-F238E27FC236}">
                  <a16:creationId xmlns:a16="http://schemas.microsoft.com/office/drawing/2014/main" id="{3E669CBE-92BA-A572-7180-B81BDB62D11B}"/>
                </a:ext>
              </a:extLst>
            </p:cNvPr>
            <p:cNvSpPr/>
            <p:nvPr/>
          </p:nvSpPr>
          <p:spPr>
            <a:xfrm>
              <a:off x="3336461" y="8784465"/>
              <a:ext cx="4109367" cy="993913"/>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700" dirty="0">
                  <a:latin typeface="SVN-Gilroy" panose="00000500000000000000" pitchFamily="50" charset="0"/>
                </a:rPr>
                <a:t>MUA</a:t>
              </a:r>
            </a:p>
          </p:txBody>
        </p:sp>
        <p:sp>
          <p:nvSpPr>
            <p:cNvPr id="9" name="Arrow: Up 8">
              <a:extLst>
                <a:ext uri="{FF2B5EF4-FFF2-40B4-BE49-F238E27FC236}">
                  <a16:creationId xmlns:a16="http://schemas.microsoft.com/office/drawing/2014/main" id="{D86E1F36-EC74-E9A6-0608-6AD7488EF5C5}"/>
                </a:ext>
              </a:extLst>
            </p:cNvPr>
            <p:cNvSpPr/>
            <p:nvPr/>
          </p:nvSpPr>
          <p:spPr>
            <a:xfrm rot="19258989">
              <a:off x="6493332" y="9321178"/>
              <a:ext cx="914400" cy="914400"/>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3184D3A0-7F48-33BE-E1E4-8C878D3CB804}"/>
              </a:ext>
            </a:extLst>
          </p:cNvPr>
          <p:cNvGraphicFramePr>
            <a:graphicFrameLocks noGrp="1"/>
          </p:cNvGraphicFramePr>
          <p:nvPr>
            <p:extLst>
              <p:ext uri="{D42A27DB-BD31-4B8C-83A1-F6EECF244321}">
                <p14:modId xmlns:p14="http://schemas.microsoft.com/office/powerpoint/2010/main" val="2480756689"/>
              </p:ext>
            </p:extLst>
          </p:nvPr>
        </p:nvGraphicFramePr>
        <p:xfrm>
          <a:off x="2679752" y="10155689"/>
          <a:ext cx="4927489" cy="1847279"/>
        </p:xfrm>
        <a:graphic>
          <a:graphicData uri="http://schemas.openxmlformats.org/drawingml/2006/table">
            <a:tbl>
              <a:tblPr firstRow="1" bandRow="1">
                <a:tableStyleId>{2D5ABB26-0587-4C30-8999-92F81FD0307C}</a:tableStyleId>
              </a:tblPr>
              <a:tblGrid>
                <a:gridCol w="3273112">
                  <a:extLst>
                    <a:ext uri="{9D8B030D-6E8A-4147-A177-3AD203B41FA5}">
                      <a16:colId xmlns:a16="http://schemas.microsoft.com/office/drawing/2014/main" val="3602970718"/>
                    </a:ext>
                  </a:extLst>
                </a:gridCol>
                <a:gridCol w="1654377">
                  <a:extLst>
                    <a:ext uri="{9D8B030D-6E8A-4147-A177-3AD203B41FA5}">
                      <a16:colId xmlns:a16="http://schemas.microsoft.com/office/drawing/2014/main" val="3703199259"/>
                    </a:ext>
                  </a:extLst>
                </a:gridCol>
              </a:tblGrid>
              <a:tr h="785023">
                <a:tc>
                  <a:txBody>
                    <a:bodyPr/>
                    <a:lstStyle/>
                    <a:p>
                      <a:pPr marL="0" algn="l" defTabSz="1028700" rtl="0" eaLnBrk="1" latinLnBrk="0" hangingPunct="1">
                        <a:lnSpc>
                          <a:spcPct val="150000"/>
                        </a:lnSpc>
                        <a:spcBef>
                          <a:spcPts val="600"/>
                        </a:spcBef>
                        <a:spcAft>
                          <a:spcPts val="600"/>
                        </a:spcAft>
                      </a:pPr>
                      <a:r>
                        <a:rPr lang="en-US" sz="3700" b="0" kern="1200" dirty="0" err="1">
                          <a:solidFill>
                            <a:srgbClr val="00427A"/>
                          </a:solidFill>
                          <a:latin typeface="SVN-Gilroy" panose="00000500000000000000" pitchFamily="50" charset="0"/>
                          <a:ea typeface="+mn-ea"/>
                          <a:cs typeface="Poppins" panose="00000500000000000000" pitchFamily="2" charset="0"/>
                        </a:rPr>
                        <a:t>Giá mục tiêu</a:t>
                      </a:r>
                      <a:r>
                        <a:rPr lang="en-US" sz="3700" b="0" kern="1200" dirty="0">
                          <a:solidFill>
                            <a:srgbClr val="00427A"/>
                          </a:solidFill>
                          <a:latin typeface="SVN-Gilroy" panose="00000500000000000000" pitchFamily="50" charset="0"/>
                          <a:ea typeface="+mn-ea"/>
                          <a:cs typeface="Poppins" panose="00000500000000000000" pitchFamily="2" charset="0"/>
                        </a:rPr>
                        <a:t/>
                      </a:r>
                      <a:r>
                        <a:rPr lang="en-US" sz="3700" b="0" kern="1200" dirty="0" err="1">
                          <a:solidFill>
                            <a:srgbClr val="00427A"/>
                          </a:solidFill>
                          <a:latin typeface="SVN-Gilroy" panose="00000500000000000000" pitchFamily="50" charset="0"/>
                          <a:ea typeface="+mn-ea"/>
                          <a:cs typeface="Poppins" panose="00000500000000000000" pitchFamily="2" charset="0"/>
                        </a:rPr>
                        <a:t/>
                      </a:r>
                      <a:r>
                        <a:rPr lang="en-US" sz="3700" b="0" kern="1200" dirty="0">
                          <a:solidFill>
                            <a:srgbClr val="00427A"/>
                          </a:solidFill>
                          <a:latin typeface="SVN-Gilroy" panose="00000500000000000000" pitchFamily="50" charset="0"/>
                          <a:ea typeface="+mn-ea"/>
                          <a:cs typeface="Poppins" panose="00000500000000000000" pitchFamily="2" charset="0"/>
                        </a:rPr>
                        <a:t/>
                      </a:r>
                      <a:r>
                        <a:rPr lang="en-US" sz="3700" b="0" kern="1200" dirty="0" err="1">
                          <a:solidFill>
                            <a:srgbClr val="00427A"/>
                          </a:solidFill>
                          <a:latin typeface="SVN-Gilroy" panose="00000500000000000000" pitchFamily="50" charset="0"/>
                          <a:ea typeface="+mn-ea"/>
                          <a:cs typeface="Poppins" panose="00000500000000000000" pitchFamily="2" charset="0"/>
                        </a:rPr>
                        <a:t/>
                      </a: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555997262"/>
                  </a:ext>
                </a:extLst>
              </a:tr>
              <a:tr h="783782">
                <a:tc>
                  <a:txBody>
                    <a:bodyPr/>
                    <a:lstStyle/>
                    <a:p>
                      <a:pPr marL="0" marR="0" lvl="0" indent="0" algn="l" defTabSz="1028700" rtl="0" eaLnBrk="1" fontAlgn="auto" latinLnBrk="0" hangingPunct="1">
                        <a:lnSpc>
                          <a:spcPct val="150000"/>
                        </a:lnSpc>
                        <a:spcBef>
                          <a:spcPts val="600"/>
                        </a:spcBef>
                        <a:spcAft>
                          <a:spcPts val="600"/>
                        </a:spcAft>
                        <a:buClrTx/>
                        <a:buSzTx/>
                        <a:buFontTx/>
                        <a:buNone/>
                        <a:tabLst/>
                        <a:defRPr/>
                      </a:pPr>
                      <a:r>
                        <a:rPr lang="en-US" sz="3700" b="1" kern="1200" dirty="0">
                          <a:solidFill>
                            <a:srgbClr val="00427A"/>
                          </a:solidFill>
                          <a:latin typeface="SVN-Gilroy" panose="00000500000000000000" pitchFamily="50" charset="0"/>
                        </a:rPr>
                        <a:t>33,800</a:t>
                      </a:r>
                      <a:endParaRPr lang="en-US" sz="37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r>
                        <a:rPr lang="en-US" sz="3700" b="1" kern="1200" dirty="0">
                          <a:solidFill>
                            <a:srgbClr val="92D050"/>
                          </a:solidFill>
                          <a:latin typeface="SVN-Gilroy" panose="00000500000000000000" pitchFamily="50" charset="0"/>
                        </a:rPr>
                        <a:t>+37.4%</a:t>
                      </a:r>
                      <a:r>
                        <a:rPr lang="vi-VN" sz="3700" b="1" kern="1200" dirty="0">
                          <a:solidFill>
                            <a:srgbClr val="92D050"/>
                          </a:solidFill>
                          <a:latin typeface="SVN-Gilroy" panose="00000500000000000000" pitchFamily="50" charset="0"/>
                        </a:rPr>
                        <a:t/>
                      </a:r>
                      <a:r>
                        <a:rPr lang="en-US" sz="3700" b="1" kern="1200" dirty="0">
                          <a:solidFill>
                            <a:srgbClr val="92D050"/>
                          </a:solidFill>
                          <a:latin typeface="SVN-Gilroy" panose="00000500000000000000" pitchFamily="50" charset="0"/>
                        </a:rPr>
                        <a:t/>
                      </a:r>
                      <a:endParaRPr lang="en-US" sz="3700" b="1" kern="1200" dirty="0">
                        <a:solidFill>
                          <a:srgbClr val="92D050"/>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2189032345"/>
                  </a:ext>
                </a:extLst>
              </a:tr>
            </a:tbl>
          </a:graphicData>
        </a:graphic>
      </p:graphicFrame>
    </p:spTree>
    <p:extLst>
      <p:ext uri="{BB962C8B-B14F-4D97-AF65-F5344CB8AC3E}">
        <p14:creationId xmlns:p14="http://schemas.microsoft.com/office/powerpoint/2010/main" val="56031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4A3F-2B5C-7B07-831F-DA3546F3BEE5}"/>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C9B4F700-88BB-0988-36C9-87813DA1553F}"/>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7DB94B15-0319-C70E-4033-62EB79BE63CC}"/>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VN-Gilroy" panose="00000500000000000000"/>
            </a:endParaRPr>
          </a:p>
        </p:txBody>
      </p:sp>
      <p:sp>
        <p:nvSpPr>
          <p:cNvPr id="9" name="TextBox 8">
            <a:extLst>
              <a:ext uri="{FF2B5EF4-FFF2-40B4-BE49-F238E27FC236}">
                <a16:creationId xmlns:a16="http://schemas.microsoft.com/office/drawing/2014/main" id="{B562BEC1-79E2-8338-9430-A10B33B7B57A}"/>
              </a:ext>
            </a:extLst>
          </p:cNvPr>
          <p:cNvSpPr txBox="1"/>
          <p:nvPr/>
        </p:nvSpPr>
        <p:spPr>
          <a:xfrm>
            <a:off x="586539" y="928966"/>
            <a:ext cx="9113922" cy="707886"/>
          </a:xfrm>
          <a:prstGeom prst="rect">
            <a:avLst/>
          </a:prstGeom>
          <a:noFill/>
        </p:spPr>
        <p:txBody>
          <a:bodyPr wrap="square" rtlCol="0">
            <a:spAutoFit/>
          </a:bodyPr>
          <a:lstStyle/>
          <a:p>
            <a:pPr algn="ctr"/>
            <a:r>
              <a:rPr lang="en-US" sz="4000" b="1" dirty="0">
                <a:solidFill>
                  <a:schemeClr val="bg1"/>
                </a:solidFill>
                <a:latin typeface="SVN-Gilroy" panose="00000500000000000000"/>
              </a:rPr>
              <a:t>VPB – Lãi bán niên kỷ lục và lộ trình tăng vốn</a:t>
            </a:r>
          </a:p>
        </p:txBody>
      </p:sp>
      <p:graphicFrame>
        <p:nvGraphicFramePr>
          <p:cNvPr id="7" name="Diagram 6">
            <a:extLst>
              <a:ext uri="{FF2B5EF4-FFF2-40B4-BE49-F238E27FC236}">
                <a16:creationId xmlns:a16="http://schemas.microsoft.com/office/drawing/2014/main" id="{205E25D2-D159-C77A-CB3A-F440A258B219}"/>
              </a:ext>
            </a:extLst>
          </p:cNvPr>
          <p:cNvGraphicFramePr/>
          <p:nvPr>
            <p:extLst>
              <p:ext uri="{D42A27DB-BD31-4B8C-83A1-F6EECF244321}">
                <p14:modId xmlns:p14="http://schemas.microsoft.com/office/powerpoint/2010/main" val="3863712867"/>
              </p:ext>
            </p:extLst>
          </p:nvPr>
        </p:nvGraphicFramePr>
        <p:xfrm>
          <a:off x="1157904" y="2106646"/>
          <a:ext cx="7966218" cy="106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4505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C23B8-9F0D-A93F-F0B5-42A470B8B4FA}"/>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E28BF981-17E9-B1F5-F8D5-3BFE81077E0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55EAFF75-477A-37F1-48F6-130C019EA774}"/>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extBox 8">
            <a:extLst>
              <a:ext uri="{FF2B5EF4-FFF2-40B4-BE49-F238E27FC236}">
                <a16:creationId xmlns:a16="http://schemas.microsoft.com/office/drawing/2014/main" id="{743DB708-16AB-33EF-48F6-9A48114CA976}"/>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VPB – Lợi nhuận trước thuế hợp nhất theo quý</a:t>
            </a:r>
            <a:endParaRPr lang="vi-VN" sz="4000" dirty="0">
              <a:solidFill>
                <a:schemeClr val="bg1"/>
              </a:solidFill>
              <a:latin typeface="SVN-Gilroy XBold" panose="00000900000000000000" pitchFamily="50" charset="0"/>
            </a:endParaRPr>
          </a:p>
        </p:txBody>
      </p:sp>
      <p:graphicFrame>
        <p:nvGraphicFramePr>
          <p:cNvPr id="3" name="Chart 2">
            <a:extLst>
              <a:ext uri="{FF2B5EF4-FFF2-40B4-BE49-F238E27FC236}">
                <a16:creationId xmlns:a16="http://schemas.microsoft.com/office/drawing/2014/main" id="{116A76E6-26D9-4522-BFAF-92943CC6C745}"/>
              </a:ext>
            </a:extLst>
          </p:cNvPr>
          <p:cNvGraphicFramePr>
            <a:graphicFrameLocks/>
          </p:cNvGraphicFramePr>
          <p:nvPr>
            <p:extLst>
              <p:ext uri="{D42A27DB-BD31-4B8C-83A1-F6EECF244321}">
                <p14:modId xmlns:p14="http://schemas.microsoft.com/office/powerpoint/2010/main" val="3714064585"/>
              </p:ext>
            </p:extLst>
          </p:nvPr>
        </p:nvGraphicFramePr>
        <p:xfrm>
          <a:off x="1369356" y="2515316"/>
          <a:ext cx="7548281" cy="953626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70BB23A5-EC1E-341E-EF08-A57BD2521AED}"/>
              </a:ext>
            </a:extLst>
          </p:cNvPr>
          <p:cNvSpPr txBox="1"/>
          <p:nvPr/>
        </p:nvSpPr>
        <p:spPr>
          <a:xfrm>
            <a:off x="1429871" y="11654118"/>
            <a:ext cx="7440705" cy="923330"/>
          </a:xfrm>
          <a:prstGeom prst="rect">
            <a:avLst/>
          </a:prstGeom>
          <a:noFill/>
        </p:spPr>
        <p:txBody>
          <a:bodyPr wrap="square" rtlCol="0">
            <a:spAutoFit/>
          </a:bodyPr>
          <a:lstStyle/>
          <a:p>
            <a:r>
              <a:rPr lang="en-US" dirty="0" err="1"/>
              <a:t>Nguồn: VPBank, MAS tổng hợp. Q3/25 và Q4/25 được suy ra từ số liệu lũy kế 9T/25 (20,400 tỷ) và cả năm 2025 (30,600 tỷ) nên đã làm tròn.</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p>
        </p:txBody>
      </p:sp>
    </p:spTree>
    <p:extLst>
      <p:ext uri="{BB962C8B-B14F-4D97-AF65-F5344CB8AC3E}">
        <p14:creationId xmlns:p14="http://schemas.microsoft.com/office/powerpoint/2010/main" val="1714508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8" y="903715"/>
            <a:ext cx="9113922" cy="707886"/>
          </a:xfrm>
          <a:prstGeom prst="rect">
            <a:avLst/>
          </a:prstGeom>
          <a:noFill/>
        </p:spPr>
        <p:txBody>
          <a:bodyPr wrap="square" rtlCol="0">
            <a:spAutoFit/>
          </a:bodyPr>
          <a:lstStyle/>
          <a:p>
            <a:pPr algn="ctr"/>
            <a:r>
              <a:rPr lang="en-US" sz="4000">
                <a:solidFill>
                  <a:schemeClr val="bg1"/>
                </a:solidFill>
                <a:latin typeface="SVN-Gilroy XBold" panose="00000900000000000000" pitchFamily="50" charset="0"/>
              </a:rPr>
              <a:t>Phụ lục</a:t>
            </a:r>
            <a:endParaRPr lang="en-US" sz="4000"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2032904"/>
            <a:ext cx="9113926" cy="10720884"/>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Xác nhận của chuyên viên phân tích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Chuyên viên phân tích chịu trách nhiệm thực hiện báo cáo này xác nhận rằng (i) những quan điểm được trình bày trong báo cáo này phản ánh đúng quan điểm cá nhân các tổ chức phát hành và chứng khoán trong báo cáo và (ii) không có phần thù lao nào của chuyên viên phân tích đã, đang, hoặc sẽ trực tiếp hay gián tiếp có liên quan đến các khuyến nghị hay quan điểm thể hiện trong báo cáo này. Tương tự như các nhân viên trong công ty, Chuyên viên phân tích nhận được thù lao dựa trên doanh thu và lợi nhuận tổng thể của Chứng Khoán Mirae Asset, trong đó bao gồm doanh thu từ các đơn vị kinh doanh khác như bộ phận Môi giới tổ chức, Ngân hàng đầu tư hoặc Tư vấn doanh nghiệp. Tại thời điểm phát hành báo cáo, Chuyên viên phân tích không biết về bất kỳ xung đột lợi ích thực tế, trọng yếu nào của Chuyên viên phân tích hoặc Chứng Khoán Mirae Asset.</a:t>
            </a:r>
          </a:p>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Tuyên bố miễn trừ trách nhiệm</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được công bố bởi Công ty Cổ phần Chứng khoán Mirae Asset (Việt Nam) (sau đây gọi tắt là MAS), là công ty chứng khoán được đăng ký tại nước Cộng hòa xã hội chủ nghĩa Việt Nam và là thành viên của Sở giao dịch chứng khoán Việt Nam. Thông tin và ý kiến trong tài liệu này đã được tổng hợp từ các nguồn được cho là đáng tin cậy, nhưng những thông tin đó chưa được xác minh độc lập và MAS không cam đoan, đại diện hoặc bảo đảm, rõ ràng hay ngụ ý, về tính công bằng, chính xác, đầy đủ hoặc tính đúng đắn của thông tin và ý kiến trong tài liệu này hoặc của bất kỳ bản dịch nào sang tiếng Anh từ tiếng Việt. Trong trường hợp bản dịch tiếng Anh của một báo cáo được chuẩn bị bằng tiếng Việt, bản gốc của báo cáo bằng tiếng Việt có thể đã được cung cấp cho nhà đầu tư trước khi thực hiện báo cáo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Đối tượng tiếp nhận được nhắm đến của báo cáo này là các nhà đầu tư tổ chức chuyên nghiệp, những người có kiến thức đáng kể về môi trường kinh doanh địa phương, các thông lệ chung, luật và nguyên tắc kế toán, và không có việc cá nhân nào tiếp nhận hoặc sử dụng báo cáo này sẽ vi phạm bất kỳ luật hoặc quy định hoặc đối tượng của MAS và các chi nhánh đối với các yêu cầu về đăng ký hoặc cấp phép ở bất kỳ khu vực tài phán nào sẽ nhận được hoặc sử dụng bất kỳ thông tin nào từ đây.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chỉ dành cho mục đích thông tin chung, không phải và sẽ không được hiểu là một lời đề nghị hoặc một lời mời chào để thực hiện các giao dịch bất kỳ chứng khoán hoặc công cụ tài chính nào khác. Báo cáo không cấu thành lời khuyên đầu tư cho bất kỳ người nào và người đó sẽ không được coi là khách hàng của MAS chỉ vì nhận được báo cáo này. Báo cáo này không tính đến các mục tiêu đầu tư cụ thể, tình hình tài chính hoặc nhu cầu của các khách hàng cá nhân. Báo cáo không được dựa vào để thay thế cho việc thực hiện phán quyết độc lập. Thông tin và ý kiến trong tài liệu này là kể từ ngày của tài liệu này và có thể thay đổi mà không cần thông báo trước. Giá và giá trị của các khoản đầu tư được đề cập trong báo cáo này và thu nhập từ chúng có thể giảm giá hoặc tăng giá, và các nhà đầu tư có thể phải chịu lỗ cho các khoản đầu tư. Hiệu suất trong quá khứ không phải là biểu thị cho hiệu suất trong tương lai. Lợi nhuận trong tương lai không được đảm bảo và có thể xảy ra mất vốn ban đầu. MAS, các chi nhánh và giám đốc, cán bộ, nhân viên và đại lý của họ không chịu bất kỳ trách nhiệm pháp lý nào đối với bất kỳ tổn thất nào phát sinh từ việc sử dụng tài liệu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MAS có thể đã đưa ra các báo cáo khác không nhất quán và đưa ra kết luận khác với các ý kiến được trình bày trong báo cáo này. Các báo cáo có thể phản ánh các giả định, quan điểm và phương pháp phân tích khác nhau của các nhà phân tích đã chuẩn bị chúng. MAS có thể đưa ra các quyết định đầu tư không phù hợp với các ý kiến và quan điểm được trình bày trong báo cáo nghiên cứu này. MAS, các chi nhánh của MAS và giám đốc, cán bộ, nhân viên và đại lý của họ có thể có các vị trí dài hoặc ngắn trong bất kỳ chứng khoán chủ đề nào vào bất kỳ lúc nào và có thể thực hiện mua hoặc bán, hoặc đề nghị mua hoặc bán bất kỳ chứng khoán nào như vậy hoặc các công cụ tài chính khác tùy từng thời điểm trên thị trường mở hoặc theo cách khác, trong từng trường hợp, với tư cách là bên giao đại lý hoặc bên đại lý. MAS và các chi nhánh của nó có thể đã có, hoặc có thể mong đợi tham gia vào các mối quan hệ kinh doanh với các công ty chủ thể để cung cấp các dịch vụ ngân hàng đầu tư, tạo thị trường hoặc các dịch vụ tài chính khác được cho phép theo luật và quy định hiện hành.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Không một phần nào của tài liệu này có thể được sao chép hoặc tái tạo theo bất kỳ cách thức hoặc hình thức nào hoặc được phân phối lại hoặc xuất bản, toàn bộ hoặc một phần, mà không có sự đồng ý trước bằng văn bản của MAS.</a:t>
            </a:r>
          </a:p>
          <a:p>
            <a:pPr>
              <a:spcBef>
                <a:spcPts val="600"/>
              </a:spcBef>
            </a:pPr>
            <a:endParaRPr lang="en-US" sz="1300" dirty="0"/>
          </a:p>
        </p:txBody>
      </p:sp>
    </p:spTree>
    <p:extLst>
      <p:ext uri="{BB962C8B-B14F-4D97-AF65-F5344CB8AC3E}">
        <p14:creationId xmlns:p14="http://schemas.microsoft.com/office/powerpoint/2010/main" val="21357387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2.xml><?xml version="1.0" encoding="utf-8"?>
<a:themeOverride xmlns:a="http://schemas.openxmlformats.org/drawingml/2006/main">
  <a:clrScheme name="미래에셋대우1">
    <a:dk1>
      <a:srgbClr val="000000"/>
    </a:dk1>
    <a:lt1>
      <a:sysClr val="window" lastClr="FFFFFF"/>
    </a:lt1>
    <a:dk2>
      <a:srgbClr val="F58220"/>
    </a:dk2>
    <a:lt2>
      <a:srgbClr val="C00000"/>
    </a:lt2>
    <a:accent1>
      <a:srgbClr val="F0B26B"/>
    </a:accent1>
    <a:accent2>
      <a:srgbClr val="C2AC97"/>
    </a:accent2>
    <a:accent3>
      <a:srgbClr val="043B72"/>
    </a:accent3>
    <a:accent4>
      <a:srgbClr val="0086B8"/>
    </a:accent4>
    <a:accent5>
      <a:srgbClr val="8DC8E8"/>
    </a:accent5>
    <a:accent6>
      <a:srgbClr val="84888B"/>
    </a:accent6>
    <a:hlink>
      <a:srgbClr val="FFFFFF"/>
    </a:hlink>
    <a:folHlink>
      <a:srgbClr val="FFFFFF"/>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5159</TotalTime>
  <Words>1480</Words>
  <Application>Microsoft Office PowerPoint</Application>
  <PresentationFormat>Custom</PresentationFormat>
  <Paragraphs>66</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Arial</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HQ 37</dc:creator>
  <cp:lastModifiedBy>Quan, Ton Dat</cp:lastModifiedBy>
  <cp:revision>415</cp:revision>
  <dcterms:created xsi:type="dcterms:W3CDTF">2024-07-22T08:52:42Z</dcterms:created>
  <dcterms:modified xsi:type="dcterms:W3CDTF">2026-06-25T03:50:04Z</dcterms:modified>
</cp:coreProperties>
</file>