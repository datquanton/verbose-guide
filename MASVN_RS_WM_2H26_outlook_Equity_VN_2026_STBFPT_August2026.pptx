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3510" r:id="rId2"/>
    <p:sldId id="3929" r:id="rId3"/>
    <p:sldId id="3639" r:id="rId4"/>
    <p:sldId id="364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25" d="100"/>
          <a:sy n="125" d="100"/>
        </p:scale>
        <p:origin x="-30"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10.0.16.23\mas\Department\Reseach\Qu&#226;n\2026\Frontpage%20PP%20aTri%20-%20STB%20FPT.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10.0.16.23\mas\Department\Reseach\Qu&#226;n\2026\Frontpage%20PP%20aTri%20-%20STB%20FP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Frontpage_bank!$Q$1</c:f>
              <c:strCache>
                <c:ptCount val="1"/>
                <c:pt idx="0">
                  <c:v>VN-Index</c:v>
                </c:pt>
              </c:strCache>
            </c:strRef>
          </c:tx>
          <c:spPr>
            <a:ln w="12700" cap="rnd">
              <a:solidFill>
                <a:srgbClr val="002060"/>
              </a:solidFill>
              <a:round/>
            </a:ln>
            <a:effectLst/>
          </c:spPr>
          <c:marker>
            <c:symbol val="none"/>
          </c:marker>
          <c:cat>
            <c:numRef>
              <c:f>Frontpage_bank!$N$4:$N$370</c:f>
              <c:numCache>
                <c:formatCode>m/d/yyyy</c:formatCode>
                <c:ptCount val="367"/>
                <c:pt idx="0">
                  <c:v>45868</c:v>
                </c:pt>
                <c:pt idx="1">
                  <c:v>45869</c:v>
                </c:pt>
                <c:pt idx="2">
                  <c:v>45870</c:v>
                </c:pt>
                <c:pt idx="3">
                  <c:v>45871</c:v>
                </c:pt>
                <c:pt idx="4">
                  <c:v>45872</c:v>
                </c:pt>
                <c:pt idx="5">
                  <c:v>45873</c:v>
                </c:pt>
                <c:pt idx="6">
                  <c:v>45874</c:v>
                </c:pt>
                <c:pt idx="7">
                  <c:v>45875</c:v>
                </c:pt>
                <c:pt idx="8">
                  <c:v>45876</c:v>
                </c:pt>
                <c:pt idx="9">
                  <c:v>45877</c:v>
                </c:pt>
                <c:pt idx="10">
                  <c:v>45878</c:v>
                </c:pt>
                <c:pt idx="11">
                  <c:v>45879</c:v>
                </c:pt>
                <c:pt idx="12">
                  <c:v>45880</c:v>
                </c:pt>
                <c:pt idx="13">
                  <c:v>45881</c:v>
                </c:pt>
                <c:pt idx="14">
                  <c:v>45882</c:v>
                </c:pt>
                <c:pt idx="15">
                  <c:v>45883</c:v>
                </c:pt>
                <c:pt idx="16">
                  <c:v>45884</c:v>
                </c:pt>
                <c:pt idx="17">
                  <c:v>45885</c:v>
                </c:pt>
                <c:pt idx="18">
                  <c:v>45886</c:v>
                </c:pt>
                <c:pt idx="19">
                  <c:v>45887</c:v>
                </c:pt>
                <c:pt idx="20">
                  <c:v>45888</c:v>
                </c:pt>
                <c:pt idx="21">
                  <c:v>45889</c:v>
                </c:pt>
                <c:pt idx="22">
                  <c:v>45890</c:v>
                </c:pt>
                <c:pt idx="23">
                  <c:v>45891</c:v>
                </c:pt>
                <c:pt idx="24">
                  <c:v>45892</c:v>
                </c:pt>
                <c:pt idx="25">
                  <c:v>45893</c:v>
                </c:pt>
                <c:pt idx="26">
                  <c:v>45894</c:v>
                </c:pt>
                <c:pt idx="27">
                  <c:v>45895</c:v>
                </c:pt>
                <c:pt idx="28">
                  <c:v>45896</c:v>
                </c:pt>
                <c:pt idx="29">
                  <c:v>45897</c:v>
                </c:pt>
                <c:pt idx="30">
                  <c:v>45898</c:v>
                </c:pt>
                <c:pt idx="31">
                  <c:v>45899</c:v>
                </c:pt>
                <c:pt idx="32">
                  <c:v>45900</c:v>
                </c:pt>
                <c:pt idx="33">
                  <c:v>45901</c:v>
                </c:pt>
                <c:pt idx="34">
                  <c:v>45902</c:v>
                </c:pt>
                <c:pt idx="35">
                  <c:v>45903</c:v>
                </c:pt>
                <c:pt idx="36">
                  <c:v>45904</c:v>
                </c:pt>
                <c:pt idx="37">
                  <c:v>45905</c:v>
                </c:pt>
                <c:pt idx="38">
                  <c:v>45906</c:v>
                </c:pt>
                <c:pt idx="39">
                  <c:v>45907</c:v>
                </c:pt>
                <c:pt idx="40">
                  <c:v>45908</c:v>
                </c:pt>
                <c:pt idx="41">
                  <c:v>45909</c:v>
                </c:pt>
                <c:pt idx="42">
                  <c:v>45910</c:v>
                </c:pt>
                <c:pt idx="43">
                  <c:v>45911</c:v>
                </c:pt>
                <c:pt idx="44">
                  <c:v>45912</c:v>
                </c:pt>
                <c:pt idx="45">
                  <c:v>45913</c:v>
                </c:pt>
                <c:pt idx="46">
                  <c:v>45914</c:v>
                </c:pt>
                <c:pt idx="47">
                  <c:v>45915</c:v>
                </c:pt>
                <c:pt idx="48">
                  <c:v>45916</c:v>
                </c:pt>
                <c:pt idx="49">
                  <c:v>45917</c:v>
                </c:pt>
                <c:pt idx="50">
                  <c:v>45918</c:v>
                </c:pt>
                <c:pt idx="51">
                  <c:v>45919</c:v>
                </c:pt>
                <c:pt idx="52">
                  <c:v>45920</c:v>
                </c:pt>
                <c:pt idx="53">
                  <c:v>45921</c:v>
                </c:pt>
                <c:pt idx="54">
                  <c:v>45922</c:v>
                </c:pt>
                <c:pt idx="55">
                  <c:v>45923</c:v>
                </c:pt>
                <c:pt idx="56">
                  <c:v>45924</c:v>
                </c:pt>
                <c:pt idx="57">
                  <c:v>45925</c:v>
                </c:pt>
                <c:pt idx="58">
                  <c:v>45926</c:v>
                </c:pt>
                <c:pt idx="59">
                  <c:v>45927</c:v>
                </c:pt>
                <c:pt idx="60">
                  <c:v>45928</c:v>
                </c:pt>
                <c:pt idx="61">
                  <c:v>45929</c:v>
                </c:pt>
                <c:pt idx="62">
                  <c:v>45930</c:v>
                </c:pt>
                <c:pt idx="63">
                  <c:v>45931</c:v>
                </c:pt>
                <c:pt idx="64">
                  <c:v>45932</c:v>
                </c:pt>
                <c:pt idx="65">
                  <c:v>45933</c:v>
                </c:pt>
                <c:pt idx="66">
                  <c:v>45934</c:v>
                </c:pt>
                <c:pt idx="67">
                  <c:v>45935</c:v>
                </c:pt>
                <c:pt idx="68">
                  <c:v>45936</c:v>
                </c:pt>
                <c:pt idx="69">
                  <c:v>45937</c:v>
                </c:pt>
                <c:pt idx="70">
                  <c:v>45938</c:v>
                </c:pt>
                <c:pt idx="71">
                  <c:v>45939</c:v>
                </c:pt>
                <c:pt idx="72">
                  <c:v>45940</c:v>
                </c:pt>
                <c:pt idx="73">
                  <c:v>45941</c:v>
                </c:pt>
                <c:pt idx="74">
                  <c:v>45942</c:v>
                </c:pt>
                <c:pt idx="75">
                  <c:v>45943</c:v>
                </c:pt>
                <c:pt idx="76">
                  <c:v>45944</c:v>
                </c:pt>
                <c:pt idx="77">
                  <c:v>45945</c:v>
                </c:pt>
                <c:pt idx="78">
                  <c:v>45946</c:v>
                </c:pt>
                <c:pt idx="79">
                  <c:v>45947</c:v>
                </c:pt>
                <c:pt idx="80">
                  <c:v>45948</c:v>
                </c:pt>
                <c:pt idx="81">
                  <c:v>45949</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45962</c:v>
                </c:pt>
                <c:pt idx="95">
                  <c:v>45963</c:v>
                </c:pt>
                <c:pt idx="96">
                  <c:v>45964</c:v>
                </c:pt>
                <c:pt idx="97">
                  <c:v>45965</c:v>
                </c:pt>
                <c:pt idx="98">
                  <c:v>45966</c:v>
                </c:pt>
                <c:pt idx="99">
                  <c:v>45967</c:v>
                </c:pt>
                <c:pt idx="100">
                  <c:v>45968</c:v>
                </c:pt>
                <c:pt idx="101">
                  <c:v>45969</c:v>
                </c:pt>
                <c:pt idx="102">
                  <c:v>45970</c:v>
                </c:pt>
                <c:pt idx="103">
                  <c:v>45971</c:v>
                </c:pt>
                <c:pt idx="104">
                  <c:v>45972</c:v>
                </c:pt>
                <c:pt idx="105">
                  <c:v>45973</c:v>
                </c:pt>
                <c:pt idx="106">
                  <c:v>45974</c:v>
                </c:pt>
                <c:pt idx="107">
                  <c:v>45975</c:v>
                </c:pt>
                <c:pt idx="108">
                  <c:v>45976</c:v>
                </c:pt>
                <c:pt idx="109">
                  <c:v>45977</c:v>
                </c:pt>
                <c:pt idx="110">
                  <c:v>45978</c:v>
                </c:pt>
                <c:pt idx="111">
                  <c:v>45979</c:v>
                </c:pt>
                <c:pt idx="112">
                  <c:v>45980</c:v>
                </c:pt>
                <c:pt idx="113">
                  <c:v>45981</c:v>
                </c:pt>
                <c:pt idx="114">
                  <c:v>45982</c:v>
                </c:pt>
                <c:pt idx="115">
                  <c:v>45983</c:v>
                </c:pt>
                <c:pt idx="116">
                  <c:v>45984</c:v>
                </c:pt>
                <c:pt idx="117">
                  <c:v>45985</c:v>
                </c:pt>
                <c:pt idx="118">
                  <c:v>45986</c:v>
                </c:pt>
                <c:pt idx="119">
                  <c:v>45987</c:v>
                </c:pt>
                <c:pt idx="120">
                  <c:v>45988</c:v>
                </c:pt>
                <c:pt idx="121">
                  <c:v>45989</c:v>
                </c:pt>
                <c:pt idx="122">
                  <c:v>45990</c:v>
                </c:pt>
                <c:pt idx="123">
                  <c:v>45991</c:v>
                </c:pt>
                <c:pt idx="124">
                  <c:v>45992</c:v>
                </c:pt>
                <c:pt idx="125">
                  <c:v>45993</c:v>
                </c:pt>
                <c:pt idx="126">
                  <c:v>45994</c:v>
                </c:pt>
                <c:pt idx="127">
                  <c:v>45995</c:v>
                </c:pt>
                <c:pt idx="128">
                  <c:v>45996</c:v>
                </c:pt>
                <c:pt idx="129">
                  <c:v>45997</c:v>
                </c:pt>
                <c:pt idx="130">
                  <c:v>45998</c:v>
                </c:pt>
                <c:pt idx="131">
                  <c:v>45999</c:v>
                </c:pt>
                <c:pt idx="132">
                  <c:v>46000</c:v>
                </c:pt>
                <c:pt idx="133">
                  <c:v>46001</c:v>
                </c:pt>
                <c:pt idx="134">
                  <c:v>46002</c:v>
                </c:pt>
                <c:pt idx="135">
                  <c:v>46003</c:v>
                </c:pt>
                <c:pt idx="136">
                  <c:v>46004</c:v>
                </c:pt>
                <c:pt idx="137">
                  <c:v>46005</c:v>
                </c:pt>
                <c:pt idx="138">
                  <c:v>46006</c:v>
                </c:pt>
                <c:pt idx="139">
                  <c:v>46007</c:v>
                </c:pt>
                <c:pt idx="140">
                  <c:v>46008</c:v>
                </c:pt>
                <c:pt idx="141">
                  <c:v>46009</c:v>
                </c:pt>
                <c:pt idx="142">
                  <c:v>46010</c:v>
                </c:pt>
                <c:pt idx="143">
                  <c:v>46011</c:v>
                </c:pt>
                <c:pt idx="144">
                  <c:v>46012</c:v>
                </c:pt>
                <c:pt idx="145">
                  <c:v>46013</c:v>
                </c:pt>
                <c:pt idx="146">
                  <c:v>46014</c:v>
                </c:pt>
                <c:pt idx="147">
                  <c:v>46015</c:v>
                </c:pt>
                <c:pt idx="148">
                  <c:v>46016</c:v>
                </c:pt>
                <c:pt idx="149">
                  <c:v>46017</c:v>
                </c:pt>
                <c:pt idx="150">
                  <c:v>46018</c:v>
                </c:pt>
                <c:pt idx="151">
                  <c:v>46019</c:v>
                </c:pt>
                <c:pt idx="152">
                  <c:v>46020</c:v>
                </c:pt>
                <c:pt idx="153">
                  <c:v>46021</c:v>
                </c:pt>
                <c:pt idx="154">
                  <c:v>46022</c:v>
                </c:pt>
                <c:pt idx="155">
                  <c:v>46023</c:v>
                </c:pt>
                <c:pt idx="156">
                  <c:v>46024</c:v>
                </c:pt>
                <c:pt idx="157">
                  <c:v>46025</c:v>
                </c:pt>
                <c:pt idx="158">
                  <c:v>46026</c:v>
                </c:pt>
                <c:pt idx="159">
                  <c:v>46027</c:v>
                </c:pt>
                <c:pt idx="160">
                  <c:v>46028</c:v>
                </c:pt>
                <c:pt idx="161">
                  <c:v>46029</c:v>
                </c:pt>
                <c:pt idx="162">
                  <c:v>46030</c:v>
                </c:pt>
                <c:pt idx="163">
                  <c:v>46031</c:v>
                </c:pt>
                <c:pt idx="164">
                  <c:v>46032</c:v>
                </c:pt>
                <c:pt idx="165">
                  <c:v>46033</c:v>
                </c:pt>
                <c:pt idx="166">
                  <c:v>46034</c:v>
                </c:pt>
                <c:pt idx="167">
                  <c:v>46035</c:v>
                </c:pt>
                <c:pt idx="168">
                  <c:v>46036</c:v>
                </c:pt>
                <c:pt idx="169">
                  <c:v>46037</c:v>
                </c:pt>
                <c:pt idx="170">
                  <c:v>46038</c:v>
                </c:pt>
                <c:pt idx="171">
                  <c:v>46039</c:v>
                </c:pt>
                <c:pt idx="172">
                  <c:v>46040</c:v>
                </c:pt>
                <c:pt idx="173">
                  <c:v>46041</c:v>
                </c:pt>
                <c:pt idx="174">
                  <c:v>46042</c:v>
                </c:pt>
                <c:pt idx="175">
                  <c:v>46043</c:v>
                </c:pt>
                <c:pt idx="176">
                  <c:v>46044</c:v>
                </c:pt>
                <c:pt idx="177">
                  <c:v>46045</c:v>
                </c:pt>
                <c:pt idx="178">
                  <c:v>46046</c:v>
                </c:pt>
                <c:pt idx="179">
                  <c:v>46047</c:v>
                </c:pt>
                <c:pt idx="180">
                  <c:v>46048</c:v>
                </c:pt>
                <c:pt idx="181">
                  <c:v>46049</c:v>
                </c:pt>
                <c:pt idx="182">
                  <c:v>46050</c:v>
                </c:pt>
                <c:pt idx="183">
                  <c:v>46051</c:v>
                </c:pt>
                <c:pt idx="184">
                  <c:v>46052</c:v>
                </c:pt>
                <c:pt idx="185">
                  <c:v>46053</c:v>
                </c:pt>
                <c:pt idx="186">
                  <c:v>46054</c:v>
                </c:pt>
                <c:pt idx="187">
                  <c:v>46055</c:v>
                </c:pt>
                <c:pt idx="188">
                  <c:v>46056</c:v>
                </c:pt>
                <c:pt idx="189">
                  <c:v>46057</c:v>
                </c:pt>
                <c:pt idx="190">
                  <c:v>46058</c:v>
                </c:pt>
                <c:pt idx="191">
                  <c:v>46059</c:v>
                </c:pt>
                <c:pt idx="192">
                  <c:v>46060</c:v>
                </c:pt>
                <c:pt idx="193">
                  <c:v>46061</c:v>
                </c:pt>
                <c:pt idx="194">
                  <c:v>46062</c:v>
                </c:pt>
                <c:pt idx="195">
                  <c:v>46063</c:v>
                </c:pt>
                <c:pt idx="196">
                  <c:v>46064</c:v>
                </c:pt>
                <c:pt idx="197">
                  <c:v>46065</c:v>
                </c:pt>
                <c:pt idx="198">
                  <c:v>46066</c:v>
                </c:pt>
                <c:pt idx="199">
                  <c:v>46067</c:v>
                </c:pt>
                <c:pt idx="200">
                  <c:v>46068</c:v>
                </c:pt>
                <c:pt idx="201">
                  <c:v>46069</c:v>
                </c:pt>
                <c:pt idx="202">
                  <c:v>46070</c:v>
                </c:pt>
                <c:pt idx="203">
                  <c:v>46071</c:v>
                </c:pt>
                <c:pt idx="204">
                  <c:v>46072</c:v>
                </c:pt>
                <c:pt idx="205">
                  <c:v>46073</c:v>
                </c:pt>
                <c:pt idx="206">
                  <c:v>46074</c:v>
                </c:pt>
                <c:pt idx="207">
                  <c:v>46075</c:v>
                </c:pt>
                <c:pt idx="208">
                  <c:v>46076</c:v>
                </c:pt>
                <c:pt idx="209">
                  <c:v>46077</c:v>
                </c:pt>
                <c:pt idx="210">
                  <c:v>46078</c:v>
                </c:pt>
                <c:pt idx="211">
                  <c:v>46079</c:v>
                </c:pt>
                <c:pt idx="212">
                  <c:v>46080</c:v>
                </c:pt>
                <c:pt idx="213">
                  <c:v>46081</c:v>
                </c:pt>
                <c:pt idx="214">
                  <c:v>46082</c:v>
                </c:pt>
                <c:pt idx="215">
                  <c:v>46083</c:v>
                </c:pt>
                <c:pt idx="216">
                  <c:v>46084</c:v>
                </c:pt>
                <c:pt idx="217">
                  <c:v>46085</c:v>
                </c:pt>
                <c:pt idx="218">
                  <c:v>46086</c:v>
                </c:pt>
                <c:pt idx="219">
                  <c:v>46087</c:v>
                </c:pt>
                <c:pt idx="220">
                  <c:v>46088</c:v>
                </c:pt>
                <c:pt idx="221">
                  <c:v>46089</c:v>
                </c:pt>
                <c:pt idx="222">
                  <c:v>46090</c:v>
                </c:pt>
                <c:pt idx="223">
                  <c:v>46091</c:v>
                </c:pt>
                <c:pt idx="224">
                  <c:v>46092</c:v>
                </c:pt>
                <c:pt idx="225">
                  <c:v>46093</c:v>
                </c:pt>
                <c:pt idx="226">
                  <c:v>46094</c:v>
                </c:pt>
                <c:pt idx="227">
                  <c:v>46095</c:v>
                </c:pt>
                <c:pt idx="228">
                  <c:v>46096</c:v>
                </c:pt>
                <c:pt idx="229">
                  <c:v>46097</c:v>
                </c:pt>
                <c:pt idx="230">
                  <c:v>46098</c:v>
                </c:pt>
                <c:pt idx="231">
                  <c:v>46099</c:v>
                </c:pt>
                <c:pt idx="232">
                  <c:v>46100</c:v>
                </c:pt>
                <c:pt idx="233">
                  <c:v>46101</c:v>
                </c:pt>
                <c:pt idx="234">
                  <c:v>46102</c:v>
                </c:pt>
                <c:pt idx="235">
                  <c:v>46103</c:v>
                </c:pt>
                <c:pt idx="236">
                  <c:v>46104</c:v>
                </c:pt>
                <c:pt idx="237">
                  <c:v>46105</c:v>
                </c:pt>
                <c:pt idx="238">
                  <c:v>46106</c:v>
                </c:pt>
                <c:pt idx="239">
                  <c:v>46107</c:v>
                </c:pt>
                <c:pt idx="240">
                  <c:v>46108</c:v>
                </c:pt>
                <c:pt idx="241">
                  <c:v>46109</c:v>
                </c:pt>
                <c:pt idx="242">
                  <c:v>46110</c:v>
                </c:pt>
                <c:pt idx="243">
                  <c:v>46111</c:v>
                </c:pt>
                <c:pt idx="244">
                  <c:v>46112</c:v>
                </c:pt>
                <c:pt idx="245">
                  <c:v>46113</c:v>
                </c:pt>
                <c:pt idx="246">
                  <c:v>46114</c:v>
                </c:pt>
                <c:pt idx="247">
                  <c:v>46115</c:v>
                </c:pt>
                <c:pt idx="248">
                  <c:v>46116</c:v>
                </c:pt>
                <c:pt idx="249">
                  <c:v>46117</c:v>
                </c:pt>
                <c:pt idx="250">
                  <c:v>46118</c:v>
                </c:pt>
                <c:pt idx="251">
                  <c:v>46119</c:v>
                </c:pt>
                <c:pt idx="252">
                  <c:v>46120</c:v>
                </c:pt>
                <c:pt idx="253">
                  <c:v>46121</c:v>
                </c:pt>
                <c:pt idx="254">
                  <c:v>46122</c:v>
                </c:pt>
                <c:pt idx="255">
                  <c:v>46123</c:v>
                </c:pt>
                <c:pt idx="256">
                  <c:v>46124</c:v>
                </c:pt>
                <c:pt idx="257">
                  <c:v>46125</c:v>
                </c:pt>
                <c:pt idx="258">
                  <c:v>46126</c:v>
                </c:pt>
                <c:pt idx="259">
                  <c:v>46127</c:v>
                </c:pt>
                <c:pt idx="260">
                  <c:v>46128</c:v>
                </c:pt>
                <c:pt idx="261">
                  <c:v>46129</c:v>
                </c:pt>
                <c:pt idx="262">
                  <c:v>46130</c:v>
                </c:pt>
                <c:pt idx="263">
                  <c:v>46131</c:v>
                </c:pt>
                <c:pt idx="264">
                  <c:v>46132</c:v>
                </c:pt>
                <c:pt idx="265">
                  <c:v>46133</c:v>
                </c:pt>
                <c:pt idx="266">
                  <c:v>46134</c:v>
                </c:pt>
                <c:pt idx="267">
                  <c:v>46135</c:v>
                </c:pt>
                <c:pt idx="268">
                  <c:v>46136</c:v>
                </c:pt>
                <c:pt idx="269">
                  <c:v>46137</c:v>
                </c:pt>
                <c:pt idx="270">
                  <c:v>46138</c:v>
                </c:pt>
                <c:pt idx="271">
                  <c:v>46139</c:v>
                </c:pt>
                <c:pt idx="272">
                  <c:v>46140</c:v>
                </c:pt>
                <c:pt idx="273">
                  <c:v>46141</c:v>
                </c:pt>
                <c:pt idx="274">
                  <c:v>46142</c:v>
                </c:pt>
                <c:pt idx="275">
                  <c:v>46143</c:v>
                </c:pt>
                <c:pt idx="276">
                  <c:v>46144</c:v>
                </c:pt>
                <c:pt idx="277">
                  <c:v>46145</c:v>
                </c:pt>
                <c:pt idx="278">
                  <c:v>46146</c:v>
                </c:pt>
                <c:pt idx="279">
                  <c:v>46147</c:v>
                </c:pt>
                <c:pt idx="280">
                  <c:v>46148</c:v>
                </c:pt>
                <c:pt idx="281">
                  <c:v>46149</c:v>
                </c:pt>
                <c:pt idx="282">
                  <c:v>46150</c:v>
                </c:pt>
                <c:pt idx="283">
                  <c:v>46151</c:v>
                </c:pt>
                <c:pt idx="284">
                  <c:v>46152</c:v>
                </c:pt>
                <c:pt idx="285">
                  <c:v>46153</c:v>
                </c:pt>
                <c:pt idx="286">
                  <c:v>46154</c:v>
                </c:pt>
                <c:pt idx="287">
                  <c:v>46155</c:v>
                </c:pt>
                <c:pt idx="288">
                  <c:v>46156</c:v>
                </c:pt>
                <c:pt idx="289">
                  <c:v>46157</c:v>
                </c:pt>
                <c:pt idx="290">
                  <c:v>46158</c:v>
                </c:pt>
                <c:pt idx="291">
                  <c:v>46159</c:v>
                </c:pt>
                <c:pt idx="292">
                  <c:v>46160</c:v>
                </c:pt>
                <c:pt idx="293">
                  <c:v>46161</c:v>
                </c:pt>
                <c:pt idx="294">
                  <c:v>46162</c:v>
                </c:pt>
                <c:pt idx="295">
                  <c:v>46163</c:v>
                </c:pt>
                <c:pt idx="296">
                  <c:v>46164</c:v>
                </c:pt>
                <c:pt idx="297">
                  <c:v>46165</c:v>
                </c:pt>
                <c:pt idx="298">
                  <c:v>46166</c:v>
                </c:pt>
                <c:pt idx="299">
                  <c:v>46167</c:v>
                </c:pt>
                <c:pt idx="300">
                  <c:v>46168</c:v>
                </c:pt>
                <c:pt idx="301">
                  <c:v>46169</c:v>
                </c:pt>
                <c:pt idx="302">
                  <c:v>46170</c:v>
                </c:pt>
                <c:pt idx="303">
                  <c:v>46171</c:v>
                </c:pt>
                <c:pt idx="304">
                  <c:v>46172</c:v>
                </c:pt>
                <c:pt idx="305">
                  <c:v>46173</c:v>
                </c:pt>
                <c:pt idx="306">
                  <c:v>46174</c:v>
                </c:pt>
                <c:pt idx="307">
                  <c:v>46175</c:v>
                </c:pt>
                <c:pt idx="308">
                  <c:v>46176</c:v>
                </c:pt>
                <c:pt idx="309">
                  <c:v>46177</c:v>
                </c:pt>
                <c:pt idx="310">
                  <c:v>46178</c:v>
                </c:pt>
                <c:pt idx="311">
                  <c:v>46179</c:v>
                </c:pt>
                <c:pt idx="312">
                  <c:v>46180</c:v>
                </c:pt>
                <c:pt idx="313">
                  <c:v>46181</c:v>
                </c:pt>
                <c:pt idx="314">
                  <c:v>46182</c:v>
                </c:pt>
                <c:pt idx="315">
                  <c:v>46183</c:v>
                </c:pt>
                <c:pt idx="316">
                  <c:v>46184</c:v>
                </c:pt>
                <c:pt idx="317">
                  <c:v>46185</c:v>
                </c:pt>
                <c:pt idx="318">
                  <c:v>46186</c:v>
                </c:pt>
                <c:pt idx="319">
                  <c:v>46187</c:v>
                </c:pt>
                <c:pt idx="320">
                  <c:v>46188</c:v>
                </c:pt>
                <c:pt idx="321">
                  <c:v>46189</c:v>
                </c:pt>
                <c:pt idx="322">
                  <c:v>46190</c:v>
                </c:pt>
                <c:pt idx="323">
                  <c:v>46191</c:v>
                </c:pt>
                <c:pt idx="324">
                  <c:v>46192</c:v>
                </c:pt>
                <c:pt idx="325">
                  <c:v>46193</c:v>
                </c:pt>
                <c:pt idx="326">
                  <c:v>46194</c:v>
                </c:pt>
                <c:pt idx="327">
                  <c:v>46195</c:v>
                </c:pt>
                <c:pt idx="328">
                  <c:v>46196</c:v>
                </c:pt>
                <c:pt idx="329">
                  <c:v>46197</c:v>
                </c:pt>
                <c:pt idx="330">
                  <c:v>46198</c:v>
                </c:pt>
                <c:pt idx="331">
                  <c:v>46199</c:v>
                </c:pt>
                <c:pt idx="332">
                  <c:v>46200</c:v>
                </c:pt>
                <c:pt idx="333">
                  <c:v>46201</c:v>
                </c:pt>
                <c:pt idx="334">
                  <c:v>46202</c:v>
                </c:pt>
                <c:pt idx="335">
                  <c:v>46203</c:v>
                </c:pt>
                <c:pt idx="336">
                  <c:v>46204</c:v>
                </c:pt>
                <c:pt idx="337">
                  <c:v>46205</c:v>
                </c:pt>
                <c:pt idx="338">
                  <c:v>46206</c:v>
                </c:pt>
                <c:pt idx="339">
                  <c:v>46207</c:v>
                </c:pt>
                <c:pt idx="340">
                  <c:v>46208</c:v>
                </c:pt>
                <c:pt idx="341">
                  <c:v>46209</c:v>
                </c:pt>
                <c:pt idx="342">
                  <c:v>46210</c:v>
                </c:pt>
                <c:pt idx="343">
                  <c:v>46211</c:v>
                </c:pt>
                <c:pt idx="344">
                  <c:v>46212</c:v>
                </c:pt>
                <c:pt idx="345">
                  <c:v>46213</c:v>
                </c:pt>
                <c:pt idx="346">
                  <c:v>46214</c:v>
                </c:pt>
                <c:pt idx="347">
                  <c:v>46215</c:v>
                </c:pt>
                <c:pt idx="348">
                  <c:v>46216</c:v>
                </c:pt>
                <c:pt idx="349">
                  <c:v>46217</c:v>
                </c:pt>
                <c:pt idx="350">
                  <c:v>46218</c:v>
                </c:pt>
                <c:pt idx="351">
                  <c:v>46219</c:v>
                </c:pt>
                <c:pt idx="352">
                  <c:v>46220</c:v>
                </c:pt>
                <c:pt idx="353">
                  <c:v>46221</c:v>
                </c:pt>
                <c:pt idx="354">
                  <c:v>46222</c:v>
                </c:pt>
                <c:pt idx="355">
                  <c:v>46223</c:v>
                </c:pt>
                <c:pt idx="356">
                  <c:v>46224</c:v>
                </c:pt>
                <c:pt idx="357">
                  <c:v>46225</c:v>
                </c:pt>
                <c:pt idx="358">
                  <c:v>46226</c:v>
                </c:pt>
                <c:pt idx="359">
                  <c:v>46227</c:v>
                </c:pt>
                <c:pt idx="360">
                  <c:v>46228</c:v>
                </c:pt>
                <c:pt idx="361">
                  <c:v>46229</c:v>
                </c:pt>
                <c:pt idx="362">
                  <c:v>46230</c:v>
                </c:pt>
                <c:pt idx="363">
                  <c:v>46231</c:v>
                </c:pt>
                <c:pt idx="364">
                  <c:v>46232</c:v>
                </c:pt>
                <c:pt idx="365">
                  <c:v>46233</c:v>
                </c:pt>
                <c:pt idx="366">
                  <c:v>46234</c:v>
                </c:pt>
              </c:numCache>
            </c:numRef>
          </c:cat>
          <c:val>
            <c:numRef>
              <c:f>Frontpage_bank!$Q$4:$Q$370</c:f>
              <c:numCache>
                <c:formatCode>General</c:formatCode>
                <c:ptCount val="367"/>
                <c:pt idx="0">
                  <c:v>100</c:v>
                </c:pt>
                <c:pt idx="1">
                  <c:v>99.661057421250561</c:v>
                </c:pt>
                <c:pt idx="2">
                  <c:v>99.176190444605112</c:v>
                </c:pt>
                <c:pt idx="3">
                  <c:v>99.176190444605112</c:v>
                </c:pt>
                <c:pt idx="4">
                  <c:v>99.176190444605112</c:v>
                </c:pt>
                <c:pt idx="5">
                  <c:v>101.36372982761021</c:v>
                </c:pt>
                <c:pt idx="6">
                  <c:v>102.62133282038697</c:v>
                </c:pt>
                <c:pt idx="7">
                  <c:v>104.38303827862273</c:v>
                </c:pt>
                <c:pt idx="8">
                  <c:v>104.92030537996722</c:v>
                </c:pt>
                <c:pt idx="9">
                  <c:v>105.12857929332793</c:v>
                </c:pt>
                <c:pt idx="10">
                  <c:v>105.12857929332793</c:v>
                </c:pt>
                <c:pt idx="11">
                  <c:v>105.12857929332793</c:v>
                </c:pt>
                <c:pt idx="12">
                  <c:v>105.91856092011965</c:v>
                </c:pt>
                <c:pt idx="13">
                  <c:v>106.67206144743737</c:v>
                </c:pt>
                <c:pt idx="14">
                  <c:v>106.89625438602309</c:v>
                </c:pt>
                <c:pt idx="15">
                  <c:v>108.8257729018393</c:v>
                </c:pt>
                <c:pt idx="16">
                  <c:v>108.11671298660812</c:v>
                </c:pt>
                <c:pt idx="17">
                  <c:v>108.11671298660812</c:v>
                </c:pt>
                <c:pt idx="18">
                  <c:v>108.11671298660812</c:v>
                </c:pt>
                <c:pt idx="19">
                  <c:v>108.53923044778891</c:v>
                </c:pt>
                <c:pt idx="20">
                  <c:v>109.7218813634645</c:v>
                </c:pt>
                <c:pt idx="21">
                  <c:v>110.39578676465709</c:v>
                </c:pt>
                <c:pt idx="22">
                  <c:v>111.96381074932178</c:v>
                </c:pt>
                <c:pt idx="23">
                  <c:v>109.14282682090433</c:v>
                </c:pt>
                <c:pt idx="24">
                  <c:v>109.14282682090433</c:v>
                </c:pt>
                <c:pt idx="25">
                  <c:v>109.14282682090433</c:v>
                </c:pt>
                <c:pt idx="26">
                  <c:v>107.05743451642644</c:v>
                </c:pt>
                <c:pt idx="27">
                  <c:v>110.61268348334804</c:v>
                </c:pt>
                <c:pt idx="28">
                  <c:v>110.9542792329683</c:v>
                </c:pt>
                <c:pt idx="29">
                  <c:v>111.49021974887737</c:v>
                </c:pt>
                <c:pt idx="30">
                  <c:v>111.57976426576812</c:v>
                </c:pt>
                <c:pt idx="31">
                  <c:v>111.57976426576812</c:v>
                </c:pt>
                <c:pt idx="32">
                  <c:v>111.57976426576812</c:v>
                </c:pt>
                <c:pt idx="33">
                  <c:v>111.57976426576812</c:v>
                </c:pt>
                <c:pt idx="34">
                  <c:v>111.57976426576812</c:v>
                </c:pt>
                <c:pt idx="35">
                  <c:v>111.51940462845657</c:v>
                </c:pt>
                <c:pt idx="36">
                  <c:v>112.51368041230275</c:v>
                </c:pt>
                <c:pt idx="37">
                  <c:v>110.56890616397924</c:v>
                </c:pt>
                <c:pt idx="38">
                  <c:v>110.56890616397924</c:v>
                </c:pt>
                <c:pt idx="39">
                  <c:v>110.56890616397924</c:v>
                </c:pt>
                <c:pt idx="40">
                  <c:v>107.75389187002116</c:v>
                </c:pt>
                <c:pt idx="41">
                  <c:v>108.60224325597127</c:v>
                </c:pt>
                <c:pt idx="42">
                  <c:v>108.99623913029058</c:v>
                </c:pt>
                <c:pt idx="43">
                  <c:v>109.95735027825128</c:v>
                </c:pt>
                <c:pt idx="44">
                  <c:v>110.58814165279279</c:v>
                </c:pt>
                <c:pt idx="45">
                  <c:v>110.58814165279279</c:v>
                </c:pt>
                <c:pt idx="46">
                  <c:v>110.58814165279279</c:v>
                </c:pt>
                <c:pt idx="47">
                  <c:v>111.75819000683191</c:v>
                </c:pt>
                <c:pt idx="48">
                  <c:v>111.49287291974821</c:v>
                </c:pt>
                <c:pt idx="49">
                  <c:v>110.83422325106291</c:v>
                </c:pt>
                <c:pt idx="50">
                  <c:v>110.45017676750926</c:v>
                </c:pt>
                <c:pt idx="51">
                  <c:v>110.01505674469199</c:v>
                </c:pt>
                <c:pt idx="52">
                  <c:v>110.01505674469199</c:v>
                </c:pt>
                <c:pt idx="53">
                  <c:v>110.01505674469199</c:v>
                </c:pt>
                <c:pt idx="54">
                  <c:v>108.41187824598873</c:v>
                </c:pt>
                <c:pt idx="55">
                  <c:v>108.46560495612319</c:v>
                </c:pt>
                <c:pt idx="56">
                  <c:v>109.93811478943772</c:v>
                </c:pt>
                <c:pt idx="57">
                  <c:v>110.5105364048208</c:v>
                </c:pt>
                <c:pt idx="58">
                  <c:v>110.15302162997551</c:v>
                </c:pt>
                <c:pt idx="59">
                  <c:v>110.15302162997551</c:v>
                </c:pt>
                <c:pt idx="60">
                  <c:v>110.15302162997551</c:v>
                </c:pt>
                <c:pt idx="61">
                  <c:v>110.53640482081147</c:v>
                </c:pt>
                <c:pt idx="62">
                  <c:v>110.21935090174644</c:v>
                </c:pt>
                <c:pt idx="63">
                  <c:v>110.44155396217903</c:v>
                </c:pt>
                <c:pt idx="64">
                  <c:v>109.62305074852583</c:v>
                </c:pt>
                <c:pt idx="65">
                  <c:v>109.16604206602413</c:v>
                </c:pt>
                <c:pt idx="66">
                  <c:v>109.16604206602413</c:v>
                </c:pt>
                <c:pt idx="67">
                  <c:v>109.16604206602413</c:v>
                </c:pt>
                <c:pt idx="68">
                  <c:v>112.46128028760371</c:v>
                </c:pt>
                <c:pt idx="69">
                  <c:v>111.78472171554029</c:v>
                </c:pt>
                <c:pt idx="70">
                  <c:v>112.61582749082997</c:v>
                </c:pt>
                <c:pt idx="71">
                  <c:v>113.85220511664002</c:v>
                </c:pt>
                <c:pt idx="72">
                  <c:v>115.91371888328037</c:v>
                </c:pt>
                <c:pt idx="73">
                  <c:v>115.91371888328037</c:v>
                </c:pt>
                <c:pt idx="74">
                  <c:v>115.91371888328037</c:v>
                </c:pt>
                <c:pt idx="75">
                  <c:v>117.07912418829551</c:v>
                </c:pt>
                <c:pt idx="76">
                  <c:v>116.80982734490557</c:v>
                </c:pt>
                <c:pt idx="77">
                  <c:v>116.603543309698</c:v>
                </c:pt>
                <c:pt idx="78">
                  <c:v>117.19387382845923</c:v>
                </c:pt>
                <c:pt idx="79">
                  <c:v>114.82857199710803</c:v>
                </c:pt>
                <c:pt idx="80">
                  <c:v>114.82857199710803</c:v>
                </c:pt>
                <c:pt idx="81">
                  <c:v>114.82857199710803</c:v>
                </c:pt>
                <c:pt idx="82">
                  <c:v>108.54321020409516</c:v>
                </c:pt>
                <c:pt idx="83">
                  <c:v>110.33410054191015</c:v>
                </c:pt>
                <c:pt idx="84">
                  <c:v>111.333682667498</c:v>
                </c:pt>
                <c:pt idx="85">
                  <c:v>111.90146123385709</c:v>
                </c:pt>
                <c:pt idx="86">
                  <c:v>111.64410365938593</c:v>
                </c:pt>
                <c:pt idx="87">
                  <c:v>111.64410365938593</c:v>
                </c:pt>
                <c:pt idx="88">
                  <c:v>111.64410365938593</c:v>
                </c:pt>
                <c:pt idx="89">
                  <c:v>109.61177477232475</c:v>
                </c:pt>
                <c:pt idx="90">
                  <c:v>111.46634121103985</c:v>
                </c:pt>
                <c:pt idx="91">
                  <c:v>111.81987622957885</c:v>
                </c:pt>
                <c:pt idx="92">
                  <c:v>110.74136227058362</c:v>
                </c:pt>
                <c:pt idx="93">
                  <c:v>108.75679045919755</c:v>
                </c:pt>
                <c:pt idx="94">
                  <c:v>108.75679045919755</c:v>
                </c:pt>
                <c:pt idx="95">
                  <c:v>108.75679045919755</c:v>
                </c:pt>
                <c:pt idx="96">
                  <c:v>107.25443245358608</c:v>
                </c:pt>
                <c:pt idx="97">
                  <c:v>109.57463038013304</c:v>
                </c:pt>
                <c:pt idx="98">
                  <c:v>109.76764856098644</c:v>
                </c:pt>
                <c:pt idx="99">
                  <c:v>108.95511498179262</c:v>
                </c:pt>
                <c:pt idx="100">
                  <c:v>106.06713848888651</c:v>
                </c:pt>
                <c:pt idx="101">
                  <c:v>106.06713848888651</c:v>
                </c:pt>
                <c:pt idx="102">
                  <c:v>106.06713848888651</c:v>
                </c:pt>
                <c:pt idx="103">
                  <c:v>104.83606720481815</c:v>
                </c:pt>
                <c:pt idx="104">
                  <c:v>105.70299078686413</c:v>
                </c:pt>
                <c:pt idx="105">
                  <c:v>108.24008543210202</c:v>
                </c:pt>
                <c:pt idx="106">
                  <c:v>108.21222713795824</c:v>
                </c:pt>
                <c:pt idx="107">
                  <c:v>108.47887081047736</c:v>
                </c:pt>
                <c:pt idx="108">
                  <c:v>108.47887081047736</c:v>
                </c:pt>
                <c:pt idx="109">
                  <c:v>108.47887081047736</c:v>
                </c:pt>
                <c:pt idx="110">
                  <c:v>109.73647380325411</c:v>
                </c:pt>
                <c:pt idx="111">
                  <c:v>110.1012847979942</c:v>
                </c:pt>
                <c:pt idx="112">
                  <c:v>109.3769691502557</c:v>
                </c:pt>
                <c:pt idx="113">
                  <c:v>109.84061075993445</c:v>
                </c:pt>
                <c:pt idx="114">
                  <c:v>109.77030173185729</c:v>
                </c:pt>
                <c:pt idx="115">
                  <c:v>109.77030173185729</c:v>
                </c:pt>
                <c:pt idx="116">
                  <c:v>109.77030173185729</c:v>
                </c:pt>
                <c:pt idx="117">
                  <c:v>110.63589872846786</c:v>
                </c:pt>
                <c:pt idx="118">
                  <c:v>110.1304696775734</c:v>
                </c:pt>
                <c:pt idx="119">
                  <c:v>111.45705511299191</c:v>
                </c:pt>
                <c:pt idx="120">
                  <c:v>111.71971902920477</c:v>
                </c:pt>
                <c:pt idx="121">
                  <c:v>112.16213527191685</c:v>
                </c:pt>
                <c:pt idx="122">
                  <c:v>112.16213527191685</c:v>
                </c:pt>
                <c:pt idx="123">
                  <c:v>112.16213527191685</c:v>
                </c:pt>
                <c:pt idx="124">
                  <c:v>112.87053189443033</c:v>
                </c:pt>
                <c:pt idx="125">
                  <c:v>113.89133938698485</c:v>
                </c:pt>
                <c:pt idx="126">
                  <c:v>114.86704297473518</c:v>
                </c:pt>
                <c:pt idx="127">
                  <c:v>115.22986409132214</c:v>
                </c:pt>
                <c:pt idx="128">
                  <c:v>115.5004875201475</c:v>
                </c:pt>
                <c:pt idx="129">
                  <c:v>115.5004875201475</c:v>
                </c:pt>
                <c:pt idx="130">
                  <c:v>115.5004875201475</c:v>
                </c:pt>
                <c:pt idx="131">
                  <c:v>116.32429707554239</c:v>
                </c:pt>
                <c:pt idx="132">
                  <c:v>115.88851376000741</c:v>
                </c:pt>
                <c:pt idx="133">
                  <c:v>114.01869158878503</c:v>
                </c:pt>
                <c:pt idx="134">
                  <c:v>112.68679981162487</c:v>
                </c:pt>
                <c:pt idx="135">
                  <c:v>109.23701438681906</c:v>
                </c:pt>
                <c:pt idx="136">
                  <c:v>109.23701438681906</c:v>
                </c:pt>
                <c:pt idx="137">
                  <c:v>109.23701438681906</c:v>
                </c:pt>
                <c:pt idx="138">
                  <c:v>109.17864462766063</c:v>
                </c:pt>
                <c:pt idx="139">
                  <c:v>111.37878657230222</c:v>
                </c:pt>
                <c:pt idx="140">
                  <c:v>111.0126489921267</c:v>
                </c:pt>
                <c:pt idx="141">
                  <c:v>111.23286217440618</c:v>
                </c:pt>
                <c:pt idx="142">
                  <c:v>113.04564117190556</c:v>
                </c:pt>
                <c:pt idx="143">
                  <c:v>113.04564117190556</c:v>
                </c:pt>
                <c:pt idx="144">
                  <c:v>113.04564117190556</c:v>
                </c:pt>
                <c:pt idx="145">
                  <c:v>116.14454474904319</c:v>
                </c:pt>
                <c:pt idx="146">
                  <c:v>117.54541896884514</c:v>
                </c:pt>
                <c:pt idx="147">
                  <c:v>118.25315229864091</c:v>
                </c:pt>
                <c:pt idx="148">
                  <c:v>115.60197130595702</c:v>
                </c:pt>
                <c:pt idx="149">
                  <c:v>114.73637430934644</c:v>
                </c:pt>
                <c:pt idx="150">
                  <c:v>114.73637430934644</c:v>
                </c:pt>
                <c:pt idx="151">
                  <c:v>114.73637430934644</c:v>
                </c:pt>
                <c:pt idx="152">
                  <c:v>116.39725927449041</c:v>
                </c:pt>
                <c:pt idx="153">
                  <c:v>117.19719029204778</c:v>
                </c:pt>
                <c:pt idx="154">
                  <c:v>118.36392218249836</c:v>
                </c:pt>
                <c:pt idx="155">
                  <c:v>118.36392218249836</c:v>
                </c:pt>
                <c:pt idx="156">
                  <c:v>118.36392218249836</c:v>
                </c:pt>
                <c:pt idx="157">
                  <c:v>118.36392218249836</c:v>
                </c:pt>
                <c:pt idx="158">
                  <c:v>118.36392218249836</c:v>
                </c:pt>
                <c:pt idx="159">
                  <c:v>118.62326963512267</c:v>
                </c:pt>
                <c:pt idx="160">
                  <c:v>120.47186643937835</c:v>
                </c:pt>
                <c:pt idx="161">
                  <c:v>123.47724574331897</c:v>
                </c:pt>
                <c:pt idx="162">
                  <c:v>123.077943527258</c:v>
                </c:pt>
                <c:pt idx="163">
                  <c:v>123.89644674091123</c:v>
                </c:pt>
                <c:pt idx="164">
                  <c:v>123.89644674091123</c:v>
                </c:pt>
                <c:pt idx="165">
                  <c:v>123.89644674091123</c:v>
                </c:pt>
                <c:pt idx="166">
                  <c:v>124.52193177371105</c:v>
                </c:pt>
                <c:pt idx="167">
                  <c:v>126.21996113104674</c:v>
                </c:pt>
                <c:pt idx="168">
                  <c:v>125.65682561371159</c:v>
                </c:pt>
                <c:pt idx="169">
                  <c:v>123.69082599842136</c:v>
                </c:pt>
                <c:pt idx="170">
                  <c:v>124.64132446289872</c:v>
                </c:pt>
                <c:pt idx="171">
                  <c:v>124.64132446289872</c:v>
                </c:pt>
                <c:pt idx="172">
                  <c:v>124.64132446289872</c:v>
                </c:pt>
                <c:pt idx="173">
                  <c:v>125.79943354801905</c:v>
                </c:pt>
                <c:pt idx="174">
                  <c:v>125.61304829434276</c:v>
                </c:pt>
                <c:pt idx="175">
                  <c:v>125.05986216777325</c:v>
                </c:pt>
                <c:pt idx="176">
                  <c:v>124.88010984127405</c:v>
                </c:pt>
                <c:pt idx="177">
                  <c:v>124.08813833632919</c:v>
                </c:pt>
                <c:pt idx="178">
                  <c:v>124.08813833632919</c:v>
                </c:pt>
                <c:pt idx="179">
                  <c:v>124.08813833632919</c:v>
                </c:pt>
                <c:pt idx="180">
                  <c:v>122.29260494949025</c:v>
                </c:pt>
                <c:pt idx="181">
                  <c:v>121.41573197667861</c:v>
                </c:pt>
                <c:pt idx="182">
                  <c:v>119.5857073685188</c:v>
                </c:pt>
                <c:pt idx="183">
                  <c:v>120.38630167879386</c:v>
                </c:pt>
                <c:pt idx="184">
                  <c:v>121.31889123989306</c:v>
                </c:pt>
                <c:pt idx="185">
                  <c:v>121.31889123989306</c:v>
                </c:pt>
                <c:pt idx="186">
                  <c:v>121.31889123989306</c:v>
                </c:pt>
                <c:pt idx="187">
                  <c:v>119.82382945417642</c:v>
                </c:pt>
                <c:pt idx="188">
                  <c:v>120.2815014293958</c:v>
                </c:pt>
                <c:pt idx="189">
                  <c:v>118.82424732858858</c:v>
                </c:pt>
                <c:pt idx="190">
                  <c:v>118.23590668798045</c:v>
                </c:pt>
                <c:pt idx="191">
                  <c:v>116.44037330114152</c:v>
                </c:pt>
                <c:pt idx="192">
                  <c:v>116.44037330114152</c:v>
                </c:pt>
                <c:pt idx="193">
                  <c:v>116.44037330114152</c:v>
                </c:pt>
                <c:pt idx="194">
                  <c:v>116.39593268905499</c:v>
                </c:pt>
                <c:pt idx="195">
                  <c:v>116.34353256435597</c:v>
                </c:pt>
                <c:pt idx="196">
                  <c:v>119.18375198158697</c:v>
                </c:pt>
                <c:pt idx="197">
                  <c:v>120.32726862691774</c:v>
                </c:pt>
                <c:pt idx="198">
                  <c:v>120.99056134462698</c:v>
                </c:pt>
                <c:pt idx="199">
                  <c:v>120.99056134462698</c:v>
                </c:pt>
                <c:pt idx="200">
                  <c:v>120.99056134462698</c:v>
                </c:pt>
                <c:pt idx="201">
                  <c:v>120.99056134462698</c:v>
                </c:pt>
                <c:pt idx="202">
                  <c:v>120.99056134462698</c:v>
                </c:pt>
                <c:pt idx="203">
                  <c:v>120.99056134462698</c:v>
                </c:pt>
                <c:pt idx="204">
                  <c:v>120.99056134462698</c:v>
                </c:pt>
                <c:pt idx="205">
                  <c:v>120.99056134462698</c:v>
                </c:pt>
                <c:pt idx="206">
                  <c:v>120.99056134462698</c:v>
                </c:pt>
                <c:pt idx="207">
                  <c:v>120.99056134462698</c:v>
                </c:pt>
                <c:pt idx="208">
                  <c:v>123.38173159196886</c:v>
                </c:pt>
                <c:pt idx="209">
                  <c:v>123.87787454481536</c:v>
                </c:pt>
                <c:pt idx="210">
                  <c:v>123.43280513123247</c:v>
                </c:pt>
                <c:pt idx="211">
                  <c:v>124.67515239150188</c:v>
                </c:pt>
                <c:pt idx="212">
                  <c:v>124.72091958902382</c:v>
                </c:pt>
                <c:pt idx="213">
                  <c:v>124.72091958902382</c:v>
                </c:pt>
                <c:pt idx="214">
                  <c:v>124.72091958902382</c:v>
                </c:pt>
                <c:pt idx="215">
                  <c:v>122.45046861630505</c:v>
                </c:pt>
                <c:pt idx="216">
                  <c:v>120.26425581873536</c:v>
                </c:pt>
                <c:pt idx="217">
                  <c:v>120.6045249829202</c:v>
                </c:pt>
                <c:pt idx="218">
                  <c:v>119.95715129043599</c:v>
                </c:pt>
                <c:pt idx="219">
                  <c:v>117.25953980751245</c:v>
                </c:pt>
                <c:pt idx="220">
                  <c:v>117.25953980751245</c:v>
                </c:pt>
                <c:pt idx="221">
                  <c:v>117.25953980751245</c:v>
                </c:pt>
                <c:pt idx="222">
                  <c:v>109.6283570902675</c:v>
                </c:pt>
                <c:pt idx="223">
                  <c:v>111.21627985646344</c:v>
                </c:pt>
                <c:pt idx="224">
                  <c:v>114.63953357256089</c:v>
                </c:pt>
                <c:pt idx="225">
                  <c:v>113.39718631229145</c:v>
                </c:pt>
                <c:pt idx="226">
                  <c:v>112.51036394871421</c:v>
                </c:pt>
                <c:pt idx="227">
                  <c:v>112.51036394871421</c:v>
                </c:pt>
                <c:pt idx="228">
                  <c:v>112.51036394871421</c:v>
                </c:pt>
                <c:pt idx="229">
                  <c:v>112.30938625524828</c:v>
                </c:pt>
                <c:pt idx="230">
                  <c:v>113.44229021709569</c:v>
                </c:pt>
                <c:pt idx="231">
                  <c:v>113.67709583916476</c:v>
                </c:pt>
                <c:pt idx="232">
                  <c:v>112.70205554413218</c:v>
                </c:pt>
                <c:pt idx="233">
                  <c:v>109.29803731684828</c:v>
                </c:pt>
                <c:pt idx="234">
                  <c:v>109.29803731684828</c:v>
                </c:pt>
                <c:pt idx="235">
                  <c:v>109.29803731684828</c:v>
                </c:pt>
                <c:pt idx="236">
                  <c:v>105.54114736374309</c:v>
                </c:pt>
                <c:pt idx="237">
                  <c:v>107.10651817753691</c:v>
                </c:pt>
                <c:pt idx="238">
                  <c:v>109.9865351578305</c:v>
                </c:pt>
                <c:pt idx="239">
                  <c:v>109.08711023261675</c:v>
                </c:pt>
                <c:pt idx="240">
                  <c:v>110.95560581840371</c:v>
                </c:pt>
                <c:pt idx="241">
                  <c:v>110.95560581840371</c:v>
                </c:pt>
                <c:pt idx="242">
                  <c:v>110.95560581840371</c:v>
                </c:pt>
                <c:pt idx="243">
                  <c:v>110.27506749003402</c:v>
                </c:pt>
                <c:pt idx="244">
                  <c:v>111.06770228769658</c:v>
                </c:pt>
                <c:pt idx="245">
                  <c:v>112.95410677686168</c:v>
                </c:pt>
                <c:pt idx="246">
                  <c:v>112.41617638279948</c:v>
                </c:pt>
                <c:pt idx="247">
                  <c:v>111.70114683310889</c:v>
                </c:pt>
                <c:pt idx="248">
                  <c:v>111.70114683310889</c:v>
                </c:pt>
                <c:pt idx="249">
                  <c:v>111.70114683310889</c:v>
                </c:pt>
                <c:pt idx="250">
                  <c:v>111.10086692358203</c:v>
                </c:pt>
                <c:pt idx="251">
                  <c:v>111.27000656659789</c:v>
                </c:pt>
                <c:pt idx="252">
                  <c:v>116.51068232921871</c:v>
                </c:pt>
                <c:pt idx="253">
                  <c:v>115.19271969913041</c:v>
                </c:pt>
                <c:pt idx="254">
                  <c:v>116.07622559911914</c:v>
                </c:pt>
                <c:pt idx="255">
                  <c:v>116.07622559911914</c:v>
                </c:pt>
                <c:pt idx="256">
                  <c:v>116.07622559911914</c:v>
                </c:pt>
                <c:pt idx="257">
                  <c:v>116.67053587418663</c:v>
                </c:pt>
                <c:pt idx="258">
                  <c:v>117.77757142004337</c:v>
                </c:pt>
                <c:pt idx="259">
                  <c:v>119.43580321431651</c:v>
                </c:pt>
                <c:pt idx="260">
                  <c:v>120.70799864688284</c:v>
                </c:pt>
                <c:pt idx="261">
                  <c:v>120.53156278397219</c:v>
                </c:pt>
                <c:pt idx="262">
                  <c:v>120.53156278397219</c:v>
                </c:pt>
                <c:pt idx="263">
                  <c:v>120.53156278397219</c:v>
                </c:pt>
                <c:pt idx="264">
                  <c:v>121.85416846308443</c:v>
                </c:pt>
                <c:pt idx="265">
                  <c:v>121.61339320655597</c:v>
                </c:pt>
                <c:pt idx="266">
                  <c:v>123.1933564601394</c:v>
                </c:pt>
                <c:pt idx="267">
                  <c:v>124.05961674946768</c:v>
                </c:pt>
                <c:pt idx="268">
                  <c:v>122.92737608033801</c:v>
                </c:pt>
                <c:pt idx="269">
                  <c:v>122.92737608033801</c:v>
                </c:pt>
                <c:pt idx="270">
                  <c:v>122.92737608033801</c:v>
                </c:pt>
                <c:pt idx="271">
                  <c:v>122.92737608033801</c:v>
                </c:pt>
                <c:pt idx="272">
                  <c:v>124.42310115877235</c:v>
                </c:pt>
                <c:pt idx="273">
                  <c:v>122.98110279047245</c:v>
                </c:pt>
                <c:pt idx="274">
                  <c:v>122.98110279047245</c:v>
                </c:pt>
                <c:pt idx="275">
                  <c:v>122.98110279047245</c:v>
                </c:pt>
                <c:pt idx="276">
                  <c:v>122.98110279047245</c:v>
                </c:pt>
                <c:pt idx="277">
                  <c:v>122.98110279047245</c:v>
                </c:pt>
                <c:pt idx="278">
                  <c:v>122.97844961960161</c:v>
                </c:pt>
                <c:pt idx="279">
                  <c:v>124.35743517971916</c:v>
                </c:pt>
                <c:pt idx="280">
                  <c:v>125.44191877317378</c:v>
                </c:pt>
                <c:pt idx="281">
                  <c:v>126.62324310341396</c:v>
                </c:pt>
                <c:pt idx="282">
                  <c:v>127.04509727187703</c:v>
                </c:pt>
                <c:pt idx="283">
                  <c:v>127.04509727187703</c:v>
                </c:pt>
                <c:pt idx="284">
                  <c:v>127.04509727187703</c:v>
                </c:pt>
                <c:pt idx="285">
                  <c:v>125.72713464178875</c:v>
                </c:pt>
                <c:pt idx="286">
                  <c:v>126.09857856370594</c:v>
                </c:pt>
                <c:pt idx="287">
                  <c:v>125.91749965177131</c:v>
                </c:pt>
                <c:pt idx="288">
                  <c:v>127.71435962404567</c:v>
                </c:pt>
                <c:pt idx="289">
                  <c:v>127.45832863500991</c:v>
                </c:pt>
                <c:pt idx="290">
                  <c:v>127.45832863500991</c:v>
                </c:pt>
                <c:pt idx="291">
                  <c:v>127.45832863500991</c:v>
                </c:pt>
                <c:pt idx="292">
                  <c:v>127.87885621803758</c:v>
                </c:pt>
                <c:pt idx="293">
                  <c:v>126.88325384875598</c:v>
                </c:pt>
                <c:pt idx="294">
                  <c:v>126.90315263028727</c:v>
                </c:pt>
                <c:pt idx="295">
                  <c:v>125.81933232955036</c:v>
                </c:pt>
                <c:pt idx="296">
                  <c:v>124.50866591935687</c:v>
                </c:pt>
                <c:pt idx="297">
                  <c:v>124.50866591935687</c:v>
                </c:pt>
                <c:pt idx="298">
                  <c:v>124.50866591935687</c:v>
                </c:pt>
                <c:pt idx="299">
                  <c:v>125.09899643811811</c:v>
                </c:pt>
                <c:pt idx="300">
                  <c:v>124.9762872853419</c:v>
                </c:pt>
                <c:pt idx="301">
                  <c:v>124.32957688557538</c:v>
                </c:pt>
                <c:pt idx="302">
                  <c:v>123.6158739213202</c:v>
                </c:pt>
                <c:pt idx="303">
                  <c:v>123.60393465240145</c:v>
                </c:pt>
                <c:pt idx="304">
                  <c:v>123.60393465240145</c:v>
                </c:pt>
                <c:pt idx="305">
                  <c:v>123.60393465240145</c:v>
                </c:pt>
                <c:pt idx="306">
                  <c:v>122.3469949523424</c:v>
                </c:pt>
                <c:pt idx="307">
                  <c:v>121.14842501144179</c:v>
                </c:pt>
                <c:pt idx="308">
                  <c:v>120.6536086440307</c:v>
                </c:pt>
                <c:pt idx="309">
                  <c:v>121.48537771203809</c:v>
                </c:pt>
                <c:pt idx="310">
                  <c:v>121.97289785955441</c:v>
                </c:pt>
                <c:pt idx="311">
                  <c:v>121.97289785955441</c:v>
                </c:pt>
                <c:pt idx="312">
                  <c:v>121.97289785955441</c:v>
                </c:pt>
                <c:pt idx="313">
                  <c:v>118.76455098399474</c:v>
                </c:pt>
                <c:pt idx="314">
                  <c:v>118.93170074885747</c:v>
                </c:pt>
                <c:pt idx="315">
                  <c:v>119.63877078593555</c:v>
                </c:pt>
                <c:pt idx="316">
                  <c:v>119.3004914999038</c:v>
                </c:pt>
                <c:pt idx="317">
                  <c:v>118.83883976837819</c:v>
                </c:pt>
                <c:pt idx="318">
                  <c:v>118.83883976837819</c:v>
                </c:pt>
                <c:pt idx="319">
                  <c:v>118.83883976837819</c:v>
                </c:pt>
                <c:pt idx="320">
                  <c:v>119.34692199014346</c:v>
                </c:pt>
                <c:pt idx="321">
                  <c:v>119.91934360552654</c:v>
                </c:pt>
                <c:pt idx="322">
                  <c:v>119.80393067264514</c:v>
                </c:pt>
                <c:pt idx="323">
                  <c:v>121.41374209852549</c:v>
                </c:pt>
                <c:pt idx="324">
                  <c:v>121.01974622420619</c:v>
                </c:pt>
                <c:pt idx="325">
                  <c:v>121.01974622420619</c:v>
                </c:pt>
                <c:pt idx="326">
                  <c:v>121.01974622420619</c:v>
                </c:pt>
                <c:pt idx="327">
                  <c:v>123.23381731591969</c:v>
                </c:pt>
                <c:pt idx="328">
                  <c:v>123.97206211073009</c:v>
                </c:pt>
                <c:pt idx="329">
                  <c:v>124.56769897123299</c:v>
                </c:pt>
                <c:pt idx="330">
                  <c:v>123.57607635825765</c:v>
                </c:pt>
                <c:pt idx="331">
                  <c:v>124.16242712071264</c:v>
                </c:pt>
                <c:pt idx="332">
                  <c:v>124.16242712071264</c:v>
                </c:pt>
                <c:pt idx="333">
                  <c:v>124.16242712071264</c:v>
                </c:pt>
                <c:pt idx="334">
                  <c:v>123.03880925691315</c:v>
                </c:pt>
                <c:pt idx="335">
                  <c:v>123.37310878663862</c:v>
                </c:pt>
                <c:pt idx="336">
                  <c:v>123.85067954338929</c:v>
                </c:pt>
                <c:pt idx="337">
                  <c:v>123.79363636966629</c:v>
                </c:pt>
                <c:pt idx="338">
                  <c:v>123.51041037920443</c:v>
                </c:pt>
                <c:pt idx="339">
                  <c:v>123.51041037920443</c:v>
                </c:pt>
                <c:pt idx="340">
                  <c:v>123.51041037920443</c:v>
                </c:pt>
                <c:pt idx="341">
                  <c:v>122.27801250970064</c:v>
                </c:pt>
                <c:pt idx="342">
                  <c:v>122.59307655061254</c:v>
                </c:pt>
                <c:pt idx="343">
                  <c:v>122.95457108176409</c:v>
                </c:pt>
                <c:pt idx="344">
                  <c:v>122.09229054874207</c:v>
                </c:pt>
                <c:pt idx="345">
                  <c:v>121.2724607496534</c:v>
                </c:pt>
                <c:pt idx="346">
                  <c:v>121.2724607496534</c:v>
                </c:pt>
                <c:pt idx="347">
                  <c:v>121.2724607496534</c:v>
                </c:pt>
                <c:pt idx="348">
                  <c:v>119.4285069944217</c:v>
                </c:pt>
                <c:pt idx="349">
                  <c:v>119.83245225950665</c:v>
                </c:pt>
                <c:pt idx="350">
                  <c:v>118.20672180840126</c:v>
                </c:pt>
                <c:pt idx="351">
                  <c:v>119.67392529997412</c:v>
                </c:pt>
                <c:pt idx="352">
                  <c:v>118.56025682694029</c:v>
                </c:pt>
                <c:pt idx="353">
                  <c:v>118.56025682694029</c:v>
                </c:pt>
                <c:pt idx="354">
                  <c:v>118.56025682694029</c:v>
                </c:pt>
                <c:pt idx="355">
                  <c:v>115.64574862532584</c:v>
                </c:pt>
                <c:pt idx="356">
                  <c:v>114.78678455589235</c:v>
                </c:pt>
                <c:pt idx="357">
                  <c:v>110.67237982794187</c:v>
                </c:pt>
                <c:pt idx="358">
                  <c:v>112.71863786207493</c:v>
                </c:pt>
                <c:pt idx="359">
                  <c:v>111.83844842567471</c:v>
                </c:pt>
                <c:pt idx="360">
                  <c:v>111.83844842567471</c:v>
                </c:pt>
                <c:pt idx="361">
                  <c:v>111.83844842567471</c:v>
                </c:pt>
                <c:pt idx="362">
                  <c:v>110.70421787839192</c:v>
                </c:pt>
                <c:pt idx="363">
                  <c:v>111.47430072365235</c:v>
                </c:pt>
                <c:pt idx="364">
                  <c:v>113.07018300246081</c:v>
                </c:pt>
                <c:pt idx="365">
                  <c:v>115.7220272878624</c:v>
                </c:pt>
                <c:pt idx="366">
                  <c:v>115.13302335453659</c:v>
                </c:pt>
              </c:numCache>
            </c:numRef>
          </c:val>
          <c:smooth val="1"/>
          <c:extLst>
            <c:ext xmlns:c16="http://schemas.microsoft.com/office/drawing/2014/chart" uri="{C3380CC4-5D6E-409C-BE32-E72D297353CC}">
              <c16:uniqueId val="{00000000-C186-4C75-804F-1783DD582323}"/>
            </c:ext>
          </c:extLst>
        </c:ser>
        <c:ser>
          <c:idx val="1"/>
          <c:order val="1"/>
          <c:tx>
            <c:strRef>
              <c:f>Frontpage_bank!$R$1</c:f>
              <c:strCache>
                <c:ptCount val="1"/>
                <c:pt idx="0">
                  <c:v>FPT VN</c:v>
                </c:pt>
              </c:strCache>
            </c:strRef>
          </c:tx>
          <c:spPr>
            <a:ln w="12700" cap="rnd">
              <a:solidFill>
                <a:srgbClr val="EF7011"/>
              </a:solidFill>
              <a:round/>
            </a:ln>
            <a:effectLst/>
          </c:spPr>
          <c:marker>
            <c:symbol val="none"/>
          </c:marker>
          <c:cat>
            <c:numRef>
              <c:f>Frontpage_bank!$N$4:$N$370</c:f>
              <c:numCache>
                <c:formatCode>m/d/yyyy</c:formatCode>
                <c:ptCount val="367"/>
                <c:pt idx="0">
                  <c:v>45868</c:v>
                </c:pt>
                <c:pt idx="1">
                  <c:v>45869</c:v>
                </c:pt>
                <c:pt idx="2">
                  <c:v>45870</c:v>
                </c:pt>
                <c:pt idx="3">
                  <c:v>45871</c:v>
                </c:pt>
                <c:pt idx="4">
                  <c:v>45872</c:v>
                </c:pt>
                <c:pt idx="5">
                  <c:v>45873</c:v>
                </c:pt>
                <c:pt idx="6">
                  <c:v>45874</c:v>
                </c:pt>
                <c:pt idx="7">
                  <c:v>45875</c:v>
                </c:pt>
                <c:pt idx="8">
                  <c:v>45876</c:v>
                </c:pt>
                <c:pt idx="9">
                  <c:v>45877</c:v>
                </c:pt>
                <c:pt idx="10">
                  <c:v>45878</c:v>
                </c:pt>
                <c:pt idx="11">
                  <c:v>45879</c:v>
                </c:pt>
                <c:pt idx="12">
                  <c:v>45880</c:v>
                </c:pt>
                <c:pt idx="13">
                  <c:v>45881</c:v>
                </c:pt>
                <c:pt idx="14">
                  <c:v>45882</c:v>
                </c:pt>
                <c:pt idx="15">
                  <c:v>45883</c:v>
                </c:pt>
                <c:pt idx="16">
                  <c:v>45884</c:v>
                </c:pt>
                <c:pt idx="17">
                  <c:v>45885</c:v>
                </c:pt>
                <c:pt idx="18">
                  <c:v>45886</c:v>
                </c:pt>
                <c:pt idx="19">
                  <c:v>45887</c:v>
                </c:pt>
                <c:pt idx="20">
                  <c:v>45888</c:v>
                </c:pt>
                <c:pt idx="21">
                  <c:v>45889</c:v>
                </c:pt>
                <c:pt idx="22">
                  <c:v>45890</c:v>
                </c:pt>
                <c:pt idx="23">
                  <c:v>45891</c:v>
                </c:pt>
                <c:pt idx="24">
                  <c:v>45892</c:v>
                </c:pt>
                <c:pt idx="25">
                  <c:v>45893</c:v>
                </c:pt>
                <c:pt idx="26">
                  <c:v>45894</c:v>
                </c:pt>
                <c:pt idx="27">
                  <c:v>45895</c:v>
                </c:pt>
                <c:pt idx="28">
                  <c:v>45896</c:v>
                </c:pt>
                <c:pt idx="29">
                  <c:v>45897</c:v>
                </c:pt>
                <c:pt idx="30">
                  <c:v>45898</c:v>
                </c:pt>
                <c:pt idx="31">
                  <c:v>45899</c:v>
                </c:pt>
                <c:pt idx="32">
                  <c:v>45900</c:v>
                </c:pt>
                <c:pt idx="33">
                  <c:v>45901</c:v>
                </c:pt>
                <c:pt idx="34">
                  <c:v>45902</c:v>
                </c:pt>
                <c:pt idx="35">
                  <c:v>45903</c:v>
                </c:pt>
                <c:pt idx="36">
                  <c:v>45904</c:v>
                </c:pt>
                <c:pt idx="37">
                  <c:v>45905</c:v>
                </c:pt>
                <c:pt idx="38">
                  <c:v>45906</c:v>
                </c:pt>
                <c:pt idx="39">
                  <c:v>45907</c:v>
                </c:pt>
                <c:pt idx="40">
                  <c:v>45908</c:v>
                </c:pt>
                <c:pt idx="41">
                  <c:v>45909</c:v>
                </c:pt>
                <c:pt idx="42">
                  <c:v>45910</c:v>
                </c:pt>
                <c:pt idx="43">
                  <c:v>45911</c:v>
                </c:pt>
                <c:pt idx="44">
                  <c:v>45912</c:v>
                </c:pt>
                <c:pt idx="45">
                  <c:v>45913</c:v>
                </c:pt>
                <c:pt idx="46">
                  <c:v>45914</c:v>
                </c:pt>
                <c:pt idx="47">
                  <c:v>45915</c:v>
                </c:pt>
                <c:pt idx="48">
                  <c:v>45916</c:v>
                </c:pt>
                <c:pt idx="49">
                  <c:v>45917</c:v>
                </c:pt>
                <c:pt idx="50">
                  <c:v>45918</c:v>
                </c:pt>
                <c:pt idx="51">
                  <c:v>45919</c:v>
                </c:pt>
                <c:pt idx="52">
                  <c:v>45920</c:v>
                </c:pt>
                <c:pt idx="53">
                  <c:v>45921</c:v>
                </c:pt>
                <c:pt idx="54">
                  <c:v>45922</c:v>
                </c:pt>
                <c:pt idx="55">
                  <c:v>45923</c:v>
                </c:pt>
                <c:pt idx="56">
                  <c:v>45924</c:v>
                </c:pt>
                <c:pt idx="57">
                  <c:v>45925</c:v>
                </c:pt>
                <c:pt idx="58">
                  <c:v>45926</c:v>
                </c:pt>
                <c:pt idx="59">
                  <c:v>45927</c:v>
                </c:pt>
                <c:pt idx="60">
                  <c:v>45928</c:v>
                </c:pt>
                <c:pt idx="61">
                  <c:v>45929</c:v>
                </c:pt>
                <c:pt idx="62">
                  <c:v>45930</c:v>
                </c:pt>
                <c:pt idx="63">
                  <c:v>45931</c:v>
                </c:pt>
                <c:pt idx="64">
                  <c:v>45932</c:v>
                </c:pt>
                <c:pt idx="65">
                  <c:v>45933</c:v>
                </c:pt>
                <c:pt idx="66">
                  <c:v>45934</c:v>
                </c:pt>
                <c:pt idx="67">
                  <c:v>45935</c:v>
                </c:pt>
                <c:pt idx="68">
                  <c:v>45936</c:v>
                </c:pt>
                <c:pt idx="69">
                  <c:v>45937</c:v>
                </c:pt>
                <c:pt idx="70">
                  <c:v>45938</c:v>
                </c:pt>
                <c:pt idx="71">
                  <c:v>45939</c:v>
                </c:pt>
                <c:pt idx="72">
                  <c:v>45940</c:v>
                </c:pt>
                <c:pt idx="73">
                  <c:v>45941</c:v>
                </c:pt>
                <c:pt idx="74">
                  <c:v>45942</c:v>
                </c:pt>
                <c:pt idx="75">
                  <c:v>45943</c:v>
                </c:pt>
                <c:pt idx="76">
                  <c:v>45944</c:v>
                </c:pt>
                <c:pt idx="77">
                  <c:v>45945</c:v>
                </c:pt>
                <c:pt idx="78">
                  <c:v>45946</c:v>
                </c:pt>
                <c:pt idx="79">
                  <c:v>45947</c:v>
                </c:pt>
                <c:pt idx="80">
                  <c:v>45948</c:v>
                </c:pt>
                <c:pt idx="81">
                  <c:v>45949</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45962</c:v>
                </c:pt>
                <c:pt idx="95">
                  <c:v>45963</c:v>
                </c:pt>
                <c:pt idx="96">
                  <c:v>45964</c:v>
                </c:pt>
                <c:pt idx="97">
                  <c:v>45965</c:v>
                </c:pt>
                <c:pt idx="98">
                  <c:v>45966</c:v>
                </c:pt>
                <c:pt idx="99">
                  <c:v>45967</c:v>
                </c:pt>
                <c:pt idx="100">
                  <c:v>45968</c:v>
                </c:pt>
                <c:pt idx="101">
                  <c:v>45969</c:v>
                </c:pt>
                <c:pt idx="102">
                  <c:v>45970</c:v>
                </c:pt>
                <c:pt idx="103">
                  <c:v>45971</c:v>
                </c:pt>
                <c:pt idx="104">
                  <c:v>45972</c:v>
                </c:pt>
                <c:pt idx="105">
                  <c:v>45973</c:v>
                </c:pt>
                <c:pt idx="106">
                  <c:v>45974</c:v>
                </c:pt>
                <c:pt idx="107">
                  <c:v>45975</c:v>
                </c:pt>
                <c:pt idx="108">
                  <c:v>45976</c:v>
                </c:pt>
                <c:pt idx="109">
                  <c:v>45977</c:v>
                </c:pt>
                <c:pt idx="110">
                  <c:v>45978</c:v>
                </c:pt>
                <c:pt idx="111">
                  <c:v>45979</c:v>
                </c:pt>
                <c:pt idx="112">
                  <c:v>45980</c:v>
                </c:pt>
                <c:pt idx="113">
                  <c:v>45981</c:v>
                </c:pt>
                <c:pt idx="114">
                  <c:v>45982</c:v>
                </c:pt>
                <c:pt idx="115">
                  <c:v>45983</c:v>
                </c:pt>
                <c:pt idx="116">
                  <c:v>45984</c:v>
                </c:pt>
                <c:pt idx="117">
                  <c:v>45985</c:v>
                </c:pt>
                <c:pt idx="118">
                  <c:v>45986</c:v>
                </c:pt>
                <c:pt idx="119">
                  <c:v>45987</c:v>
                </c:pt>
                <c:pt idx="120">
                  <c:v>45988</c:v>
                </c:pt>
                <c:pt idx="121">
                  <c:v>45989</c:v>
                </c:pt>
                <c:pt idx="122">
                  <c:v>45990</c:v>
                </c:pt>
                <c:pt idx="123">
                  <c:v>45991</c:v>
                </c:pt>
                <c:pt idx="124">
                  <c:v>45992</c:v>
                </c:pt>
                <c:pt idx="125">
                  <c:v>45993</c:v>
                </c:pt>
                <c:pt idx="126">
                  <c:v>45994</c:v>
                </c:pt>
                <c:pt idx="127">
                  <c:v>45995</c:v>
                </c:pt>
                <c:pt idx="128">
                  <c:v>45996</c:v>
                </c:pt>
                <c:pt idx="129">
                  <c:v>45997</c:v>
                </c:pt>
                <c:pt idx="130">
                  <c:v>45998</c:v>
                </c:pt>
                <c:pt idx="131">
                  <c:v>45999</c:v>
                </c:pt>
                <c:pt idx="132">
                  <c:v>46000</c:v>
                </c:pt>
                <c:pt idx="133">
                  <c:v>46001</c:v>
                </c:pt>
                <c:pt idx="134">
                  <c:v>46002</c:v>
                </c:pt>
                <c:pt idx="135">
                  <c:v>46003</c:v>
                </c:pt>
                <c:pt idx="136">
                  <c:v>46004</c:v>
                </c:pt>
                <c:pt idx="137">
                  <c:v>46005</c:v>
                </c:pt>
                <c:pt idx="138">
                  <c:v>46006</c:v>
                </c:pt>
                <c:pt idx="139">
                  <c:v>46007</c:v>
                </c:pt>
                <c:pt idx="140">
                  <c:v>46008</c:v>
                </c:pt>
                <c:pt idx="141">
                  <c:v>46009</c:v>
                </c:pt>
                <c:pt idx="142">
                  <c:v>46010</c:v>
                </c:pt>
                <c:pt idx="143">
                  <c:v>46011</c:v>
                </c:pt>
                <c:pt idx="144">
                  <c:v>46012</c:v>
                </c:pt>
                <c:pt idx="145">
                  <c:v>46013</c:v>
                </c:pt>
                <c:pt idx="146">
                  <c:v>46014</c:v>
                </c:pt>
                <c:pt idx="147">
                  <c:v>46015</c:v>
                </c:pt>
                <c:pt idx="148">
                  <c:v>46016</c:v>
                </c:pt>
                <c:pt idx="149">
                  <c:v>46017</c:v>
                </c:pt>
                <c:pt idx="150">
                  <c:v>46018</c:v>
                </c:pt>
                <c:pt idx="151">
                  <c:v>46019</c:v>
                </c:pt>
                <c:pt idx="152">
                  <c:v>46020</c:v>
                </c:pt>
                <c:pt idx="153">
                  <c:v>46021</c:v>
                </c:pt>
                <c:pt idx="154">
                  <c:v>46022</c:v>
                </c:pt>
                <c:pt idx="155">
                  <c:v>46023</c:v>
                </c:pt>
                <c:pt idx="156">
                  <c:v>46024</c:v>
                </c:pt>
                <c:pt idx="157">
                  <c:v>46025</c:v>
                </c:pt>
                <c:pt idx="158">
                  <c:v>46026</c:v>
                </c:pt>
                <c:pt idx="159">
                  <c:v>46027</c:v>
                </c:pt>
                <c:pt idx="160">
                  <c:v>46028</c:v>
                </c:pt>
                <c:pt idx="161">
                  <c:v>46029</c:v>
                </c:pt>
                <c:pt idx="162">
                  <c:v>46030</c:v>
                </c:pt>
                <c:pt idx="163">
                  <c:v>46031</c:v>
                </c:pt>
                <c:pt idx="164">
                  <c:v>46032</c:v>
                </c:pt>
                <c:pt idx="165">
                  <c:v>46033</c:v>
                </c:pt>
                <c:pt idx="166">
                  <c:v>46034</c:v>
                </c:pt>
                <c:pt idx="167">
                  <c:v>46035</c:v>
                </c:pt>
                <c:pt idx="168">
                  <c:v>46036</c:v>
                </c:pt>
                <c:pt idx="169">
                  <c:v>46037</c:v>
                </c:pt>
                <c:pt idx="170">
                  <c:v>46038</c:v>
                </c:pt>
                <c:pt idx="171">
                  <c:v>46039</c:v>
                </c:pt>
                <c:pt idx="172">
                  <c:v>46040</c:v>
                </c:pt>
                <c:pt idx="173">
                  <c:v>46041</c:v>
                </c:pt>
                <c:pt idx="174">
                  <c:v>46042</c:v>
                </c:pt>
                <c:pt idx="175">
                  <c:v>46043</c:v>
                </c:pt>
                <c:pt idx="176">
                  <c:v>46044</c:v>
                </c:pt>
                <c:pt idx="177">
                  <c:v>46045</c:v>
                </c:pt>
                <c:pt idx="178">
                  <c:v>46046</c:v>
                </c:pt>
                <c:pt idx="179">
                  <c:v>46047</c:v>
                </c:pt>
                <c:pt idx="180">
                  <c:v>46048</c:v>
                </c:pt>
                <c:pt idx="181">
                  <c:v>46049</c:v>
                </c:pt>
                <c:pt idx="182">
                  <c:v>46050</c:v>
                </c:pt>
                <c:pt idx="183">
                  <c:v>46051</c:v>
                </c:pt>
                <c:pt idx="184">
                  <c:v>46052</c:v>
                </c:pt>
                <c:pt idx="185">
                  <c:v>46053</c:v>
                </c:pt>
                <c:pt idx="186">
                  <c:v>46054</c:v>
                </c:pt>
                <c:pt idx="187">
                  <c:v>46055</c:v>
                </c:pt>
                <c:pt idx="188">
                  <c:v>46056</c:v>
                </c:pt>
                <c:pt idx="189">
                  <c:v>46057</c:v>
                </c:pt>
                <c:pt idx="190">
                  <c:v>46058</c:v>
                </c:pt>
                <c:pt idx="191">
                  <c:v>46059</c:v>
                </c:pt>
                <c:pt idx="192">
                  <c:v>46060</c:v>
                </c:pt>
                <c:pt idx="193">
                  <c:v>46061</c:v>
                </c:pt>
                <c:pt idx="194">
                  <c:v>46062</c:v>
                </c:pt>
                <c:pt idx="195">
                  <c:v>46063</c:v>
                </c:pt>
                <c:pt idx="196">
                  <c:v>46064</c:v>
                </c:pt>
                <c:pt idx="197">
                  <c:v>46065</c:v>
                </c:pt>
                <c:pt idx="198">
                  <c:v>46066</c:v>
                </c:pt>
                <c:pt idx="199">
                  <c:v>46067</c:v>
                </c:pt>
                <c:pt idx="200">
                  <c:v>46068</c:v>
                </c:pt>
                <c:pt idx="201">
                  <c:v>46069</c:v>
                </c:pt>
                <c:pt idx="202">
                  <c:v>46070</c:v>
                </c:pt>
                <c:pt idx="203">
                  <c:v>46071</c:v>
                </c:pt>
                <c:pt idx="204">
                  <c:v>46072</c:v>
                </c:pt>
                <c:pt idx="205">
                  <c:v>46073</c:v>
                </c:pt>
                <c:pt idx="206">
                  <c:v>46074</c:v>
                </c:pt>
                <c:pt idx="207">
                  <c:v>46075</c:v>
                </c:pt>
                <c:pt idx="208">
                  <c:v>46076</c:v>
                </c:pt>
                <c:pt idx="209">
                  <c:v>46077</c:v>
                </c:pt>
                <c:pt idx="210">
                  <c:v>46078</c:v>
                </c:pt>
                <c:pt idx="211">
                  <c:v>46079</c:v>
                </c:pt>
                <c:pt idx="212">
                  <c:v>46080</c:v>
                </c:pt>
                <c:pt idx="213">
                  <c:v>46081</c:v>
                </c:pt>
                <c:pt idx="214">
                  <c:v>46082</c:v>
                </c:pt>
                <c:pt idx="215">
                  <c:v>46083</c:v>
                </c:pt>
                <c:pt idx="216">
                  <c:v>46084</c:v>
                </c:pt>
                <c:pt idx="217">
                  <c:v>46085</c:v>
                </c:pt>
                <c:pt idx="218">
                  <c:v>46086</c:v>
                </c:pt>
                <c:pt idx="219">
                  <c:v>46087</c:v>
                </c:pt>
                <c:pt idx="220">
                  <c:v>46088</c:v>
                </c:pt>
                <c:pt idx="221">
                  <c:v>46089</c:v>
                </c:pt>
                <c:pt idx="222">
                  <c:v>46090</c:v>
                </c:pt>
                <c:pt idx="223">
                  <c:v>46091</c:v>
                </c:pt>
                <c:pt idx="224">
                  <c:v>46092</c:v>
                </c:pt>
                <c:pt idx="225">
                  <c:v>46093</c:v>
                </c:pt>
                <c:pt idx="226">
                  <c:v>46094</c:v>
                </c:pt>
                <c:pt idx="227">
                  <c:v>46095</c:v>
                </c:pt>
                <c:pt idx="228">
                  <c:v>46096</c:v>
                </c:pt>
                <c:pt idx="229">
                  <c:v>46097</c:v>
                </c:pt>
                <c:pt idx="230">
                  <c:v>46098</c:v>
                </c:pt>
                <c:pt idx="231">
                  <c:v>46099</c:v>
                </c:pt>
                <c:pt idx="232">
                  <c:v>46100</c:v>
                </c:pt>
                <c:pt idx="233">
                  <c:v>46101</c:v>
                </c:pt>
                <c:pt idx="234">
                  <c:v>46102</c:v>
                </c:pt>
                <c:pt idx="235">
                  <c:v>46103</c:v>
                </c:pt>
                <c:pt idx="236">
                  <c:v>46104</c:v>
                </c:pt>
                <c:pt idx="237">
                  <c:v>46105</c:v>
                </c:pt>
                <c:pt idx="238">
                  <c:v>46106</c:v>
                </c:pt>
                <c:pt idx="239">
                  <c:v>46107</c:v>
                </c:pt>
                <c:pt idx="240">
                  <c:v>46108</c:v>
                </c:pt>
                <c:pt idx="241">
                  <c:v>46109</c:v>
                </c:pt>
                <c:pt idx="242">
                  <c:v>46110</c:v>
                </c:pt>
                <c:pt idx="243">
                  <c:v>46111</c:v>
                </c:pt>
                <c:pt idx="244">
                  <c:v>46112</c:v>
                </c:pt>
                <c:pt idx="245">
                  <c:v>46113</c:v>
                </c:pt>
                <c:pt idx="246">
                  <c:v>46114</c:v>
                </c:pt>
                <c:pt idx="247">
                  <c:v>46115</c:v>
                </c:pt>
                <c:pt idx="248">
                  <c:v>46116</c:v>
                </c:pt>
                <c:pt idx="249">
                  <c:v>46117</c:v>
                </c:pt>
                <c:pt idx="250">
                  <c:v>46118</c:v>
                </c:pt>
                <c:pt idx="251">
                  <c:v>46119</c:v>
                </c:pt>
                <c:pt idx="252">
                  <c:v>46120</c:v>
                </c:pt>
                <c:pt idx="253">
                  <c:v>46121</c:v>
                </c:pt>
                <c:pt idx="254">
                  <c:v>46122</c:v>
                </c:pt>
                <c:pt idx="255">
                  <c:v>46123</c:v>
                </c:pt>
                <c:pt idx="256">
                  <c:v>46124</c:v>
                </c:pt>
                <c:pt idx="257">
                  <c:v>46125</c:v>
                </c:pt>
                <c:pt idx="258">
                  <c:v>46126</c:v>
                </c:pt>
                <c:pt idx="259">
                  <c:v>46127</c:v>
                </c:pt>
                <c:pt idx="260">
                  <c:v>46128</c:v>
                </c:pt>
                <c:pt idx="261">
                  <c:v>46129</c:v>
                </c:pt>
                <c:pt idx="262">
                  <c:v>46130</c:v>
                </c:pt>
                <c:pt idx="263">
                  <c:v>46131</c:v>
                </c:pt>
                <c:pt idx="264">
                  <c:v>46132</c:v>
                </c:pt>
                <c:pt idx="265">
                  <c:v>46133</c:v>
                </c:pt>
                <c:pt idx="266">
                  <c:v>46134</c:v>
                </c:pt>
                <c:pt idx="267">
                  <c:v>46135</c:v>
                </c:pt>
                <c:pt idx="268">
                  <c:v>46136</c:v>
                </c:pt>
                <c:pt idx="269">
                  <c:v>46137</c:v>
                </c:pt>
                <c:pt idx="270">
                  <c:v>46138</c:v>
                </c:pt>
                <c:pt idx="271">
                  <c:v>46139</c:v>
                </c:pt>
                <c:pt idx="272">
                  <c:v>46140</c:v>
                </c:pt>
                <c:pt idx="273">
                  <c:v>46141</c:v>
                </c:pt>
                <c:pt idx="274">
                  <c:v>46142</c:v>
                </c:pt>
                <c:pt idx="275">
                  <c:v>46143</c:v>
                </c:pt>
                <c:pt idx="276">
                  <c:v>46144</c:v>
                </c:pt>
                <c:pt idx="277">
                  <c:v>46145</c:v>
                </c:pt>
                <c:pt idx="278">
                  <c:v>46146</c:v>
                </c:pt>
                <c:pt idx="279">
                  <c:v>46147</c:v>
                </c:pt>
                <c:pt idx="280">
                  <c:v>46148</c:v>
                </c:pt>
                <c:pt idx="281">
                  <c:v>46149</c:v>
                </c:pt>
                <c:pt idx="282">
                  <c:v>46150</c:v>
                </c:pt>
                <c:pt idx="283">
                  <c:v>46151</c:v>
                </c:pt>
                <c:pt idx="284">
                  <c:v>46152</c:v>
                </c:pt>
                <c:pt idx="285">
                  <c:v>46153</c:v>
                </c:pt>
                <c:pt idx="286">
                  <c:v>46154</c:v>
                </c:pt>
                <c:pt idx="287">
                  <c:v>46155</c:v>
                </c:pt>
                <c:pt idx="288">
                  <c:v>46156</c:v>
                </c:pt>
                <c:pt idx="289">
                  <c:v>46157</c:v>
                </c:pt>
                <c:pt idx="290">
                  <c:v>46158</c:v>
                </c:pt>
                <c:pt idx="291">
                  <c:v>46159</c:v>
                </c:pt>
                <c:pt idx="292">
                  <c:v>46160</c:v>
                </c:pt>
                <c:pt idx="293">
                  <c:v>46161</c:v>
                </c:pt>
                <c:pt idx="294">
                  <c:v>46162</c:v>
                </c:pt>
                <c:pt idx="295">
                  <c:v>46163</c:v>
                </c:pt>
                <c:pt idx="296">
                  <c:v>46164</c:v>
                </c:pt>
                <c:pt idx="297">
                  <c:v>46165</c:v>
                </c:pt>
                <c:pt idx="298">
                  <c:v>46166</c:v>
                </c:pt>
                <c:pt idx="299">
                  <c:v>46167</c:v>
                </c:pt>
                <c:pt idx="300">
                  <c:v>46168</c:v>
                </c:pt>
                <c:pt idx="301">
                  <c:v>46169</c:v>
                </c:pt>
                <c:pt idx="302">
                  <c:v>46170</c:v>
                </c:pt>
                <c:pt idx="303">
                  <c:v>46171</c:v>
                </c:pt>
                <c:pt idx="304">
                  <c:v>46172</c:v>
                </c:pt>
                <c:pt idx="305">
                  <c:v>46173</c:v>
                </c:pt>
                <c:pt idx="306">
                  <c:v>46174</c:v>
                </c:pt>
                <c:pt idx="307">
                  <c:v>46175</c:v>
                </c:pt>
                <c:pt idx="308">
                  <c:v>46176</c:v>
                </c:pt>
                <c:pt idx="309">
                  <c:v>46177</c:v>
                </c:pt>
                <c:pt idx="310">
                  <c:v>46178</c:v>
                </c:pt>
                <c:pt idx="311">
                  <c:v>46179</c:v>
                </c:pt>
                <c:pt idx="312">
                  <c:v>46180</c:v>
                </c:pt>
                <c:pt idx="313">
                  <c:v>46181</c:v>
                </c:pt>
                <c:pt idx="314">
                  <c:v>46182</c:v>
                </c:pt>
                <c:pt idx="315">
                  <c:v>46183</c:v>
                </c:pt>
                <c:pt idx="316">
                  <c:v>46184</c:v>
                </c:pt>
                <c:pt idx="317">
                  <c:v>46185</c:v>
                </c:pt>
                <c:pt idx="318">
                  <c:v>46186</c:v>
                </c:pt>
                <c:pt idx="319">
                  <c:v>46187</c:v>
                </c:pt>
                <c:pt idx="320">
                  <c:v>46188</c:v>
                </c:pt>
                <c:pt idx="321">
                  <c:v>46189</c:v>
                </c:pt>
                <c:pt idx="322">
                  <c:v>46190</c:v>
                </c:pt>
                <c:pt idx="323">
                  <c:v>46191</c:v>
                </c:pt>
                <c:pt idx="324">
                  <c:v>46192</c:v>
                </c:pt>
                <c:pt idx="325">
                  <c:v>46193</c:v>
                </c:pt>
                <c:pt idx="326">
                  <c:v>46194</c:v>
                </c:pt>
                <c:pt idx="327">
                  <c:v>46195</c:v>
                </c:pt>
                <c:pt idx="328">
                  <c:v>46196</c:v>
                </c:pt>
                <c:pt idx="329">
                  <c:v>46197</c:v>
                </c:pt>
                <c:pt idx="330">
                  <c:v>46198</c:v>
                </c:pt>
                <c:pt idx="331">
                  <c:v>46199</c:v>
                </c:pt>
                <c:pt idx="332">
                  <c:v>46200</c:v>
                </c:pt>
                <c:pt idx="333">
                  <c:v>46201</c:v>
                </c:pt>
                <c:pt idx="334">
                  <c:v>46202</c:v>
                </c:pt>
                <c:pt idx="335">
                  <c:v>46203</c:v>
                </c:pt>
                <c:pt idx="336">
                  <c:v>46204</c:v>
                </c:pt>
                <c:pt idx="337">
                  <c:v>46205</c:v>
                </c:pt>
                <c:pt idx="338">
                  <c:v>46206</c:v>
                </c:pt>
                <c:pt idx="339">
                  <c:v>46207</c:v>
                </c:pt>
                <c:pt idx="340">
                  <c:v>46208</c:v>
                </c:pt>
                <c:pt idx="341">
                  <c:v>46209</c:v>
                </c:pt>
                <c:pt idx="342">
                  <c:v>46210</c:v>
                </c:pt>
                <c:pt idx="343">
                  <c:v>46211</c:v>
                </c:pt>
                <c:pt idx="344">
                  <c:v>46212</c:v>
                </c:pt>
                <c:pt idx="345">
                  <c:v>46213</c:v>
                </c:pt>
                <c:pt idx="346">
                  <c:v>46214</c:v>
                </c:pt>
                <c:pt idx="347">
                  <c:v>46215</c:v>
                </c:pt>
                <c:pt idx="348">
                  <c:v>46216</c:v>
                </c:pt>
                <c:pt idx="349">
                  <c:v>46217</c:v>
                </c:pt>
                <c:pt idx="350">
                  <c:v>46218</c:v>
                </c:pt>
                <c:pt idx="351">
                  <c:v>46219</c:v>
                </c:pt>
                <c:pt idx="352">
                  <c:v>46220</c:v>
                </c:pt>
                <c:pt idx="353">
                  <c:v>46221</c:v>
                </c:pt>
                <c:pt idx="354">
                  <c:v>46222</c:v>
                </c:pt>
                <c:pt idx="355">
                  <c:v>46223</c:v>
                </c:pt>
                <c:pt idx="356">
                  <c:v>46224</c:v>
                </c:pt>
                <c:pt idx="357">
                  <c:v>46225</c:v>
                </c:pt>
                <c:pt idx="358">
                  <c:v>46226</c:v>
                </c:pt>
                <c:pt idx="359">
                  <c:v>46227</c:v>
                </c:pt>
                <c:pt idx="360">
                  <c:v>46228</c:v>
                </c:pt>
                <c:pt idx="361">
                  <c:v>46229</c:v>
                </c:pt>
                <c:pt idx="362">
                  <c:v>46230</c:v>
                </c:pt>
                <c:pt idx="363">
                  <c:v>46231</c:v>
                </c:pt>
                <c:pt idx="364">
                  <c:v>46232</c:v>
                </c:pt>
                <c:pt idx="365">
                  <c:v>46233</c:v>
                </c:pt>
                <c:pt idx="366">
                  <c:v>46234</c:v>
                </c:pt>
              </c:numCache>
            </c:numRef>
          </c:cat>
          <c:val>
            <c:numRef>
              <c:f>Frontpage_bank!$R$4:$R$370</c:f>
              <c:numCache>
                <c:formatCode>General</c:formatCode>
                <c:ptCount val="367"/>
                <c:pt idx="0">
                  <c:v>100</c:v>
                </c:pt>
                <c:pt idx="1">
                  <c:v>98.020735155513677</c:v>
                </c:pt>
                <c:pt idx="2">
                  <c:v>100.84825636192272</c:v>
                </c:pt>
                <c:pt idx="3">
                  <c:v>100.84825636192272</c:v>
                </c:pt>
                <c:pt idx="4">
                  <c:v>100.84825636192272</c:v>
                </c:pt>
                <c:pt idx="5">
                  <c:v>100.47125353440151</c:v>
                </c:pt>
                <c:pt idx="6">
                  <c:v>99.717247879359093</c:v>
                </c:pt>
                <c:pt idx="7">
                  <c:v>98.86899151743637</c:v>
                </c:pt>
                <c:pt idx="8">
                  <c:v>100.09425070688029</c:v>
                </c:pt>
                <c:pt idx="9">
                  <c:v>99.528746465598488</c:v>
                </c:pt>
                <c:pt idx="10">
                  <c:v>99.528746465598488</c:v>
                </c:pt>
                <c:pt idx="11">
                  <c:v>99.528746465598488</c:v>
                </c:pt>
                <c:pt idx="12">
                  <c:v>100.28275212064091</c:v>
                </c:pt>
                <c:pt idx="13">
                  <c:v>101.31950989632421</c:v>
                </c:pt>
                <c:pt idx="14">
                  <c:v>99.05749293119699</c:v>
                </c:pt>
                <c:pt idx="15">
                  <c:v>97.832233741753058</c:v>
                </c:pt>
                <c:pt idx="16">
                  <c:v>95.570216776625827</c:v>
                </c:pt>
                <c:pt idx="17">
                  <c:v>95.570216776625827</c:v>
                </c:pt>
                <c:pt idx="18">
                  <c:v>95.570216776625827</c:v>
                </c:pt>
                <c:pt idx="19">
                  <c:v>94.721960414703105</c:v>
                </c:pt>
                <c:pt idx="20">
                  <c:v>94.533459000942514</c:v>
                </c:pt>
                <c:pt idx="21">
                  <c:v>92.082940622054664</c:v>
                </c:pt>
                <c:pt idx="22">
                  <c:v>95.852968897266734</c:v>
                </c:pt>
                <c:pt idx="23">
                  <c:v>93.308199811498582</c:v>
                </c:pt>
                <c:pt idx="24">
                  <c:v>93.308199811498582</c:v>
                </c:pt>
                <c:pt idx="25">
                  <c:v>93.308199811498582</c:v>
                </c:pt>
                <c:pt idx="26">
                  <c:v>93.119698397737977</c:v>
                </c:pt>
                <c:pt idx="27">
                  <c:v>94.250706880301607</c:v>
                </c:pt>
                <c:pt idx="28">
                  <c:v>98.963242224316687</c:v>
                </c:pt>
                <c:pt idx="29">
                  <c:v>98.491988689915175</c:v>
                </c:pt>
                <c:pt idx="30">
                  <c:v>95.758718190386432</c:v>
                </c:pt>
                <c:pt idx="31">
                  <c:v>95.758718190386432</c:v>
                </c:pt>
                <c:pt idx="32">
                  <c:v>95.758718190386432</c:v>
                </c:pt>
                <c:pt idx="33">
                  <c:v>95.758718190386432</c:v>
                </c:pt>
                <c:pt idx="34">
                  <c:v>95.758718190386432</c:v>
                </c:pt>
                <c:pt idx="35">
                  <c:v>97.266729500471243</c:v>
                </c:pt>
                <c:pt idx="36">
                  <c:v>98.963242224316687</c:v>
                </c:pt>
                <c:pt idx="37">
                  <c:v>97.455230914231862</c:v>
                </c:pt>
                <c:pt idx="38">
                  <c:v>97.455230914231862</c:v>
                </c:pt>
                <c:pt idx="39">
                  <c:v>97.455230914231862</c:v>
                </c:pt>
                <c:pt idx="40">
                  <c:v>96.041470311027339</c:v>
                </c:pt>
                <c:pt idx="41">
                  <c:v>96.22997172478793</c:v>
                </c:pt>
                <c:pt idx="42">
                  <c:v>95.381715362865222</c:v>
                </c:pt>
                <c:pt idx="43">
                  <c:v>96.135721017907642</c:v>
                </c:pt>
                <c:pt idx="44">
                  <c:v>95.758718190386432</c:v>
                </c:pt>
                <c:pt idx="45">
                  <c:v>95.758718190386432</c:v>
                </c:pt>
                <c:pt idx="46">
                  <c:v>95.758718190386432</c:v>
                </c:pt>
                <c:pt idx="47">
                  <c:v>96.041470311027339</c:v>
                </c:pt>
                <c:pt idx="48">
                  <c:v>97.54948162111215</c:v>
                </c:pt>
                <c:pt idx="49">
                  <c:v>99.434495758718185</c:v>
                </c:pt>
                <c:pt idx="50">
                  <c:v>97.078228086710652</c:v>
                </c:pt>
                <c:pt idx="51">
                  <c:v>97.078228086710652</c:v>
                </c:pt>
                <c:pt idx="52">
                  <c:v>97.078228086710652</c:v>
                </c:pt>
                <c:pt idx="53">
                  <c:v>97.078228086710652</c:v>
                </c:pt>
                <c:pt idx="54">
                  <c:v>93.967954759660699</c:v>
                </c:pt>
                <c:pt idx="55">
                  <c:v>92.365692742695572</c:v>
                </c:pt>
                <c:pt idx="56">
                  <c:v>93.779453345900095</c:v>
                </c:pt>
                <c:pt idx="57">
                  <c:v>92.365692742695572</c:v>
                </c:pt>
                <c:pt idx="58">
                  <c:v>91.89443920829406</c:v>
                </c:pt>
                <c:pt idx="59">
                  <c:v>91.89443920829406</c:v>
                </c:pt>
                <c:pt idx="60">
                  <c:v>91.89443920829406</c:v>
                </c:pt>
                <c:pt idx="61">
                  <c:v>90.009425070688025</c:v>
                </c:pt>
                <c:pt idx="62">
                  <c:v>87.653157398680491</c:v>
                </c:pt>
                <c:pt idx="63">
                  <c:v>88.030160226201687</c:v>
                </c:pt>
                <c:pt idx="64">
                  <c:v>86.804901036757769</c:v>
                </c:pt>
                <c:pt idx="65">
                  <c:v>88.030160226201687</c:v>
                </c:pt>
                <c:pt idx="66">
                  <c:v>88.030160226201687</c:v>
                </c:pt>
                <c:pt idx="67">
                  <c:v>88.030160226201687</c:v>
                </c:pt>
                <c:pt idx="68">
                  <c:v>90.009425070688025</c:v>
                </c:pt>
                <c:pt idx="69">
                  <c:v>90.009425070688025</c:v>
                </c:pt>
                <c:pt idx="70">
                  <c:v>89.066918001885014</c:v>
                </c:pt>
                <c:pt idx="71">
                  <c:v>88.784165881244121</c:v>
                </c:pt>
                <c:pt idx="72">
                  <c:v>90.574929311969839</c:v>
                </c:pt>
                <c:pt idx="73">
                  <c:v>90.574929311969839</c:v>
                </c:pt>
                <c:pt idx="74">
                  <c:v>90.574929311969839</c:v>
                </c:pt>
                <c:pt idx="75">
                  <c:v>88.595664467483502</c:v>
                </c:pt>
                <c:pt idx="76">
                  <c:v>87.087653157398677</c:v>
                </c:pt>
                <c:pt idx="77">
                  <c:v>84.448633364750236</c:v>
                </c:pt>
                <c:pt idx="78">
                  <c:v>84.637134778510841</c:v>
                </c:pt>
                <c:pt idx="79">
                  <c:v>83.034872761545714</c:v>
                </c:pt>
                <c:pt idx="80">
                  <c:v>83.034872761545714</c:v>
                </c:pt>
                <c:pt idx="81">
                  <c:v>83.034872761545714</c:v>
                </c:pt>
                <c:pt idx="82">
                  <c:v>81.998114985862387</c:v>
                </c:pt>
                <c:pt idx="83">
                  <c:v>87.653157398680491</c:v>
                </c:pt>
                <c:pt idx="84">
                  <c:v>91.423185673892561</c:v>
                </c:pt>
                <c:pt idx="85">
                  <c:v>89.538171536286526</c:v>
                </c:pt>
                <c:pt idx="86">
                  <c:v>92.082940622054664</c:v>
                </c:pt>
                <c:pt idx="87">
                  <c:v>92.082940622054664</c:v>
                </c:pt>
                <c:pt idx="88">
                  <c:v>92.082940622054664</c:v>
                </c:pt>
                <c:pt idx="89">
                  <c:v>92.365692742695572</c:v>
                </c:pt>
                <c:pt idx="90">
                  <c:v>96.324222431668233</c:v>
                </c:pt>
                <c:pt idx="91">
                  <c:v>95.852968897266734</c:v>
                </c:pt>
                <c:pt idx="92">
                  <c:v>96.795475966069745</c:v>
                </c:pt>
                <c:pt idx="93">
                  <c:v>97.92648444863336</c:v>
                </c:pt>
                <c:pt idx="94">
                  <c:v>97.92648444863336</c:v>
                </c:pt>
                <c:pt idx="95">
                  <c:v>97.92648444863336</c:v>
                </c:pt>
                <c:pt idx="96">
                  <c:v>98.963242224316687</c:v>
                </c:pt>
                <c:pt idx="97">
                  <c:v>97.36098020735156</c:v>
                </c:pt>
                <c:pt idx="98">
                  <c:v>95.098963242224315</c:v>
                </c:pt>
                <c:pt idx="99">
                  <c:v>94.439208294062212</c:v>
                </c:pt>
                <c:pt idx="100">
                  <c:v>95.193213949104617</c:v>
                </c:pt>
                <c:pt idx="101">
                  <c:v>95.193213949104617</c:v>
                </c:pt>
                <c:pt idx="102">
                  <c:v>95.193213949104617</c:v>
                </c:pt>
                <c:pt idx="103">
                  <c:v>90.669180018850142</c:v>
                </c:pt>
                <c:pt idx="104">
                  <c:v>90.574929311969839</c:v>
                </c:pt>
                <c:pt idx="105">
                  <c:v>94.816211121583422</c:v>
                </c:pt>
                <c:pt idx="106">
                  <c:v>93.213949104618294</c:v>
                </c:pt>
                <c:pt idx="107">
                  <c:v>94.250706880301607</c:v>
                </c:pt>
                <c:pt idx="108">
                  <c:v>94.250706880301607</c:v>
                </c:pt>
                <c:pt idx="109">
                  <c:v>94.250706880301607</c:v>
                </c:pt>
                <c:pt idx="110">
                  <c:v>95.193213949104617</c:v>
                </c:pt>
                <c:pt idx="111">
                  <c:v>94.250706880301607</c:v>
                </c:pt>
                <c:pt idx="112">
                  <c:v>92.365692742695572</c:v>
                </c:pt>
                <c:pt idx="113">
                  <c:v>93.308199811498582</c:v>
                </c:pt>
                <c:pt idx="114">
                  <c:v>95.004712535344012</c:v>
                </c:pt>
                <c:pt idx="115">
                  <c:v>95.004712535344012</c:v>
                </c:pt>
                <c:pt idx="116">
                  <c:v>95.004712535344012</c:v>
                </c:pt>
                <c:pt idx="117">
                  <c:v>94.439208294062212</c:v>
                </c:pt>
                <c:pt idx="118">
                  <c:v>93.967954759660699</c:v>
                </c:pt>
                <c:pt idx="119">
                  <c:v>93.308199811498582</c:v>
                </c:pt>
                <c:pt idx="120">
                  <c:v>93.779453345900095</c:v>
                </c:pt>
                <c:pt idx="121">
                  <c:v>91.51743638077285</c:v>
                </c:pt>
                <c:pt idx="122">
                  <c:v>91.51743638077285</c:v>
                </c:pt>
                <c:pt idx="123">
                  <c:v>91.51743638077285</c:v>
                </c:pt>
                <c:pt idx="124">
                  <c:v>91.046182846371352</c:v>
                </c:pt>
                <c:pt idx="125">
                  <c:v>91.046182846371352</c:v>
                </c:pt>
                <c:pt idx="126">
                  <c:v>91.046182846371352</c:v>
                </c:pt>
                <c:pt idx="127">
                  <c:v>91.89443920829406</c:v>
                </c:pt>
                <c:pt idx="128">
                  <c:v>90.669180018850142</c:v>
                </c:pt>
                <c:pt idx="129">
                  <c:v>90.669180018850142</c:v>
                </c:pt>
                <c:pt idx="130">
                  <c:v>90.669180018850142</c:v>
                </c:pt>
                <c:pt idx="131">
                  <c:v>90.009425070688025</c:v>
                </c:pt>
                <c:pt idx="132">
                  <c:v>91.328934967012259</c:v>
                </c:pt>
                <c:pt idx="133">
                  <c:v>90.103675777568341</c:v>
                </c:pt>
                <c:pt idx="134">
                  <c:v>90.480678605089537</c:v>
                </c:pt>
                <c:pt idx="135">
                  <c:v>88.312912346842595</c:v>
                </c:pt>
                <c:pt idx="136">
                  <c:v>88.312912346842595</c:v>
                </c:pt>
                <c:pt idx="137">
                  <c:v>88.312912346842595</c:v>
                </c:pt>
                <c:pt idx="138">
                  <c:v>88.407163053722897</c:v>
                </c:pt>
                <c:pt idx="139">
                  <c:v>89.443920829406224</c:v>
                </c:pt>
                <c:pt idx="140">
                  <c:v>90.386427898209234</c:v>
                </c:pt>
                <c:pt idx="141">
                  <c:v>88.972667295004712</c:v>
                </c:pt>
                <c:pt idx="142">
                  <c:v>88.501413760603214</c:v>
                </c:pt>
                <c:pt idx="143">
                  <c:v>88.501413760603214</c:v>
                </c:pt>
                <c:pt idx="144">
                  <c:v>88.501413760603214</c:v>
                </c:pt>
                <c:pt idx="145">
                  <c:v>88.312912346842595</c:v>
                </c:pt>
                <c:pt idx="146">
                  <c:v>88.595664467483502</c:v>
                </c:pt>
                <c:pt idx="147">
                  <c:v>88.218661639962306</c:v>
                </c:pt>
                <c:pt idx="148">
                  <c:v>87.653157398680491</c:v>
                </c:pt>
                <c:pt idx="149">
                  <c:v>87.181903864278993</c:v>
                </c:pt>
                <c:pt idx="150">
                  <c:v>87.181903864278993</c:v>
                </c:pt>
                <c:pt idx="151">
                  <c:v>87.181903864278993</c:v>
                </c:pt>
                <c:pt idx="152">
                  <c:v>88.878416588124409</c:v>
                </c:pt>
                <c:pt idx="153">
                  <c:v>90.951932139491049</c:v>
                </c:pt>
                <c:pt idx="154">
                  <c:v>90.292177191328932</c:v>
                </c:pt>
                <c:pt idx="155">
                  <c:v>90.292177191328932</c:v>
                </c:pt>
                <c:pt idx="156">
                  <c:v>90.292177191328932</c:v>
                </c:pt>
                <c:pt idx="157">
                  <c:v>90.292177191328932</c:v>
                </c:pt>
                <c:pt idx="158">
                  <c:v>90.292177191328932</c:v>
                </c:pt>
                <c:pt idx="159">
                  <c:v>89.538171536286526</c:v>
                </c:pt>
                <c:pt idx="160">
                  <c:v>88.595664467483502</c:v>
                </c:pt>
                <c:pt idx="161">
                  <c:v>91.89443920829406</c:v>
                </c:pt>
                <c:pt idx="162">
                  <c:v>90.951932139491049</c:v>
                </c:pt>
                <c:pt idx="163">
                  <c:v>91.800188501413757</c:v>
                </c:pt>
                <c:pt idx="164">
                  <c:v>91.800188501413757</c:v>
                </c:pt>
                <c:pt idx="165">
                  <c:v>91.800188501413757</c:v>
                </c:pt>
                <c:pt idx="166">
                  <c:v>93.779453345900095</c:v>
                </c:pt>
                <c:pt idx="167">
                  <c:v>93.213949104618294</c:v>
                </c:pt>
                <c:pt idx="168">
                  <c:v>94.062205466541002</c:v>
                </c:pt>
                <c:pt idx="169">
                  <c:v>92.83694627709707</c:v>
                </c:pt>
                <c:pt idx="170">
                  <c:v>99.245994344957595</c:v>
                </c:pt>
                <c:pt idx="171">
                  <c:v>99.245994344957595</c:v>
                </c:pt>
                <c:pt idx="172">
                  <c:v>99.245994344957595</c:v>
                </c:pt>
                <c:pt idx="173">
                  <c:v>99.717247879359093</c:v>
                </c:pt>
                <c:pt idx="174">
                  <c:v>98.114985862393965</c:v>
                </c:pt>
                <c:pt idx="175">
                  <c:v>98.963242224316687</c:v>
                </c:pt>
                <c:pt idx="176">
                  <c:v>97.54948162111215</c:v>
                </c:pt>
                <c:pt idx="177">
                  <c:v>95.193213949104617</c:v>
                </c:pt>
                <c:pt idx="178">
                  <c:v>95.193213949104617</c:v>
                </c:pt>
                <c:pt idx="179">
                  <c:v>95.193213949104617</c:v>
                </c:pt>
                <c:pt idx="180">
                  <c:v>92.83694627709707</c:v>
                </c:pt>
                <c:pt idx="181">
                  <c:v>96.22997172478793</c:v>
                </c:pt>
                <c:pt idx="182">
                  <c:v>98.491988689915175</c:v>
                </c:pt>
                <c:pt idx="183">
                  <c:v>100</c:v>
                </c:pt>
                <c:pt idx="184">
                  <c:v>98.491988689915175</c:v>
                </c:pt>
                <c:pt idx="185">
                  <c:v>98.491988689915175</c:v>
                </c:pt>
                <c:pt idx="186">
                  <c:v>98.491988689915175</c:v>
                </c:pt>
                <c:pt idx="187">
                  <c:v>98.30348727615457</c:v>
                </c:pt>
                <c:pt idx="188">
                  <c:v>97.92648444863336</c:v>
                </c:pt>
                <c:pt idx="189">
                  <c:v>96.041470311027339</c:v>
                </c:pt>
                <c:pt idx="190">
                  <c:v>93.308199811498582</c:v>
                </c:pt>
                <c:pt idx="191">
                  <c:v>91.988689915174362</c:v>
                </c:pt>
                <c:pt idx="192">
                  <c:v>91.988689915174362</c:v>
                </c:pt>
                <c:pt idx="193">
                  <c:v>91.988689915174362</c:v>
                </c:pt>
                <c:pt idx="194">
                  <c:v>93.308199811498582</c:v>
                </c:pt>
                <c:pt idx="195">
                  <c:v>92.177191328934967</c:v>
                </c:pt>
                <c:pt idx="196">
                  <c:v>92.931196983977387</c:v>
                </c:pt>
                <c:pt idx="197">
                  <c:v>93.119698397737977</c:v>
                </c:pt>
                <c:pt idx="198">
                  <c:v>90.763430725730444</c:v>
                </c:pt>
                <c:pt idx="199">
                  <c:v>90.763430725730444</c:v>
                </c:pt>
                <c:pt idx="200">
                  <c:v>90.763430725730444</c:v>
                </c:pt>
                <c:pt idx="201">
                  <c:v>90.763430725730444</c:v>
                </c:pt>
                <c:pt idx="202">
                  <c:v>90.763430725730444</c:v>
                </c:pt>
                <c:pt idx="203">
                  <c:v>90.763430725730444</c:v>
                </c:pt>
                <c:pt idx="204">
                  <c:v>90.763430725730444</c:v>
                </c:pt>
                <c:pt idx="205">
                  <c:v>90.763430725730444</c:v>
                </c:pt>
                <c:pt idx="206">
                  <c:v>90.763430725730444</c:v>
                </c:pt>
                <c:pt idx="207">
                  <c:v>90.763430725730444</c:v>
                </c:pt>
                <c:pt idx="208">
                  <c:v>89.066918001885014</c:v>
                </c:pt>
                <c:pt idx="209">
                  <c:v>87.181903864278993</c:v>
                </c:pt>
                <c:pt idx="210">
                  <c:v>83.977379830348724</c:v>
                </c:pt>
                <c:pt idx="211">
                  <c:v>85.296889726672958</c:v>
                </c:pt>
                <c:pt idx="212">
                  <c:v>87.558906691800189</c:v>
                </c:pt>
                <c:pt idx="213">
                  <c:v>87.558906691800189</c:v>
                </c:pt>
                <c:pt idx="214">
                  <c:v>87.558906691800189</c:v>
                </c:pt>
                <c:pt idx="215">
                  <c:v>84.448633364750236</c:v>
                </c:pt>
                <c:pt idx="216">
                  <c:v>81.998114985862387</c:v>
                </c:pt>
                <c:pt idx="217">
                  <c:v>80.207351555136668</c:v>
                </c:pt>
                <c:pt idx="218">
                  <c:v>79.547596606974551</c:v>
                </c:pt>
                <c:pt idx="219">
                  <c:v>76.908576814326111</c:v>
                </c:pt>
                <c:pt idx="220">
                  <c:v>76.908576814326111</c:v>
                </c:pt>
                <c:pt idx="221">
                  <c:v>76.908576814326111</c:v>
                </c:pt>
                <c:pt idx="222">
                  <c:v>71.536286522148913</c:v>
                </c:pt>
                <c:pt idx="223">
                  <c:v>74.929311969839773</c:v>
                </c:pt>
                <c:pt idx="224">
                  <c:v>75.58906691800189</c:v>
                </c:pt>
                <c:pt idx="225">
                  <c:v>73.232799245994343</c:v>
                </c:pt>
                <c:pt idx="226">
                  <c:v>72.57304429783224</c:v>
                </c:pt>
                <c:pt idx="227">
                  <c:v>72.57304429783224</c:v>
                </c:pt>
                <c:pt idx="228">
                  <c:v>72.57304429783224</c:v>
                </c:pt>
                <c:pt idx="229">
                  <c:v>73.704052780395855</c:v>
                </c:pt>
                <c:pt idx="230">
                  <c:v>74.835061262959471</c:v>
                </c:pt>
                <c:pt idx="231">
                  <c:v>74.081055607917051</c:v>
                </c:pt>
                <c:pt idx="232">
                  <c:v>72.384542884071635</c:v>
                </c:pt>
                <c:pt idx="233">
                  <c:v>70.311027332704995</c:v>
                </c:pt>
                <c:pt idx="234">
                  <c:v>70.311027332704995</c:v>
                </c:pt>
                <c:pt idx="235">
                  <c:v>70.311027332704995</c:v>
                </c:pt>
                <c:pt idx="236">
                  <c:v>68.897266729500473</c:v>
                </c:pt>
                <c:pt idx="237">
                  <c:v>71.065032987747415</c:v>
                </c:pt>
                <c:pt idx="238">
                  <c:v>72.57304429783224</c:v>
                </c:pt>
                <c:pt idx="239">
                  <c:v>69.934024505183785</c:v>
                </c:pt>
                <c:pt idx="240">
                  <c:v>71.724787935909518</c:v>
                </c:pt>
                <c:pt idx="241">
                  <c:v>71.724787935909518</c:v>
                </c:pt>
                <c:pt idx="242">
                  <c:v>71.724787935909518</c:v>
                </c:pt>
                <c:pt idx="243">
                  <c:v>69.745523091423195</c:v>
                </c:pt>
                <c:pt idx="244">
                  <c:v>70.405278039585298</c:v>
                </c:pt>
                <c:pt idx="245">
                  <c:v>70.970782280867112</c:v>
                </c:pt>
                <c:pt idx="246">
                  <c:v>70.405278039585298</c:v>
                </c:pt>
                <c:pt idx="247">
                  <c:v>69.745523091423195</c:v>
                </c:pt>
                <c:pt idx="248">
                  <c:v>69.745523091423195</c:v>
                </c:pt>
                <c:pt idx="249">
                  <c:v>69.745523091423195</c:v>
                </c:pt>
                <c:pt idx="250">
                  <c:v>69.651272384542878</c:v>
                </c:pt>
                <c:pt idx="251">
                  <c:v>69.745523091423195</c:v>
                </c:pt>
                <c:pt idx="252">
                  <c:v>74.552309142318563</c:v>
                </c:pt>
                <c:pt idx="253">
                  <c:v>73.798303487276158</c:v>
                </c:pt>
                <c:pt idx="254">
                  <c:v>73.232799245994343</c:v>
                </c:pt>
                <c:pt idx="255">
                  <c:v>73.232799245994343</c:v>
                </c:pt>
                <c:pt idx="256">
                  <c:v>73.232799245994343</c:v>
                </c:pt>
                <c:pt idx="257">
                  <c:v>71.63053722902923</c:v>
                </c:pt>
                <c:pt idx="258">
                  <c:v>71.81903864278982</c:v>
                </c:pt>
                <c:pt idx="259">
                  <c:v>70.782280867106508</c:v>
                </c:pt>
                <c:pt idx="260">
                  <c:v>69.839773798303483</c:v>
                </c:pt>
                <c:pt idx="261">
                  <c:v>71.63053722902923</c:v>
                </c:pt>
                <c:pt idx="262">
                  <c:v>71.63053722902923</c:v>
                </c:pt>
                <c:pt idx="263">
                  <c:v>71.63053722902923</c:v>
                </c:pt>
                <c:pt idx="264">
                  <c:v>72.478793590951923</c:v>
                </c:pt>
                <c:pt idx="265">
                  <c:v>70.782280867106508</c:v>
                </c:pt>
                <c:pt idx="266">
                  <c:v>70.311027332704995</c:v>
                </c:pt>
                <c:pt idx="267">
                  <c:v>70.028275212064102</c:v>
                </c:pt>
                <c:pt idx="268">
                  <c:v>69.18001885014138</c:v>
                </c:pt>
                <c:pt idx="269">
                  <c:v>69.18001885014138</c:v>
                </c:pt>
                <c:pt idx="270">
                  <c:v>69.18001885014138</c:v>
                </c:pt>
                <c:pt idx="271">
                  <c:v>69.18001885014138</c:v>
                </c:pt>
                <c:pt idx="272">
                  <c:v>70.12252591894439</c:v>
                </c:pt>
                <c:pt idx="273">
                  <c:v>71.159283694627703</c:v>
                </c:pt>
                <c:pt idx="274">
                  <c:v>71.159283694627703</c:v>
                </c:pt>
                <c:pt idx="275">
                  <c:v>71.159283694627703</c:v>
                </c:pt>
                <c:pt idx="276">
                  <c:v>71.159283694627703</c:v>
                </c:pt>
                <c:pt idx="277">
                  <c:v>71.159283694627703</c:v>
                </c:pt>
                <c:pt idx="278">
                  <c:v>69.462770970782287</c:v>
                </c:pt>
                <c:pt idx="279">
                  <c:v>70.028275212064102</c:v>
                </c:pt>
                <c:pt idx="280">
                  <c:v>69.085768143261078</c:v>
                </c:pt>
                <c:pt idx="281">
                  <c:v>68.80301602262017</c:v>
                </c:pt>
                <c:pt idx="282">
                  <c:v>67.766258246936843</c:v>
                </c:pt>
                <c:pt idx="283">
                  <c:v>67.766258246936843</c:v>
                </c:pt>
                <c:pt idx="284">
                  <c:v>67.766258246936843</c:v>
                </c:pt>
                <c:pt idx="285">
                  <c:v>65.975494816211125</c:v>
                </c:pt>
                <c:pt idx="286">
                  <c:v>66.54099905749294</c:v>
                </c:pt>
                <c:pt idx="287">
                  <c:v>66.635249764373228</c:v>
                </c:pt>
                <c:pt idx="288">
                  <c:v>69.651272384542878</c:v>
                </c:pt>
                <c:pt idx="289">
                  <c:v>68.708765315739868</c:v>
                </c:pt>
                <c:pt idx="290">
                  <c:v>68.708765315739868</c:v>
                </c:pt>
                <c:pt idx="291">
                  <c:v>68.708765315739868</c:v>
                </c:pt>
                <c:pt idx="292">
                  <c:v>70.593779453345888</c:v>
                </c:pt>
                <c:pt idx="293">
                  <c:v>70.216776625824693</c:v>
                </c:pt>
                <c:pt idx="294">
                  <c:v>73.232799245994343</c:v>
                </c:pt>
                <c:pt idx="295">
                  <c:v>72.101790763430728</c:v>
                </c:pt>
                <c:pt idx="296">
                  <c:v>70.782280867106508</c:v>
                </c:pt>
                <c:pt idx="297">
                  <c:v>70.782280867106508</c:v>
                </c:pt>
                <c:pt idx="298">
                  <c:v>70.782280867106508</c:v>
                </c:pt>
                <c:pt idx="299">
                  <c:v>69.274269557021668</c:v>
                </c:pt>
                <c:pt idx="300">
                  <c:v>70.216776625824693</c:v>
                </c:pt>
                <c:pt idx="301">
                  <c:v>69.368520263901985</c:v>
                </c:pt>
                <c:pt idx="302">
                  <c:v>67.10650329877474</c:v>
                </c:pt>
                <c:pt idx="303">
                  <c:v>67.48350612629595</c:v>
                </c:pt>
                <c:pt idx="304">
                  <c:v>67.48350612629595</c:v>
                </c:pt>
                <c:pt idx="305">
                  <c:v>67.48350612629595</c:v>
                </c:pt>
                <c:pt idx="306">
                  <c:v>68.708765315739868</c:v>
                </c:pt>
                <c:pt idx="307">
                  <c:v>70.4995287464656</c:v>
                </c:pt>
                <c:pt idx="308">
                  <c:v>72.101790763430728</c:v>
                </c:pt>
                <c:pt idx="309">
                  <c:v>71.724787935909518</c:v>
                </c:pt>
                <c:pt idx="310">
                  <c:v>70.688030160226205</c:v>
                </c:pt>
                <c:pt idx="311">
                  <c:v>70.688030160226205</c:v>
                </c:pt>
                <c:pt idx="312">
                  <c:v>70.688030160226205</c:v>
                </c:pt>
                <c:pt idx="313">
                  <c:v>68.708765315739868</c:v>
                </c:pt>
                <c:pt idx="314">
                  <c:v>69.462770970782287</c:v>
                </c:pt>
                <c:pt idx="315">
                  <c:v>69.934024505183785</c:v>
                </c:pt>
                <c:pt idx="316">
                  <c:v>68.897266729500473</c:v>
                </c:pt>
                <c:pt idx="317">
                  <c:v>69.274269557021668</c:v>
                </c:pt>
                <c:pt idx="318">
                  <c:v>69.274269557021668</c:v>
                </c:pt>
                <c:pt idx="319">
                  <c:v>69.274269557021668</c:v>
                </c:pt>
                <c:pt idx="320">
                  <c:v>69.368520263901985</c:v>
                </c:pt>
                <c:pt idx="321">
                  <c:v>68.991517436380775</c:v>
                </c:pt>
                <c:pt idx="322">
                  <c:v>68.143261074458067</c:v>
                </c:pt>
                <c:pt idx="323">
                  <c:v>67.48350612629595</c:v>
                </c:pt>
                <c:pt idx="324">
                  <c:v>67.389255419415647</c:v>
                </c:pt>
                <c:pt idx="325">
                  <c:v>67.389255419415647</c:v>
                </c:pt>
                <c:pt idx="326">
                  <c:v>67.389255419415647</c:v>
                </c:pt>
                <c:pt idx="327">
                  <c:v>66.54099905749294</c:v>
                </c:pt>
                <c:pt idx="328">
                  <c:v>66.72950047125353</c:v>
                </c:pt>
                <c:pt idx="329">
                  <c:v>66.72950047125353</c:v>
                </c:pt>
                <c:pt idx="330">
                  <c:v>66.918001885014135</c:v>
                </c:pt>
                <c:pt idx="331">
                  <c:v>66.72950047125353</c:v>
                </c:pt>
                <c:pt idx="332">
                  <c:v>66.72950047125353</c:v>
                </c:pt>
                <c:pt idx="333">
                  <c:v>66.72950047125353</c:v>
                </c:pt>
                <c:pt idx="334">
                  <c:v>66.352497643732335</c:v>
                </c:pt>
                <c:pt idx="335">
                  <c:v>66.163996229971715</c:v>
                </c:pt>
                <c:pt idx="336">
                  <c:v>68.708765315739868</c:v>
                </c:pt>
                <c:pt idx="337">
                  <c:v>68.331762488218658</c:v>
                </c:pt>
                <c:pt idx="338">
                  <c:v>68.143261074458067</c:v>
                </c:pt>
                <c:pt idx="339">
                  <c:v>68.143261074458067</c:v>
                </c:pt>
                <c:pt idx="340">
                  <c:v>68.143261074458067</c:v>
                </c:pt>
                <c:pt idx="341">
                  <c:v>68.80301602262017</c:v>
                </c:pt>
                <c:pt idx="342">
                  <c:v>68.991517436380775</c:v>
                </c:pt>
                <c:pt idx="343">
                  <c:v>67.954759660697448</c:v>
                </c:pt>
                <c:pt idx="344">
                  <c:v>67.954759660697448</c:v>
                </c:pt>
                <c:pt idx="345">
                  <c:v>66.54099905749294</c:v>
                </c:pt>
                <c:pt idx="346">
                  <c:v>66.54099905749294</c:v>
                </c:pt>
                <c:pt idx="347">
                  <c:v>66.54099905749294</c:v>
                </c:pt>
                <c:pt idx="348">
                  <c:v>66.446748350612623</c:v>
                </c:pt>
                <c:pt idx="349">
                  <c:v>66.258246936852032</c:v>
                </c:pt>
                <c:pt idx="350">
                  <c:v>62.959472196041467</c:v>
                </c:pt>
                <c:pt idx="351">
                  <c:v>64.09048067860509</c:v>
                </c:pt>
                <c:pt idx="352">
                  <c:v>63.147973609802079</c:v>
                </c:pt>
                <c:pt idx="353">
                  <c:v>63.147973609802079</c:v>
                </c:pt>
                <c:pt idx="354">
                  <c:v>63.147973609802079</c:v>
                </c:pt>
                <c:pt idx="355">
                  <c:v>63.242224316682375</c:v>
                </c:pt>
                <c:pt idx="356">
                  <c:v>61.074458058435447</c:v>
                </c:pt>
                <c:pt idx="357">
                  <c:v>60.885956644674835</c:v>
                </c:pt>
                <c:pt idx="358">
                  <c:v>60.980207351555137</c:v>
                </c:pt>
                <c:pt idx="359">
                  <c:v>59.283694627709707</c:v>
                </c:pt>
                <c:pt idx="360">
                  <c:v>59.283694627709707</c:v>
                </c:pt>
                <c:pt idx="361">
                  <c:v>59.283694627709707</c:v>
                </c:pt>
                <c:pt idx="362">
                  <c:v>58.623939679547597</c:v>
                </c:pt>
                <c:pt idx="363">
                  <c:v>59.377945334590009</c:v>
                </c:pt>
                <c:pt idx="364">
                  <c:v>61.35721017907634</c:v>
                </c:pt>
                <c:pt idx="365">
                  <c:v>63.147973609802079</c:v>
                </c:pt>
                <c:pt idx="366">
                  <c:v>63.242224316682375</c:v>
                </c:pt>
              </c:numCache>
            </c:numRef>
          </c:val>
          <c:smooth val="1"/>
          <c:extLst>
            <c:ext xmlns:c16="http://schemas.microsoft.com/office/drawing/2014/chart" uri="{C3380CC4-5D6E-409C-BE32-E72D297353CC}">
              <c16:uniqueId val="{00000001-C186-4C75-804F-1783DD582323}"/>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a:pPr>
                <a:r>
                  <a:rPr lang="en-US"/>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scaling>
        <c:delete val="0"/>
        <c:axPos val="l"/>
        <c:numFmt formatCode="General" sourceLinked="1"/>
        <c:majorTickMark val="none"/>
        <c:minorTickMark val="none"/>
        <c:tickLblPos val="nextTo"/>
        <c:spPr>
          <a:noFill/>
          <a:ln>
            <a:no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7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3739319576183659E-2"/>
          <c:y val="0.1419296226020994"/>
          <c:w val="0.89025805236940847"/>
          <c:h val="0.74606368805036205"/>
        </c:manualLayout>
      </c:layout>
      <c:lineChart>
        <c:grouping val="standard"/>
        <c:varyColors val="0"/>
        <c:ser>
          <c:idx val="0"/>
          <c:order val="0"/>
          <c:tx>
            <c:strRef>
              <c:f>Frontpage_bank!$Q$1</c:f>
              <c:strCache>
                <c:ptCount val="1"/>
                <c:pt idx="0">
                  <c:v>VN-Index</c:v>
                </c:pt>
              </c:strCache>
            </c:strRef>
          </c:tx>
          <c:spPr>
            <a:ln w="12700" cap="rnd">
              <a:solidFill>
                <a:srgbClr val="002060"/>
              </a:solidFill>
              <a:round/>
            </a:ln>
            <a:effectLst/>
          </c:spPr>
          <c:marker>
            <c:symbol val="none"/>
          </c:marker>
          <c:cat>
            <c:numRef>
              <c:f>Frontpage_bank!$N$4:$N$370</c:f>
              <c:numCache>
                <c:formatCode>m/d/yyyy</c:formatCode>
                <c:ptCount val="367"/>
                <c:pt idx="0">
                  <c:v>45868</c:v>
                </c:pt>
                <c:pt idx="1">
                  <c:v>45869</c:v>
                </c:pt>
                <c:pt idx="2">
                  <c:v>45870</c:v>
                </c:pt>
                <c:pt idx="3">
                  <c:v>45871</c:v>
                </c:pt>
                <c:pt idx="4">
                  <c:v>45872</c:v>
                </c:pt>
                <c:pt idx="5">
                  <c:v>45873</c:v>
                </c:pt>
                <c:pt idx="6">
                  <c:v>45874</c:v>
                </c:pt>
                <c:pt idx="7">
                  <c:v>45875</c:v>
                </c:pt>
                <c:pt idx="8">
                  <c:v>45876</c:v>
                </c:pt>
                <c:pt idx="9">
                  <c:v>45877</c:v>
                </c:pt>
                <c:pt idx="10">
                  <c:v>45878</c:v>
                </c:pt>
                <c:pt idx="11">
                  <c:v>45879</c:v>
                </c:pt>
                <c:pt idx="12">
                  <c:v>45880</c:v>
                </c:pt>
                <c:pt idx="13">
                  <c:v>45881</c:v>
                </c:pt>
                <c:pt idx="14">
                  <c:v>45882</c:v>
                </c:pt>
                <c:pt idx="15">
                  <c:v>45883</c:v>
                </c:pt>
                <c:pt idx="16">
                  <c:v>45884</c:v>
                </c:pt>
                <c:pt idx="17">
                  <c:v>45885</c:v>
                </c:pt>
                <c:pt idx="18">
                  <c:v>45886</c:v>
                </c:pt>
                <c:pt idx="19">
                  <c:v>45887</c:v>
                </c:pt>
                <c:pt idx="20">
                  <c:v>45888</c:v>
                </c:pt>
                <c:pt idx="21">
                  <c:v>45889</c:v>
                </c:pt>
                <c:pt idx="22">
                  <c:v>45890</c:v>
                </c:pt>
                <c:pt idx="23">
                  <c:v>45891</c:v>
                </c:pt>
                <c:pt idx="24">
                  <c:v>45892</c:v>
                </c:pt>
                <c:pt idx="25">
                  <c:v>45893</c:v>
                </c:pt>
                <c:pt idx="26">
                  <c:v>45894</c:v>
                </c:pt>
                <c:pt idx="27">
                  <c:v>45895</c:v>
                </c:pt>
                <c:pt idx="28">
                  <c:v>45896</c:v>
                </c:pt>
                <c:pt idx="29">
                  <c:v>45897</c:v>
                </c:pt>
                <c:pt idx="30">
                  <c:v>45898</c:v>
                </c:pt>
                <c:pt idx="31">
                  <c:v>45899</c:v>
                </c:pt>
                <c:pt idx="32">
                  <c:v>45900</c:v>
                </c:pt>
                <c:pt idx="33">
                  <c:v>45901</c:v>
                </c:pt>
                <c:pt idx="34">
                  <c:v>45902</c:v>
                </c:pt>
                <c:pt idx="35">
                  <c:v>45903</c:v>
                </c:pt>
                <c:pt idx="36">
                  <c:v>45904</c:v>
                </c:pt>
                <c:pt idx="37">
                  <c:v>45905</c:v>
                </c:pt>
                <c:pt idx="38">
                  <c:v>45906</c:v>
                </c:pt>
                <c:pt idx="39">
                  <c:v>45907</c:v>
                </c:pt>
                <c:pt idx="40">
                  <c:v>45908</c:v>
                </c:pt>
                <c:pt idx="41">
                  <c:v>45909</c:v>
                </c:pt>
                <c:pt idx="42">
                  <c:v>45910</c:v>
                </c:pt>
                <c:pt idx="43">
                  <c:v>45911</c:v>
                </c:pt>
                <c:pt idx="44">
                  <c:v>45912</c:v>
                </c:pt>
                <c:pt idx="45">
                  <c:v>45913</c:v>
                </c:pt>
                <c:pt idx="46">
                  <c:v>45914</c:v>
                </c:pt>
                <c:pt idx="47">
                  <c:v>45915</c:v>
                </c:pt>
                <c:pt idx="48">
                  <c:v>45916</c:v>
                </c:pt>
                <c:pt idx="49">
                  <c:v>45917</c:v>
                </c:pt>
                <c:pt idx="50">
                  <c:v>45918</c:v>
                </c:pt>
                <c:pt idx="51">
                  <c:v>45919</c:v>
                </c:pt>
                <c:pt idx="52">
                  <c:v>45920</c:v>
                </c:pt>
                <c:pt idx="53">
                  <c:v>45921</c:v>
                </c:pt>
                <c:pt idx="54">
                  <c:v>45922</c:v>
                </c:pt>
                <c:pt idx="55">
                  <c:v>45923</c:v>
                </c:pt>
                <c:pt idx="56">
                  <c:v>45924</c:v>
                </c:pt>
                <c:pt idx="57">
                  <c:v>45925</c:v>
                </c:pt>
                <c:pt idx="58">
                  <c:v>45926</c:v>
                </c:pt>
                <c:pt idx="59">
                  <c:v>45927</c:v>
                </c:pt>
                <c:pt idx="60">
                  <c:v>45928</c:v>
                </c:pt>
                <c:pt idx="61">
                  <c:v>45929</c:v>
                </c:pt>
                <c:pt idx="62">
                  <c:v>45930</c:v>
                </c:pt>
                <c:pt idx="63">
                  <c:v>45931</c:v>
                </c:pt>
                <c:pt idx="64">
                  <c:v>45932</c:v>
                </c:pt>
                <c:pt idx="65">
                  <c:v>45933</c:v>
                </c:pt>
                <c:pt idx="66">
                  <c:v>45934</c:v>
                </c:pt>
                <c:pt idx="67">
                  <c:v>45935</c:v>
                </c:pt>
                <c:pt idx="68">
                  <c:v>45936</c:v>
                </c:pt>
                <c:pt idx="69">
                  <c:v>45937</c:v>
                </c:pt>
                <c:pt idx="70">
                  <c:v>45938</c:v>
                </c:pt>
                <c:pt idx="71">
                  <c:v>45939</c:v>
                </c:pt>
                <c:pt idx="72">
                  <c:v>45940</c:v>
                </c:pt>
                <c:pt idx="73">
                  <c:v>45941</c:v>
                </c:pt>
                <c:pt idx="74">
                  <c:v>45942</c:v>
                </c:pt>
                <c:pt idx="75">
                  <c:v>45943</c:v>
                </c:pt>
                <c:pt idx="76">
                  <c:v>45944</c:v>
                </c:pt>
                <c:pt idx="77">
                  <c:v>45945</c:v>
                </c:pt>
                <c:pt idx="78">
                  <c:v>45946</c:v>
                </c:pt>
                <c:pt idx="79">
                  <c:v>45947</c:v>
                </c:pt>
                <c:pt idx="80">
                  <c:v>45948</c:v>
                </c:pt>
                <c:pt idx="81">
                  <c:v>45949</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45962</c:v>
                </c:pt>
                <c:pt idx="95">
                  <c:v>45963</c:v>
                </c:pt>
                <c:pt idx="96">
                  <c:v>45964</c:v>
                </c:pt>
                <c:pt idx="97">
                  <c:v>45965</c:v>
                </c:pt>
                <c:pt idx="98">
                  <c:v>45966</c:v>
                </c:pt>
                <c:pt idx="99">
                  <c:v>45967</c:v>
                </c:pt>
                <c:pt idx="100">
                  <c:v>45968</c:v>
                </c:pt>
                <c:pt idx="101">
                  <c:v>45969</c:v>
                </c:pt>
                <c:pt idx="102">
                  <c:v>45970</c:v>
                </c:pt>
                <c:pt idx="103">
                  <c:v>45971</c:v>
                </c:pt>
                <c:pt idx="104">
                  <c:v>45972</c:v>
                </c:pt>
                <c:pt idx="105">
                  <c:v>45973</c:v>
                </c:pt>
                <c:pt idx="106">
                  <c:v>45974</c:v>
                </c:pt>
                <c:pt idx="107">
                  <c:v>45975</c:v>
                </c:pt>
                <c:pt idx="108">
                  <c:v>45976</c:v>
                </c:pt>
                <c:pt idx="109">
                  <c:v>45977</c:v>
                </c:pt>
                <c:pt idx="110">
                  <c:v>45978</c:v>
                </c:pt>
                <c:pt idx="111">
                  <c:v>45979</c:v>
                </c:pt>
                <c:pt idx="112">
                  <c:v>45980</c:v>
                </c:pt>
                <c:pt idx="113">
                  <c:v>45981</c:v>
                </c:pt>
                <c:pt idx="114">
                  <c:v>45982</c:v>
                </c:pt>
                <c:pt idx="115">
                  <c:v>45983</c:v>
                </c:pt>
                <c:pt idx="116">
                  <c:v>45984</c:v>
                </c:pt>
                <c:pt idx="117">
                  <c:v>45985</c:v>
                </c:pt>
                <c:pt idx="118">
                  <c:v>45986</c:v>
                </c:pt>
                <c:pt idx="119">
                  <c:v>45987</c:v>
                </c:pt>
                <c:pt idx="120">
                  <c:v>45988</c:v>
                </c:pt>
                <c:pt idx="121">
                  <c:v>45989</c:v>
                </c:pt>
                <c:pt idx="122">
                  <c:v>45990</c:v>
                </c:pt>
                <c:pt idx="123">
                  <c:v>45991</c:v>
                </c:pt>
                <c:pt idx="124">
                  <c:v>45992</c:v>
                </c:pt>
                <c:pt idx="125">
                  <c:v>45993</c:v>
                </c:pt>
                <c:pt idx="126">
                  <c:v>45994</c:v>
                </c:pt>
                <c:pt idx="127">
                  <c:v>45995</c:v>
                </c:pt>
                <c:pt idx="128">
                  <c:v>45996</c:v>
                </c:pt>
                <c:pt idx="129">
                  <c:v>45997</c:v>
                </c:pt>
                <c:pt idx="130">
                  <c:v>45998</c:v>
                </c:pt>
                <c:pt idx="131">
                  <c:v>45999</c:v>
                </c:pt>
                <c:pt idx="132">
                  <c:v>46000</c:v>
                </c:pt>
                <c:pt idx="133">
                  <c:v>46001</c:v>
                </c:pt>
                <c:pt idx="134">
                  <c:v>46002</c:v>
                </c:pt>
                <c:pt idx="135">
                  <c:v>46003</c:v>
                </c:pt>
                <c:pt idx="136">
                  <c:v>46004</c:v>
                </c:pt>
                <c:pt idx="137">
                  <c:v>46005</c:v>
                </c:pt>
                <c:pt idx="138">
                  <c:v>46006</c:v>
                </c:pt>
                <c:pt idx="139">
                  <c:v>46007</c:v>
                </c:pt>
                <c:pt idx="140">
                  <c:v>46008</c:v>
                </c:pt>
                <c:pt idx="141">
                  <c:v>46009</c:v>
                </c:pt>
                <c:pt idx="142">
                  <c:v>46010</c:v>
                </c:pt>
                <c:pt idx="143">
                  <c:v>46011</c:v>
                </c:pt>
                <c:pt idx="144">
                  <c:v>46012</c:v>
                </c:pt>
                <c:pt idx="145">
                  <c:v>46013</c:v>
                </c:pt>
                <c:pt idx="146">
                  <c:v>46014</c:v>
                </c:pt>
                <c:pt idx="147">
                  <c:v>46015</c:v>
                </c:pt>
                <c:pt idx="148">
                  <c:v>46016</c:v>
                </c:pt>
                <c:pt idx="149">
                  <c:v>46017</c:v>
                </c:pt>
                <c:pt idx="150">
                  <c:v>46018</c:v>
                </c:pt>
                <c:pt idx="151">
                  <c:v>46019</c:v>
                </c:pt>
                <c:pt idx="152">
                  <c:v>46020</c:v>
                </c:pt>
                <c:pt idx="153">
                  <c:v>46021</c:v>
                </c:pt>
                <c:pt idx="154">
                  <c:v>46022</c:v>
                </c:pt>
                <c:pt idx="155">
                  <c:v>46023</c:v>
                </c:pt>
                <c:pt idx="156">
                  <c:v>46024</c:v>
                </c:pt>
                <c:pt idx="157">
                  <c:v>46025</c:v>
                </c:pt>
                <c:pt idx="158">
                  <c:v>46026</c:v>
                </c:pt>
                <c:pt idx="159">
                  <c:v>46027</c:v>
                </c:pt>
                <c:pt idx="160">
                  <c:v>46028</c:v>
                </c:pt>
                <c:pt idx="161">
                  <c:v>46029</c:v>
                </c:pt>
                <c:pt idx="162">
                  <c:v>46030</c:v>
                </c:pt>
                <c:pt idx="163">
                  <c:v>46031</c:v>
                </c:pt>
                <c:pt idx="164">
                  <c:v>46032</c:v>
                </c:pt>
                <c:pt idx="165">
                  <c:v>46033</c:v>
                </c:pt>
                <c:pt idx="166">
                  <c:v>46034</c:v>
                </c:pt>
                <c:pt idx="167">
                  <c:v>46035</c:v>
                </c:pt>
                <c:pt idx="168">
                  <c:v>46036</c:v>
                </c:pt>
                <c:pt idx="169">
                  <c:v>46037</c:v>
                </c:pt>
                <c:pt idx="170">
                  <c:v>46038</c:v>
                </c:pt>
                <c:pt idx="171">
                  <c:v>46039</c:v>
                </c:pt>
                <c:pt idx="172">
                  <c:v>46040</c:v>
                </c:pt>
                <c:pt idx="173">
                  <c:v>46041</c:v>
                </c:pt>
                <c:pt idx="174">
                  <c:v>46042</c:v>
                </c:pt>
                <c:pt idx="175">
                  <c:v>46043</c:v>
                </c:pt>
                <c:pt idx="176">
                  <c:v>46044</c:v>
                </c:pt>
                <c:pt idx="177">
                  <c:v>46045</c:v>
                </c:pt>
                <c:pt idx="178">
                  <c:v>46046</c:v>
                </c:pt>
                <c:pt idx="179">
                  <c:v>46047</c:v>
                </c:pt>
                <c:pt idx="180">
                  <c:v>46048</c:v>
                </c:pt>
                <c:pt idx="181">
                  <c:v>46049</c:v>
                </c:pt>
                <c:pt idx="182">
                  <c:v>46050</c:v>
                </c:pt>
                <c:pt idx="183">
                  <c:v>46051</c:v>
                </c:pt>
                <c:pt idx="184">
                  <c:v>46052</c:v>
                </c:pt>
                <c:pt idx="185">
                  <c:v>46053</c:v>
                </c:pt>
                <c:pt idx="186">
                  <c:v>46054</c:v>
                </c:pt>
                <c:pt idx="187">
                  <c:v>46055</c:v>
                </c:pt>
                <c:pt idx="188">
                  <c:v>46056</c:v>
                </c:pt>
                <c:pt idx="189">
                  <c:v>46057</c:v>
                </c:pt>
                <c:pt idx="190">
                  <c:v>46058</c:v>
                </c:pt>
                <c:pt idx="191">
                  <c:v>46059</c:v>
                </c:pt>
                <c:pt idx="192">
                  <c:v>46060</c:v>
                </c:pt>
                <c:pt idx="193">
                  <c:v>46061</c:v>
                </c:pt>
                <c:pt idx="194">
                  <c:v>46062</c:v>
                </c:pt>
                <c:pt idx="195">
                  <c:v>46063</c:v>
                </c:pt>
                <c:pt idx="196">
                  <c:v>46064</c:v>
                </c:pt>
                <c:pt idx="197">
                  <c:v>46065</c:v>
                </c:pt>
                <c:pt idx="198">
                  <c:v>46066</c:v>
                </c:pt>
                <c:pt idx="199">
                  <c:v>46067</c:v>
                </c:pt>
                <c:pt idx="200">
                  <c:v>46068</c:v>
                </c:pt>
                <c:pt idx="201">
                  <c:v>46069</c:v>
                </c:pt>
                <c:pt idx="202">
                  <c:v>46070</c:v>
                </c:pt>
                <c:pt idx="203">
                  <c:v>46071</c:v>
                </c:pt>
                <c:pt idx="204">
                  <c:v>46072</c:v>
                </c:pt>
                <c:pt idx="205">
                  <c:v>46073</c:v>
                </c:pt>
                <c:pt idx="206">
                  <c:v>46074</c:v>
                </c:pt>
                <c:pt idx="207">
                  <c:v>46075</c:v>
                </c:pt>
                <c:pt idx="208">
                  <c:v>46076</c:v>
                </c:pt>
                <c:pt idx="209">
                  <c:v>46077</c:v>
                </c:pt>
                <c:pt idx="210">
                  <c:v>46078</c:v>
                </c:pt>
                <c:pt idx="211">
                  <c:v>46079</c:v>
                </c:pt>
                <c:pt idx="212">
                  <c:v>46080</c:v>
                </c:pt>
                <c:pt idx="213">
                  <c:v>46081</c:v>
                </c:pt>
                <c:pt idx="214">
                  <c:v>46082</c:v>
                </c:pt>
                <c:pt idx="215">
                  <c:v>46083</c:v>
                </c:pt>
                <c:pt idx="216">
                  <c:v>46084</c:v>
                </c:pt>
                <c:pt idx="217">
                  <c:v>46085</c:v>
                </c:pt>
                <c:pt idx="218">
                  <c:v>46086</c:v>
                </c:pt>
                <c:pt idx="219">
                  <c:v>46087</c:v>
                </c:pt>
                <c:pt idx="220">
                  <c:v>46088</c:v>
                </c:pt>
                <c:pt idx="221">
                  <c:v>46089</c:v>
                </c:pt>
                <c:pt idx="222">
                  <c:v>46090</c:v>
                </c:pt>
                <c:pt idx="223">
                  <c:v>46091</c:v>
                </c:pt>
                <c:pt idx="224">
                  <c:v>46092</c:v>
                </c:pt>
                <c:pt idx="225">
                  <c:v>46093</c:v>
                </c:pt>
                <c:pt idx="226">
                  <c:v>46094</c:v>
                </c:pt>
                <c:pt idx="227">
                  <c:v>46095</c:v>
                </c:pt>
                <c:pt idx="228">
                  <c:v>46096</c:v>
                </c:pt>
                <c:pt idx="229">
                  <c:v>46097</c:v>
                </c:pt>
                <c:pt idx="230">
                  <c:v>46098</c:v>
                </c:pt>
                <c:pt idx="231">
                  <c:v>46099</c:v>
                </c:pt>
                <c:pt idx="232">
                  <c:v>46100</c:v>
                </c:pt>
                <c:pt idx="233">
                  <c:v>46101</c:v>
                </c:pt>
                <c:pt idx="234">
                  <c:v>46102</c:v>
                </c:pt>
                <c:pt idx="235">
                  <c:v>46103</c:v>
                </c:pt>
                <c:pt idx="236">
                  <c:v>46104</c:v>
                </c:pt>
                <c:pt idx="237">
                  <c:v>46105</c:v>
                </c:pt>
                <c:pt idx="238">
                  <c:v>46106</c:v>
                </c:pt>
                <c:pt idx="239">
                  <c:v>46107</c:v>
                </c:pt>
                <c:pt idx="240">
                  <c:v>46108</c:v>
                </c:pt>
                <c:pt idx="241">
                  <c:v>46109</c:v>
                </c:pt>
                <c:pt idx="242">
                  <c:v>46110</c:v>
                </c:pt>
                <c:pt idx="243">
                  <c:v>46111</c:v>
                </c:pt>
                <c:pt idx="244">
                  <c:v>46112</c:v>
                </c:pt>
                <c:pt idx="245">
                  <c:v>46113</c:v>
                </c:pt>
                <c:pt idx="246">
                  <c:v>46114</c:v>
                </c:pt>
                <c:pt idx="247">
                  <c:v>46115</c:v>
                </c:pt>
                <c:pt idx="248">
                  <c:v>46116</c:v>
                </c:pt>
                <c:pt idx="249">
                  <c:v>46117</c:v>
                </c:pt>
                <c:pt idx="250">
                  <c:v>46118</c:v>
                </c:pt>
                <c:pt idx="251">
                  <c:v>46119</c:v>
                </c:pt>
                <c:pt idx="252">
                  <c:v>46120</c:v>
                </c:pt>
                <c:pt idx="253">
                  <c:v>46121</c:v>
                </c:pt>
                <c:pt idx="254">
                  <c:v>46122</c:v>
                </c:pt>
                <c:pt idx="255">
                  <c:v>46123</c:v>
                </c:pt>
                <c:pt idx="256">
                  <c:v>46124</c:v>
                </c:pt>
                <c:pt idx="257">
                  <c:v>46125</c:v>
                </c:pt>
                <c:pt idx="258">
                  <c:v>46126</c:v>
                </c:pt>
                <c:pt idx="259">
                  <c:v>46127</c:v>
                </c:pt>
                <c:pt idx="260">
                  <c:v>46128</c:v>
                </c:pt>
                <c:pt idx="261">
                  <c:v>46129</c:v>
                </c:pt>
                <c:pt idx="262">
                  <c:v>46130</c:v>
                </c:pt>
                <c:pt idx="263">
                  <c:v>46131</c:v>
                </c:pt>
                <c:pt idx="264">
                  <c:v>46132</c:v>
                </c:pt>
                <c:pt idx="265">
                  <c:v>46133</c:v>
                </c:pt>
                <c:pt idx="266">
                  <c:v>46134</c:v>
                </c:pt>
                <c:pt idx="267">
                  <c:v>46135</c:v>
                </c:pt>
                <c:pt idx="268">
                  <c:v>46136</c:v>
                </c:pt>
                <c:pt idx="269">
                  <c:v>46137</c:v>
                </c:pt>
                <c:pt idx="270">
                  <c:v>46138</c:v>
                </c:pt>
                <c:pt idx="271">
                  <c:v>46139</c:v>
                </c:pt>
                <c:pt idx="272">
                  <c:v>46140</c:v>
                </c:pt>
                <c:pt idx="273">
                  <c:v>46141</c:v>
                </c:pt>
                <c:pt idx="274">
                  <c:v>46142</c:v>
                </c:pt>
                <c:pt idx="275">
                  <c:v>46143</c:v>
                </c:pt>
                <c:pt idx="276">
                  <c:v>46144</c:v>
                </c:pt>
                <c:pt idx="277">
                  <c:v>46145</c:v>
                </c:pt>
                <c:pt idx="278">
                  <c:v>46146</c:v>
                </c:pt>
                <c:pt idx="279">
                  <c:v>46147</c:v>
                </c:pt>
                <c:pt idx="280">
                  <c:v>46148</c:v>
                </c:pt>
                <c:pt idx="281">
                  <c:v>46149</c:v>
                </c:pt>
                <c:pt idx="282">
                  <c:v>46150</c:v>
                </c:pt>
                <c:pt idx="283">
                  <c:v>46151</c:v>
                </c:pt>
                <c:pt idx="284">
                  <c:v>46152</c:v>
                </c:pt>
                <c:pt idx="285">
                  <c:v>46153</c:v>
                </c:pt>
                <c:pt idx="286">
                  <c:v>46154</c:v>
                </c:pt>
                <c:pt idx="287">
                  <c:v>46155</c:v>
                </c:pt>
                <c:pt idx="288">
                  <c:v>46156</c:v>
                </c:pt>
                <c:pt idx="289">
                  <c:v>46157</c:v>
                </c:pt>
                <c:pt idx="290">
                  <c:v>46158</c:v>
                </c:pt>
                <c:pt idx="291">
                  <c:v>46159</c:v>
                </c:pt>
                <c:pt idx="292">
                  <c:v>46160</c:v>
                </c:pt>
                <c:pt idx="293">
                  <c:v>46161</c:v>
                </c:pt>
                <c:pt idx="294">
                  <c:v>46162</c:v>
                </c:pt>
                <c:pt idx="295">
                  <c:v>46163</c:v>
                </c:pt>
                <c:pt idx="296">
                  <c:v>46164</c:v>
                </c:pt>
                <c:pt idx="297">
                  <c:v>46165</c:v>
                </c:pt>
                <c:pt idx="298">
                  <c:v>46166</c:v>
                </c:pt>
                <c:pt idx="299">
                  <c:v>46167</c:v>
                </c:pt>
                <c:pt idx="300">
                  <c:v>46168</c:v>
                </c:pt>
                <c:pt idx="301">
                  <c:v>46169</c:v>
                </c:pt>
                <c:pt idx="302">
                  <c:v>46170</c:v>
                </c:pt>
                <c:pt idx="303">
                  <c:v>46171</c:v>
                </c:pt>
                <c:pt idx="304">
                  <c:v>46172</c:v>
                </c:pt>
                <c:pt idx="305">
                  <c:v>46173</c:v>
                </c:pt>
                <c:pt idx="306">
                  <c:v>46174</c:v>
                </c:pt>
                <c:pt idx="307">
                  <c:v>46175</c:v>
                </c:pt>
                <c:pt idx="308">
                  <c:v>46176</c:v>
                </c:pt>
                <c:pt idx="309">
                  <c:v>46177</c:v>
                </c:pt>
                <c:pt idx="310">
                  <c:v>46178</c:v>
                </c:pt>
                <c:pt idx="311">
                  <c:v>46179</c:v>
                </c:pt>
                <c:pt idx="312">
                  <c:v>46180</c:v>
                </c:pt>
                <c:pt idx="313">
                  <c:v>46181</c:v>
                </c:pt>
                <c:pt idx="314">
                  <c:v>46182</c:v>
                </c:pt>
                <c:pt idx="315">
                  <c:v>46183</c:v>
                </c:pt>
                <c:pt idx="316">
                  <c:v>46184</c:v>
                </c:pt>
                <c:pt idx="317">
                  <c:v>46185</c:v>
                </c:pt>
                <c:pt idx="318">
                  <c:v>46186</c:v>
                </c:pt>
                <c:pt idx="319">
                  <c:v>46187</c:v>
                </c:pt>
                <c:pt idx="320">
                  <c:v>46188</c:v>
                </c:pt>
                <c:pt idx="321">
                  <c:v>46189</c:v>
                </c:pt>
                <c:pt idx="322">
                  <c:v>46190</c:v>
                </c:pt>
                <c:pt idx="323">
                  <c:v>46191</c:v>
                </c:pt>
                <c:pt idx="324">
                  <c:v>46192</c:v>
                </c:pt>
                <c:pt idx="325">
                  <c:v>46193</c:v>
                </c:pt>
                <c:pt idx="326">
                  <c:v>46194</c:v>
                </c:pt>
                <c:pt idx="327">
                  <c:v>46195</c:v>
                </c:pt>
                <c:pt idx="328">
                  <c:v>46196</c:v>
                </c:pt>
                <c:pt idx="329">
                  <c:v>46197</c:v>
                </c:pt>
                <c:pt idx="330">
                  <c:v>46198</c:v>
                </c:pt>
                <c:pt idx="331">
                  <c:v>46199</c:v>
                </c:pt>
                <c:pt idx="332">
                  <c:v>46200</c:v>
                </c:pt>
                <c:pt idx="333">
                  <c:v>46201</c:v>
                </c:pt>
                <c:pt idx="334">
                  <c:v>46202</c:v>
                </c:pt>
                <c:pt idx="335">
                  <c:v>46203</c:v>
                </c:pt>
                <c:pt idx="336">
                  <c:v>46204</c:v>
                </c:pt>
                <c:pt idx="337">
                  <c:v>46205</c:v>
                </c:pt>
                <c:pt idx="338">
                  <c:v>46206</c:v>
                </c:pt>
                <c:pt idx="339">
                  <c:v>46207</c:v>
                </c:pt>
                <c:pt idx="340">
                  <c:v>46208</c:v>
                </c:pt>
                <c:pt idx="341">
                  <c:v>46209</c:v>
                </c:pt>
                <c:pt idx="342">
                  <c:v>46210</c:v>
                </c:pt>
                <c:pt idx="343">
                  <c:v>46211</c:v>
                </c:pt>
                <c:pt idx="344">
                  <c:v>46212</c:v>
                </c:pt>
                <c:pt idx="345">
                  <c:v>46213</c:v>
                </c:pt>
                <c:pt idx="346">
                  <c:v>46214</c:v>
                </c:pt>
                <c:pt idx="347">
                  <c:v>46215</c:v>
                </c:pt>
                <c:pt idx="348">
                  <c:v>46216</c:v>
                </c:pt>
                <c:pt idx="349">
                  <c:v>46217</c:v>
                </c:pt>
                <c:pt idx="350">
                  <c:v>46218</c:v>
                </c:pt>
                <c:pt idx="351">
                  <c:v>46219</c:v>
                </c:pt>
                <c:pt idx="352">
                  <c:v>46220</c:v>
                </c:pt>
                <c:pt idx="353">
                  <c:v>46221</c:v>
                </c:pt>
                <c:pt idx="354">
                  <c:v>46222</c:v>
                </c:pt>
                <c:pt idx="355">
                  <c:v>46223</c:v>
                </c:pt>
                <c:pt idx="356">
                  <c:v>46224</c:v>
                </c:pt>
                <c:pt idx="357">
                  <c:v>46225</c:v>
                </c:pt>
                <c:pt idx="358">
                  <c:v>46226</c:v>
                </c:pt>
                <c:pt idx="359">
                  <c:v>46227</c:v>
                </c:pt>
                <c:pt idx="360">
                  <c:v>46228</c:v>
                </c:pt>
                <c:pt idx="361">
                  <c:v>46229</c:v>
                </c:pt>
                <c:pt idx="362">
                  <c:v>46230</c:v>
                </c:pt>
                <c:pt idx="363">
                  <c:v>46231</c:v>
                </c:pt>
                <c:pt idx="364">
                  <c:v>46232</c:v>
                </c:pt>
                <c:pt idx="365">
                  <c:v>46233</c:v>
                </c:pt>
                <c:pt idx="366">
                  <c:v>46234</c:v>
                </c:pt>
              </c:numCache>
            </c:numRef>
          </c:cat>
          <c:val>
            <c:numRef>
              <c:f>Frontpage_bank!$Q$4:$Q$370</c:f>
              <c:numCache>
                <c:formatCode>General</c:formatCode>
                <c:ptCount val="367"/>
                <c:pt idx="0">
                  <c:v>100</c:v>
                </c:pt>
                <c:pt idx="1">
                  <c:v>99.661057421250561</c:v>
                </c:pt>
                <c:pt idx="2">
                  <c:v>99.176190444605112</c:v>
                </c:pt>
                <c:pt idx="3">
                  <c:v>99.176190444605112</c:v>
                </c:pt>
                <c:pt idx="4">
                  <c:v>99.176190444605112</c:v>
                </c:pt>
                <c:pt idx="5">
                  <c:v>101.36372982761021</c:v>
                </c:pt>
                <c:pt idx="6">
                  <c:v>102.62133282038697</c:v>
                </c:pt>
                <c:pt idx="7">
                  <c:v>104.38303827862273</c:v>
                </c:pt>
                <c:pt idx="8">
                  <c:v>104.92030537996722</c:v>
                </c:pt>
                <c:pt idx="9">
                  <c:v>105.12857929332793</c:v>
                </c:pt>
                <c:pt idx="10">
                  <c:v>105.12857929332793</c:v>
                </c:pt>
                <c:pt idx="11">
                  <c:v>105.12857929332793</c:v>
                </c:pt>
                <c:pt idx="12">
                  <c:v>105.91856092011965</c:v>
                </c:pt>
                <c:pt idx="13">
                  <c:v>106.67206144743737</c:v>
                </c:pt>
                <c:pt idx="14">
                  <c:v>106.89625438602309</c:v>
                </c:pt>
                <c:pt idx="15">
                  <c:v>108.8257729018393</c:v>
                </c:pt>
                <c:pt idx="16">
                  <c:v>108.11671298660812</c:v>
                </c:pt>
                <c:pt idx="17">
                  <c:v>108.11671298660812</c:v>
                </c:pt>
                <c:pt idx="18">
                  <c:v>108.11671298660812</c:v>
                </c:pt>
                <c:pt idx="19">
                  <c:v>108.53923044778891</c:v>
                </c:pt>
                <c:pt idx="20">
                  <c:v>109.7218813634645</c:v>
                </c:pt>
                <c:pt idx="21">
                  <c:v>110.39578676465709</c:v>
                </c:pt>
                <c:pt idx="22">
                  <c:v>111.96381074932178</c:v>
                </c:pt>
                <c:pt idx="23">
                  <c:v>109.14282682090433</c:v>
                </c:pt>
                <c:pt idx="24">
                  <c:v>109.14282682090433</c:v>
                </c:pt>
                <c:pt idx="25">
                  <c:v>109.14282682090433</c:v>
                </c:pt>
                <c:pt idx="26">
                  <c:v>107.05743451642644</c:v>
                </c:pt>
                <c:pt idx="27">
                  <c:v>110.61268348334804</c:v>
                </c:pt>
                <c:pt idx="28">
                  <c:v>110.9542792329683</c:v>
                </c:pt>
                <c:pt idx="29">
                  <c:v>111.49021974887737</c:v>
                </c:pt>
                <c:pt idx="30">
                  <c:v>111.57976426576812</c:v>
                </c:pt>
                <c:pt idx="31">
                  <c:v>111.57976426576812</c:v>
                </c:pt>
                <c:pt idx="32">
                  <c:v>111.57976426576812</c:v>
                </c:pt>
                <c:pt idx="33">
                  <c:v>111.57976426576812</c:v>
                </c:pt>
                <c:pt idx="34">
                  <c:v>111.57976426576812</c:v>
                </c:pt>
                <c:pt idx="35">
                  <c:v>111.51940462845657</c:v>
                </c:pt>
                <c:pt idx="36">
                  <c:v>112.51368041230275</c:v>
                </c:pt>
                <c:pt idx="37">
                  <c:v>110.56890616397924</c:v>
                </c:pt>
                <c:pt idx="38">
                  <c:v>110.56890616397924</c:v>
                </c:pt>
                <c:pt idx="39">
                  <c:v>110.56890616397924</c:v>
                </c:pt>
                <c:pt idx="40">
                  <c:v>107.75389187002116</c:v>
                </c:pt>
                <c:pt idx="41">
                  <c:v>108.60224325597127</c:v>
                </c:pt>
                <c:pt idx="42">
                  <c:v>108.99623913029058</c:v>
                </c:pt>
                <c:pt idx="43">
                  <c:v>109.95735027825128</c:v>
                </c:pt>
                <c:pt idx="44">
                  <c:v>110.58814165279279</c:v>
                </c:pt>
                <c:pt idx="45">
                  <c:v>110.58814165279279</c:v>
                </c:pt>
                <c:pt idx="46">
                  <c:v>110.58814165279279</c:v>
                </c:pt>
                <c:pt idx="47">
                  <c:v>111.75819000683191</c:v>
                </c:pt>
                <c:pt idx="48">
                  <c:v>111.49287291974821</c:v>
                </c:pt>
                <c:pt idx="49">
                  <c:v>110.83422325106291</c:v>
                </c:pt>
                <c:pt idx="50">
                  <c:v>110.45017676750926</c:v>
                </c:pt>
                <c:pt idx="51">
                  <c:v>110.01505674469199</c:v>
                </c:pt>
                <c:pt idx="52">
                  <c:v>110.01505674469199</c:v>
                </c:pt>
                <c:pt idx="53">
                  <c:v>110.01505674469199</c:v>
                </c:pt>
                <c:pt idx="54">
                  <c:v>108.41187824598873</c:v>
                </c:pt>
                <c:pt idx="55">
                  <c:v>108.46560495612319</c:v>
                </c:pt>
                <c:pt idx="56">
                  <c:v>109.93811478943772</c:v>
                </c:pt>
                <c:pt idx="57">
                  <c:v>110.5105364048208</c:v>
                </c:pt>
                <c:pt idx="58">
                  <c:v>110.15302162997551</c:v>
                </c:pt>
                <c:pt idx="59">
                  <c:v>110.15302162997551</c:v>
                </c:pt>
                <c:pt idx="60">
                  <c:v>110.15302162997551</c:v>
                </c:pt>
                <c:pt idx="61">
                  <c:v>110.53640482081147</c:v>
                </c:pt>
                <c:pt idx="62">
                  <c:v>110.21935090174644</c:v>
                </c:pt>
                <c:pt idx="63">
                  <c:v>110.44155396217903</c:v>
                </c:pt>
                <c:pt idx="64">
                  <c:v>109.62305074852583</c:v>
                </c:pt>
                <c:pt idx="65">
                  <c:v>109.16604206602413</c:v>
                </c:pt>
                <c:pt idx="66">
                  <c:v>109.16604206602413</c:v>
                </c:pt>
                <c:pt idx="67">
                  <c:v>109.16604206602413</c:v>
                </c:pt>
                <c:pt idx="68">
                  <c:v>112.46128028760371</c:v>
                </c:pt>
                <c:pt idx="69">
                  <c:v>111.78472171554029</c:v>
                </c:pt>
                <c:pt idx="70">
                  <c:v>112.61582749082997</c:v>
                </c:pt>
                <c:pt idx="71">
                  <c:v>113.85220511664002</c:v>
                </c:pt>
                <c:pt idx="72">
                  <c:v>115.91371888328037</c:v>
                </c:pt>
                <c:pt idx="73">
                  <c:v>115.91371888328037</c:v>
                </c:pt>
                <c:pt idx="74">
                  <c:v>115.91371888328037</c:v>
                </c:pt>
                <c:pt idx="75">
                  <c:v>117.07912418829551</c:v>
                </c:pt>
                <c:pt idx="76">
                  <c:v>116.80982734490557</c:v>
                </c:pt>
                <c:pt idx="77">
                  <c:v>116.603543309698</c:v>
                </c:pt>
                <c:pt idx="78">
                  <c:v>117.19387382845923</c:v>
                </c:pt>
                <c:pt idx="79">
                  <c:v>114.82857199710803</c:v>
                </c:pt>
                <c:pt idx="80">
                  <c:v>114.82857199710803</c:v>
                </c:pt>
                <c:pt idx="81">
                  <c:v>114.82857199710803</c:v>
                </c:pt>
                <c:pt idx="82">
                  <c:v>108.54321020409516</c:v>
                </c:pt>
                <c:pt idx="83">
                  <c:v>110.33410054191015</c:v>
                </c:pt>
                <c:pt idx="84">
                  <c:v>111.333682667498</c:v>
                </c:pt>
                <c:pt idx="85">
                  <c:v>111.90146123385709</c:v>
                </c:pt>
                <c:pt idx="86">
                  <c:v>111.64410365938593</c:v>
                </c:pt>
                <c:pt idx="87">
                  <c:v>111.64410365938593</c:v>
                </c:pt>
                <c:pt idx="88">
                  <c:v>111.64410365938593</c:v>
                </c:pt>
                <c:pt idx="89">
                  <c:v>109.61177477232475</c:v>
                </c:pt>
                <c:pt idx="90">
                  <c:v>111.46634121103985</c:v>
                </c:pt>
                <c:pt idx="91">
                  <c:v>111.81987622957885</c:v>
                </c:pt>
                <c:pt idx="92">
                  <c:v>110.74136227058362</c:v>
                </c:pt>
                <c:pt idx="93">
                  <c:v>108.75679045919755</c:v>
                </c:pt>
                <c:pt idx="94">
                  <c:v>108.75679045919755</c:v>
                </c:pt>
                <c:pt idx="95">
                  <c:v>108.75679045919755</c:v>
                </c:pt>
                <c:pt idx="96">
                  <c:v>107.25443245358608</c:v>
                </c:pt>
                <c:pt idx="97">
                  <c:v>109.57463038013304</c:v>
                </c:pt>
                <c:pt idx="98">
                  <c:v>109.76764856098644</c:v>
                </c:pt>
                <c:pt idx="99">
                  <c:v>108.95511498179262</c:v>
                </c:pt>
                <c:pt idx="100">
                  <c:v>106.06713848888651</c:v>
                </c:pt>
                <c:pt idx="101">
                  <c:v>106.06713848888651</c:v>
                </c:pt>
                <c:pt idx="102">
                  <c:v>106.06713848888651</c:v>
                </c:pt>
                <c:pt idx="103">
                  <c:v>104.83606720481815</c:v>
                </c:pt>
                <c:pt idx="104">
                  <c:v>105.70299078686413</c:v>
                </c:pt>
                <c:pt idx="105">
                  <c:v>108.24008543210202</c:v>
                </c:pt>
                <c:pt idx="106">
                  <c:v>108.21222713795824</c:v>
                </c:pt>
                <c:pt idx="107">
                  <c:v>108.47887081047736</c:v>
                </c:pt>
                <c:pt idx="108">
                  <c:v>108.47887081047736</c:v>
                </c:pt>
                <c:pt idx="109">
                  <c:v>108.47887081047736</c:v>
                </c:pt>
                <c:pt idx="110">
                  <c:v>109.73647380325411</c:v>
                </c:pt>
                <c:pt idx="111">
                  <c:v>110.1012847979942</c:v>
                </c:pt>
                <c:pt idx="112">
                  <c:v>109.3769691502557</c:v>
                </c:pt>
                <c:pt idx="113">
                  <c:v>109.84061075993445</c:v>
                </c:pt>
                <c:pt idx="114">
                  <c:v>109.77030173185729</c:v>
                </c:pt>
                <c:pt idx="115">
                  <c:v>109.77030173185729</c:v>
                </c:pt>
                <c:pt idx="116">
                  <c:v>109.77030173185729</c:v>
                </c:pt>
                <c:pt idx="117">
                  <c:v>110.63589872846786</c:v>
                </c:pt>
                <c:pt idx="118">
                  <c:v>110.1304696775734</c:v>
                </c:pt>
                <c:pt idx="119">
                  <c:v>111.45705511299191</c:v>
                </c:pt>
                <c:pt idx="120">
                  <c:v>111.71971902920477</c:v>
                </c:pt>
                <c:pt idx="121">
                  <c:v>112.16213527191685</c:v>
                </c:pt>
                <c:pt idx="122">
                  <c:v>112.16213527191685</c:v>
                </c:pt>
                <c:pt idx="123">
                  <c:v>112.16213527191685</c:v>
                </c:pt>
                <c:pt idx="124">
                  <c:v>112.87053189443033</c:v>
                </c:pt>
                <c:pt idx="125">
                  <c:v>113.89133938698485</c:v>
                </c:pt>
                <c:pt idx="126">
                  <c:v>114.86704297473518</c:v>
                </c:pt>
                <c:pt idx="127">
                  <c:v>115.22986409132214</c:v>
                </c:pt>
                <c:pt idx="128">
                  <c:v>115.5004875201475</c:v>
                </c:pt>
                <c:pt idx="129">
                  <c:v>115.5004875201475</c:v>
                </c:pt>
                <c:pt idx="130">
                  <c:v>115.5004875201475</c:v>
                </c:pt>
                <c:pt idx="131">
                  <c:v>116.32429707554239</c:v>
                </c:pt>
                <c:pt idx="132">
                  <c:v>115.88851376000741</c:v>
                </c:pt>
                <c:pt idx="133">
                  <c:v>114.01869158878503</c:v>
                </c:pt>
                <c:pt idx="134">
                  <c:v>112.68679981162487</c:v>
                </c:pt>
                <c:pt idx="135">
                  <c:v>109.23701438681906</c:v>
                </c:pt>
                <c:pt idx="136">
                  <c:v>109.23701438681906</c:v>
                </c:pt>
                <c:pt idx="137">
                  <c:v>109.23701438681906</c:v>
                </c:pt>
                <c:pt idx="138">
                  <c:v>109.17864462766063</c:v>
                </c:pt>
                <c:pt idx="139">
                  <c:v>111.37878657230222</c:v>
                </c:pt>
                <c:pt idx="140">
                  <c:v>111.0126489921267</c:v>
                </c:pt>
                <c:pt idx="141">
                  <c:v>111.23286217440618</c:v>
                </c:pt>
                <c:pt idx="142">
                  <c:v>113.04564117190556</c:v>
                </c:pt>
                <c:pt idx="143">
                  <c:v>113.04564117190556</c:v>
                </c:pt>
                <c:pt idx="144">
                  <c:v>113.04564117190556</c:v>
                </c:pt>
                <c:pt idx="145">
                  <c:v>116.14454474904319</c:v>
                </c:pt>
                <c:pt idx="146">
                  <c:v>117.54541896884514</c:v>
                </c:pt>
                <c:pt idx="147">
                  <c:v>118.25315229864091</c:v>
                </c:pt>
                <c:pt idx="148">
                  <c:v>115.60197130595702</c:v>
                </c:pt>
                <c:pt idx="149">
                  <c:v>114.73637430934644</c:v>
                </c:pt>
                <c:pt idx="150">
                  <c:v>114.73637430934644</c:v>
                </c:pt>
                <c:pt idx="151">
                  <c:v>114.73637430934644</c:v>
                </c:pt>
                <c:pt idx="152">
                  <c:v>116.39725927449041</c:v>
                </c:pt>
                <c:pt idx="153">
                  <c:v>117.19719029204778</c:v>
                </c:pt>
                <c:pt idx="154">
                  <c:v>118.36392218249836</c:v>
                </c:pt>
                <c:pt idx="155">
                  <c:v>118.36392218249836</c:v>
                </c:pt>
                <c:pt idx="156">
                  <c:v>118.36392218249836</c:v>
                </c:pt>
                <c:pt idx="157">
                  <c:v>118.36392218249836</c:v>
                </c:pt>
                <c:pt idx="158">
                  <c:v>118.36392218249836</c:v>
                </c:pt>
                <c:pt idx="159">
                  <c:v>118.62326963512267</c:v>
                </c:pt>
                <c:pt idx="160">
                  <c:v>120.47186643937835</c:v>
                </c:pt>
                <c:pt idx="161">
                  <c:v>123.47724574331897</c:v>
                </c:pt>
                <c:pt idx="162">
                  <c:v>123.077943527258</c:v>
                </c:pt>
                <c:pt idx="163">
                  <c:v>123.89644674091123</c:v>
                </c:pt>
                <c:pt idx="164">
                  <c:v>123.89644674091123</c:v>
                </c:pt>
                <c:pt idx="165">
                  <c:v>123.89644674091123</c:v>
                </c:pt>
                <c:pt idx="166">
                  <c:v>124.52193177371105</c:v>
                </c:pt>
                <c:pt idx="167">
                  <c:v>126.21996113104674</c:v>
                </c:pt>
                <c:pt idx="168">
                  <c:v>125.65682561371159</c:v>
                </c:pt>
                <c:pt idx="169">
                  <c:v>123.69082599842136</c:v>
                </c:pt>
                <c:pt idx="170">
                  <c:v>124.64132446289872</c:v>
                </c:pt>
                <c:pt idx="171">
                  <c:v>124.64132446289872</c:v>
                </c:pt>
                <c:pt idx="172">
                  <c:v>124.64132446289872</c:v>
                </c:pt>
                <c:pt idx="173">
                  <c:v>125.79943354801905</c:v>
                </c:pt>
                <c:pt idx="174">
                  <c:v>125.61304829434276</c:v>
                </c:pt>
                <c:pt idx="175">
                  <c:v>125.05986216777325</c:v>
                </c:pt>
                <c:pt idx="176">
                  <c:v>124.88010984127405</c:v>
                </c:pt>
                <c:pt idx="177">
                  <c:v>124.08813833632919</c:v>
                </c:pt>
                <c:pt idx="178">
                  <c:v>124.08813833632919</c:v>
                </c:pt>
                <c:pt idx="179">
                  <c:v>124.08813833632919</c:v>
                </c:pt>
                <c:pt idx="180">
                  <c:v>122.29260494949025</c:v>
                </c:pt>
                <c:pt idx="181">
                  <c:v>121.41573197667861</c:v>
                </c:pt>
                <c:pt idx="182">
                  <c:v>119.5857073685188</c:v>
                </c:pt>
                <c:pt idx="183">
                  <c:v>120.38630167879386</c:v>
                </c:pt>
                <c:pt idx="184">
                  <c:v>121.31889123989306</c:v>
                </c:pt>
                <c:pt idx="185">
                  <c:v>121.31889123989306</c:v>
                </c:pt>
                <c:pt idx="186">
                  <c:v>121.31889123989306</c:v>
                </c:pt>
                <c:pt idx="187">
                  <c:v>119.82382945417642</c:v>
                </c:pt>
                <c:pt idx="188">
                  <c:v>120.2815014293958</c:v>
                </c:pt>
                <c:pt idx="189">
                  <c:v>118.82424732858858</c:v>
                </c:pt>
                <c:pt idx="190">
                  <c:v>118.23590668798045</c:v>
                </c:pt>
                <c:pt idx="191">
                  <c:v>116.44037330114152</c:v>
                </c:pt>
                <c:pt idx="192">
                  <c:v>116.44037330114152</c:v>
                </c:pt>
                <c:pt idx="193">
                  <c:v>116.44037330114152</c:v>
                </c:pt>
                <c:pt idx="194">
                  <c:v>116.39593268905499</c:v>
                </c:pt>
                <c:pt idx="195">
                  <c:v>116.34353256435597</c:v>
                </c:pt>
                <c:pt idx="196">
                  <c:v>119.18375198158697</c:v>
                </c:pt>
                <c:pt idx="197">
                  <c:v>120.32726862691774</c:v>
                </c:pt>
                <c:pt idx="198">
                  <c:v>120.99056134462698</c:v>
                </c:pt>
                <c:pt idx="199">
                  <c:v>120.99056134462698</c:v>
                </c:pt>
                <c:pt idx="200">
                  <c:v>120.99056134462698</c:v>
                </c:pt>
                <c:pt idx="201">
                  <c:v>120.99056134462698</c:v>
                </c:pt>
                <c:pt idx="202">
                  <c:v>120.99056134462698</c:v>
                </c:pt>
                <c:pt idx="203">
                  <c:v>120.99056134462698</c:v>
                </c:pt>
                <c:pt idx="204">
                  <c:v>120.99056134462698</c:v>
                </c:pt>
                <c:pt idx="205">
                  <c:v>120.99056134462698</c:v>
                </c:pt>
                <c:pt idx="206">
                  <c:v>120.99056134462698</c:v>
                </c:pt>
                <c:pt idx="207">
                  <c:v>120.99056134462698</c:v>
                </c:pt>
                <c:pt idx="208">
                  <c:v>123.38173159196886</c:v>
                </c:pt>
                <c:pt idx="209">
                  <c:v>123.87787454481536</c:v>
                </c:pt>
                <c:pt idx="210">
                  <c:v>123.43280513123247</c:v>
                </c:pt>
                <c:pt idx="211">
                  <c:v>124.67515239150188</c:v>
                </c:pt>
                <c:pt idx="212">
                  <c:v>124.72091958902382</c:v>
                </c:pt>
                <c:pt idx="213">
                  <c:v>124.72091958902382</c:v>
                </c:pt>
                <c:pt idx="214">
                  <c:v>124.72091958902382</c:v>
                </c:pt>
                <c:pt idx="215">
                  <c:v>122.45046861630505</c:v>
                </c:pt>
                <c:pt idx="216">
                  <c:v>120.26425581873536</c:v>
                </c:pt>
                <c:pt idx="217">
                  <c:v>120.6045249829202</c:v>
                </c:pt>
                <c:pt idx="218">
                  <c:v>119.95715129043599</c:v>
                </c:pt>
                <c:pt idx="219">
                  <c:v>117.25953980751245</c:v>
                </c:pt>
                <c:pt idx="220">
                  <c:v>117.25953980751245</c:v>
                </c:pt>
                <c:pt idx="221">
                  <c:v>117.25953980751245</c:v>
                </c:pt>
                <c:pt idx="222">
                  <c:v>109.6283570902675</c:v>
                </c:pt>
                <c:pt idx="223">
                  <c:v>111.21627985646344</c:v>
                </c:pt>
                <c:pt idx="224">
                  <c:v>114.63953357256089</c:v>
                </c:pt>
                <c:pt idx="225">
                  <c:v>113.39718631229145</c:v>
                </c:pt>
                <c:pt idx="226">
                  <c:v>112.51036394871421</c:v>
                </c:pt>
                <c:pt idx="227">
                  <c:v>112.51036394871421</c:v>
                </c:pt>
                <c:pt idx="228">
                  <c:v>112.51036394871421</c:v>
                </c:pt>
                <c:pt idx="229">
                  <c:v>112.30938625524828</c:v>
                </c:pt>
                <c:pt idx="230">
                  <c:v>113.44229021709569</c:v>
                </c:pt>
                <c:pt idx="231">
                  <c:v>113.67709583916476</c:v>
                </c:pt>
                <c:pt idx="232">
                  <c:v>112.70205554413218</c:v>
                </c:pt>
                <c:pt idx="233">
                  <c:v>109.29803731684828</c:v>
                </c:pt>
                <c:pt idx="234">
                  <c:v>109.29803731684828</c:v>
                </c:pt>
                <c:pt idx="235">
                  <c:v>109.29803731684828</c:v>
                </c:pt>
                <c:pt idx="236">
                  <c:v>105.54114736374309</c:v>
                </c:pt>
                <c:pt idx="237">
                  <c:v>107.10651817753691</c:v>
                </c:pt>
                <c:pt idx="238">
                  <c:v>109.9865351578305</c:v>
                </c:pt>
                <c:pt idx="239">
                  <c:v>109.08711023261675</c:v>
                </c:pt>
                <c:pt idx="240">
                  <c:v>110.95560581840371</c:v>
                </c:pt>
                <c:pt idx="241">
                  <c:v>110.95560581840371</c:v>
                </c:pt>
                <c:pt idx="242">
                  <c:v>110.95560581840371</c:v>
                </c:pt>
                <c:pt idx="243">
                  <c:v>110.27506749003402</c:v>
                </c:pt>
                <c:pt idx="244">
                  <c:v>111.06770228769658</c:v>
                </c:pt>
                <c:pt idx="245">
                  <c:v>112.95410677686168</c:v>
                </c:pt>
                <c:pt idx="246">
                  <c:v>112.41617638279948</c:v>
                </c:pt>
                <c:pt idx="247">
                  <c:v>111.70114683310889</c:v>
                </c:pt>
                <c:pt idx="248">
                  <c:v>111.70114683310889</c:v>
                </c:pt>
                <c:pt idx="249">
                  <c:v>111.70114683310889</c:v>
                </c:pt>
                <c:pt idx="250">
                  <c:v>111.10086692358203</c:v>
                </c:pt>
                <c:pt idx="251">
                  <c:v>111.27000656659789</c:v>
                </c:pt>
                <c:pt idx="252">
                  <c:v>116.51068232921871</c:v>
                </c:pt>
                <c:pt idx="253">
                  <c:v>115.19271969913041</c:v>
                </c:pt>
                <c:pt idx="254">
                  <c:v>116.07622559911914</c:v>
                </c:pt>
                <c:pt idx="255">
                  <c:v>116.07622559911914</c:v>
                </c:pt>
                <c:pt idx="256">
                  <c:v>116.07622559911914</c:v>
                </c:pt>
                <c:pt idx="257">
                  <c:v>116.67053587418663</c:v>
                </c:pt>
                <c:pt idx="258">
                  <c:v>117.77757142004337</c:v>
                </c:pt>
                <c:pt idx="259">
                  <c:v>119.43580321431651</c:v>
                </c:pt>
                <c:pt idx="260">
                  <c:v>120.70799864688284</c:v>
                </c:pt>
                <c:pt idx="261">
                  <c:v>120.53156278397219</c:v>
                </c:pt>
                <c:pt idx="262">
                  <c:v>120.53156278397219</c:v>
                </c:pt>
                <c:pt idx="263">
                  <c:v>120.53156278397219</c:v>
                </c:pt>
                <c:pt idx="264">
                  <c:v>121.85416846308443</c:v>
                </c:pt>
                <c:pt idx="265">
                  <c:v>121.61339320655597</c:v>
                </c:pt>
                <c:pt idx="266">
                  <c:v>123.1933564601394</c:v>
                </c:pt>
                <c:pt idx="267">
                  <c:v>124.05961674946768</c:v>
                </c:pt>
                <c:pt idx="268">
                  <c:v>122.92737608033801</c:v>
                </c:pt>
                <c:pt idx="269">
                  <c:v>122.92737608033801</c:v>
                </c:pt>
                <c:pt idx="270">
                  <c:v>122.92737608033801</c:v>
                </c:pt>
                <c:pt idx="271">
                  <c:v>122.92737608033801</c:v>
                </c:pt>
                <c:pt idx="272">
                  <c:v>124.42310115877235</c:v>
                </c:pt>
                <c:pt idx="273">
                  <c:v>122.98110279047245</c:v>
                </c:pt>
                <c:pt idx="274">
                  <c:v>122.98110279047245</c:v>
                </c:pt>
                <c:pt idx="275">
                  <c:v>122.98110279047245</c:v>
                </c:pt>
                <c:pt idx="276">
                  <c:v>122.98110279047245</c:v>
                </c:pt>
                <c:pt idx="277">
                  <c:v>122.98110279047245</c:v>
                </c:pt>
                <c:pt idx="278">
                  <c:v>122.97844961960161</c:v>
                </c:pt>
                <c:pt idx="279">
                  <c:v>124.35743517971916</c:v>
                </c:pt>
                <c:pt idx="280">
                  <c:v>125.44191877317378</c:v>
                </c:pt>
                <c:pt idx="281">
                  <c:v>126.62324310341396</c:v>
                </c:pt>
                <c:pt idx="282">
                  <c:v>127.04509727187703</c:v>
                </c:pt>
                <c:pt idx="283">
                  <c:v>127.04509727187703</c:v>
                </c:pt>
                <c:pt idx="284">
                  <c:v>127.04509727187703</c:v>
                </c:pt>
                <c:pt idx="285">
                  <c:v>125.72713464178875</c:v>
                </c:pt>
                <c:pt idx="286">
                  <c:v>126.09857856370594</c:v>
                </c:pt>
                <c:pt idx="287">
                  <c:v>125.91749965177131</c:v>
                </c:pt>
                <c:pt idx="288">
                  <c:v>127.71435962404567</c:v>
                </c:pt>
                <c:pt idx="289">
                  <c:v>127.45832863500991</c:v>
                </c:pt>
                <c:pt idx="290">
                  <c:v>127.45832863500991</c:v>
                </c:pt>
                <c:pt idx="291">
                  <c:v>127.45832863500991</c:v>
                </c:pt>
                <c:pt idx="292">
                  <c:v>127.87885621803758</c:v>
                </c:pt>
                <c:pt idx="293">
                  <c:v>126.88325384875598</c:v>
                </c:pt>
                <c:pt idx="294">
                  <c:v>126.90315263028727</c:v>
                </c:pt>
                <c:pt idx="295">
                  <c:v>125.81933232955036</c:v>
                </c:pt>
                <c:pt idx="296">
                  <c:v>124.50866591935687</c:v>
                </c:pt>
                <c:pt idx="297">
                  <c:v>124.50866591935687</c:v>
                </c:pt>
                <c:pt idx="298">
                  <c:v>124.50866591935687</c:v>
                </c:pt>
                <c:pt idx="299">
                  <c:v>125.09899643811811</c:v>
                </c:pt>
                <c:pt idx="300">
                  <c:v>124.9762872853419</c:v>
                </c:pt>
                <c:pt idx="301">
                  <c:v>124.32957688557538</c:v>
                </c:pt>
                <c:pt idx="302">
                  <c:v>123.6158739213202</c:v>
                </c:pt>
                <c:pt idx="303">
                  <c:v>123.60393465240145</c:v>
                </c:pt>
                <c:pt idx="304">
                  <c:v>123.60393465240145</c:v>
                </c:pt>
                <c:pt idx="305">
                  <c:v>123.60393465240145</c:v>
                </c:pt>
                <c:pt idx="306">
                  <c:v>122.3469949523424</c:v>
                </c:pt>
                <c:pt idx="307">
                  <c:v>121.14842501144179</c:v>
                </c:pt>
                <c:pt idx="308">
                  <c:v>120.6536086440307</c:v>
                </c:pt>
                <c:pt idx="309">
                  <c:v>121.48537771203809</c:v>
                </c:pt>
                <c:pt idx="310">
                  <c:v>121.97289785955441</c:v>
                </c:pt>
                <c:pt idx="311">
                  <c:v>121.97289785955441</c:v>
                </c:pt>
                <c:pt idx="312">
                  <c:v>121.97289785955441</c:v>
                </c:pt>
                <c:pt idx="313">
                  <c:v>118.76455098399474</c:v>
                </c:pt>
                <c:pt idx="314">
                  <c:v>118.93170074885747</c:v>
                </c:pt>
                <c:pt idx="315">
                  <c:v>119.63877078593555</c:v>
                </c:pt>
                <c:pt idx="316">
                  <c:v>119.3004914999038</c:v>
                </c:pt>
                <c:pt idx="317">
                  <c:v>118.83883976837819</c:v>
                </c:pt>
                <c:pt idx="318">
                  <c:v>118.83883976837819</c:v>
                </c:pt>
                <c:pt idx="319">
                  <c:v>118.83883976837819</c:v>
                </c:pt>
                <c:pt idx="320">
                  <c:v>119.34692199014346</c:v>
                </c:pt>
                <c:pt idx="321">
                  <c:v>119.91934360552654</c:v>
                </c:pt>
                <c:pt idx="322">
                  <c:v>119.80393067264514</c:v>
                </c:pt>
                <c:pt idx="323">
                  <c:v>121.41374209852549</c:v>
                </c:pt>
                <c:pt idx="324">
                  <c:v>121.01974622420619</c:v>
                </c:pt>
                <c:pt idx="325">
                  <c:v>121.01974622420619</c:v>
                </c:pt>
                <c:pt idx="326">
                  <c:v>121.01974622420619</c:v>
                </c:pt>
                <c:pt idx="327">
                  <c:v>123.23381731591969</c:v>
                </c:pt>
                <c:pt idx="328">
                  <c:v>123.97206211073009</c:v>
                </c:pt>
                <c:pt idx="329">
                  <c:v>124.56769897123299</c:v>
                </c:pt>
                <c:pt idx="330">
                  <c:v>123.57607635825765</c:v>
                </c:pt>
                <c:pt idx="331">
                  <c:v>124.16242712071264</c:v>
                </c:pt>
                <c:pt idx="332">
                  <c:v>124.16242712071264</c:v>
                </c:pt>
                <c:pt idx="333">
                  <c:v>124.16242712071264</c:v>
                </c:pt>
                <c:pt idx="334">
                  <c:v>123.03880925691315</c:v>
                </c:pt>
                <c:pt idx="335">
                  <c:v>123.37310878663862</c:v>
                </c:pt>
                <c:pt idx="336">
                  <c:v>123.85067954338929</c:v>
                </c:pt>
                <c:pt idx="337">
                  <c:v>123.79363636966629</c:v>
                </c:pt>
                <c:pt idx="338">
                  <c:v>123.51041037920443</c:v>
                </c:pt>
                <c:pt idx="339">
                  <c:v>123.51041037920443</c:v>
                </c:pt>
                <c:pt idx="340">
                  <c:v>123.51041037920443</c:v>
                </c:pt>
                <c:pt idx="341">
                  <c:v>122.27801250970064</c:v>
                </c:pt>
                <c:pt idx="342">
                  <c:v>122.59307655061254</c:v>
                </c:pt>
                <c:pt idx="343">
                  <c:v>122.95457108176409</c:v>
                </c:pt>
                <c:pt idx="344">
                  <c:v>122.09229054874207</c:v>
                </c:pt>
                <c:pt idx="345">
                  <c:v>121.2724607496534</c:v>
                </c:pt>
                <c:pt idx="346">
                  <c:v>121.2724607496534</c:v>
                </c:pt>
                <c:pt idx="347">
                  <c:v>121.2724607496534</c:v>
                </c:pt>
                <c:pt idx="348">
                  <c:v>119.4285069944217</c:v>
                </c:pt>
                <c:pt idx="349">
                  <c:v>119.83245225950665</c:v>
                </c:pt>
                <c:pt idx="350">
                  <c:v>118.20672180840126</c:v>
                </c:pt>
                <c:pt idx="351">
                  <c:v>119.67392529997412</c:v>
                </c:pt>
                <c:pt idx="352">
                  <c:v>118.56025682694029</c:v>
                </c:pt>
                <c:pt idx="353">
                  <c:v>118.56025682694029</c:v>
                </c:pt>
                <c:pt idx="354">
                  <c:v>118.56025682694029</c:v>
                </c:pt>
                <c:pt idx="355">
                  <c:v>115.64574862532584</c:v>
                </c:pt>
                <c:pt idx="356">
                  <c:v>114.78678455589235</c:v>
                </c:pt>
                <c:pt idx="357">
                  <c:v>110.67237982794187</c:v>
                </c:pt>
                <c:pt idx="358">
                  <c:v>112.71863786207493</c:v>
                </c:pt>
                <c:pt idx="359">
                  <c:v>111.83844842567471</c:v>
                </c:pt>
                <c:pt idx="360">
                  <c:v>111.83844842567471</c:v>
                </c:pt>
                <c:pt idx="361">
                  <c:v>111.83844842567471</c:v>
                </c:pt>
                <c:pt idx="362">
                  <c:v>110.70421787839192</c:v>
                </c:pt>
                <c:pt idx="363">
                  <c:v>111.47430072365235</c:v>
                </c:pt>
                <c:pt idx="364">
                  <c:v>113.07018300246081</c:v>
                </c:pt>
                <c:pt idx="365">
                  <c:v>115.7220272878624</c:v>
                </c:pt>
                <c:pt idx="366">
                  <c:v>115.13302335453659</c:v>
                </c:pt>
              </c:numCache>
            </c:numRef>
          </c:val>
          <c:smooth val="1"/>
          <c:extLst>
            <c:ext xmlns:c16="http://schemas.microsoft.com/office/drawing/2014/chart" uri="{C3380CC4-5D6E-409C-BE32-E72D297353CC}">
              <c16:uniqueId val="{00000000-D146-49DB-BCD5-9A50185348E0}"/>
            </c:ext>
          </c:extLst>
        </c:ser>
        <c:ser>
          <c:idx val="1"/>
          <c:order val="1"/>
          <c:tx>
            <c:strRef>
              <c:f>Frontpage_bank!$R$1</c:f>
              <c:strCache>
                <c:ptCount val="1"/>
                <c:pt idx="0">
                  <c:v>FPT VN</c:v>
                </c:pt>
              </c:strCache>
            </c:strRef>
          </c:tx>
          <c:spPr>
            <a:ln w="12700" cap="rnd">
              <a:solidFill>
                <a:srgbClr val="EF7011"/>
              </a:solidFill>
              <a:round/>
            </a:ln>
            <a:effectLst/>
          </c:spPr>
          <c:marker>
            <c:symbol val="none"/>
          </c:marker>
          <c:cat>
            <c:numRef>
              <c:f>Frontpage_bank!$N$4:$N$370</c:f>
              <c:numCache>
                <c:formatCode>m/d/yyyy</c:formatCode>
                <c:ptCount val="367"/>
                <c:pt idx="0">
                  <c:v>45868</c:v>
                </c:pt>
                <c:pt idx="1">
                  <c:v>45869</c:v>
                </c:pt>
                <c:pt idx="2">
                  <c:v>45870</c:v>
                </c:pt>
                <c:pt idx="3">
                  <c:v>45871</c:v>
                </c:pt>
                <c:pt idx="4">
                  <c:v>45872</c:v>
                </c:pt>
                <c:pt idx="5">
                  <c:v>45873</c:v>
                </c:pt>
                <c:pt idx="6">
                  <c:v>45874</c:v>
                </c:pt>
                <c:pt idx="7">
                  <c:v>45875</c:v>
                </c:pt>
                <c:pt idx="8">
                  <c:v>45876</c:v>
                </c:pt>
                <c:pt idx="9">
                  <c:v>45877</c:v>
                </c:pt>
                <c:pt idx="10">
                  <c:v>45878</c:v>
                </c:pt>
                <c:pt idx="11">
                  <c:v>45879</c:v>
                </c:pt>
                <c:pt idx="12">
                  <c:v>45880</c:v>
                </c:pt>
                <c:pt idx="13">
                  <c:v>45881</c:v>
                </c:pt>
                <c:pt idx="14">
                  <c:v>45882</c:v>
                </c:pt>
                <c:pt idx="15">
                  <c:v>45883</c:v>
                </c:pt>
                <c:pt idx="16">
                  <c:v>45884</c:v>
                </c:pt>
                <c:pt idx="17">
                  <c:v>45885</c:v>
                </c:pt>
                <c:pt idx="18">
                  <c:v>45886</c:v>
                </c:pt>
                <c:pt idx="19">
                  <c:v>45887</c:v>
                </c:pt>
                <c:pt idx="20">
                  <c:v>45888</c:v>
                </c:pt>
                <c:pt idx="21">
                  <c:v>45889</c:v>
                </c:pt>
                <c:pt idx="22">
                  <c:v>45890</c:v>
                </c:pt>
                <c:pt idx="23">
                  <c:v>45891</c:v>
                </c:pt>
                <c:pt idx="24">
                  <c:v>45892</c:v>
                </c:pt>
                <c:pt idx="25">
                  <c:v>45893</c:v>
                </c:pt>
                <c:pt idx="26">
                  <c:v>45894</c:v>
                </c:pt>
                <c:pt idx="27">
                  <c:v>45895</c:v>
                </c:pt>
                <c:pt idx="28">
                  <c:v>45896</c:v>
                </c:pt>
                <c:pt idx="29">
                  <c:v>45897</c:v>
                </c:pt>
                <c:pt idx="30">
                  <c:v>45898</c:v>
                </c:pt>
                <c:pt idx="31">
                  <c:v>45899</c:v>
                </c:pt>
                <c:pt idx="32">
                  <c:v>45900</c:v>
                </c:pt>
                <c:pt idx="33">
                  <c:v>45901</c:v>
                </c:pt>
                <c:pt idx="34">
                  <c:v>45902</c:v>
                </c:pt>
                <c:pt idx="35">
                  <c:v>45903</c:v>
                </c:pt>
                <c:pt idx="36">
                  <c:v>45904</c:v>
                </c:pt>
                <c:pt idx="37">
                  <c:v>45905</c:v>
                </c:pt>
                <c:pt idx="38">
                  <c:v>45906</c:v>
                </c:pt>
                <c:pt idx="39">
                  <c:v>45907</c:v>
                </c:pt>
                <c:pt idx="40">
                  <c:v>45908</c:v>
                </c:pt>
                <c:pt idx="41">
                  <c:v>45909</c:v>
                </c:pt>
                <c:pt idx="42">
                  <c:v>45910</c:v>
                </c:pt>
                <c:pt idx="43">
                  <c:v>45911</c:v>
                </c:pt>
                <c:pt idx="44">
                  <c:v>45912</c:v>
                </c:pt>
                <c:pt idx="45">
                  <c:v>45913</c:v>
                </c:pt>
                <c:pt idx="46">
                  <c:v>45914</c:v>
                </c:pt>
                <c:pt idx="47">
                  <c:v>45915</c:v>
                </c:pt>
                <c:pt idx="48">
                  <c:v>45916</c:v>
                </c:pt>
                <c:pt idx="49">
                  <c:v>45917</c:v>
                </c:pt>
                <c:pt idx="50">
                  <c:v>45918</c:v>
                </c:pt>
                <c:pt idx="51">
                  <c:v>45919</c:v>
                </c:pt>
                <c:pt idx="52">
                  <c:v>45920</c:v>
                </c:pt>
                <c:pt idx="53">
                  <c:v>45921</c:v>
                </c:pt>
                <c:pt idx="54">
                  <c:v>45922</c:v>
                </c:pt>
                <c:pt idx="55">
                  <c:v>45923</c:v>
                </c:pt>
                <c:pt idx="56">
                  <c:v>45924</c:v>
                </c:pt>
                <c:pt idx="57">
                  <c:v>45925</c:v>
                </c:pt>
                <c:pt idx="58">
                  <c:v>45926</c:v>
                </c:pt>
                <c:pt idx="59">
                  <c:v>45927</c:v>
                </c:pt>
                <c:pt idx="60">
                  <c:v>45928</c:v>
                </c:pt>
                <c:pt idx="61">
                  <c:v>45929</c:v>
                </c:pt>
                <c:pt idx="62">
                  <c:v>45930</c:v>
                </c:pt>
                <c:pt idx="63">
                  <c:v>45931</c:v>
                </c:pt>
                <c:pt idx="64">
                  <c:v>45932</c:v>
                </c:pt>
                <c:pt idx="65">
                  <c:v>45933</c:v>
                </c:pt>
                <c:pt idx="66">
                  <c:v>45934</c:v>
                </c:pt>
                <c:pt idx="67">
                  <c:v>45935</c:v>
                </c:pt>
                <c:pt idx="68">
                  <c:v>45936</c:v>
                </c:pt>
                <c:pt idx="69">
                  <c:v>45937</c:v>
                </c:pt>
                <c:pt idx="70">
                  <c:v>45938</c:v>
                </c:pt>
                <c:pt idx="71">
                  <c:v>45939</c:v>
                </c:pt>
                <c:pt idx="72">
                  <c:v>45940</c:v>
                </c:pt>
                <c:pt idx="73">
                  <c:v>45941</c:v>
                </c:pt>
                <c:pt idx="74">
                  <c:v>45942</c:v>
                </c:pt>
                <c:pt idx="75">
                  <c:v>45943</c:v>
                </c:pt>
                <c:pt idx="76">
                  <c:v>45944</c:v>
                </c:pt>
                <c:pt idx="77">
                  <c:v>45945</c:v>
                </c:pt>
                <c:pt idx="78">
                  <c:v>45946</c:v>
                </c:pt>
                <c:pt idx="79">
                  <c:v>45947</c:v>
                </c:pt>
                <c:pt idx="80">
                  <c:v>45948</c:v>
                </c:pt>
                <c:pt idx="81">
                  <c:v>45949</c:v>
                </c:pt>
                <c:pt idx="82">
                  <c:v>45950</c:v>
                </c:pt>
                <c:pt idx="83">
                  <c:v>45951</c:v>
                </c:pt>
                <c:pt idx="84">
                  <c:v>45952</c:v>
                </c:pt>
                <c:pt idx="85">
                  <c:v>45953</c:v>
                </c:pt>
                <c:pt idx="86">
                  <c:v>45954</c:v>
                </c:pt>
                <c:pt idx="87">
                  <c:v>45955</c:v>
                </c:pt>
                <c:pt idx="88">
                  <c:v>45956</c:v>
                </c:pt>
                <c:pt idx="89">
                  <c:v>45957</c:v>
                </c:pt>
                <c:pt idx="90">
                  <c:v>45958</c:v>
                </c:pt>
                <c:pt idx="91">
                  <c:v>45959</c:v>
                </c:pt>
                <c:pt idx="92">
                  <c:v>45960</c:v>
                </c:pt>
                <c:pt idx="93">
                  <c:v>45961</c:v>
                </c:pt>
                <c:pt idx="94">
                  <c:v>45962</c:v>
                </c:pt>
                <c:pt idx="95">
                  <c:v>45963</c:v>
                </c:pt>
                <c:pt idx="96">
                  <c:v>45964</c:v>
                </c:pt>
                <c:pt idx="97">
                  <c:v>45965</c:v>
                </c:pt>
                <c:pt idx="98">
                  <c:v>45966</c:v>
                </c:pt>
                <c:pt idx="99">
                  <c:v>45967</c:v>
                </c:pt>
                <c:pt idx="100">
                  <c:v>45968</c:v>
                </c:pt>
                <c:pt idx="101">
                  <c:v>45969</c:v>
                </c:pt>
                <c:pt idx="102">
                  <c:v>45970</c:v>
                </c:pt>
                <c:pt idx="103">
                  <c:v>45971</c:v>
                </c:pt>
                <c:pt idx="104">
                  <c:v>45972</c:v>
                </c:pt>
                <c:pt idx="105">
                  <c:v>45973</c:v>
                </c:pt>
                <c:pt idx="106">
                  <c:v>45974</c:v>
                </c:pt>
                <c:pt idx="107">
                  <c:v>45975</c:v>
                </c:pt>
                <c:pt idx="108">
                  <c:v>45976</c:v>
                </c:pt>
                <c:pt idx="109">
                  <c:v>45977</c:v>
                </c:pt>
                <c:pt idx="110">
                  <c:v>45978</c:v>
                </c:pt>
                <c:pt idx="111">
                  <c:v>45979</c:v>
                </c:pt>
                <c:pt idx="112">
                  <c:v>45980</c:v>
                </c:pt>
                <c:pt idx="113">
                  <c:v>45981</c:v>
                </c:pt>
                <c:pt idx="114">
                  <c:v>45982</c:v>
                </c:pt>
                <c:pt idx="115">
                  <c:v>45983</c:v>
                </c:pt>
                <c:pt idx="116">
                  <c:v>45984</c:v>
                </c:pt>
                <c:pt idx="117">
                  <c:v>45985</c:v>
                </c:pt>
                <c:pt idx="118">
                  <c:v>45986</c:v>
                </c:pt>
                <c:pt idx="119">
                  <c:v>45987</c:v>
                </c:pt>
                <c:pt idx="120">
                  <c:v>45988</c:v>
                </c:pt>
                <c:pt idx="121">
                  <c:v>45989</c:v>
                </c:pt>
                <c:pt idx="122">
                  <c:v>45990</c:v>
                </c:pt>
                <c:pt idx="123">
                  <c:v>45991</c:v>
                </c:pt>
                <c:pt idx="124">
                  <c:v>45992</c:v>
                </c:pt>
                <c:pt idx="125">
                  <c:v>45993</c:v>
                </c:pt>
                <c:pt idx="126">
                  <c:v>45994</c:v>
                </c:pt>
                <c:pt idx="127">
                  <c:v>45995</c:v>
                </c:pt>
                <c:pt idx="128">
                  <c:v>45996</c:v>
                </c:pt>
                <c:pt idx="129">
                  <c:v>45997</c:v>
                </c:pt>
                <c:pt idx="130">
                  <c:v>45998</c:v>
                </c:pt>
                <c:pt idx="131">
                  <c:v>45999</c:v>
                </c:pt>
                <c:pt idx="132">
                  <c:v>46000</c:v>
                </c:pt>
                <c:pt idx="133">
                  <c:v>46001</c:v>
                </c:pt>
                <c:pt idx="134">
                  <c:v>46002</c:v>
                </c:pt>
                <c:pt idx="135">
                  <c:v>46003</c:v>
                </c:pt>
                <c:pt idx="136">
                  <c:v>46004</c:v>
                </c:pt>
                <c:pt idx="137">
                  <c:v>46005</c:v>
                </c:pt>
                <c:pt idx="138">
                  <c:v>46006</c:v>
                </c:pt>
                <c:pt idx="139">
                  <c:v>46007</c:v>
                </c:pt>
                <c:pt idx="140">
                  <c:v>46008</c:v>
                </c:pt>
                <c:pt idx="141">
                  <c:v>46009</c:v>
                </c:pt>
                <c:pt idx="142">
                  <c:v>46010</c:v>
                </c:pt>
                <c:pt idx="143">
                  <c:v>46011</c:v>
                </c:pt>
                <c:pt idx="144">
                  <c:v>46012</c:v>
                </c:pt>
                <c:pt idx="145">
                  <c:v>46013</c:v>
                </c:pt>
                <c:pt idx="146">
                  <c:v>46014</c:v>
                </c:pt>
                <c:pt idx="147">
                  <c:v>46015</c:v>
                </c:pt>
                <c:pt idx="148">
                  <c:v>46016</c:v>
                </c:pt>
                <c:pt idx="149">
                  <c:v>46017</c:v>
                </c:pt>
                <c:pt idx="150">
                  <c:v>46018</c:v>
                </c:pt>
                <c:pt idx="151">
                  <c:v>46019</c:v>
                </c:pt>
                <c:pt idx="152">
                  <c:v>46020</c:v>
                </c:pt>
                <c:pt idx="153">
                  <c:v>46021</c:v>
                </c:pt>
                <c:pt idx="154">
                  <c:v>46022</c:v>
                </c:pt>
                <c:pt idx="155">
                  <c:v>46023</c:v>
                </c:pt>
                <c:pt idx="156">
                  <c:v>46024</c:v>
                </c:pt>
                <c:pt idx="157">
                  <c:v>46025</c:v>
                </c:pt>
                <c:pt idx="158">
                  <c:v>46026</c:v>
                </c:pt>
                <c:pt idx="159">
                  <c:v>46027</c:v>
                </c:pt>
                <c:pt idx="160">
                  <c:v>46028</c:v>
                </c:pt>
                <c:pt idx="161">
                  <c:v>46029</c:v>
                </c:pt>
                <c:pt idx="162">
                  <c:v>46030</c:v>
                </c:pt>
                <c:pt idx="163">
                  <c:v>46031</c:v>
                </c:pt>
                <c:pt idx="164">
                  <c:v>46032</c:v>
                </c:pt>
                <c:pt idx="165">
                  <c:v>46033</c:v>
                </c:pt>
                <c:pt idx="166">
                  <c:v>46034</c:v>
                </c:pt>
                <c:pt idx="167">
                  <c:v>46035</c:v>
                </c:pt>
                <c:pt idx="168">
                  <c:v>46036</c:v>
                </c:pt>
                <c:pt idx="169">
                  <c:v>46037</c:v>
                </c:pt>
                <c:pt idx="170">
                  <c:v>46038</c:v>
                </c:pt>
                <c:pt idx="171">
                  <c:v>46039</c:v>
                </c:pt>
                <c:pt idx="172">
                  <c:v>46040</c:v>
                </c:pt>
                <c:pt idx="173">
                  <c:v>46041</c:v>
                </c:pt>
                <c:pt idx="174">
                  <c:v>46042</c:v>
                </c:pt>
                <c:pt idx="175">
                  <c:v>46043</c:v>
                </c:pt>
                <c:pt idx="176">
                  <c:v>46044</c:v>
                </c:pt>
                <c:pt idx="177">
                  <c:v>46045</c:v>
                </c:pt>
                <c:pt idx="178">
                  <c:v>46046</c:v>
                </c:pt>
                <c:pt idx="179">
                  <c:v>46047</c:v>
                </c:pt>
                <c:pt idx="180">
                  <c:v>46048</c:v>
                </c:pt>
                <c:pt idx="181">
                  <c:v>46049</c:v>
                </c:pt>
                <c:pt idx="182">
                  <c:v>46050</c:v>
                </c:pt>
                <c:pt idx="183">
                  <c:v>46051</c:v>
                </c:pt>
                <c:pt idx="184">
                  <c:v>46052</c:v>
                </c:pt>
                <c:pt idx="185">
                  <c:v>46053</c:v>
                </c:pt>
                <c:pt idx="186">
                  <c:v>46054</c:v>
                </c:pt>
                <c:pt idx="187">
                  <c:v>46055</c:v>
                </c:pt>
                <c:pt idx="188">
                  <c:v>46056</c:v>
                </c:pt>
                <c:pt idx="189">
                  <c:v>46057</c:v>
                </c:pt>
                <c:pt idx="190">
                  <c:v>46058</c:v>
                </c:pt>
                <c:pt idx="191">
                  <c:v>46059</c:v>
                </c:pt>
                <c:pt idx="192">
                  <c:v>46060</c:v>
                </c:pt>
                <c:pt idx="193">
                  <c:v>46061</c:v>
                </c:pt>
                <c:pt idx="194">
                  <c:v>46062</c:v>
                </c:pt>
                <c:pt idx="195">
                  <c:v>46063</c:v>
                </c:pt>
                <c:pt idx="196">
                  <c:v>46064</c:v>
                </c:pt>
                <c:pt idx="197">
                  <c:v>46065</c:v>
                </c:pt>
                <c:pt idx="198">
                  <c:v>46066</c:v>
                </c:pt>
                <c:pt idx="199">
                  <c:v>46067</c:v>
                </c:pt>
                <c:pt idx="200">
                  <c:v>46068</c:v>
                </c:pt>
                <c:pt idx="201">
                  <c:v>46069</c:v>
                </c:pt>
                <c:pt idx="202">
                  <c:v>46070</c:v>
                </c:pt>
                <c:pt idx="203">
                  <c:v>46071</c:v>
                </c:pt>
                <c:pt idx="204">
                  <c:v>46072</c:v>
                </c:pt>
                <c:pt idx="205">
                  <c:v>46073</c:v>
                </c:pt>
                <c:pt idx="206">
                  <c:v>46074</c:v>
                </c:pt>
                <c:pt idx="207">
                  <c:v>46075</c:v>
                </c:pt>
                <c:pt idx="208">
                  <c:v>46076</c:v>
                </c:pt>
                <c:pt idx="209">
                  <c:v>46077</c:v>
                </c:pt>
                <c:pt idx="210">
                  <c:v>46078</c:v>
                </c:pt>
                <c:pt idx="211">
                  <c:v>46079</c:v>
                </c:pt>
                <c:pt idx="212">
                  <c:v>46080</c:v>
                </c:pt>
                <c:pt idx="213">
                  <c:v>46081</c:v>
                </c:pt>
                <c:pt idx="214">
                  <c:v>46082</c:v>
                </c:pt>
                <c:pt idx="215">
                  <c:v>46083</c:v>
                </c:pt>
                <c:pt idx="216">
                  <c:v>46084</c:v>
                </c:pt>
                <c:pt idx="217">
                  <c:v>46085</c:v>
                </c:pt>
                <c:pt idx="218">
                  <c:v>46086</c:v>
                </c:pt>
                <c:pt idx="219">
                  <c:v>46087</c:v>
                </c:pt>
                <c:pt idx="220">
                  <c:v>46088</c:v>
                </c:pt>
                <c:pt idx="221">
                  <c:v>46089</c:v>
                </c:pt>
                <c:pt idx="222">
                  <c:v>46090</c:v>
                </c:pt>
                <c:pt idx="223">
                  <c:v>46091</c:v>
                </c:pt>
                <c:pt idx="224">
                  <c:v>46092</c:v>
                </c:pt>
                <c:pt idx="225">
                  <c:v>46093</c:v>
                </c:pt>
                <c:pt idx="226">
                  <c:v>46094</c:v>
                </c:pt>
                <c:pt idx="227">
                  <c:v>46095</c:v>
                </c:pt>
                <c:pt idx="228">
                  <c:v>46096</c:v>
                </c:pt>
                <c:pt idx="229">
                  <c:v>46097</c:v>
                </c:pt>
                <c:pt idx="230">
                  <c:v>46098</c:v>
                </c:pt>
                <c:pt idx="231">
                  <c:v>46099</c:v>
                </c:pt>
                <c:pt idx="232">
                  <c:v>46100</c:v>
                </c:pt>
                <c:pt idx="233">
                  <c:v>46101</c:v>
                </c:pt>
                <c:pt idx="234">
                  <c:v>46102</c:v>
                </c:pt>
                <c:pt idx="235">
                  <c:v>46103</c:v>
                </c:pt>
                <c:pt idx="236">
                  <c:v>46104</c:v>
                </c:pt>
                <c:pt idx="237">
                  <c:v>46105</c:v>
                </c:pt>
                <c:pt idx="238">
                  <c:v>46106</c:v>
                </c:pt>
                <c:pt idx="239">
                  <c:v>46107</c:v>
                </c:pt>
                <c:pt idx="240">
                  <c:v>46108</c:v>
                </c:pt>
                <c:pt idx="241">
                  <c:v>46109</c:v>
                </c:pt>
                <c:pt idx="242">
                  <c:v>46110</c:v>
                </c:pt>
                <c:pt idx="243">
                  <c:v>46111</c:v>
                </c:pt>
                <c:pt idx="244">
                  <c:v>46112</c:v>
                </c:pt>
                <c:pt idx="245">
                  <c:v>46113</c:v>
                </c:pt>
                <c:pt idx="246">
                  <c:v>46114</c:v>
                </c:pt>
                <c:pt idx="247">
                  <c:v>46115</c:v>
                </c:pt>
                <c:pt idx="248">
                  <c:v>46116</c:v>
                </c:pt>
                <c:pt idx="249">
                  <c:v>46117</c:v>
                </c:pt>
                <c:pt idx="250">
                  <c:v>46118</c:v>
                </c:pt>
                <c:pt idx="251">
                  <c:v>46119</c:v>
                </c:pt>
                <c:pt idx="252">
                  <c:v>46120</c:v>
                </c:pt>
                <c:pt idx="253">
                  <c:v>46121</c:v>
                </c:pt>
                <c:pt idx="254">
                  <c:v>46122</c:v>
                </c:pt>
                <c:pt idx="255">
                  <c:v>46123</c:v>
                </c:pt>
                <c:pt idx="256">
                  <c:v>46124</c:v>
                </c:pt>
                <c:pt idx="257">
                  <c:v>46125</c:v>
                </c:pt>
                <c:pt idx="258">
                  <c:v>46126</c:v>
                </c:pt>
                <c:pt idx="259">
                  <c:v>46127</c:v>
                </c:pt>
                <c:pt idx="260">
                  <c:v>46128</c:v>
                </c:pt>
                <c:pt idx="261">
                  <c:v>46129</c:v>
                </c:pt>
                <c:pt idx="262">
                  <c:v>46130</c:v>
                </c:pt>
                <c:pt idx="263">
                  <c:v>46131</c:v>
                </c:pt>
                <c:pt idx="264">
                  <c:v>46132</c:v>
                </c:pt>
                <c:pt idx="265">
                  <c:v>46133</c:v>
                </c:pt>
                <c:pt idx="266">
                  <c:v>46134</c:v>
                </c:pt>
                <c:pt idx="267">
                  <c:v>46135</c:v>
                </c:pt>
                <c:pt idx="268">
                  <c:v>46136</c:v>
                </c:pt>
                <c:pt idx="269">
                  <c:v>46137</c:v>
                </c:pt>
                <c:pt idx="270">
                  <c:v>46138</c:v>
                </c:pt>
                <c:pt idx="271">
                  <c:v>46139</c:v>
                </c:pt>
                <c:pt idx="272">
                  <c:v>46140</c:v>
                </c:pt>
                <c:pt idx="273">
                  <c:v>46141</c:v>
                </c:pt>
                <c:pt idx="274">
                  <c:v>46142</c:v>
                </c:pt>
                <c:pt idx="275">
                  <c:v>46143</c:v>
                </c:pt>
                <c:pt idx="276">
                  <c:v>46144</c:v>
                </c:pt>
                <c:pt idx="277">
                  <c:v>46145</c:v>
                </c:pt>
                <c:pt idx="278">
                  <c:v>46146</c:v>
                </c:pt>
                <c:pt idx="279">
                  <c:v>46147</c:v>
                </c:pt>
                <c:pt idx="280">
                  <c:v>46148</c:v>
                </c:pt>
                <c:pt idx="281">
                  <c:v>46149</c:v>
                </c:pt>
                <c:pt idx="282">
                  <c:v>46150</c:v>
                </c:pt>
                <c:pt idx="283">
                  <c:v>46151</c:v>
                </c:pt>
                <c:pt idx="284">
                  <c:v>46152</c:v>
                </c:pt>
                <c:pt idx="285">
                  <c:v>46153</c:v>
                </c:pt>
                <c:pt idx="286">
                  <c:v>46154</c:v>
                </c:pt>
                <c:pt idx="287">
                  <c:v>46155</c:v>
                </c:pt>
                <c:pt idx="288">
                  <c:v>46156</c:v>
                </c:pt>
                <c:pt idx="289">
                  <c:v>46157</c:v>
                </c:pt>
                <c:pt idx="290">
                  <c:v>46158</c:v>
                </c:pt>
                <c:pt idx="291">
                  <c:v>46159</c:v>
                </c:pt>
                <c:pt idx="292">
                  <c:v>46160</c:v>
                </c:pt>
                <c:pt idx="293">
                  <c:v>46161</c:v>
                </c:pt>
                <c:pt idx="294">
                  <c:v>46162</c:v>
                </c:pt>
                <c:pt idx="295">
                  <c:v>46163</c:v>
                </c:pt>
                <c:pt idx="296">
                  <c:v>46164</c:v>
                </c:pt>
                <c:pt idx="297">
                  <c:v>46165</c:v>
                </c:pt>
                <c:pt idx="298">
                  <c:v>46166</c:v>
                </c:pt>
                <c:pt idx="299">
                  <c:v>46167</c:v>
                </c:pt>
                <c:pt idx="300">
                  <c:v>46168</c:v>
                </c:pt>
                <c:pt idx="301">
                  <c:v>46169</c:v>
                </c:pt>
                <c:pt idx="302">
                  <c:v>46170</c:v>
                </c:pt>
                <c:pt idx="303">
                  <c:v>46171</c:v>
                </c:pt>
                <c:pt idx="304">
                  <c:v>46172</c:v>
                </c:pt>
                <c:pt idx="305">
                  <c:v>46173</c:v>
                </c:pt>
                <c:pt idx="306">
                  <c:v>46174</c:v>
                </c:pt>
                <c:pt idx="307">
                  <c:v>46175</c:v>
                </c:pt>
                <c:pt idx="308">
                  <c:v>46176</c:v>
                </c:pt>
                <c:pt idx="309">
                  <c:v>46177</c:v>
                </c:pt>
                <c:pt idx="310">
                  <c:v>46178</c:v>
                </c:pt>
                <c:pt idx="311">
                  <c:v>46179</c:v>
                </c:pt>
                <c:pt idx="312">
                  <c:v>46180</c:v>
                </c:pt>
                <c:pt idx="313">
                  <c:v>46181</c:v>
                </c:pt>
                <c:pt idx="314">
                  <c:v>46182</c:v>
                </c:pt>
                <c:pt idx="315">
                  <c:v>46183</c:v>
                </c:pt>
                <c:pt idx="316">
                  <c:v>46184</c:v>
                </c:pt>
                <c:pt idx="317">
                  <c:v>46185</c:v>
                </c:pt>
                <c:pt idx="318">
                  <c:v>46186</c:v>
                </c:pt>
                <c:pt idx="319">
                  <c:v>46187</c:v>
                </c:pt>
                <c:pt idx="320">
                  <c:v>46188</c:v>
                </c:pt>
                <c:pt idx="321">
                  <c:v>46189</c:v>
                </c:pt>
                <c:pt idx="322">
                  <c:v>46190</c:v>
                </c:pt>
                <c:pt idx="323">
                  <c:v>46191</c:v>
                </c:pt>
                <c:pt idx="324">
                  <c:v>46192</c:v>
                </c:pt>
                <c:pt idx="325">
                  <c:v>46193</c:v>
                </c:pt>
                <c:pt idx="326">
                  <c:v>46194</c:v>
                </c:pt>
                <c:pt idx="327">
                  <c:v>46195</c:v>
                </c:pt>
                <c:pt idx="328">
                  <c:v>46196</c:v>
                </c:pt>
                <c:pt idx="329">
                  <c:v>46197</c:v>
                </c:pt>
                <c:pt idx="330">
                  <c:v>46198</c:v>
                </c:pt>
                <c:pt idx="331">
                  <c:v>46199</c:v>
                </c:pt>
                <c:pt idx="332">
                  <c:v>46200</c:v>
                </c:pt>
                <c:pt idx="333">
                  <c:v>46201</c:v>
                </c:pt>
                <c:pt idx="334">
                  <c:v>46202</c:v>
                </c:pt>
                <c:pt idx="335">
                  <c:v>46203</c:v>
                </c:pt>
                <c:pt idx="336">
                  <c:v>46204</c:v>
                </c:pt>
                <c:pt idx="337">
                  <c:v>46205</c:v>
                </c:pt>
                <c:pt idx="338">
                  <c:v>46206</c:v>
                </c:pt>
                <c:pt idx="339">
                  <c:v>46207</c:v>
                </c:pt>
                <c:pt idx="340">
                  <c:v>46208</c:v>
                </c:pt>
                <c:pt idx="341">
                  <c:v>46209</c:v>
                </c:pt>
                <c:pt idx="342">
                  <c:v>46210</c:v>
                </c:pt>
                <c:pt idx="343">
                  <c:v>46211</c:v>
                </c:pt>
                <c:pt idx="344">
                  <c:v>46212</c:v>
                </c:pt>
                <c:pt idx="345">
                  <c:v>46213</c:v>
                </c:pt>
                <c:pt idx="346">
                  <c:v>46214</c:v>
                </c:pt>
                <c:pt idx="347">
                  <c:v>46215</c:v>
                </c:pt>
                <c:pt idx="348">
                  <c:v>46216</c:v>
                </c:pt>
                <c:pt idx="349">
                  <c:v>46217</c:v>
                </c:pt>
                <c:pt idx="350">
                  <c:v>46218</c:v>
                </c:pt>
                <c:pt idx="351">
                  <c:v>46219</c:v>
                </c:pt>
                <c:pt idx="352">
                  <c:v>46220</c:v>
                </c:pt>
                <c:pt idx="353">
                  <c:v>46221</c:v>
                </c:pt>
                <c:pt idx="354">
                  <c:v>46222</c:v>
                </c:pt>
                <c:pt idx="355">
                  <c:v>46223</c:v>
                </c:pt>
                <c:pt idx="356">
                  <c:v>46224</c:v>
                </c:pt>
                <c:pt idx="357">
                  <c:v>46225</c:v>
                </c:pt>
                <c:pt idx="358">
                  <c:v>46226</c:v>
                </c:pt>
                <c:pt idx="359">
                  <c:v>46227</c:v>
                </c:pt>
                <c:pt idx="360">
                  <c:v>46228</c:v>
                </c:pt>
                <c:pt idx="361">
                  <c:v>46229</c:v>
                </c:pt>
                <c:pt idx="362">
                  <c:v>46230</c:v>
                </c:pt>
                <c:pt idx="363">
                  <c:v>46231</c:v>
                </c:pt>
                <c:pt idx="364">
                  <c:v>46232</c:v>
                </c:pt>
                <c:pt idx="365">
                  <c:v>46233</c:v>
                </c:pt>
                <c:pt idx="366">
                  <c:v>46234</c:v>
                </c:pt>
              </c:numCache>
            </c:numRef>
          </c:cat>
          <c:val>
            <c:numRef>
              <c:f>Frontpage_bank!$R$4:$R$370</c:f>
              <c:numCache>
                <c:formatCode>General</c:formatCode>
                <c:ptCount val="367"/>
                <c:pt idx="0">
                  <c:v>100</c:v>
                </c:pt>
                <c:pt idx="1">
                  <c:v>98.020735155513677</c:v>
                </c:pt>
                <c:pt idx="2">
                  <c:v>100.84825636192272</c:v>
                </c:pt>
                <c:pt idx="3">
                  <c:v>100.84825636192272</c:v>
                </c:pt>
                <c:pt idx="4">
                  <c:v>100.84825636192272</c:v>
                </c:pt>
                <c:pt idx="5">
                  <c:v>100.47125353440151</c:v>
                </c:pt>
                <c:pt idx="6">
                  <c:v>99.717247879359093</c:v>
                </c:pt>
                <c:pt idx="7">
                  <c:v>98.86899151743637</c:v>
                </c:pt>
                <c:pt idx="8">
                  <c:v>100.09425070688029</c:v>
                </c:pt>
                <c:pt idx="9">
                  <c:v>99.528746465598488</c:v>
                </c:pt>
                <c:pt idx="10">
                  <c:v>99.528746465598488</c:v>
                </c:pt>
                <c:pt idx="11">
                  <c:v>99.528746465598488</c:v>
                </c:pt>
                <c:pt idx="12">
                  <c:v>100.28275212064091</c:v>
                </c:pt>
                <c:pt idx="13">
                  <c:v>101.31950989632421</c:v>
                </c:pt>
                <c:pt idx="14">
                  <c:v>99.05749293119699</c:v>
                </c:pt>
                <c:pt idx="15">
                  <c:v>97.832233741753058</c:v>
                </c:pt>
                <c:pt idx="16">
                  <c:v>95.570216776625827</c:v>
                </c:pt>
                <c:pt idx="17">
                  <c:v>95.570216776625827</c:v>
                </c:pt>
                <c:pt idx="18">
                  <c:v>95.570216776625827</c:v>
                </c:pt>
                <c:pt idx="19">
                  <c:v>94.721960414703105</c:v>
                </c:pt>
                <c:pt idx="20">
                  <c:v>94.533459000942514</c:v>
                </c:pt>
                <c:pt idx="21">
                  <c:v>92.082940622054664</c:v>
                </c:pt>
                <c:pt idx="22">
                  <c:v>95.852968897266734</c:v>
                </c:pt>
                <c:pt idx="23">
                  <c:v>93.308199811498582</c:v>
                </c:pt>
                <c:pt idx="24">
                  <c:v>93.308199811498582</c:v>
                </c:pt>
                <c:pt idx="25">
                  <c:v>93.308199811498582</c:v>
                </c:pt>
                <c:pt idx="26">
                  <c:v>93.119698397737977</c:v>
                </c:pt>
                <c:pt idx="27">
                  <c:v>94.250706880301607</c:v>
                </c:pt>
                <c:pt idx="28">
                  <c:v>98.963242224316687</c:v>
                </c:pt>
                <c:pt idx="29">
                  <c:v>98.491988689915175</c:v>
                </c:pt>
                <c:pt idx="30">
                  <c:v>95.758718190386432</c:v>
                </c:pt>
                <c:pt idx="31">
                  <c:v>95.758718190386432</c:v>
                </c:pt>
                <c:pt idx="32">
                  <c:v>95.758718190386432</c:v>
                </c:pt>
                <c:pt idx="33">
                  <c:v>95.758718190386432</c:v>
                </c:pt>
                <c:pt idx="34">
                  <c:v>95.758718190386432</c:v>
                </c:pt>
                <c:pt idx="35">
                  <c:v>97.266729500471243</c:v>
                </c:pt>
                <c:pt idx="36">
                  <c:v>98.963242224316687</c:v>
                </c:pt>
                <c:pt idx="37">
                  <c:v>97.455230914231862</c:v>
                </c:pt>
                <c:pt idx="38">
                  <c:v>97.455230914231862</c:v>
                </c:pt>
                <c:pt idx="39">
                  <c:v>97.455230914231862</c:v>
                </c:pt>
                <c:pt idx="40">
                  <c:v>96.041470311027339</c:v>
                </c:pt>
                <c:pt idx="41">
                  <c:v>96.22997172478793</c:v>
                </c:pt>
                <c:pt idx="42">
                  <c:v>95.381715362865222</c:v>
                </c:pt>
                <c:pt idx="43">
                  <c:v>96.135721017907642</c:v>
                </c:pt>
                <c:pt idx="44">
                  <c:v>95.758718190386432</c:v>
                </c:pt>
                <c:pt idx="45">
                  <c:v>95.758718190386432</c:v>
                </c:pt>
                <c:pt idx="46">
                  <c:v>95.758718190386432</c:v>
                </c:pt>
                <c:pt idx="47">
                  <c:v>96.041470311027339</c:v>
                </c:pt>
                <c:pt idx="48">
                  <c:v>97.54948162111215</c:v>
                </c:pt>
                <c:pt idx="49">
                  <c:v>99.434495758718185</c:v>
                </c:pt>
                <c:pt idx="50">
                  <c:v>97.078228086710652</c:v>
                </c:pt>
                <c:pt idx="51">
                  <c:v>97.078228086710652</c:v>
                </c:pt>
                <c:pt idx="52">
                  <c:v>97.078228086710652</c:v>
                </c:pt>
                <c:pt idx="53">
                  <c:v>97.078228086710652</c:v>
                </c:pt>
                <c:pt idx="54">
                  <c:v>93.967954759660699</c:v>
                </c:pt>
                <c:pt idx="55">
                  <c:v>92.365692742695572</c:v>
                </c:pt>
                <c:pt idx="56">
                  <c:v>93.779453345900095</c:v>
                </c:pt>
                <c:pt idx="57">
                  <c:v>92.365692742695572</c:v>
                </c:pt>
                <c:pt idx="58">
                  <c:v>91.89443920829406</c:v>
                </c:pt>
                <c:pt idx="59">
                  <c:v>91.89443920829406</c:v>
                </c:pt>
                <c:pt idx="60">
                  <c:v>91.89443920829406</c:v>
                </c:pt>
                <c:pt idx="61">
                  <c:v>90.009425070688025</c:v>
                </c:pt>
                <c:pt idx="62">
                  <c:v>87.653157398680491</c:v>
                </c:pt>
                <c:pt idx="63">
                  <c:v>88.030160226201687</c:v>
                </c:pt>
                <c:pt idx="64">
                  <c:v>86.804901036757769</c:v>
                </c:pt>
                <c:pt idx="65">
                  <c:v>88.030160226201687</c:v>
                </c:pt>
                <c:pt idx="66">
                  <c:v>88.030160226201687</c:v>
                </c:pt>
                <c:pt idx="67">
                  <c:v>88.030160226201687</c:v>
                </c:pt>
                <c:pt idx="68">
                  <c:v>90.009425070688025</c:v>
                </c:pt>
                <c:pt idx="69">
                  <c:v>90.009425070688025</c:v>
                </c:pt>
                <c:pt idx="70">
                  <c:v>89.066918001885014</c:v>
                </c:pt>
                <c:pt idx="71">
                  <c:v>88.784165881244121</c:v>
                </c:pt>
                <c:pt idx="72">
                  <c:v>90.574929311969839</c:v>
                </c:pt>
                <c:pt idx="73">
                  <c:v>90.574929311969839</c:v>
                </c:pt>
                <c:pt idx="74">
                  <c:v>90.574929311969839</c:v>
                </c:pt>
                <c:pt idx="75">
                  <c:v>88.595664467483502</c:v>
                </c:pt>
                <c:pt idx="76">
                  <c:v>87.087653157398677</c:v>
                </c:pt>
                <c:pt idx="77">
                  <c:v>84.448633364750236</c:v>
                </c:pt>
                <c:pt idx="78">
                  <c:v>84.637134778510841</c:v>
                </c:pt>
                <c:pt idx="79">
                  <c:v>83.034872761545714</c:v>
                </c:pt>
                <c:pt idx="80">
                  <c:v>83.034872761545714</c:v>
                </c:pt>
                <c:pt idx="81">
                  <c:v>83.034872761545714</c:v>
                </c:pt>
                <c:pt idx="82">
                  <c:v>81.998114985862387</c:v>
                </c:pt>
                <c:pt idx="83">
                  <c:v>87.653157398680491</c:v>
                </c:pt>
                <c:pt idx="84">
                  <c:v>91.423185673892561</c:v>
                </c:pt>
                <c:pt idx="85">
                  <c:v>89.538171536286526</c:v>
                </c:pt>
                <c:pt idx="86">
                  <c:v>92.082940622054664</c:v>
                </c:pt>
                <c:pt idx="87">
                  <c:v>92.082940622054664</c:v>
                </c:pt>
                <c:pt idx="88">
                  <c:v>92.082940622054664</c:v>
                </c:pt>
                <c:pt idx="89">
                  <c:v>92.365692742695572</c:v>
                </c:pt>
                <c:pt idx="90">
                  <c:v>96.324222431668233</c:v>
                </c:pt>
                <c:pt idx="91">
                  <c:v>95.852968897266734</c:v>
                </c:pt>
                <c:pt idx="92">
                  <c:v>96.795475966069745</c:v>
                </c:pt>
                <c:pt idx="93">
                  <c:v>97.92648444863336</c:v>
                </c:pt>
                <c:pt idx="94">
                  <c:v>97.92648444863336</c:v>
                </c:pt>
                <c:pt idx="95">
                  <c:v>97.92648444863336</c:v>
                </c:pt>
                <c:pt idx="96">
                  <c:v>98.963242224316687</c:v>
                </c:pt>
                <c:pt idx="97">
                  <c:v>97.36098020735156</c:v>
                </c:pt>
                <c:pt idx="98">
                  <c:v>95.098963242224315</c:v>
                </c:pt>
                <c:pt idx="99">
                  <c:v>94.439208294062212</c:v>
                </c:pt>
                <c:pt idx="100">
                  <c:v>95.193213949104617</c:v>
                </c:pt>
                <c:pt idx="101">
                  <c:v>95.193213949104617</c:v>
                </c:pt>
                <c:pt idx="102">
                  <c:v>95.193213949104617</c:v>
                </c:pt>
                <c:pt idx="103">
                  <c:v>90.669180018850142</c:v>
                </c:pt>
                <c:pt idx="104">
                  <c:v>90.574929311969839</c:v>
                </c:pt>
                <c:pt idx="105">
                  <c:v>94.816211121583422</c:v>
                </c:pt>
                <c:pt idx="106">
                  <c:v>93.213949104618294</c:v>
                </c:pt>
                <c:pt idx="107">
                  <c:v>94.250706880301607</c:v>
                </c:pt>
                <c:pt idx="108">
                  <c:v>94.250706880301607</c:v>
                </c:pt>
                <c:pt idx="109">
                  <c:v>94.250706880301607</c:v>
                </c:pt>
                <c:pt idx="110">
                  <c:v>95.193213949104617</c:v>
                </c:pt>
                <c:pt idx="111">
                  <c:v>94.250706880301607</c:v>
                </c:pt>
                <c:pt idx="112">
                  <c:v>92.365692742695572</c:v>
                </c:pt>
                <c:pt idx="113">
                  <c:v>93.308199811498582</c:v>
                </c:pt>
                <c:pt idx="114">
                  <c:v>95.004712535344012</c:v>
                </c:pt>
                <c:pt idx="115">
                  <c:v>95.004712535344012</c:v>
                </c:pt>
                <c:pt idx="116">
                  <c:v>95.004712535344012</c:v>
                </c:pt>
                <c:pt idx="117">
                  <c:v>94.439208294062212</c:v>
                </c:pt>
                <c:pt idx="118">
                  <c:v>93.967954759660699</c:v>
                </c:pt>
                <c:pt idx="119">
                  <c:v>93.308199811498582</c:v>
                </c:pt>
                <c:pt idx="120">
                  <c:v>93.779453345900095</c:v>
                </c:pt>
                <c:pt idx="121">
                  <c:v>91.51743638077285</c:v>
                </c:pt>
                <c:pt idx="122">
                  <c:v>91.51743638077285</c:v>
                </c:pt>
                <c:pt idx="123">
                  <c:v>91.51743638077285</c:v>
                </c:pt>
                <c:pt idx="124">
                  <c:v>91.046182846371352</c:v>
                </c:pt>
                <c:pt idx="125">
                  <c:v>91.046182846371352</c:v>
                </c:pt>
                <c:pt idx="126">
                  <c:v>91.046182846371352</c:v>
                </c:pt>
                <c:pt idx="127">
                  <c:v>91.89443920829406</c:v>
                </c:pt>
                <c:pt idx="128">
                  <c:v>90.669180018850142</c:v>
                </c:pt>
                <c:pt idx="129">
                  <c:v>90.669180018850142</c:v>
                </c:pt>
                <c:pt idx="130">
                  <c:v>90.669180018850142</c:v>
                </c:pt>
                <c:pt idx="131">
                  <c:v>90.009425070688025</c:v>
                </c:pt>
                <c:pt idx="132">
                  <c:v>91.328934967012259</c:v>
                </c:pt>
                <c:pt idx="133">
                  <c:v>90.103675777568341</c:v>
                </c:pt>
                <c:pt idx="134">
                  <c:v>90.480678605089537</c:v>
                </c:pt>
                <c:pt idx="135">
                  <c:v>88.312912346842595</c:v>
                </c:pt>
                <c:pt idx="136">
                  <c:v>88.312912346842595</c:v>
                </c:pt>
                <c:pt idx="137">
                  <c:v>88.312912346842595</c:v>
                </c:pt>
                <c:pt idx="138">
                  <c:v>88.407163053722897</c:v>
                </c:pt>
                <c:pt idx="139">
                  <c:v>89.443920829406224</c:v>
                </c:pt>
                <c:pt idx="140">
                  <c:v>90.386427898209234</c:v>
                </c:pt>
                <c:pt idx="141">
                  <c:v>88.972667295004712</c:v>
                </c:pt>
                <c:pt idx="142">
                  <c:v>88.501413760603214</c:v>
                </c:pt>
                <c:pt idx="143">
                  <c:v>88.501413760603214</c:v>
                </c:pt>
                <c:pt idx="144">
                  <c:v>88.501413760603214</c:v>
                </c:pt>
                <c:pt idx="145">
                  <c:v>88.312912346842595</c:v>
                </c:pt>
                <c:pt idx="146">
                  <c:v>88.595664467483502</c:v>
                </c:pt>
                <c:pt idx="147">
                  <c:v>88.218661639962306</c:v>
                </c:pt>
                <c:pt idx="148">
                  <c:v>87.653157398680491</c:v>
                </c:pt>
                <c:pt idx="149">
                  <c:v>87.181903864278993</c:v>
                </c:pt>
                <c:pt idx="150">
                  <c:v>87.181903864278993</c:v>
                </c:pt>
                <c:pt idx="151">
                  <c:v>87.181903864278993</c:v>
                </c:pt>
                <c:pt idx="152">
                  <c:v>88.878416588124409</c:v>
                </c:pt>
                <c:pt idx="153">
                  <c:v>90.951932139491049</c:v>
                </c:pt>
                <c:pt idx="154">
                  <c:v>90.292177191328932</c:v>
                </c:pt>
                <c:pt idx="155">
                  <c:v>90.292177191328932</c:v>
                </c:pt>
                <c:pt idx="156">
                  <c:v>90.292177191328932</c:v>
                </c:pt>
                <c:pt idx="157">
                  <c:v>90.292177191328932</c:v>
                </c:pt>
                <c:pt idx="158">
                  <c:v>90.292177191328932</c:v>
                </c:pt>
                <c:pt idx="159">
                  <c:v>89.538171536286526</c:v>
                </c:pt>
                <c:pt idx="160">
                  <c:v>88.595664467483502</c:v>
                </c:pt>
                <c:pt idx="161">
                  <c:v>91.89443920829406</c:v>
                </c:pt>
                <c:pt idx="162">
                  <c:v>90.951932139491049</c:v>
                </c:pt>
                <c:pt idx="163">
                  <c:v>91.800188501413757</c:v>
                </c:pt>
                <c:pt idx="164">
                  <c:v>91.800188501413757</c:v>
                </c:pt>
                <c:pt idx="165">
                  <c:v>91.800188501413757</c:v>
                </c:pt>
                <c:pt idx="166">
                  <c:v>93.779453345900095</c:v>
                </c:pt>
                <c:pt idx="167">
                  <c:v>93.213949104618294</c:v>
                </c:pt>
                <c:pt idx="168">
                  <c:v>94.062205466541002</c:v>
                </c:pt>
                <c:pt idx="169">
                  <c:v>92.83694627709707</c:v>
                </c:pt>
                <c:pt idx="170">
                  <c:v>99.245994344957595</c:v>
                </c:pt>
                <c:pt idx="171">
                  <c:v>99.245994344957595</c:v>
                </c:pt>
                <c:pt idx="172">
                  <c:v>99.245994344957595</c:v>
                </c:pt>
                <c:pt idx="173">
                  <c:v>99.717247879359093</c:v>
                </c:pt>
                <c:pt idx="174">
                  <c:v>98.114985862393965</c:v>
                </c:pt>
                <c:pt idx="175">
                  <c:v>98.963242224316687</c:v>
                </c:pt>
                <c:pt idx="176">
                  <c:v>97.54948162111215</c:v>
                </c:pt>
                <c:pt idx="177">
                  <c:v>95.193213949104617</c:v>
                </c:pt>
                <c:pt idx="178">
                  <c:v>95.193213949104617</c:v>
                </c:pt>
                <c:pt idx="179">
                  <c:v>95.193213949104617</c:v>
                </c:pt>
                <c:pt idx="180">
                  <c:v>92.83694627709707</c:v>
                </c:pt>
                <c:pt idx="181">
                  <c:v>96.22997172478793</c:v>
                </c:pt>
                <c:pt idx="182">
                  <c:v>98.491988689915175</c:v>
                </c:pt>
                <c:pt idx="183">
                  <c:v>100</c:v>
                </c:pt>
                <c:pt idx="184">
                  <c:v>98.491988689915175</c:v>
                </c:pt>
                <c:pt idx="185">
                  <c:v>98.491988689915175</c:v>
                </c:pt>
                <c:pt idx="186">
                  <c:v>98.491988689915175</c:v>
                </c:pt>
                <c:pt idx="187">
                  <c:v>98.30348727615457</c:v>
                </c:pt>
                <c:pt idx="188">
                  <c:v>97.92648444863336</c:v>
                </c:pt>
                <c:pt idx="189">
                  <c:v>96.041470311027339</c:v>
                </c:pt>
                <c:pt idx="190">
                  <c:v>93.308199811498582</c:v>
                </c:pt>
                <c:pt idx="191">
                  <c:v>91.988689915174362</c:v>
                </c:pt>
                <c:pt idx="192">
                  <c:v>91.988689915174362</c:v>
                </c:pt>
                <c:pt idx="193">
                  <c:v>91.988689915174362</c:v>
                </c:pt>
                <c:pt idx="194">
                  <c:v>93.308199811498582</c:v>
                </c:pt>
                <c:pt idx="195">
                  <c:v>92.177191328934967</c:v>
                </c:pt>
                <c:pt idx="196">
                  <c:v>92.931196983977387</c:v>
                </c:pt>
                <c:pt idx="197">
                  <c:v>93.119698397737977</c:v>
                </c:pt>
                <c:pt idx="198">
                  <c:v>90.763430725730444</c:v>
                </c:pt>
                <c:pt idx="199">
                  <c:v>90.763430725730444</c:v>
                </c:pt>
                <c:pt idx="200">
                  <c:v>90.763430725730444</c:v>
                </c:pt>
                <c:pt idx="201">
                  <c:v>90.763430725730444</c:v>
                </c:pt>
                <c:pt idx="202">
                  <c:v>90.763430725730444</c:v>
                </c:pt>
                <c:pt idx="203">
                  <c:v>90.763430725730444</c:v>
                </c:pt>
                <c:pt idx="204">
                  <c:v>90.763430725730444</c:v>
                </c:pt>
                <c:pt idx="205">
                  <c:v>90.763430725730444</c:v>
                </c:pt>
                <c:pt idx="206">
                  <c:v>90.763430725730444</c:v>
                </c:pt>
                <c:pt idx="207">
                  <c:v>90.763430725730444</c:v>
                </c:pt>
                <c:pt idx="208">
                  <c:v>89.066918001885014</c:v>
                </c:pt>
                <c:pt idx="209">
                  <c:v>87.181903864278993</c:v>
                </c:pt>
                <c:pt idx="210">
                  <c:v>83.977379830348724</c:v>
                </c:pt>
                <c:pt idx="211">
                  <c:v>85.296889726672958</c:v>
                </c:pt>
                <c:pt idx="212">
                  <c:v>87.558906691800189</c:v>
                </c:pt>
                <c:pt idx="213">
                  <c:v>87.558906691800189</c:v>
                </c:pt>
                <c:pt idx="214">
                  <c:v>87.558906691800189</c:v>
                </c:pt>
                <c:pt idx="215">
                  <c:v>84.448633364750236</c:v>
                </c:pt>
                <c:pt idx="216">
                  <c:v>81.998114985862387</c:v>
                </c:pt>
                <c:pt idx="217">
                  <c:v>80.207351555136668</c:v>
                </c:pt>
                <c:pt idx="218">
                  <c:v>79.547596606974551</c:v>
                </c:pt>
                <c:pt idx="219">
                  <c:v>76.908576814326111</c:v>
                </c:pt>
                <c:pt idx="220">
                  <c:v>76.908576814326111</c:v>
                </c:pt>
                <c:pt idx="221">
                  <c:v>76.908576814326111</c:v>
                </c:pt>
                <c:pt idx="222">
                  <c:v>71.536286522148913</c:v>
                </c:pt>
                <c:pt idx="223">
                  <c:v>74.929311969839773</c:v>
                </c:pt>
                <c:pt idx="224">
                  <c:v>75.58906691800189</c:v>
                </c:pt>
                <c:pt idx="225">
                  <c:v>73.232799245994343</c:v>
                </c:pt>
                <c:pt idx="226">
                  <c:v>72.57304429783224</c:v>
                </c:pt>
                <c:pt idx="227">
                  <c:v>72.57304429783224</c:v>
                </c:pt>
                <c:pt idx="228">
                  <c:v>72.57304429783224</c:v>
                </c:pt>
                <c:pt idx="229">
                  <c:v>73.704052780395855</c:v>
                </c:pt>
                <c:pt idx="230">
                  <c:v>74.835061262959471</c:v>
                </c:pt>
                <c:pt idx="231">
                  <c:v>74.081055607917051</c:v>
                </c:pt>
                <c:pt idx="232">
                  <c:v>72.384542884071635</c:v>
                </c:pt>
                <c:pt idx="233">
                  <c:v>70.311027332704995</c:v>
                </c:pt>
                <c:pt idx="234">
                  <c:v>70.311027332704995</c:v>
                </c:pt>
                <c:pt idx="235">
                  <c:v>70.311027332704995</c:v>
                </c:pt>
                <c:pt idx="236">
                  <c:v>68.897266729500473</c:v>
                </c:pt>
                <c:pt idx="237">
                  <c:v>71.065032987747415</c:v>
                </c:pt>
                <c:pt idx="238">
                  <c:v>72.57304429783224</c:v>
                </c:pt>
                <c:pt idx="239">
                  <c:v>69.934024505183785</c:v>
                </c:pt>
                <c:pt idx="240">
                  <c:v>71.724787935909518</c:v>
                </c:pt>
                <c:pt idx="241">
                  <c:v>71.724787935909518</c:v>
                </c:pt>
                <c:pt idx="242">
                  <c:v>71.724787935909518</c:v>
                </c:pt>
                <c:pt idx="243">
                  <c:v>69.745523091423195</c:v>
                </c:pt>
                <c:pt idx="244">
                  <c:v>70.405278039585298</c:v>
                </c:pt>
                <c:pt idx="245">
                  <c:v>70.970782280867112</c:v>
                </c:pt>
                <c:pt idx="246">
                  <c:v>70.405278039585298</c:v>
                </c:pt>
                <c:pt idx="247">
                  <c:v>69.745523091423195</c:v>
                </c:pt>
                <c:pt idx="248">
                  <c:v>69.745523091423195</c:v>
                </c:pt>
                <c:pt idx="249">
                  <c:v>69.745523091423195</c:v>
                </c:pt>
                <c:pt idx="250">
                  <c:v>69.651272384542878</c:v>
                </c:pt>
                <c:pt idx="251">
                  <c:v>69.745523091423195</c:v>
                </c:pt>
                <c:pt idx="252">
                  <c:v>74.552309142318563</c:v>
                </c:pt>
                <c:pt idx="253">
                  <c:v>73.798303487276158</c:v>
                </c:pt>
                <c:pt idx="254">
                  <c:v>73.232799245994343</c:v>
                </c:pt>
                <c:pt idx="255">
                  <c:v>73.232799245994343</c:v>
                </c:pt>
                <c:pt idx="256">
                  <c:v>73.232799245994343</c:v>
                </c:pt>
                <c:pt idx="257">
                  <c:v>71.63053722902923</c:v>
                </c:pt>
                <c:pt idx="258">
                  <c:v>71.81903864278982</c:v>
                </c:pt>
                <c:pt idx="259">
                  <c:v>70.782280867106508</c:v>
                </c:pt>
                <c:pt idx="260">
                  <c:v>69.839773798303483</c:v>
                </c:pt>
                <c:pt idx="261">
                  <c:v>71.63053722902923</c:v>
                </c:pt>
                <c:pt idx="262">
                  <c:v>71.63053722902923</c:v>
                </c:pt>
                <c:pt idx="263">
                  <c:v>71.63053722902923</c:v>
                </c:pt>
                <c:pt idx="264">
                  <c:v>72.478793590951923</c:v>
                </c:pt>
                <c:pt idx="265">
                  <c:v>70.782280867106508</c:v>
                </c:pt>
                <c:pt idx="266">
                  <c:v>70.311027332704995</c:v>
                </c:pt>
                <c:pt idx="267">
                  <c:v>70.028275212064102</c:v>
                </c:pt>
                <c:pt idx="268">
                  <c:v>69.18001885014138</c:v>
                </c:pt>
                <c:pt idx="269">
                  <c:v>69.18001885014138</c:v>
                </c:pt>
                <c:pt idx="270">
                  <c:v>69.18001885014138</c:v>
                </c:pt>
                <c:pt idx="271">
                  <c:v>69.18001885014138</c:v>
                </c:pt>
                <c:pt idx="272">
                  <c:v>70.12252591894439</c:v>
                </c:pt>
                <c:pt idx="273">
                  <c:v>71.159283694627703</c:v>
                </c:pt>
                <c:pt idx="274">
                  <c:v>71.159283694627703</c:v>
                </c:pt>
                <c:pt idx="275">
                  <c:v>71.159283694627703</c:v>
                </c:pt>
                <c:pt idx="276">
                  <c:v>71.159283694627703</c:v>
                </c:pt>
                <c:pt idx="277">
                  <c:v>71.159283694627703</c:v>
                </c:pt>
                <c:pt idx="278">
                  <c:v>69.462770970782287</c:v>
                </c:pt>
                <c:pt idx="279">
                  <c:v>70.028275212064102</c:v>
                </c:pt>
                <c:pt idx="280">
                  <c:v>69.085768143261078</c:v>
                </c:pt>
                <c:pt idx="281">
                  <c:v>68.80301602262017</c:v>
                </c:pt>
                <c:pt idx="282">
                  <c:v>67.766258246936843</c:v>
                </c:pt>
                <c:pt idx="283">
                  <c:v>67.766258246936843</c:v>
                </c:pt>
                <c:pt idx="284">
                  <c:v>67.766258246936843</c:v>
                </c:pt>
                <c:pt idx="285">
                  <c:v>65.975494816211125</c:v>
                </c:pt>
                <c:pt idx="286">
                  <c:v>66.54099905749294</c:v>
                </c:pt>
                <c:pt idx="287">
                  <c:v>66.635249764373228</c:v>
                </c:pt>
                <c:pt idx="288">
                  <c:v>69.651272384542878</c:v>
                </c:pt>
                <c:pt idx="289">
                  <c:v>68.708765315739868</c:v>
                </c:pt>
                <c:pt idx="290">
                  <c:v>68.708765315739868</c:v>
                </c:pt>
                <c:pt idx="291">
                  <c:v>68.708765315739868</c:v>
                </c:pt>
                <c:pt idx="292">
                  <c:v>70.593779453345888</c:v>
                </c:pt>
                <c:pt idx="293">
                  <c:v>70.216776625824693</c:v>
                </c:pt>
                <c:pt idx="294">
                  <c:v>73.232799245994343</c:v>
                </c:pt>
                <c:pt idx="295">
                  <c:v>72.101790763430728</c:v>
                </c:pt>
                <c:pt idx="296">
                  <c:v>70.782280867106508</c:v>
                </c:pt>
                <c:pt idx="297">
                  <c:v>70.782280867106508</c:v>
                </c:pt>
                <c:pt idx="298">
                  <c:v>70.782280867106508</c:v>
                </c:pt>
                <c:pt idx="299">
                  <c:v>69.274269557021668</c:v>
                </c:pt>
                <c:pt idx="300">
                  <c:v>70.216776625824693</c:v>
                </c:pt>
                <c:pt idx="301">
                  <c:v>69.368520263901985</c:v>
                </c:pt>
                <c:pt idx="302">
                  <c:v>67.10650329877474</c:v>
                </c:pt>
                <c:pt idx="303">
                  <c:v>67.48350612629595</c:v>
                </c:pt>
                <c:pt idx="304">
                  <c:v>67.48350612629595</c:v>
                </c:pt>
                <c:pt idx="305">
                  <c:v>67.48350612629595</c:v>
                </c:pt>
                <c:pt idx="306">
                  <c:v>68.708765315739868</c:v>
                </c:pt>
                <c:pt idx="307">
                  <c:v>70.4995287464656</c:v>
                </c:pt>
                <c:pt idx="308">
                  <c:v>72.101790763430728</c:v>
                </c:pt>
                <c:pt idx="309">
                  <c:v>71.724787935909518</c:v>
                </c:pt>
                <c:pt idx="310">
                  <c:v>70.688030160226205</c:v>
                </c:pt>
                <c:pt idx="311">
                  <c:v>70.688030160226205</c:v>
                </c:pt>
                <c:pt idx="312">
                  <c:v>70.688030160226205</c:v>
                </c:pt>
                <c:pt idx="313">
                  <c:v>68.708765315739868</c:v>
                </c:pt>
                <c:pt idx="314">
                  <c:v>69.462770970782287</c:v>
                </c:pt>
                <c:pt idx="315">
                  <c:v>69.934024505183785</c:v>
                </c:pt>
                <c:pt idx="316">
                  <c:v>68.897266729500473</c:v>
                </c:pt>
                <c:pt idx="317">
                  <c:v>69.274269557021668</c:v>
                </c:pt>
                <c:pt idx="318">
                  <c:v>69.274269557021668</c:v>
                </c:pt>
                <c:pt idx="319">
                  <c:v>69.274269557021668</c:v>
                </c:pt>
                <c:pt idx="320">
                  <c:v>69.368520263901985</c:v>
                </c:pt>
                <c:pt idx="321">
                  <c:v>68.991517436380775</c:v>
                </c:pt>
                <c:pt idx="322">
                  <c:v>68.143261074458067</c:v>
                </c:pt>
                <c:pt idx="323">
                  <c:v>67.48350612629595</c:v>
                </c:pt>
                <c:pt idx="324">
                  <c:v>67.389255419415647</c:v>
                </c:pt>
                <c:pt idx="325">
                  <c:v>67.389255419415647</c:v>
                </c:pt>
                <c:pt idx="326">
                  <c:v>67.389255419415647</c:v>
                </c:pt>
                <c:pt idx="327">
                  <c:v>66.54099905749294</c:v>
                </c:pt>
                <c:pt idx="328">
                  <c:v>66.72950047125353</c:v>
                </c:pt>
                <c:pt idx="329">
                  <c:v>66.72950047125353</c:v>
                </c:pt>
                <c:pt idx="330">
                  <c:v>66.918001885014135</c:v>
                </c:pt>
                <c:pt idx="331">
                  <c:v>66.72950047125353</c:v>
                </c:pt>
                <c:pt idx="332">
                  <c:v>66.72950047125353</c:v>
                </c:pt>
                <c:pt idx="333">
                  <c:v>66.72950047125353</c:v>
                </c:pt>
                <c:pt idx="334">
                  <c:v>66.352497643732335</c:v>
                </c:pt>
                <c:pt idx="335">
                  <c:v>66.163996229971715</c:v>
                </c:pt>
                <c:pt idx="336">
                  <c:v>68.708765315739868</c:v>
                </c:pt>
                <c:pt idx="337">
                  <c:v>68.331762488218658</c:v>
                </c:pt>
                <c:pt idx="338">
                  <c:v>68.143261074458067</c:v>
                </c:pt>
                <c:pt idx="339">
                  <c:v>68.143261074458067</c:v>
                </c:pt>
                <c:pt idx="340">
                  <c:v>68.143261074458067</c:v>
                </c:pt>
                <c:pt idx="341">
                  <c:v>68.80301602262017</c:v>
                </c:pt>
                <c:pt idx="342">
                  <c:v>68.991517436380775</c:v>
                </c:pt>
                <c:pt idx="343">
                  <c:v>67.954759660697448</c:v>
                </c:pt>
                <c:pt idx="344">
                  <c:v>67.954759660697448</c:v>
                </c:pt>
                <c:pt idx="345">
                  <c:v>66.54099905749294</c:v>
                </c:pt>
                <c:pt idx="346">
                  <c:v>66.54099905749294</c:v>
                </c:pt>
                <c:pt idx="347">
                  <c:v>66.54099905749294</c:v>
                </c:pt>
                <c:pt idx="348">
                  <c:v>66.446748350612623</c:v>
                </c:pt>
                <c:pt idx="349">
                  <c:v>66.258246936852032</c:v>
                </c:pt>
                <c:pt idx="350">
                  <c:v>62.959472196041467</c:v>
                </c:pt>
                <c:pt idx="351">
                  <c:v>64.09048067860509</c:v>
                </c:pt>
                <c:pt idx="352">
                  <c:v>63.147973609802079</c:v>
                </c:pt>
                <c:pt idx="353">
                  <c:v>63.147973609802079</c:v>
                </c:pt>
                <c:pt idx="354">
                  <c:v>63.147973609802079</c:v>
                </c:pt>
                <c:pt idx="355">
                  <c:v>63.242224316682375</c:v>
                </c:pt>
                <c:pt idx="356">
                  <c:v>61.074458058435447</c:v>
                </c:pt>
                <c:pt idx="357">
                  <c:v>60.885956644674835</c:v>
                </c:pt>
                <c:pt idx="358">
                  <c:v>60.980207351555137</c:v>
                </c:pt>
                <c:pt idx="359">
                  <c:v>59.283694627709707</c:v>
                </c:pt>
                <c:pt idx="360">
                  <c:v>59.283694627709707</c:v>
                </c:pt>
                <c:pt idx="361">
                  <c:v>59.283694627709707</c:v>
                </c:pt>
                <c:pt idx="362">
                  <c:v>58.623939679547597</c:v>
                </c:pt>
                <c:pt idx="363">
                  <c:v>59.377945334590009</c:v>
                </c:pt>
                <c:pt idx="364">
                  <c:v>61.35721017907634</c:v>
                </c:pt>
                <c:pt idx="365">
                  <c:v>63.147973609802079</c:v>
                </c:pt>
                <c:pt idx="366">
                  <c:v>63.242224316682375</c:v>
                </c:pt>
              </c:numCache>
            </c:numRef>
          </c:val>
          <c:smooth val="1"/>
          <c:extLst>
            <c:ext xmlns:c16="http://schemas.microsoft.com/office/drawing/2014/chart" uri="{C3380CC4-5D6E-409C-BE32-E72D297353CC}">
              <c16:uniqueId val="{00000001-D146-49DB-BCD5-9A50185348E0}"/>
            </c:ext>
          </c:extLst>
        </c:ser>
        <c:dLbls>
          <c:showLegendKey val="0"/>
          <c:showVal val="0"/>
          <c:showCatName val="0"/>
          <c:showSerName val="0"/>
          <c:showPercent val="0"/>
          <c:showBubbleSize val="0"/>
        </c:dLbls>
        <c:smooth val="0"/>
        <c:axId val="468801248"/>
        <c:axId val="468809088"/>
      </c:lineChart>
      <c:dateAx>
        <c:axId val="468801248"/>
        <c:scaling>
          <c:orientation val="minMax"/>
        </c:scaling>
        <c:delete val="0"/>
        <c:axPos val="b"/>
        <c:title>
          <c:tx>
            <c:rich>
              <a:bodyPr rot="0" vert="horz"/>
              <a:lstStyle/>
              <a:p>
                <a:pPr>
                  <a:defRPr/>
                </a:pPr>
                <a:r>
                  <a:rPr lang="en-US"/>
                  <a:t>(%)</a:t>
                </a:r>
              </a:p>
            </c:rich>
          </c:tx>
          <c:layout>
            <c:manualLayout>
              <c:xMode val="edge"/>
              <c:yMode val="edge"/>
              <c:x val="2.7302898606107388E-3"/>
              <c:y val="1.5433799568692946E-3"/>
            </c:manualLayout>
          </c:layout>
          <c:overlay val="0"/>
          <c:spPr>
            <a:noFill/>
            <a:ln>
              <a:noFill/>
            </a:ln>
            <a:effectLst/>
          </c:spPr>
        </c:title>
        <c:numFmt formatCode="mmm\ yy" sourceLinked="0"/>
        <c:majorTickMark val="none"/>
        <c:minorTickMark val="none"/>
        <c:tickLblPos val="low"/>
        <c:spPr>
          <a:noFill/>
          <a:ln w="3175" cap="flat" cmpd="sng" algn="ctr">
            <a:solidFill>
              <a:schemeClr val="bg1">
                <a:lumMod val="75000"/>
              </a:schemeClr>
            </a:solidFill>
            <a:round/>
          </a:ln>
          <a:effectLst/>
        </c:spPr>
        <c:txPr>
          <a:bodyPr rot="0" vert="horz"/>
          <a:lstStyle/>
          <a:p>
            <a:pPr>
              <a:defRPr/>
            </a:pPr>
            <a:endParaRPr lang="en-US"/>
          </a:p>
        </c:txPr>
        <c:crossAx val="468809088"/>
        <c:crossesAt val="100"/>
        <c:auto val="0"/>
        <c:lblOffset val="100"/>
        <c:baseTimeUnit val="days"/>
        <c:majorUnit val="2"/>
        <c:majorTimeUnit val="months"/>
      </c:dateAx>
      <c:valAx>
        <c:axId val="468809088"/>
        <c:scaling>
          <c:orientation val="minMax"/>
        </c:scaling>
        <c:delete val="0"/>
        <c:axPos val="l"/>
        <c:numFmt formatCode="General" sourceLinked="1"/>
        <c:majorTickMark val="none"/>
        <c:minorTickMark val="none"/>
        <c:tickLblPos val="nextTo"/>
        <c:spPr>
          <a:noFill/>
          <a:ln>
            <a:noFill/>
          </a:ln>
          <a:effectLst/>
        </c:spPr>
        <c:txPr>
          <a:bodyPr rot="-60000000" vert="horz"/>
          <a:lstStyle/>
          <a:p>
            <a:pPr>
              <a:defRPr/>
            </a:pPr>
            <a:endParaRPr lang="en-US"/>
          </a:p>
        </c:txPr>
        <c:crossAx val="468801248"/>
        <c:crosses val="autoZero"/>
        <c:crossBetween val="midCat"/>
      </c:valAx>
      <c:spPr>
        <a:noFill/>
      </c:spPr>
    </c:plotArea>
    <c:legend>
      <c:legendPos val="t"/>
      <c:layout>
        <c:manualLayout>
          <c:xMode val="edge"/>
          <c:yMode val="edge"/>
          <c:x val="8.7408873744345292E-2"/>
          <c:y val="4.6297286316104615E-3"/>
          <c:w val="0.85776666666666668"/>
          <c:h val="8.739995107118459E-2"/>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700">
          <a:solidFill>
            <a:schemeClr val="tx1">
              <a:lumMod val="95000"/>
              <a:lumOff val="5000"/>
            </a:schemeClr>
          </a:solidFill>
          <a:latin typeface="Noto Sans" panose="020B0502040504020204" pitchFamily="34" charset="0"/>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516DA-A209-491B-B67B-C4837105E9DA}"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90BA58-B3B4-4D30-9709-33A32AFC1CAC}" type="slidenum">
              <a:rPr lang="en-US" smtClean="0"/>
              <a:t>‹#›</a:t>
            </a:fld>
            <a:endParaRPr lang="en-US"/>
          </a:p>
        </p:txBody>
      </p:sp>
    </p:spTree>
    <p:extLst>
      <p:ext uri="{BB962C8B-B14F-4D97-AF65-F5344CB8AC3E}">
        <p14:creationId xmlns:p14="http://schemas.microsoft.com/office/powerpoint/2010/main" val="537797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865326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5AB04-7A6E-0D5C-3D2D-BB68D8AC7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ECEB7-4E50-1A46-F891-69AA78437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6EF27-26F0-04B6-7947-CDFE4B122B22}"/>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096025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1292352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918BB-B8D0-D895-DA1C-D19B23C15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6AAD9-C347-0A05-6A8E-80ECC694D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61C8E-FF65-A260-9210-8AE7FA02F80F}"/>
              </a:ext>
            </a:extLst>
          </p:cNvPr>
          <p:cNvSpPr>
            <a:spLocks noGrp="1"/>
          </p:cNvSpPr>
          <p:nvPr>
            <p:ph type="body" idx="1"/>
          </p:nvPr>
        </p:nvSpPr>
        <p:spPr/>
        <p:txBody>
          <a:bodyPr/>
          <a:lstStyle/>
          <a:p>
            <a:pPr marL="342900" lvl="0" indent="-342900" algn="just">
              <a:lnSpc>
                <a:spcPct val="115000"/>
              </a:lnSpc>
              <a:spcBef>
                <a:spcPts val="600"/>
              </a:spcBef>
              <a:spcAft>
                <a:spcPts val="600"/>
              </a:spcAft>
              <a:buFont typeface="Symbol" panose="05050102010706020507" pitchFamily="18" charset="2"/>
              <a:buChar char=""/>
            </a:pPr>
            <a:endParaRPr lang="en-US" dirty="0"/>
          </a:p>
        </p:txBody>
      </p:sp>
    </p:spTree>
    <p:extLst>
      <p:ext uri="{BB962C8B-B14F-4D97-AF65-F5344CB8AC3E}">
        <p14:creationId xmlns:p14="http://schemas.microsoft.com/office/powerpoint/2010/main" val="2564632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2681E0E5-B568-18FF-CB74-B06E5270713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0047B-FB4A-A5D4-0605-52A1DBFA0F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DCEF8-5872-C3DA-C4BA-FC4D2C6FAC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98BC99-DCA3-5EF2-8703-9FDF8CF79E92}"/>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BDCF9870-840F-4D48-0E1E-C43B4E4E03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B5D3D-6046-C670-D5D2-971FFCE2D48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50515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25799-A9FA-E712-4A47-FFC32E2650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04E3A9-FE61-23ED-068E-7FE665D1B4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DB649-7641-C11A-5D1D-D6B59AB3889A}"/>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8D46B675-D086-F91B-5ED5-7A863401A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7E64B-D0E5-6FCA-250D-CDD2A80987CC}"/>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57213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219C8-6C4F-ABD3-7101-8BAC9B689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25BD2C-01D8-040C-C58B-D3D8F1631D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3049E-CB1C-4558-10BB-89E33DBF0365}"/>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90034168-8BFB-44BD-6F8D-A27B6D910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43C717-8E6C-0BCC-FA9D-DE9A6FFBD115}"/>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70710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9BA3-A74B-78F6-0EED-E0AF49821C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14EF5B-4F24-EAE3-D007-012009511C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74B22A-3D74-FA1F-15DC-45823B1474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81FCA7-4606-FF08-D074-B843B633EA15}"/>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6" name="Footer Placeholder 5">
            <a:extLst>
              <a:ext uri="{FF2B5EF4-FFF2-40B4-BE49-F238E27FC236}">
                <a16:creationId xmlns:a16="http://schemas.microsoft.com/office/drawing/2014/main" id="{27BBB5EF-9647-FD41-7E68-644A8625E9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3B597F-AC2D-1293-2B5C-A10720C4F7F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33754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1909-93D9-1D39-0314-7EE47D35FE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8A18B5-DF5D-3C9F-5881-F468E80037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CAE6E-E300-916B-9E9B-6C1CB32571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B21D1-7E11-9941-4A55-08DA57262E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F736AD-162F-82B2-31BF-9238AA950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658FD-2837-0967-9CA4-2EF1AA3EB9EE}"/>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8" name="Footer Placeholder 7">
            <a:extLst>
              <a:ext uri="{FF2B5EF4-FFF2-40B4-BE49-F238E27FC236}">
                <a16:creationId xmlns:a16="http://schemas.microsoft.com/office/drawing/2014/main" id="{B84FE3A7-67D4-E668-BF3F-F596F24F55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53B6C9-0632-7B91-62A3-5B8E2C1A8DC4}"/>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286249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0F21-5314-6A39-3BFC-F510EDD2D6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53C5C-8196-BE35-4F13-4DE8CE02AAAC}"/>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4" name="Footer Placeholder 3">
            <a:extLst>
              <a:ext uri="{FF2B5EF4-FFF2-40B4-BE49-F238E27FC236}">
                <a16:creationId xmlns:a16="http://schemas.microsoft.com/office/drawing/2014/main" id="{88579BD3-378C-1D7D-9365-1B121A2B54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DE91E3-A187-F2E7-4D9E-6B82E05E729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431909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030F4E-734A-0C4D-F834-5F7729C13DAE}"/>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3" name="Footer Placeholder 2">
            <a:extLst>
              <a:ext uri="{FF2B5EF4-FFF2-40B4-BE49-F238E27FC236}">
                <a16:creationId xmlns:a16="http://schemas.microsoft.com/office/drawing/2014/main" id="{C5657BB0-F646-C465-3191-F8D21F30FA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138182-1F9D-D624-A604-4CEA1F3B1829}"/>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86422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D6CF9-FEDC-7115-C963-F3E1525667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5A236C-F2DC-F83C-ECB8-24D0D75F18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5BBA49-9852-4420-1EBC-C0A4E1D45A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60860F-E2CD-6C45-A999-3C108EF35045}"/>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6" name="Footer Placeholder 5">
            <a:extLst>
              <a:ext uri="{FF2B5EF4-FFF2-40B4-BE49-F238E27FC236}">
                <a16:creationId xmlns:a16="http://schemas.microsoft.com/office/drawing/2014/main" id="{39F05DE4-D9E0-9207-99E2-8B2734496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7E03CA-04BC-3123-796C-55F056DF0AD7}"/>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1679043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1AB70-0A00-6E2C-8797-48A000B03D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558ACB-82B9-41E8-B58A-FD232B451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E29E8-65F3-53F0-24C0-B211050FAA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A64D6-6503-A39A-9FA2-E70FEFFF8322}"/>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6" name="Footer Placeholder 5">
            <a:extLst>
              <a:ext uri="{FF2B5EF4-FFF2-40B4-BE49-F238E27FC236}">
                <a16:creationId xmlns:a16="http://schemas.microsoft.com/office/drawing/2014/main" id="{2C0C46B8-BA8A-5D5E-4FCB-337E97C86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7F65D3-8D21-65A4-57FD-41A719EB57E1}"/>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2759882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56EB2-8E86-197D-ED20-3903C5C8E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396488-E97A-AE3A-0952-DCBF223E26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98760-238B-A827-3DC0-BF87EF76A939}"/>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DA76D580-C766-498A-E149-F945E8A8A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13783-F2D7-E3B6-2976-BE6344E404AD}"/>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932554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25C7A0-77B6-7277-84F3-BDEB77E82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0B36D9A-35E5-C535-87CF-32F49E53DD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0A9FBF-84A8-2F86-1DBC-92698B88ADE4}"/>
              </a:ext>
            </a:extLst>
          </p:cNvPr>
          <p:cNvSpPr>
            <a:spLocks noGrp="1"/>
          </p:cNvSpPr>
          <p:nvPr>
            <p:ph type="dt" sz="half" idx="10"/>
          </p:nvPr>
        </p:nvSpPr>
        <p:spPr/>
        <p:txBody>
          <a:body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B7A4AAE2-4CF8-9CF0-2676-8821B019D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2BD54-A35E-C6BA-457D-7840CB31B69A}"/>
              </a:ext>
            </a:extLst>
          </p:cNvPr>
          <p:cNvSpPr>
            <a:spLocks noGrp="1"/>
          </p:cNvSpPr>
          <p:nvPr>
            <p:ph type="sldNum" sz="quarter" idx="12"/>
          </p:nvPr>
        </p:nvSpPr>
        <p:spPr/>
        <p:txBody>
          <a:bodyPr/>
          <a:lstStyle/>
          <a:p>
            <a:fld id="{B8D4667E-AA56-4C99-8249-DFE75A2D6467}" type="slidenum">
              <a:rPr lang="en-US" smtClean="0"/>
              <a:t>‹#›</a:t>
            </a:fld>
            <a:endParaRPr lang="en-US"/>
          </a:p>
        </p:txBody>
      </p:sp>
    </p:spTree>
    <p:extLst>
      <p:ext uri="{BB962C8B-B14F-4D97-AF65-F5344CB8AC3E}">
        <p14:creationId xmlns:p14="http://schemas.microsoft.com/office/powerpoint/2010/main" val="3642926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 내지">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BA7E3123-5D1E-DB54-4599-C7571DC234E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직선 연결선 2">
            <a:extLst>
              <a:ext uri="{FF2B5EF4-FFF2-40B4-BE49-F238E27FC236}">
                <a16:creationId xmlns:a16="http://schemas.microsoft.com/office/drawing/2014/main" id="{22D528F1-BE2E-1349-890D-D578D1503FE1}"/>
              </a:ext>
            </a:extLst>
          </p:cNvPr>
          <p:cNvCxnSpPr/>
          <p:nvPr userDrawn="1"/>
        </p:nvCxnSpPr>
        <p:spPr>
          <a:xfrm>
            <a:off x="421893" y="657225"/>
            <a:ext cx="11338308" cy="0"/>
          </a:xfrm>
          <a:prstGeom prst="line">
            <a:avLst/>
          </a:prstGeom>
          <a:ln w="9525">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9" name="직선 연결선 8">
            <a:extLst>
              <a:ext uri="{FF2B5EF4-FFF2-40B4-BE49-F238E27FC236}">
                <a16:creationId xmlns:a16="http://schemas.microsoft.com/office/drawing/2014/main" id="{22D528F1-BE2E-1349-890D-D578D1503FE1}"/>
              </a:ext>
            </a:extLst>
          </p:cNvPr>
          <p:cNvCxnSpPr/>
          <p:nvPr userDrawn="1"/>
        </p:nvCxnSpPr>
        <p:spPr>
          <a:xfrm>
            <a:off x="421893" y="6489340"/>
            <a:ext cx="11338308" cy="0"/>
          </a:xfrm>
          <a:prstGeom prst="line">
            <a:avLst/>
          </a:prstGeom>
          <a:ln w="31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Slide Number Placeholder 5"/>
          <p:cNvSpPr txBox="1">
            <a:spLocks/>
          </p:cNvSpPr>
          <p:nvPr userDrawn="1"/>
        </p:nvSpPr>
        <p:spPr>
          <a:xfrm>
            <a:off x="8016214"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altLang="ko-KR" sz="800" b="1"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Mirae Asset Securities (Vietnam) Research</a:t>
            </a:r>
          </a:p>
        </p:txBody>
      </p:sp>
      <p:sp>
        <p:nvSpPr>
          <p:cNvPr id="5" name="Slide Number Placeholder 5">
            <a:extLst>
              <a:ext uri="{FF2B5EF4-FFF2-40B4-BE49-F238E27FC236}">
                <a16:creationId xmlns:a16="http://schemas.microsoft.com/office/drawing/2014/main" id="{6A3BD522-7E83-4354-BF9E-2F1AFEDE9C13}"/>
              </a:ext>
            </a:extLst>
          </p:cNvPr>
          <p:cNvSpPr txBox="1">
            <a:spLocks/>
          </p:cNvSpPr>
          <p:nvPr userDrawn="1"/>
        </p:nvSpPr>
        <p:spPr>
          <a:xfrm>
            <a:off x="421893" y="6503048"/>
            <a:ext cx="3722127" cy="360000"/>
          </a:xfrm>
          <a:prstGeom prst="rect">
            <a:avLst/>
          </a:prstGeom>
        </p:spPr>
        <p:txBody>
          <a:bodyPr vert="horz" lIns="0" tIns="45720" rIns="0" bIns="45720" rtlCol="0" anchor="t"/>
          <a:lstStyle>
            <a:defPPr>
              <a:defRPr lang="en-US"/>
            </a:defPPr>
            <a:lvl1pPr marL="0" algn="l" defTabSz="457200" rtl="0" eaLnBrk="1" latinLnBrk="0" hangingPunct="1">
              <a:defRPr sz="700" b="0" i="0" kern="1200">
                <a:solidFill>
                  <a:srgbClr val="48535B"/>
                </a:solidFill>
                <a:latin typeface="Noto Sans"/>
                <a:ea typeface="KoPub돋움체_Pro Medium"/>
                <a:cs typeface="Noto San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B3DAD2FF-B7AE-4CA6-A5C9-0317C7ABBD3C}" type="slidenum">
              <a:rPr lang="en-US" altLang="ko-KR" sz="800" b="0" smtClean="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pPr algn="l"/>
              <a:t>‹#›</a:t>
            </a:fld>
            <a:r>
              <a:rPr lang="en-US" altLang="ko-KR" sz="800" b="0" dirty="0">
                <a:ln>
                  <a:noFill/>
                </a:ln>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 | </a:t>
            </a:r>
            <a:r>
              <a:rPr lang="en-US" altLang="ko-KR" sz="800" b="1" baseline="0" dirty="0">
                <a:solidFill>
                  <a:schemeClr val="tx1">
                    <a:lumMod val="75000"/>
                    <a:lumOff val="25000"/>
                  </a:schemeClr>
                </a:solidFill>
                <a:latin typeface="Noto Sans" panose="020B0502040504020204" pitchFamily="34" charset="0"/>
                <a:ea typeface="Noto Sans" panose="020B0502040504020204" pitchFamily="34" charset="0"/>
                <a:cs typeface="Noto Sans" panose="020B0502040504020204" pitchFamily="34" charset="0"/>
              </a:rPr>
              <a:t>Vietnam macro and stock market</a:t>
            </a:r>
            <a:endParaRPr lang="ko-KR" altLang="en-US" sz="800" b="1" dirty="0">
              <a:ln>
                <a:noFill/>
              </a:ln>
              <a:solidFill>
                <a:schemeClr val="tx1">
                  <a:lumMod val="75000"/>
                  <a:lumOff val="25000"/>
                </a:schemeClr>
              </a:solidFill>
              <a:highlight>
                <a:srgbClr val="FFFF00"/>
              </a:highlight>
              <a:latin typeface="Noto Sans" panose="020B0502040504020204" pitchFamily="34" charset="0"/>
              <a:ea typeface="KoPub돋움체_Pro Bold" pitchFamily="18" charset="-127"/>
              <a:cs typeface="Noto Sans" panose="020B0502040504020204" pitchFamily="34" charset="0"/>
            </a:endParaRPr>
          </a:p>
        </p:txBody>
      </p:sp>
    </p:spTree>
    <p:extLst>
      <p:ext uri="{BB962C8B-B14F-4D97-AF65-F5344CB8AC3E}">
        <p14:creationId xmlns:p14="http://schemas.microsoft.com/office/powerpoint/2010/main" val="2365096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66A4DC-428A-0515-B058-EB68012C5F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AE2883-A8AC-393E-B634-FBF9A81E8C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89350-38CB-E054-B994-2FC2AEE8EC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4092B4-18C0-4523-B58F-E1894B9F905C}" type="datetimeFigureOut">
              <a:rPr lang="en-US" smtClean="0"/>
              <a:t>8/5/2026</a:t>
            </a:fld>
            <a:endParaRPr lang="en-US"/>
          </a:p>
        </p:txBody>
      </p:sp>
      <p:sp>
        <p:nvSpPr>
          <p:cNvPr id="5" name="Footer Placeholder 4">
            <a:extLst>
              <a:ext uri="{FF2B5EF4-FFF2-40B4-BE49-F238E27FC236}">
                <a16:creationId xmlns:a16="http://schemas.microsoft.com/office/drawing/2014/main" id="{34006E38-198D-3E93-5EE9-C44BC3137A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FC7DC-B07F-018C-ADBC-020804BE5F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D4667E-AA56-4C99-8249-DFE75A2D6467}" type="slidenum">
              <a:rPr lang="en-US" smtClean="0"/>
              <a:t>‹#›</a:t>
            </a:fld>
            <a:endParaRPr lang="en-US"/>
          </a:p>
        </p:txBody>
      </p:sp>
    </p:spTree>
    <p:extLst>
      <p:ext uri="{BB962C8B-B14F-4D97-AF65-F5344CB8AC3E}">
        <p14:creationId xmlns:p14="http://schemas.microsoft.com/office/powerpoint/2010/main" val="2095998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5647749"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marL="0" marR="0" lvl="0" indent="0" algn="l" defTabSz="914400" rtl="0" eaLnBrk="1" fontAlgn="base" latinLnBrk="1" hangingPunct="0">
              <a:lnSpc>
                <a:spcPct val="120000"/>
              </a:lnSpc>
              <a:spcBef>
                <a:spcPct val="0"/>
              </a:spcBef>
              <a:spcAft>
                <a:spcPct val="0"/>
              </a:spcAft>
              <a:buClrTx/>
              <a:buSzTx/>
              <a:buFontTx/>
              <a:buNone/>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Asset quality deteriorates; provisioning to stay elevated</a:t>
            </a:r>
            <a:endParaRPr kumimoji="1" lang="en-US" altLang="ko-KR" sz="1200" b="1" i="0" u="none" strike="noStrike" kern="1200" cap="none" spc="0" normalizeH="0" baseline="0" noProof="0" dirty="0">
              <a:ln>
                <a:noFill/>
              </a:ln>
              <a:solidFill>
                <a:srgbClr val="F58220"/>
              </a:solidFill>
              <a:effectLst/>
              <a:uLnTx/>
              <a:uFillTx/>
              <a:latin typeface="Noto Sans" panose="020B0502040504020204" pitchFamily="34" charset="0"/>
              <a:ea typeface="나눔고딕" pitchFamily="50" charset="-127"/>
              <a:cs typeface="+mn-cs"/>
            </a:endParaRPr>
          </a:p>
        </p:txBody>
      </p:sp>
      <p:graphicFrame>
        <p:nvGraphicFramePr>
          <p:cNvPr id="11" name="표 10"/>
          <p:cNvGraphicFramePr>
            <a:graphicFrameLocks noGrp="1"/>
          </p:cNvGraphicFramePr>
          <p:nvPr>
            <p:extLst>
              <p:ext uri="{D42A27DB-BD31-4B8C-83A1-F6EECF244321}">
                <p14:modId xmlns:p14="http://schemas.microsoft.com/office/powerpoint/2010/main" val="1211671093"/>
              </p:ext>
            </p:extLst>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-0.7</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12.1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44.7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4.6</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13.7</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26.8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899654682"/>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5,809</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-2.2</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26.6</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139,694</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11.2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45,950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76,800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2316095380"/>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(Maintain</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HOLD</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81,400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Thị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endPar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(04/08/26)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74,100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42100" y="1088740"/>
            <a:ext cx="8593283" cy="3127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lvl="0"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results came in below expectations: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PBT reached VND4,136bn (-43.6% YoY), 51% of the VND8,100bn FY26 plan, of which VND2,106bn came in 1Q26. The shortfall stems from NIM compression amid deposit competition and a heavier provisioning charge.</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The NPL ratio reached 7.54% at end-2Q26, up 1.13%p year-to-date and the highest in the system; Broad NPL at 10.2% (+7%p YoY).  Group 3-5 balances rose approximately VND7,800bn to VND47,957bn, of which about 67% (VND32,000bn) is Group 5, while Group 4 more than doubled (+156%).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set FY26F NPL at 5.8%, from below 4.5%, and FY27F at 4.0% from 3.1%. Holding the ratio at 5.5% on the smaller loan book would have required net NPL recoveries in 2H26; 5.8% keeps the absolute balance at VND37,157bn and implied net formation just positive. Reserves reached VND27.2tn at end-2Q26 — 56.7% coverage, up from 50.0% at end-FY25 — after VND7.1tn of 1H26 charges. A further VND3.1tn charge in 2H26 funds write-offs of VND11.0tn, or 34% of the Group 5 balance, leaving coverage at 50.9%.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FY26F PBT of VND7,461bn on the loan growth reset: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recorded VND7,331bn of PBT in 1H25 but only VND297bn in 2H25, as 4Q25 registered a pre-tax loss of VND3,360bn.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now carry FY26F loan growth of 2.3%, against the 11.7% previously assumed and the 1.5% delivered in 1H26. That takes gross loans to VND640,643bn and NII to VND24,531bn (-8.1% YoY), and FY26F PBT to VND7,461bn (-2.2% YoY) — 7.9% below the board-approved plan of VND8,100bn, where we previously sat marginally above it. The implied 2H26 PBT is VND3,324bn against VND297bn in 2H25. </a:t>
            </a:r>
          </a:p>
          <a:p>
            <a:pPr marL="171450" indent="-171450" algn="just" fontAlgn="ctr">
              <a:lnSpc>
                <a:spcPts val="1200"/>
              </a:lnSpc>
              <a:spcBef>
                <a:spcPct val="0"/>
              </a:spcBef>
              <a:spcAft>
                <a:spcPts val="600"/>
              </a:spcAft>
              <a:buSzPct val="130000"/>
              <a:buFont typeface="Arial" panose="020B0604020202020204" pitchFamily="34" charset="0"/>
              <a:buChar char="•"/>
              <a:defRPr/>
            </a:pP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Other FY26F assumptions: a provisioning charge of VND10.2tn (-10.4% YoY) and non-interest income of VND5,950bn. CIR steps down from 42.1% in FY26F to 40.0% in FY27F and 38.0% in FY28F; on 1H26 opex of VND6,233bn that puts 2H26 costs at VND6,585bn, +5.6% on the first half, so no cost reduction is assumed. FY27F carries VND1,000bn of specific charge above what write-offs consume and FY28F VND2,000bn, so reserve stock builds rather than merely funding disposals. FY27F NII grows 9.9% as NIM turns — NII/average loans goes from 3.87% to 3.96% — carrying FY27F PBT to VND9,872bn (+32%) and FY28F to VND15,271bn (+55%). Separately, STB's seizure of 507 land-use right certificates at LDG's Viva City against VND350bn of overdue principal is immaterial in size but shows the collateral channel the write-off programme depends on.</a:t>
            </a:r>
          </a:p>
          <a:p>
            <a:pPr algn="just" fontAlgn="ctr">
              <a:lnSpc>
                <a:spcPts val="1200"/>
              </a:lnSpc>
              <a:spcBef>
                <a:spcPct val="0"/>
              </a:spcBef>
              <a:spcAft>
                <a:spcPts val="600"/>
              </a:spcAft>
              <a:buSzPct val="130000"/>
              <a:defRPr/>
            </a:pPr>
            <a:endPar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extLst>
              <p:ext uri="{D42A27DB-BD31-4B8C-83A1-F6EECF244321}">
                <p14:modId xmlns:p14="http://schemas.microsoft.com/office/powerpoint/2010/main" val="1622566320"/>
              </p:ext>
            </p:extLst>
          </p:nvPr>
        </p:nvGraphicFramePr>
        <p:xfrm>
          <a:off x="6010273" y="4183739"/>
          <a:ext cx="5718758" cy="2285998"/>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584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interest income </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(VNDbn)</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24,531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26,954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30,600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non-interest inc.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7,226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8,517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584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7,461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9,872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15,271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Net Profit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5,809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7,686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11,890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2,820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3,731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5,771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11.0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15.3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26.6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584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1,013,554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rPr>
                        <a:t>1,125,396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1,262,644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584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65,729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73,415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85,305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584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rPr>
                        <a:t>31,905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rPr>
                        <a:t>35,636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rPr>
                        <a:t>41,407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5846">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Source: Company data,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41DC7A9C-FB93-5586-4D65-A3021D8D02A3}"/>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Banks</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2050" name="Picture 2">
            <a:extLst>
              <a:ext uri="{FF2B5EF4-FFF2-40B4-BE49-F238E27FC236}">
                <a16:creationId xmlns:a16="http://schemas.microsoft.com/office/drawing/2014/main" id="{F48C3959-DFB5-7038-864F-F12799E024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3" name="제목 44">
            <a:extLst>
              <a:ext uri="{FF2B5EF4-FFF2-40B4-BE49-F238E27FC236}">
                <a16:creationId xmlns:a16="http://schemas.microsoft.com/office/drawing/2014/main" id="{8F4B80F8-18C6-834A-EF32-9828D6A9A4BA}"/>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Saigon Treasure Commercial Joint Stock Bank</a:t>
            </a:r>
            <a:r>
              <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(STB VN)</a:t>
            </a:r>
          </a:p>
        </p:txBody>
      </p:sp>
      <p:pic>
        <p:nvPicPr>
          <p:cNvPr id="5" name="Picture 4">
            <a:extLst>
              <a:ext uri="{FF2B5EF4-FFF2-40B4-BE49-F238E27FC236}">
                <a16:creationId xmlns:a16="http://schemas.microsoft.com/office/drawing/2014/main" id="{00BD9D6D-323B-533F-6B9E-E2842E63EC54}"/>
              </a:ext>
            </a:extLst>
          </p:cNvPr>
          <p:cNvPicPr>
            <a:picLocks noChangeAspect="1"/>
          </p:cNvPicPr>
          <p:nvPr/>
        </p:nvPicPr>
        <p:blipFill>
          <a:blip r:embed="rId4"/>
          <a:stretch>
            <a:fillRect/>
          </a:stretch>
        </p:blipFill>
        <p:spPr>
          <a:xfrm>
            <a:off x="3097090" y="4229280"/>
            <a:ext cx="2694666" cy="2011854"/>
          </a:xfrm>
          <a:prstGeom prst="rect">
            <a:avLst/>
          </a:prstGeom>
        </p:spPr>
      </p:pic>
    </p:spTree>
    <p:extLst>
      <p:ext uri="{BB962C8B-B14F-4D97-AF65-F5344CB8AC3E}">
        <p14:creationId xmlns:p14="http://schemas.microsoft.com/office/powerpoint/2010/main" val="230289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3364-0874-2C69-B1E7-7F759479966F}"/>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8175F7DD-A564-A67E-7C3A-D1886D621F24}"/>
              </a:ext>
            </a:extLst>
          </p:cNvPr>
          <p:cNvSpPr>
            <a:spLocks noChangeArrowheads="1"/>
          </p:cNvSpPr>
          <p:nvPr/>
        </p:nvSpPr>
        <p:spPr bwMode="auto">
          <a:xfrm>
            <a:off x="448250" y="692696"/>
            <a:ext cx="63640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lvl="0" algn="l" fontAlgn="base" latinLnBrk="1" hangingPunct="0">
              <a:lnSpc>
                <a:spcPct val="120000"/>
              </a:lnSpc>
              <a:spcBef>
                <a:spcPct val="0"/>
              </a:spcBef>
              <a:spcAft>
                <a:spcPct val="0"/>
              </a:spcAft>
              <a:tabLst>
                <a:tab pos="247650" algn="l"/>
              </a:tabLst>
              <a:defRPr/>
            </a:pPr>
            <a:r>
              <a:rPr kumimoji="1" lang="en-US" altLang="ko-KR" sz="1200" b="1" dirty="0">
                <a:solidFill>
                  <a:srgbClr val="F58220"/>
                </a:solidFill>
                <a:latin typeface="Noto Sans" panose="020B0502040504020204" pitchFamily="34" charset="0"/>
                <a:ea typeface="나눔고딕" pitchFamily="50" charset="-127"/>
              </a:rPr>
              <a:t>Chất lượng tài sản suy giảm, áp lực dự phòng còn kéo dài</a:t>
            </a:r>
          </a:p>
        </p:txBody>
      </p:sp>
      <p:graphicFrame>
        <p:nvGraphicFramePr>
          <p:cNvPr id="11" name="표 10">
            <a:extLst>
              <a:ext uri="{FF2B5EF4-FFF2-40B4-BE49-F238E27FC236}">
                <a16:creationId xmlns:a16="http://schemas.microsoft.com/office/drawing/2014/main" id="{8948589E-0907-2314-DD4D-FD7577D4B1CA}"/>
              </a:ext>
            </a:extLst>
          </p:cNvPr>
          <p:cNvGraphicFramePr>
            <a:graphicFrameLocks noGrp="1"/>
          </p:cNvGraphicFramePr>
          <p:nvPr>
            <p:extLst>
              <p:ext uri="{D42A27DB-BD31-4B8C-83A1-F6EECF244321}">
                <p14:modId xmlns:p14="http://schemas.microsoft.com/office/powerpoint/2010/main" val="461747777"/>
              </p:ext>
            </p:extLst>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-0.7</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12.1</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44.7</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4.6</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13.7</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26.8</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5B6DA06C-6F56-4644-6714-DADB2336271D}"/>
              </a:ext>
            </a:extLst>
          </p:cNvPr>
          <p:cNvGraphicFramePr>
            <a:graphicFrameLocks noGrp="1"/>
          </p:cNvGraphicFramePr>
          <p:nvPr>
            <p:extLst>
              <p:ext uri="{D42A27DB-BD31-4B8C-83A1-F6EECF244321}">
                <p14:modId xmlns:p14="http://schemas.microsoft.com/office/powerpoint/2010/main" val="744451564"/>
              </p:ext>
            </p:extLst>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5,809</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-2.2</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26.6</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139,694</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1,885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96.7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11.2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45,950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76,800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5434DA4B-CA9D-DEB2-ACA4-90B75B2BC772}"/>
              </a:ext>
            </a:extLst>
          </p:cNvPr>
          <p:cNvGraphicFramePr>
            <a:graphicFrameLocks noGrp="1"/>
          </p:cNvGraphicFramePr>
          <p:nvPr>
            <p:extLst>
              <p:ext uri="{D42A27DB-BD31-4B8C-83A1-F6EECF244321}">
                <p14:modId xmlns:p14="http://schemas.microsoft.com/office/powerpoint/2010/main" val="1203979337"/>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NẮM GIỮ</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81,400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Thị giá</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(04/08/26)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74,100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DB1B19D8-8B25-74E1-946D-2264F4A1DBB7}"/>
              </a:ext>
            </a:extLst>
          </p:cNvPr>
          <p:cNvSpPr>
            <a:spLocks noChangeArrowheads="1"/>
          </p:cNvSpPr>
          <p:nvPr/>
        </p:nvSpPr>
        <p:spPr bwMode="auto">
          <a:xfrm>
            <a:off x="3142100" y="1088740"/>
            <a:ext cx="8593283" cy="3010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lvl="0" algn="just" fontAlgn="ctr">
              <a:lnSpc>
                <a:spcPts val="1200"/>
              </a:lnSpc>
              <a:spcBef>
                <a:spcPct val="0"/>
              </a:spcBef>
              <a:spcAft>
                <a:spcPts val="5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đầu</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tư</a:t>
            </a:r>
            <a:endPar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lvl="0" algn="just" fontAlgn="ctr">
              <a:lnSpc>
                <a:spcPts val="1200"/>
              </a:lnSpc>
              <a:spcAft>
                <a:spcPts val="500"/>
              </a:spcAft>
              <a:buSzPct val="130000"/>
              <a:defRPr/>
            </a:pP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1H26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thấp</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hơn</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kỳ</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vọng</a:t>
            </a:r>
            <a:r>
              <a:rPr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marL="171450" lvl="0" indent="-171450" algn="just" fontAlgn="ctr">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LNTT 1H26 đạt 4,136 tỷ đồng (-43.6% CK), hoàn thành 51% kế hoạch năm 8,100 tỷ đồng, trong đó Q1/2026 đóng góp 2,106 tỷ đồng. Mức sụt giảm đến từ NIM thu hẹp trong bối cảnh cạnh tranh huy động gay gắt và chi phí dự phòng tăng đáng kể.</a:t>
            </a:r>
          </a:p>
          <a:p>
            <a:pPr marL="171450" lvl="0" indent="-171450" algn="just" fontAlgn="ctr">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Chất lượng tài sản suy giảm vượt mức ban lãnh đạo dự kiến: tỷ lệ nợ xấu đạt 7.54% cuối Q2/2026, tăng 1.13%p so với đầu năm và cao nhất hệ thống, so với ước tính khoảng 5.6% của ban lãnh đạo. Dư nợ nhóm 3-5 tăng khoảng 7,800 tỷ đồng lên 47,957 tỷ đồng, trong đó khoảng 67% (32,000 tỷ đồng) xếp nhóm 5, nợ nhóm 4 tăng hơn gấp đôi (+156%). </a:t>
            </a:r>
            <a:endParaRPr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marL="171450" lvl="0" indent="-171450" algn="just" fontAlgn="ctr">
              <a:lnSpc>
                <a:spcPts val="1200"/>
              </a:lnSpc>
              <a:spcAft>
                <a:spcPts val="500"/>
              </a:spcAft>
              <a:buSzPct val="130000"/>
              <a:buFont typeface="Arial" panose="020B0604020202020204" pitchFamily="34" charset="0"/>
              <a:buChar char="•"/>
              <a:defRPr/>
            </a:pPr>
            <a:r>
              <a:rPr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đặt giả định nợ xấu FY26F ở 5.8% (từ dưới 4.5%) và FY27F ở 4.0% (từ 3.1%). Giữ 5.5% trên nền dư nợ đã thu hẹp sẽ đòi hỏi nợ xấu phải được thu hồi ròng trong 2H26; mức 5.8% giữ số dư tuyệt đối ở 37,157 tỷ đồng và nợ xấu phát sinh mới vẫn dương. Dự phòng đạt 27.2 nghìn tỷ đồng cuối Q2/2026 — bao phủ 56.7%, tăng từ 50.0% cuối 2025 — sau khi trích 7.1 nghìn tỷ đồng trong 1H26 và trích thêm 3.1 nghìn tỷ đồng trong 2H26 đủ để xóa 11.0 nghìn tỷ đồng, tương đương 34% dư nợ nhóm 5, đưa bao phủ về 50.9%. </a:t>
            </a:r>
          </a:p>
          <a:p>
            <a:pPr lvl="0" algn="just" fontAlgn="ctr">
              <a:lnSpc>
                <a:spcPts val="1200"/>
              </a:lnSpc>
              <a:spcAft>
                <a:spcPts val="500"/>
              </a:spcAft>
              <a:buSzPct val="130000"/>
              <a:defRPr/>
            </a:pPr>
            <a:r>
              <a:rPr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Đặt LNTT FY26F ở 7,500 tỷ đồng sau khi điều chỉnh tăng trưởng tín dụng: </a:t>
            </a:r>
          </a:p>
          <a:p>
            <a:pPr marL="171450" indent="-171450" algn="just" fontAlgn="ctr">
              <a:lnSpc>
                <a:spcPts val="1200"/>
              </a:lnSpc>
              <a:spcAft>
                <a:spcPts val="500"/>
              </a:spcAft>
              <a:buSzPct val="130000"/>
              <a:buFont typeface="Arial" panose="020B0604020202020204" pitchFamily="34" charset="0"/>
              <a:buChar char="•"/>
              <a:defRPr/>
            </a:pP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STB ghi nhận 7,331 tỷ đồng LNTT trong 1H25 nhưng chỉ 297 tỷ đồng trong 2H25, do Q4/2025 lỗ trước thuế 3,360 tỷ đồng. </a:t>
            </a:r>
            <a:endPar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marL="171450" indent="-171450" algn="just" fontAlgn="ctr">
              <a:lnSpc>
                <a:spcPts val="1200"/>
              </a:lnSpc>
              <a:spcAft>
                <a:spcPts val="500"/>
              </a:spcAft>
              <a:buSzPct val="130000"/>
              <a:buFont typeface="Arial" panose="020B0604020202020204" pitchFamily="34" charset="0"/>
              <a:buChar char="•"/>
              <a:defRPr/>
            </a:pP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hạ giả định tăng trưởng tín dụng FY26F về 2.3%, so với 11.7% trước đây và 1.5% thực hiện trong 1H26. Dư nợ theo đó còn 640,643 tỷ đồng và NII còn 24,531 tỷ đồng (-8.1% CK), kéo LNTT FY26F xuống 7,461 tỷ đồng (-2.2% CK) — thấp hơn 8% so với kế hoạch 8,100 tỷ đồng đã được ĐHĐCĐ thông qua, trong khi bản trước còn nhỉnh hơn kế hoạch. Mức này hàm ý LNTT 2H26 khoảng 3,324 tỷ đồng so với 297 tỷ đồng của 2H25. </a:t>
            </a:r>
          </a:p>
          <a:p>
            <a:pPr marL="171450" indent="-171450" algn="just" fontAlgn="ctr">
              <a:lnSpc>
                <a:spcPts val="1200"/>
              </a:lnSpc>
              <a:spcAft>
                <a:spcPts val="500"/>
              </a:spcAft>
              <a:buSzPct val="130000"/>
              <a:buFont typeface="Arial" panose="020B0604020202020204" pitchFamily="34" charset="0"/>
              <a:buChar char="•"/>
              <a:defRPr/>
            </a:pP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Các giả định FY26F khác: chi phí dự phòng 10.2 nghìn tỷ đồng (-10.4% CK) và thu nhập ngoài lãi 5,950 tỷ đồng. CIR giảm dần từ 42.1% năm FY26F về 40.0% FY27F và 38.0% FY28F; với chi phí 1H26 là 6,233 tỷ đồng, mức này cho chi phí 2H26 ở 6,585 tỷ đồng, +5.6% so với nửa đầu năm, tức không giả định cắt giảm chi phí. FY27F trích thêm 1,000 tỷ đồng và FY28F 2,000 tỷ đồng ngoài phần đủ bù xóa nợ, tức bộ đệm dự phòng được bồi đắp chứ không chỉ tài trợ xử lý nợ. NII FY27F tăng 9.9% khi NIM đảo chiều — NII/dư nợ bình quân từ 3.87% lên 3.96% — đưa LNTT FY27F lên 9,872 tỷ đồng (+32%) và FY28F lên 15,271 tỷ đồng (+55%). Ở diễn biến khác, việc Sacombank thu giữ 507 giấy chứng nhận quyền sử dụng đất tại dự án Viva City đối với 350 tỷ đồng dư nợ gốc quá hạn tuy chưa trọng yếu nhưng cho thấy kênh xử lý tài sản đảm bảo mà chương trình xóa nợ 2H26 phụ thuộc vào.</a:t>
            </a:r>
            <a:endPar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p:txBody>
      </p:sp>
      <p:graphicFrame>
        <p:nvGraphicFramePr>
          <p:cNvPr id="16" name="표 14">
            <a:extLst>
              <a:ext uri="{FF2B5EF4-FFF2-40B4-BE49-F238E27FC236}">
                <a16:creationId xmlns:a16="http://schemas.microsoft.com/office/drawing/2014/main" id="{043C02F0-1467-A4FD-BD87-931B5241F4B9}"/>
              </a:ext>
            </a:extLst>
          </p:cNvPr>
          <p:cNvGraphicFramePr>
            <a:graphicFrameLocks noGrp="1"/>
          </p:cNvGraphicFramePr>
          <p:nvPr>
            <p:extLst>
              <p:ext uri="{D42A27DB-BD31-4B8C-83A1-F6EECF244321}">
                <p14:modId xmlns:p14="http://schemas.microsoft.com/office/powerpoint/2010/main" val="2746856939"/>
              </p:ext>
            </p:extLst>
          </p:nvPr>
        </p:nvGraphicFramePr>
        <p:xfrm>
          <a:off x="6010273" y="4183739"/>
          <a:ext cx="5718758" cy="2312310"/>
        </p:xfrm>
        <a:graphic>
          <a:graphicData uri="http://schemas.openxmlformats.org/drawingml/2006/table">
            <a:tbl>
              <a:tblPr firstRow="1" firstCol="1" bandRow="1">
                <a:tableStyleId>{5C22544A-7EE6-4342-B048-85BDC9FD1C3A}</a:tableStyleId>
              </a:tblPr>
              <a:tblGrid>
                <a:gridCol w="1390082">
                  <a:extLst>
                    <a:ext uri="{9D8B030D-6E8A-4147-A177-3AD203B41FA5}">
                      <a16:colId xmlns:a16="http://schemas.microsoft.com/office/drawing/2014/main" val="20000"/>
                    </a:ext>
                  </a:extLst>
                </a:gridCol>
                <a:gridCol w="721446">
                  <a:extLst>
                    <a:ext uri="{9D8B030D-6E8A-4147-A177-3AD203B41FA5}">
                      <a16:colId xmlns:a16="http://schemas.microsoft.com/office/drawing/2014/main" val="20002"/>
                    </a:ext>
                  </a:extLst>
                </a:gridCol>
                <a:gridCol w="721446">
                  <a:extLst>
                    <a:ext uri="{9D8B030D-6E8A-4147-A177-3AD203B41FA5}">
                      <a16:colId xmlns:a16="http://schemas.microsoft.com/office/drawing/2014/main" val="20003"/>
                    </a:ext>
                  </a:extLst>
                </a:gridCol>
                <a:gridCol w="721446">
                  <a:extLst>
                    <a:ext uri="{9D8B030D-6E8A-4147-A177-3AD203B41FA5}">
                      <a16:colId xmlns:a16="http://schemas.microsoft.com/office/drawing/2014/main" val="20004"/>
                    </a:ext>
                  </a:extLst>
                </a:gridCol>
                <a:gridCol w="721446">
                  <a:extLst>
                    <a:ext uri="{9D8B030D-6E8A-4147-A177-3AD203B41FA5}">
                      <a16:colId xmlns:a16="http://schemas.microsoft.com/office/drawing/2014/main" val="20005"/>
                    </a:ext>
                  </a:extLst>
                </a:gridCol>
                <a:gridCol w="721446">
                  <a:extLst>
                    <a:ext uri="{9D8B030D-6E8A-4147-A177-3AD203B41FA5}">
                      <a16:colId xmlns:a16="http://schemas.microsoft.com/office/drawing/2014/main" val="20006"/>
                    </a:ext>
                  </a:extLst>
                </a:gridCol>
                <a:gridCol w="721446">
                  <a:extLst>
                    <a:ext uri="{9D8B030D-6E8A-4147-A177-3AD203B41FA5}">
                      <a16:colId xmlns:a16="http://schemas.microsoft.com/office/drawing/2014/main" val="1619028315"/>
                    </a:ext>
                  </a:extLst>
                </a:gridCol>
              </a:tblGrid>
              <a:tr h="177870">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9144" marR="9144"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nhập</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lãi</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thuần</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22,072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24,532</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26,681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24,531</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26,954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30,600</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Thu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nhập</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ngoài</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lãi</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4,145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5,376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5,950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7,226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8,517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7870">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Lợi</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nhuận</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hoạt</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động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9,595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12,720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7,628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7,461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9,872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15,271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7870">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7,719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10,087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5,939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5,809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7,686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11,890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7870">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3,747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        4,896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         2,883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2,820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3,731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5,771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18.3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8.8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15.0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20.0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15.3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26.0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26.6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7870">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Tổng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tài</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sản</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674,390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748,095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917,106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1,013,554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1,125,396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1,262,644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72680368"/>
                  </a:ext>
                </a:extLst>
              </a:tr>
              <a:tr h="177870">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VCSH </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altLang="ko-KR"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altLang="ko-KR"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45,734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54,972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59,867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65,729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73,415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85,305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58685419"/>
                  </a:ext>
                </a:extLst>
              </a:tr>
              <a:tr h="177870">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Giá</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trị</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sổ</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sách</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p>
                  </a:txBody>
                  <a:tcPr marL="9144" marR="9144"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 22,199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 26,683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 29,059 </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31,905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35,636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41,407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7870">
                <a:tc gridSpan="6">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Nguồn</a:t>
                      </a: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Dữ</a:t>
                      </a: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liệu</a:t>
                      </a: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công</a:t>
                      </a: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ty, Mirae Asset Vietnam Research</a:t>
                      </a: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lnL>
                    <a:lnT w="12700" cmpd="sng">
                      <a:noFill/>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l" defTabSz="457200" rtl="0" eaLnBrk="1" fontAlgn="auto" latinLnBrk="1" hangingPunct="0">
                        <a:lnSpc>
                          <a:spcPts val="950"/>
                        </a:lnSpc>
                        <a:spcBef>
                          <a:spcPts val="0"/>
                        </a:spcBef>
                        <a:spcAft>
                          <a:spcPts val="0"/>
                        </a:spcAft>
                        <a:buClrTx/>
                        <a:buSzTx/>
                        <a:buFontTx/>
                        <a:buNone/>
                        <a:tabLst/>
                        <a:defRPr/>
                      </a:pPr>
                      <a:endPar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endParaRPr>
                    </a:p>
                  </a:txBody>
                  <a:tcPr marL="9144" marR="9144"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7" name="TextBox 16">
            <a:extLst>
              <a:ext uri="{FF2B5EF4-FFF2-40B4-BE49-F238E27FC236}">
                <a16:creationId xmlns:a16="http://schemas.microsoft.com/office/drawing/2014/main" id="{C7171360-BB16-DD37-444C-3DCEDA13B985}"/>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sp>
        <p:nvSpPr>
          <p:cNvPr id="4" name="모서리가 둥근 직사각형 8">
            <a:extLst>
              <a:ext uri="{FF2B5EF4-FFF2-40B4-BE49-F238E27FC236}">
                <a16:creationId xmlns:a16="http://schemas.microsoft.com/office/drawing/2014/main" id="{184A992F-1E7A-5127-DB56-72EBCACB5591}"/>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marL="0" marR="0" lvl="0" indent="0" algn="ctr" defTabSz="914400" rtl="0" eaLnBrk="1" fontAlgn="base" latinLnBrk="1" hangingPunct="1">
              <a:lnSpc>
                <a:spcPct val="100000"/>
              </a:lnSpc>
              <a:spcBef>
                <a:spcPct val="0"/>
              </a:spcBef>
              <a:spcAft>
                <a:spcPct val="0"/>
              </a:spcAft>
              <a:buClrTx/>
              <a:buSzTx/>
              <a:buFontTx/>
              <a:buNone/>
              <a:tabLst/>
              <a:defRPr/>
            </a:pP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Ngân</a:t>
            </a: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900" b="1" dirty="0" err="1">
                <a:solidFill>
                  <a:prstClr val="white"/>
                </a:solidFill>
                <a:latin typeface="Noto Sans" panose="020B0502040504020204" pitchFamily="34" charset="0"/>
                <a:ea typeface="Noto Sans" panose="020B0502040504020204" pitchFamily="34" charset="0"/>
                <a:cs typeface="Noto Sans" panose="020B0502040504020204" pitchFamily="34" charset="0"/>
              </a:rPr>
              <a:t>hàng</a:t>
            </a:r>
            <a:endParaRPr kumimoji="1" lang="ko-KR" altLang="en-US" sz="900" b="1" i="0" u="none" strike="noStrike" kern="1200" cap="none" spc="0" normalizeH="0" baseline="0" noProof="0" dirty="0">
              <a:ln>
                <a:noFill/>
              </a:ln>
              <a:solidFill>
                <a:prstClr val="white"/>
              </a:solidFill>
              <a:effectLst/>
              <a:uLnTx/>
              <a:uFillTx/>
              <a:latin typeface="Noto Sans" panose="020B0502040504020204" pitchFamily="34" charset="0"/>
              <a:ea typeface="KoPub돋움체_Pro Bold" pitchFamily="18" charset="-127"/>
              <a:cs typeface="Noto Sans" panose="020B0502040504020204" pitchFamily="34" charset="0"/>
            </a:endParaRPr>
          </a:p>
        </p:txBody>
      </p:sp>
      <p:pic>
        <p:nvPicPr>
          <p:cNvPr id="3" name="Picture 2">
            <a:extLst>
              <a:ext uri="{FF2B5EF4-FFF2-40B4-BE49-F238E27FC236}">
                <a16:creationId xmlns:a16="http://schemas.microsoft.com/office/drawing/2014/main" id="{B42DFDAB-BA43-DE40-C1C4-DCD24C19CB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8085" y="761626"/>
            <a:ext cx="1563757" cy="252807"/>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44">
            <a:extLst>
              <a:ext uri="{FF2B5EF4-FFF2-40B4-BE49-F238E27FC236}">
                <a16:creationId xmlns:a16="http://schemas.microsoft.com/office/drawing/2014/main" id="{B256B368-F20F-E0D5-DDA5-F87362DD709D}"/>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0" lang="vi-VN"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Ngân hàng TMCP Sài Gòn </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Tài </a:t>
            </a:r>
            <a:r>
              <a:rPr kumimoji="0" lang="en-US" altLang="ko-KR" sz="2100" b="1" i="0" u="none" strike="noStrike" kern="1200" cap="none" spc="0" normalizeH="0" baseline="0" noProof="0" dirty="0" err="1">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Lộc</a:t>
            </a:r>
            <a:r>
              <a:rPr kumimoji="0" lang="en-US" altLang="ko-KR" sz="21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vi-VN"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rPr>
              <a:t>(HOSE: STB)</a:t>
            </a:r>
            <a:endParaRPr kumimoji="0" lang="en-US" altLang="ko-KR" sz="1500" b="1" i="0" u="none" strike="noStrike" kern="1200" cap="none" spc="0" normalizeH="0" baseline="0" noProof="0" dirty="0">
              <a:ln>
                <a:noFill/>
              </a:ln>
              <a:solidFill>
                <a:srgbClr val="000000">
                  <a:lumMod val="85000"/>
                  <a:lumOff val="15000"/>
                </a:srgbClr>
              </a:solidFill>
              <a:effectLst/>
              <a:uLnTx/>
              <a:uFillTx/>
              <a:latin typeface="Noto Sans" panose="020B0502040504020204" pitchFamily="34" charset="0"/>
              <a:ea typeface="Noto Sans" panose="020B0502040504020204" pitchFamily="34" charset="0"/>
              <a:cs typeface="Noto Sans" panose="020B0502040504020204" pitchFamily="34" charset="0"/>
            </a:endParaRPr>
          </a:p>
        </p:txBody>
      </p:sp>
      <p:pic>
        <p:nvPicPr>
          <p:cNvPr id="5" name="Picture 4">
            <a:extLst>
              <a:ext uri="{FF2B5EF4-FFF2-40B4-BE49-F238E27FC236}">
                <a16:creationId xmlns:a16="http://schemas.microsoft.com/office/drawing/2014/main" id="{95F78FE9-D9FF-7137-3795-8A780C19462E}"/>
              </a:ext>
            </a:extLst>
          </p:cNvPr>
          <p:cNvPicPr>
            <a:picLocks noChangeAspect="1"/>
          </p:cNvPicPr>
          <p:nvPr/>
        </p:nvPicPr>
        <p:blipFill>
          <a:blip r:embed="rId4"/>
          <a:stretch>
            <a:fillRect/>
          </a:stretch>
        </p:blipFill>
        <p:spPr>
          <a:xfrm>
            <a:off x="3097090" y="4248750"/>
            <a:ext cx="2694666" cy="2011854"/>
          </a:xfrm>
          <a:prstGeom prst="rect">
            <a:avLst/>
          </a:prstGeom>
        </p:spPr>
      </p:pic>
    </p:spTree>
    <p:extLst>
      <p:ext uri="{BB962C8B-B14F-4D97-AF65-F5344CB8AC3E}">
        <p14:creationId xmlns:p14="http://schemas.microsoft.com/office/powerpoint/2010/main" val="334482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4"/>
          <p:cNvSpPr>
            <a:spLocks noChangeArrowheads="1"/>
          </p:cNvSpPr>
          <p:nvPr/>
        </p:nvSpPr>
        <p:spPr bwMode="auto">
          <a:xfrm>
            <a:off x="448250" y="692696"/>
            <a:ext cx="60211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fontAlgn="base" latinLnBrk="1" hangingPunct="0">
              <a:lnSpc>
                <a:spcPct val="120000"/>
              </a:lnSpc>
              <a:spcBef>
                <a:spcPct val="0"/>
              </a:spcBef>
              <a:spcAft>
                <a:spcPct val="0"/>
              </a:spcAft>
              <a:tabLst>
                <a:tab pos="247650" algn="l"/>
              </a:tabLst>
            </a:pPr>
            <a:r>
              <a:rPr kumimoji="1" lang="en-US" altLang="ko-KR" sz="1200" b="1" dirty="0">
                <a:solidFill>
                  <a:srgbClr val="F58220"/>
                </a:solidFill>
                <a:latin typeface="Noto Sans" panose="020B0502040504020204" pitchFamily="34" charset="0"/>
                <a:ea typeface="나눔고딕" pitchFamily="50" charset="-127"/>
              </a:rPr>
              <a:t>Resilient recovery after a two-year-low valuation</a:t>
            </a:r>
          </a:p>
        </p:txBody>
      </p:sp>
      <p:graphicFrame>
        <p:nvGraphicFramePr>
          <p:cNvPr id="11" name="표 10"/>
          <p:cNvGraphicFramePr>
            <a:graphicFrameLocks noGrp="1"/>
          </p:cNvGraphicFramePr>
          <p:nvPr>
            <p:extLst>
              <p:ext uri="{D42A27DB-BD31-4B8C-83A1-F6EECF244321}">
                <p14:modId xmlns:p14="http://schemas.microsoft.com/office/powerpoint/2010/main" val="2021883969"/>
              </p:ext>
            </p:extLst>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12M</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Absolute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-0.8</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-29.6</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-33.0</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Relative</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-28.0</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-50.9</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10,944</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consensus (26F,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Growth (26F, %)</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15.6</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13.7</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Market cap (VNDbn)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122,141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Shares outstanding (mn)</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Free float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marL="0" algn="l" defTabSz="457200" rtl="0" eaLnBrk="1"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Foreign ownership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low (VND)</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algn="l" latinLnBrk="1" hangingPunct="0">
                        <a:lnSpc>
                          <a:spcPts val="950"/>
                        </a:lnSpc>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52-week high (VND)</a:t>
                      </a: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77827804"/>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(Update</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BUY</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Target price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12M)</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87,950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Current price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(04/08/26)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71,700</a:t>
                      </a:r>
                      <a:endParaRPr 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Expected return</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22.7%</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7F35B422-7E3A-4069-B466-AC6A262FB4A7}"/>
              </a:ext>
            </a:extLst>
          </p:cNvPr>
          <p:cNvSpPr>
            <a:spLocks noChangeArrowheads="1"/>
          </p:cNvSpPr>
          <p:nvPr/>
        </p:nvSpPr>
        <p:spPr bwMode="auto">
          <a:xfrm>
            <a:off x="3135750" y="1130779"/>
            <a:ext cx="8593283" cy="305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Investment points</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1H26 performance: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revenue VND26,269bn (+12.6% YoY) and PBT VND5,714bn (+18.1% YoY), 45%/49% of the FY26 plan, with the group PBT margin widening to 21.8% (1H25: 18.9%). In 2Q26: revenue VND13,789bn, PBT VND2,910bn, NPATMI VND2,568bn (+14% YoY). In 1H26, Technology revenue was VND23,138bn (+15% YoY; 88% of group) and PBT VND3,314bn (+16.9%); Education, investment and others fell 2.1% to VND3,131bn yet contributed 42% of group PBT on a ~77% margin.</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Public-sector digitalization underpins the domestic pipeline: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Domestic IT grew fastest in 6M26 at VND4,236bn (+22.5% YoY), segment PBT to VND308bn (+100.5%) on national digital-transformation wins — multi-year work outside the global IT cycle, though its 7.3% margin dilutes the blend. Signed contract value for Global IT reached VND26,338bn in 1H26, +32.3% YoY, including 14 deals above USD10mn — a book-to-bill of 1.39x against 1.07-1.22x through FY21-25. On that basis we look for Global IT to reaccelerate to +16.7% in FY27F and +17.7% in FY28F, from +14.7% in FY26F and +13.4% in 1H26. </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The AI demand expansion versus compression of headcount-based pricing:</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AI and data analytics revenue reached VND1,842bn in 1H26, +54% YoY against +15% for Technology, lifting its share of the segment to 8.0% from 5.9% and contributing a fifth of Technology's growth; ex-AI the segment grew 12.5%. Both AI Factories, in Vietnam and Japan, ran above 90%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utilisation</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and turned profitable in 2Q26, about a year after launch. </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Projection and valuation: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we forecast FY26F NPATMI of VND10,944bn (+15.6% YoY), FY27F VND12,674bn (+15.8%) and FY28F VND14,774bn (+16.6%). Associate income — FPT Telecom (45.66%), equity-accounted from FY26, with FPT Retail (46.5%) ,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Synnex</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FPT (48%) and FPT Online (49.5%) — rises to VND2,608bn in FY26F and VND3,449bn by FY28F, and grew 40.8% YoY in 1H26. Operating leverage carries the rest: SG&amp;A falls from 17.6% of sales to 16.5% by FY28F thanks to cost-savings in AI. ROE holds near 27% on net cash of around 60% of equity and a maintained DPS of VND2,000. </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We raise our DCF (FCFF) target price to VND87,950;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at the target price, 13.7x FY26F and 11.8x FY27F. Risks: (1) AI-driven price deflation outpacing our long-term growth assumption (2) subdued US and global IT spending and tariff-related contract delays (3) JPY/USD volatility. </a:t>
            </a:r>
          </a:p>
        </p:txBody>
      </p:sp>
      <p:graphicFrame>
        <p:nvGraphicFramePr>
          <p:cNvPr id="16" name="표 14">
            <a:extLst>
              <a:ext uri="{FF2B5EF4-FFF2-40B4-BE49-F238E27FC236}">
                <a16:creationId xmlns:a16="http://schemas.microsoft.com/office/drawing/2014/main" id="{C861129E-156C-495D-9183-2BF9CC07152A}"/>
              </a:ext>
            </a:extLst>
          </p:cNvPr>
          <p:cNvGraphicFramePr>
            <a:graphicFrameLocks noGrp="1"/>
          </p:cNvGraphicFramePr>
          <p:nvPr/>
        </p:nvGraphicFramePr>
        <p:xfrm>
          <a:off x="6010273" y="4182363"/>
          <a:ext cx="5729627" cy="2258568"/>
        </p:xfrm>
        <a:graphic>
          <a:graphicData uri="http://schemas.openxmlformats.org/drawingml/2006/table">
            <a:tbl>
              <a:tblPr firstRow="1" firstCol="1" bandRow="1">
                <a:tableStyleId>{5C22544A-7EE6-4342-B048-85BDC9FD1C3A}</a:tableStyleId>
              </a:tblPr>
              <a:tblGrid>
                <a:gridCol w="1385951">
                  <a:extLst>
                    <a:ext uri="{9D8B030D-6E8A-4147-A177-3AD203B41FA5}">
                      <a16:colId xmlns:a16="http://schemas.microsoft.com/office/drawing/2014/main" val="20000"/>
                    </a:ext>
                  </a:extLst>
                </a:gridCol>
                <a:gridCol w="747166">
                  <a:extLst>
                    <a:ext uri="{9D8B030D-6E8A-4147-A177-3AD203B41FA5}">
                      <a16:colId xmlns:a16="http://schemas.microsoft.com/office/drawing/2014/main" val="20001"/>
                    </a:ext>
                  </a:extLst>
                </a:gridCol>
                <a:gridCol w="719302">
                  <a:extLst>
                    <a:ext uri="{9D8B030D-6E8A-4147-A177-3AD203B41FA5}">
                      <a16:colId xmlns:a16="http://schemas.microsoft.com/office/drawing/2014/main" val="20002"/>
                    </a:ext>
                  </a:extLst>
                </a:gridCol>
                <a:gridCol w="719302">
                  <a:extLst>
                    <a:ext uri="{9D8B030D-6E8A-4147-A177-3AD203B41FA5}">
                      <a16:colId xmlns:a16="http://schemas.microsoft.com/office/drawing/2014/main" val="20003"/>
                    </a:ext>
                  </a:extLst>
                </a:gridCol>
                <a:gridCol w="719302">
                  <a:extLst>
                    <a:ext uri="{9D8B030D-6E8A-4147-A177-3AD203B41FA5}">
                      <a16:colId xmlns:a16="http://schemas.microsoft.com/office/drawing/2014/main" val="20004"/>
                    </a:ext>
                  </a:extLst>
                </a:gridCol>
                <a:gridCol w="719302">
                  <a:extLst>
                    <a:ext uri="{9D8B030D-6E8A-4147-A177-3AD203B41FA5}">
                      <a16:colId xmlns:a16="http://schemas.microsoft.com/office/drawing/2014/main" val="20005"/>
                    </a:ext>
                  </a:extLst>
                </a:gridCol>
                <a:gridCol w="7193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Revenue (VNDbn)</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57,284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66,048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76,654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Operating profit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750" b="0" i="0" u="none" strike="noStrike">
                          <a:effectLst/>
                          <a:latin typeface="Noto Sans" panose="020B0502040504020204" pitchFamily="34" charset="0"/>
                        </a:rPr>
                        <a:t>9,807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750" b="0" i="0" u="none" strike="noStrike">
                          <a:effectLst/>
                          <a:latin typeface="Noto Sans" panose="020B0502040504020204" pitchFamily="34" charset="0"/>
                        </a:rPr>
                        <a:t>11,044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750" b="0" i="0" u="none" strike="noStrike">
                          <a:effectLst/>
                          <a:latin typeface="Noto Sans" panose="020B0502040504020204" pitchFamily="34" charset="0"/>
                        </a:rPr>
                        <a:t>13,053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PBT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15,159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17,671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NPATMI (VNDbn)</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10,944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12,674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14,774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(VND)</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6,424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7,440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8,673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18.0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Total assets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91,917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102,974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115,994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Equity (VNDbn)</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50,217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58,356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68,507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BVPS (VND)</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750" b="0" i="0" u="none" strike="noStrike">
                          <a:solidFill>
                            <a:srgbClr val="000000"/>
                          </a:solidFill>
                          <a:effectLst/>
                          <a:latin typeface="Noto Sans" panose="020B0502040504020204" pitchFamily="34" charset="0"/>
                        </a:rPr>
                        <a:t>25,116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750" b="0" i="0" u="none" strike="noStrike">
                          <a:solidFill>
                            <a:srgbClr val="000000"/>
                          </a:solidFill>
                          <a:effectLst/>
                          <a:latin typeface="Noto Sans" panose="020B0502040504020204" pitchFamily="34" charset="0"/>
                        </a:rPr>
                        <a:t>29,770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750" b="0" i="0" u="none" strike="noStrike" dirty="0">
                          <a:solidFill>
                            <a:srgbClr val="000000"/>
                          </a:solidFill>
                          <a:effectLst/>
                          <a:latin typeface="Noto Sans" panose="020B0502040504020204" pitchFamily="34" charset="0"/>
                        </a:rPr>
                        <a:t>35,585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indent="0" algn="l" defTabSz="457200" rtl="0" eaLnBrk="1" fontAlgn="auto" latinLnBrk="1" hangingPunct="0">
                        <a:lnSpc>
                          <a:spcPts val="950"/>
                        </a:lnSpc>
                        <a:spcBef>
                          <a:spcPts val="0"/>
                        </a:spcBef>
                        <a:spcAft>
                          <a:spcPts val="0"/>
                        </a:spcAft>
                        <a:buClrTx/>
                        <a:buSzTx/>
                        <a:buFontTx/>
                        <a:buNone/>
                        <a:tabLst/>
                        <a:defRPr/>
                      </a:pPr>
                      <a:r>
                        <a:rPr lang="en-US" sz="800" b="0"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Note: FPT Telecom deconsolidated (equity method) from FY26F. Source: Company data,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884B52BA-13F8-297D-E7F6-44053EF7F343}"/>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fontAlgn="base" latinLnBrk="1">
              <a:spcBef>
                <a:spcPct val="0"/>
              </a:spcBef>
              <a:spcAft>
                <a:spcPct val="0"/>
              </a:spcAft>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IT</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2" name="제목 44">
            <a:extLst>
              <a:ext uri="{FF2B5EF4-FFF2-40B4-BE49-F238E27FC236}">
                <a16:creationId xmlns:a16="http://schemas.microsoft.com/office/drawing/2014/main" id="{1EDE874D-5357-ECB1-54CD-6E97B08F1E3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fontAlgn="base" latinLnBrk="1">
              <a:spcBef>
                <a:spcPct val="0"/>
              </a:spcBef>
              <a:spcAft>
                <a:spcPct val="0"/>
              </a:spcAft>
              <a:defRPr/>
            </a:pPr>
            <a:r>
              <a:rPr lang="en-US" altLang="ko-KR" b="1" dirty="0">
                <a:solidFill>
                  <a:srgbClr val="000000">
                    <a:lumMod val="85000"/>
                    <a:lumOff val="15000"/>
                  </a:srgbClr>
                </a:solidFill>
              </a:rPr>
              <a:t>FPT Corporation (HOSE: FPT)</a:t>
            </a:r>
          </a:p>
        </p:txBody>
      </p:sp>
      <p:sp>
        <p:nvSpPr>
          <p:cNvPr id="6" name="TextBox 5">
            <a:extLst>
              <a:ext uri="{FF2B5EF4-FFF2-40B4-BE49-F238E27FC236}">
                <a16:creationId xmlns:a16="http://schemas.microsoft.com/office/drawing/2014/main" id="{FEFCB194-3326-4D86-FED0-39A53B2CE388}"/>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 Ton,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graphicFrame>
        <p:nvGraphicFramePr>
          <p:cNvPr id="5" name="Chart 4">
            <a:extLst>
              <a:ext uri="{FF2B5EF4-FFF2-40B4-BE49-F238E27FC236}">
                <a16:creationId xmlns:a16="http://schemas.microsoft.com/office/drawing/2014/main" id="{8474309D-1482-FC5C-453B-E39968190997}"/>
              </a:ext>
            </a:extLst>
          </p:cNvPr>
          <p:cNvGraphicFramePr>
            <a:graphicFrameLocks/>
          </p:cNvGraphicFramePr>
          <p:nvPr>
            <p:extLst>
              <p:ext uri="{D42A27DB-BD31-4B8C-83A1-F6EECF244321}">
                <p14:modId xmlns:p14="http://schemas.microsoft.com/office/powerpoint/2010/main" val="4197266274"/>
              </p:ext>
            </p:extLst>
          </p:nvPr>
        </p:nvGraphicFramePr>
        <p:xfrm>
          <a:off x="3135749" y="4182363"/>
          <a:ext cx="2667521" cy="20184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09298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E6809-FBE0-1EE6-873D-19A397544DFA}"/>
            </a:ext>
          </a:extLst>
        </p:cNvPr>
        <p:cNvGrpSpPr/>
        <p:nvPr/>
      </p:nvGrpSpPr>
      <p:grpSpPr>
        <a:xfrm>
          <a:off x="0" y="0"/>
          <a:ext cx="0" cy="0"/>
          <a:chOff x="0" y="0"/>
          <a:chExt cx="0" cy="0"/>
        </a:xfrm>
      </p:grpSpPr>
      <p:sp>
        <p:nvSpPr>
          <p:cNvPr id="14" name="Rectangle 4">
            <a:extLst>
              <a:ext uri="{FF2B5EF4-FFF2-40B4-BE49-F238E27FC236}">
                <a16:creationId xmlns:a16="http://schemas.microsoft.com/office/drawing/2014/main" id="{28F25DAC-D395-7570-1EBD-07B3A6C19EEC}"/>
              </a:ext>
            </a:extLst>
          </p:cNvPr>
          <p:cNvSpPr>
            <a:spLocks noChangeArrowheads="1"/>
          </p:cNvSpPr>
          <p:nvPr/>
        </p:nvSpPr>
        <p:spPr bwMode="auto">
          <a:xfrm>
            <a:off x="448250" y="692696"/>
            <a:ext cx="6249730" cy="363538"/>
          </a:xfrm>
          <a:prstGeom prst="rect">
            <a:avLst/>
          </a:prstGeom>
          <a:noFill/>
          <a:ln>
            <a:noFill/>
          </a:ln>
          <a:effectLst/>
          <a:extLst>
            <a:ext uri="{909E8E84-426E-40DD-AFC4-6F175D3DCCD1}">
              <a14:hiddenFill xmlns:a14="http://schemas.microsoft.com/office/drawing/2010/main">
                <a:solidFill>
                  <a:srgbClr val="A5002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l" hangingPunct="0">
              <a:lnSpc>
                <a:spcPct val="120000"/>
              </a:lnSpc>
              <a:tabLst>
                <a:tab pos="247650" algn="l"/>
              </a:tabLst>
            </a:pPr>
            <a:r>
              <a:rPr lang="en-US" altLang="ko-KR" sz="1200" b="1" dirty="0">
                <a:solidFill>
                  <a:srgbClr val="F58220"/>
                </a:solidFill>
                <a:latin typeface="Noto Sans" panose="020B0502040504020204" pitchFamily="34" charset="0"/>
              </a:rPr>
              <a:t>Tăng trưởng bền bỉ, định </a:t>
            </a:r>
            <a:r>
              <a:rPr lang="en-US" altLang="ko-KR" sz="1200" b="1" dirty="0" err="1">
                <a:solidFill>
                  <a:srgbClr val="F58220"/>
                </a:solidFill>
                <a:latin typeface="Noto Sans" panose="020B0502040504020204" pitchFamily="34" charset="0"/>
              </a:rPr>
              <a:t>giá</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hồi</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phục</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khi</a:t>
            </a:r>
            <a:r>
              <a:rPr lang="en-US" altLang="ko-KR" sz="1200" b="1" dirty="0">
                <a:solidFill>
                  <a:srgbClr val="F58220"/>
                </a:solidFill>
                <a:latin typeface="Noto Sans" panose="020B0502040504020204" pitchFamily="34" charset="0"/>
              </a:rPr>
              <a:t> </a:t>
            </a:r>
            <a:r>
              <a:rPr lang="en-US" altLang="ko-KR" sz="1200" b="1" dirty="0" err="1">
                <a:solidFill>
                  <a:srgbClr val="F58220"/>
                </a:solidFill>
                <a:latin typeface="Noto Sans" panose="020B0502040504020204" pitchFamily="34" charset="0"/>
              </a:rPr>
              <a:t>về</a:t>
            </a:r>
            <a:r>
              <a:rPr lang="en-US" altLang="ko-KR" sz="1200" b="1" dirty="0">
                <a:solidFill>
                  <a:srgbClr val="F58220"/>
                </a:solidFill>
                <a:latin typeface="Noto Sans" panose="020B0502040504020204" pitchFamily="34" charset="0"/>
              </a:rPr>
              <a:t> đáy 2 năm</a:t>
            </a:r>
            <a:endParaRPr lang="vi-VN" altLang="ko-KR" sz="1200" b="1" dirty="0">
              <a:solidFill>
                <a:srgbClr val="F58220"/>
              </a:solidFill>
              <a:latin typeface="Noto Sans" panose="020B0502040504020204" pitchFamily="34" charset="0"/>
            </a:endParaRPr>
          </a:p>
        </p:txBody>
      </p:sp>
      <p:graphicFrame>
        <p:nvGraphicFramePr>
          <p:cNvPr id="11" name="표 10">
            <a:extLst>
              <a:ext uri="{FF2B5EF4-FFF2-40B4-BE49-F238E27FC236}">
                <a16:creationId xmlns:a16="http://schemas.microsoft.com/office/drawing/2014/main" id="{BDC5B537-832B-E271-4614-40A8A0D1FC57}"/>
              </a:ext>
            </a:extLst>
          </p:cNvPr>
          <p:cNvGraphicFramePr>
            <a:graphicFrameLocks noGrp="1"/>
          </p:cNvGraphicFramePr>
          <p:nvPr>
            <p:extLst>
              <p:ext uri="{D42A27DB-BD31-4B8C-83A1-F6EECF244321}">
                <p14:modId xmlns:p14="http://schemas.microsoft.com/office/powerpoint/2010/main" val="21718942"/>
              </p:ext>
            </p:extLst>
          </p:nvPr>
        </p:nvGraphicFramePr>
        <p:xfrm>
          <a:off x="441632" y="5619033"/>
          <a:ext cx="2436943" cy="581760"/>
        </p:xfrm>
        <a:graphic>
          <a:graphicData uri="http://schemas.openxmlformats.org/drawingml/2006/table">
            <a:tbl>
              <a:tblPr firstRow="1" firstCol="1" bandRow="1">
                <a:tableStyleId>{5C22544A-7EE6-4342-B048-85BDC9FD1C3A}</a:tableStyleId>
              </a:tblPr>
              <a:tblGrid>
                <a:gridCol w="840598">
                  <a:extLst>
                    <a:ext uri="{9D8B030D-6E8A-4147-A177-3AD203B41FA5}">
                      <a16:colId xmlns:a16="http://schemas.microsoft.com/office/drawing/2014/main" val="20000"/>
                    </a:ext>
                  </a:extLst>
                </a:gridCol>
                <a:gridCol w="532115">
                  <a:extLst>
                    <a:ext uri="{9D8B030D-6E8A-4147-A177-3AD203B41FA5}">
                      <a16:colId xmlns:a16="http://schemas.microsoft.com/office/drawing/2014/main" val="20001"/>
                    </a:ext>
                  </a:extLst>
                </a:gridCol>
                <a:gridCol w="532115">
                  <a:extLst>
                    <a:ext uri="{9D8B030D-6E8A-4147-A177-3AD203B41FA5}">
                      <a16:colId xmlns:a16="http://schemas.microsoft.com/office/drawing/2014/main" val="20002"/>
                    </a:ext>
                  </a:extLst>
                </a:gridCol>
                <a:gridCol w="532115">
                  <a:extLst>
                    <a:ext uri="{9D8B030D-6E8A-4147-A177-3AD203B41FA5}">
                      <a16:colId xmlns:a16="http://schemas.microsoft.com/office/drawing/2014/main" val="20003"/>
                    </a:ext>
                  </a:extLst>
                </a:gridCol>
              </a:tblGrid>
              <a:tr h="99808">
                <a:tc>
                  <a:txBody>
                    <a:bodyPr/>
                    <a:lstStyle/>
                    <a:p>
                      <a:pPr marL="0" marR="38100" indent="0" algn="l" defTabSz="457200" rtl="0" eaLnBrk="1" fontAlgn="auto" latinLnBrk="1" hangingPunct="0">
                        <a:lnSpc>
                          <a:spcPct val="100000"/>
                        </a:lnSpc>
                        <a:spcBef>
                          <a:spcPts val="0"/>
                        </a:spcBef>
                        <a:spcAft>
                          <a:spcPts val="0"/>
                        </a:spcAft>
                        <a:buClrTx/>
                        <a:buSzTx/>
                        <a:buFontTx/>
                        <a:buNone/>
                        <a:tabLst/>
                        <a:defRPr/>
                      </a:pPr>
                      <a:r>
                        <a:rPr lang="en-US" sz="800" b="1"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800" b="1"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6T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38100" indent="0" algn="ctr" defTabSz="457200" rtl="0" eaLnBrk="1" fontAlgn="auto" latinLnBrk="1" hangingPunct="0">
                        <a:lnSpc>
                          <a:spcPct val="10000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12T</a:t>
                      </a:r>
                      <a:endParaRPr lang="ko-KR" sz="800" b="0" kern="100" spc="-2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b">
                    <a:lnT w="6350" cap="flat" cmpd="sng" algn="ctr">
                      <a:solidFill>
                        <a:schemeClr val="tx1">
                          <a:lumMod val="50000"/>
                          <a:lumOff val="5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Tuyệt</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-0.8</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-29.6</a:t>
                      </a:r>
                    </a:p>
                  </a:txBody>
                  <a:tcPr marL="9525" marR="9525" marT="9525" marB="0" anchor="ctr">
                    <a:lnT w="12700" cap="flat" cmpd="sng" algn="ctr">
                      <a:solidFill>
                        <a:schemeClr val="bg1"/>
                      </a:solidFill>
                      <a:prstDash val="solid"/>
                      <a:round/>
                      <a:headEnd type="none" w="med" len="med"/>
                      <a:tailEnd type="none" w="med" len="med"/>
                    </a:lnT>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-33.0</a:t>
                      </a:r>
                    </a:p>
                  </a:txBody>
                  <a:tcPr marL="9525" marR="9525" marT="9525"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1"/>
                  </a:ext>
                </a:extLst>
              </a:tr>
              <a:tr h="0">
                <a:tc>
                  <a:txBody>
                    <a:bodyPr/>
                    <a:lstStyle/>
                    <a:p>
                      <a:pPr marL="0" algn="l" defTabSz="457200" rtl="0" eaLnBrk="1" latinLnBrk="1" hangingPunct="0">
                        <a:lnSpc>
                          <a:spcPct val="100000"/>
                        </a:lnSpc>
                        <a:spcAft>
                          <a:spcPts val="0"/>
                        </a:spcAft>
                      </a:pP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Tương</a:t>
                      </a:r>
                      <a:r>
                        <a:rPr lang="en-US" altLang="ko-KR"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đối</a:t>
                      </a:r>
                      <a:endParaRPr lang="ko-KR" altLang="en-US" sz="800" b="0" kern="100" spc="-20" baseline="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36000" marR="36000" marT="36000" marB="36000">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4.5</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a:effectLst/>
                          <a:latin typeface="Noto Sans" panose="020B0502040504020204" pitchFamily="34" charset="0"/>
                          <a:ea typeface="Noto Sans" panose="020B0502040504020204" pitchFamily="34" charset="0"/>
                          <a:cs typeface="Noto Sans" panose="020B0502040504020204" pitchFamily="34" charset="0"/>
                        </a:rPr>
                        <a:t>-28.0</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algn="ct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-50.9</a:t>
                      </a:r>
                    </a:p>
                  </a:txBody>
                  <a:tcPr marL="9525" marR="9525" marT="9525"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12" name="표 11">
            <a:extLst>
              <a:ext uri="{FF2B5EF4-FFF2-40B4-BE49-F238E27FC236}">
                <a16:creationId xmlns:a16="http://schemas.microsoft.com/office/drawing/2014/main" id="{1B2DFC17-7750-5C3F-E5C4-A0F1F7D032C3}"/>
              </a:ext>
            </a:extLst>
          </p:cNvPr>
          <p:cNvGraphicFramePr>
            <a:graphicFrameLocks noGrp="1"/>
          </p:cNvGraphicFramePr>
          <p:nvPr/>
        </p:nvGraphicFramePr>
        <p:xfrm>
          <a:off x="452098" y="3284467"/>
          <a:ext cx="2426476" cy="2286000"/>
        </p:xfrm>
        <a:graphic>
          <a:graphicData uri="http://schemas.openxmlformats.org/drawingml/2006/table">
            <a:tbl>
              <a:tblPr firstRow="1" firstCol="1" bandRow="1">
                <a:tableStyleId>{5C22544A-7EE6-4342-B048-85BDC9FD1C3A}</a:tableStyleId>
              </a:tblPr>
              <a:tblGrid>
                <a:gridCol w="1657236">
                  <a:extLst>
                    <a:ext uri="{9D8B030D-6E8A-4147-A177-3AD203B41FA5}">
                      <a16:colId xmlns:a16="http://schemas.microsoft.com/office/drawing/2014/main" val="20000"/>
                    </a:ext>
                  </a:extLst>
                </a:gridCol>
                <a:gridCol w="769240">
                  <a:extLst>
                    <a:ext uri="{9D8B030D-6E8A-4147-A177-3AD203B41FA5}">
                      <a16:colId xmlns:a16="http://schemas.microsoft.com/office/drawing/2014/main" val="20001"/>
                    </a:ext>
                  </a:extLst>
                </a:gridCol>
              </a:tblGrid>
              <a:tr h="228600">
                <a:tc>
                  <a:txBody>
                    <a:bodyPr/>
                    <a:lstStyle/>
                    <a:p>
                      <a:pPr algn="l" latinLnBrk="1" hangingPunct="0">
                        <a:lnSpc>
                          <a:spcPts val="950"/>
                        </a:lnSpc>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LNST-CĐTS (26F, tỷ đồng)</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T w="12700" cap="flat" cmpd="sng" algn="ctr">
                      <a:solidFill>
                        <a:schemeClr val="bg1"/>
                      </a:solidFill>
                      <a:prstDash val="solid"/>
                      <a:round/>
                      <a:headEnd type="none" w="med" len="med"/>
                      <a:tailEnd type="none" w="med" len="med"/>
                    </a:lnT>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10,944</a:t>
                      </a:r>
                    </a:p>
                  </a:txBody>
                  <a:tcPr marL="0" marR="0" marT="0" marB="0" anchor="ctr">
                    <a:lnT w="12700" cap="flat" cmpd="sng" algn="ctr">
                      <a:solidFill>
                        <a:schemeClr val="bg1"/>
                      </a:solidFill>
                      <a:prstDash val="solid"/>
                      <a:round/>
                      <a:headEnd type="none" w="med" len="med"/>
                      <a:tailEnd type="none" w="med" len="med"/>
                    </a:lnT>
                    <a:noFill/>
                  </a:tcPr>
                </a:tc>
                <a:extLst>
                  <a:ext uri="{0D108BD9-81ED-4DB2-BD59-A6C34878D82A}">
                    <a16:rowId xmlns:a16="http://schemas.microsoft.com/office/drawing/2014/main" val="10000"/>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Kỳ</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vọng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thị</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trường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N/A</a:t>
                      </a:r>
                    </a:p>
                  </a:txBody>
                  <a:tcPr marL="0" marR="0" marT="0" marB="0" anchor="ctr">
                    <a:noFill/>
                  </a:tcPr>
                </a:tc>
                <a:extLst>
                  <a:ext uri="{0D108BD9-81ED-4DB2-BD59-A6C34878D82A}">
                    <a16:rowId xmlns:a16="http://schemas.microsoft.com/office/drawing/2014/main" val="10001"/>
                  </a:ext>
                </a:extLst>
              </a:tr>
              <a:tr h="228600">
                <a:tc>
                  <a:txBody>
                    <a:bodyPr/>
                    <a:lstStyle/>
                    <a:p>
                      <a:pPr algn="l" latinLnBrk="1" hangingPunct="0">
                        <a:lnSpc>
                          <a:spcPts val="950"/>
                        </a:lnSpc>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Tăng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trưởng</a:t>
                      </a: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 EPS </a:t>
                      </a: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(26F, %)</a:t>
                      </a:r>
                      <a:endParaRPr lang="en-CA"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noFill/>
                  </a:tcPr>
                </a:tc>
                <a:tc>
                  <a:txBody>
                    <a:bodyPr/>
                    <a:lstStyle/>
                    <a:p>
                      <a:pPr marL="0" marR="45720" lvl="0" indent="0" algn="r" defTabSz="914400" rtl="0" eaLnBrk="1" fontAlgn="auto" latinLnBrk="1" hangingPunct="0">
                        <a:lnSpc>
                          <a:spcPts val="950"/>
                        </a:lnSpc>
                        <a:spcBef>
                          <a:spcPts val="0"/>
                        </a:spcBef>
                        <a:spcAft>
                          <a:spcPts val="0"/>
                        </a:spcAft>
                        <a:buClrTx/>
                        <a:buSzTx/>
                        <a:buFontTx/>
                        <a:buNone/>
                        <a:tabLst/>
                        <a:defRPr/>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15.6</a:t>
                      </a:r>
                    </a:p>
                  </a:txBody>
                  <a:tcPr marL="0" marR="0" marT="0" marB="0" anchor="ctr">
                    <a:noFill/>
                  </a:tcPr>
                </a:tc>
                <a:extLst>
                  <a:ext uri="{0D108BD9-81ED-4DB2-BD59-A6C34878D82A}">
                    <a16:rowId xmlns:a16="http://schemas.microsoft.com/office/drawing/2014/main" val="10002"/>
                  </a:ext>
                </a:extLst>
              </a:tr>
              <a:tr h="228600">
                <a:tc>
                  <a:txBody>
                    <a:bodyPr/>
                    <a:lstStyle/>
                    <a:p>
                      <a:pPr algn="l" latinLnBrk="1" hangingPunct="0">
                        <a:lnSpc>
                          <a:spcPts val="950"/>
                        </a:lnSpc>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(26F, x)</a:t>
                      </a:r>
                      <a:endParaRPr lang="en-CA"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tc>
                  <a:txBody>
                    <a:bodyPr/>
                    <a:lstStyle/>
                    <a:p>
                      <a:pPr marR="45720" algn="r" latinLnBrk="1" hangingPunct="0">
                        <a:lnSpc>
                          <a:spcPts val="950"/>
                        </a:lnSpc>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13.7</a:t>
                      </a:r>
                    </a:p>
                  </a:txBody>
                  <a:tcPr marL="0" marR="0" marT="0" marB="0" anchor="ctr">
                    <a:lnB w="635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003"/>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Vốn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hóa</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đồng</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T w="6350" cap="flat" cmpd="sng" algn="ctr">
                      <a:solidFill>
                        <a:schemeClr val="tx1">
                          <a:lumMod val="50000"/>
                          <a:lumOff val="50000"/>
                        </a:schemeClr>
                      </a:solidFill>
                      <a:prstDash val="solid"/>
                      <a:round/>
                      <a:headEnd type="none" w="med" len="med"/>
                      <a:tailEnd type="none" w="med" len="med"/>
                    </a:lnT>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122,141 </a:t>
                      </a:r>
                    </a:p>
                  </a:txBody>
                  <a:tcPr marL="9525" marR="9525" marT="9525" marB="0" anchor="ctr">
                    <a:lnT w="6350" cap="flat" cmpd="sng" algn="ctr">
                      <a:solidFill>
                        <a:schemeClr val="tx1">
                          <a:lumMod val="50000"/>
                          <a:lumOff val="50000"/>
                        </a:schemeClr>
                      </a:solidFill>
                      <a:prstDash val="solid"/>
                      <a:round/>
                      <a:headEnd type="none" w="med" len="med"/>
                      <a:tailEnd type="none" w="med" len="med"/>
                    </a:lnT>
                    <a:noFill/>
                  </a:tcPr>
                </a:tc>
                <a:extLst>
                  <a:ext uri="{0D108BD9-81ED-4DB2-BD59-A6C34878D82A}">
                    <a16:rowId xmlns:a16="http://schemas.microsoft.com/office/drawing/2014/main" val="10004"/>
                  </a:ext>
                </a:extLst>
              </a:tr>
              <a:tr h="228600">
                <a:tc>
                  <a:txBody>
                    <a:bodyPr/>
                    <a:lstStyle/>
                    <a:p>
                      <a:pPr algn="l" latinLnBrk="1" hangingPunct="0">
                        <a:lnSpc>
                          <a:spcPts val="950"/>
                        </a:lnSpc>
                        <a:spcAft>
                          <a:spcPts val="0"/>
                        </a:spcAft>
                      </a:pP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SLCP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đang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lưu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hành</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triệu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1,703.5 </a:t>
                      </a:r>
                    </a:p>
                  </a:txBody>
                  <a:tcPr marL="9525" marR="9525" marT="9525" marB="0" anchor="ctr">
                    <a:noFill/>
                  </a:tcPr>
                </a:tc>
                <a:extLst>
                  <a:ext uri="{0D108BD9-81ED-4DB2-BD59-A6C34878D82A}">
                    <a16:rowId xmlns:a16="http://schemas.microsoft.com/office/drawing/2014/main" val="10005"/>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lê</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CP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tự</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do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chuyển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nhượng</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89.5 </a:t>
                      </a:r>
                    </a:p>
                  </a:txBody>
                  <a:tcPr marL="9525" marR="9525" marT="9525" marB="0" anchor="ctr">
                    <a:noFill/>
                  </a:tcPr>
                </a:tc>
                <a:extLst>
                  <a:ext uri="{0D108BD9-81ED-4DB2-BD59-A6C34878D82A}">
                    <a16:rowId xmlns:a16="http://schemas.microsoft.com/office/drawing/2014/main" val="10006"/>
                  </a:ext>
                </a:extLst>
              </a:tr>
              <a:tr h="228600">
                <a:tc>
                  <a:txBody>
                    <a:bodyPr/>
                    <a:lstStyle/>
                    <a:p>
                      <a:pPr algn="l" latinLnBrk="1" hangingPunct="0">
                        <a:lnSpc>
                          <a:spcPts val="950"/>
                        </a:lnSpc>
                        <a:spcAft>
                          <a:spcPts val="0"/>
                        </a:spcAft>
                      </a:pP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Tỷ</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lệ</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sở</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hữu</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của</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NĐTNN (%)</a:t>
                      </a: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34.8 </a:t>
                      </a:r>
                    </a:p>
                  </a:txBody>
                  <a:tcPr marL="9525" marR="9525" marT="9525" marB="0" anchor="ctr">
                    <a:noFill/>
                  </a:tcPr>
                </a:tc>
                <a:extLst>
                  <a:ext uri="{0D108BD9-81ED-4DB2-BD59-A6C34878D82A}">
                    <a16:rowId xmlns:a16="http://schemas.microsoft.com/office/drawing/2014/main" val="4090528875"/>
                  </a:ext>
                </a:extLst>
              </a:tr>
              <a:tr h="228600">
                <a:tc>
                  <a:txBody>
                    <a:bodyPr/>
                    <a:lstStyle/>
                    <a:p>
                      <a:pPr marL="0" algn="l" defTabSz="457200" rtl="0" eaLnBrk="1" latinLnBrk="1" hangingPunct="0">
                        <a:lnSpc>
                          <a:spcPct val="100000"/>
                        </a:lnSpc>
                        <a:spcAft>
                          <a:spcPts val="0"/>
                        </a:spcAft>
                      </a:pP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Thấp</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62,800 </a:t>
                      </a:r>
                    </a:p>
                  </a:txBody>
                  <a:tcPr marL="9525" marR="9525" marT="9525" marB="0" anchor="ctr">
                    <a:noFill/>
                  </a:tcPr>
                </a:tc>
                <a:extLst>
                  <a:ext uri="{0D108BD9-81ED-4DB2-BD59-A6C34878D82A}">
                    <a16:rowId xmlns:a16="http://schemas.microsoft.com/office/drawing/2014/main" val="10007"/>
                  </a:ext>
                </a:extLst>
              </a:tr>
              <a:tr h="228600">
                <a:tc>
                  <a:txBody>
                    <a:bodyPr/>
                    <a:lstStyle/>
                    <a:p>
                      <a:pPr marL="0" algn="l" defTabSz="457200" rtl="0" eaLnBrk="1" latinLnBrk="1" hangingPunct="0">
                        <a:lnSpc>
                          <a:spcPct val="100000"/>
                        </a:lnSpc>
                        <a:spcAft>
                          <a:spcPts val="0"/>
                        </a:spcAft>
                      </a:pP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Cao </a:t>
                      </a:r>
                      <a:r>
                        <a:rPr lang="en-US" sz="800" b="0" kern="100" spc="-2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nhất</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52 </a:t>
                      </a:r>
                      <a:r>
                        <a:rPr lang="en-US" sz="800" b="0" kern="100" spc="-2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tuần</a:t>
                      </a:r>
                      <a:r>
                        <a:rPr lang="en-US" sz="800" b="0" kern="100" spc="-2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800" b="0" kern="100" spc="-2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a:t>
                      </a:r>
                      <a:endParaRPr lang="ko-KR" altLang="en-US" sz="800" b="0" kern="100" spc="-20" dirty="0">
                        <a:solidFill>
                          <a:schemeClr val="tx1"/>
                        </a:solidFill>
                        <a:effectLst/>
                        <a:latin typeface="Noto Sans" panose="020B0502040504020204" pitchFamily="34" charset="0"/>
                        <a:ea typeface="KoPub돋움체_Pro Light" pitchFamily="18" charset="-127"/>
                        <a:cs typeface="Noto Sans" panose="020B0502040504020204" pitchFamily="34" charset="0"/>
                      </a:endParaRPr>
                    </a:p>
                  </a:txBody>
                  <a:tcPr marL="0" marR="0" marT="0" marB="0" anchor="ctr">
                    <a:lnB w="6350" cap="flat" cmpd="sng" algn="ctr">
                      <a:noFill/>
                      <a:prstDash val="solid"/>
                      <a:round/>
                      <a:headEnd type="none" w="med" len="med"/>
                      <a:tailEnd type="none" w="med" len="med"/>
                    </a:lnB>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        111,600 </a:t>
                      </a:r>
                    </a:p>
                  </a:txBody>
                  <a:tcPr marL="9525" marR="9525" marT="9525" marB="0" anchor="ctr">
                    <a:lnB w="6350" cap="flat" cmpd="sng" algn="ctr">
                      <a:no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graphicFrame>
        <p:nvGraphicFramePr>
          <p:cNvPr id="13" name="표 12">
            <a:extLst>
              <a:ext uri="{FF2B5EF4-FFF2-40B4-BE49-F238E27FC236}">
                <a16:creationId xmlns:a16="http://schemas.microsoft.com/office/drawing/2014/main" id="{E2C05D81-3F5E-8CBF-DE30-095022709D34}"/>
              </a:ext>
            </a:extLst>
          </p:cNvPr>
          <p:cNvGraphicFramePr>
            <a:graphicFrameLocks noGrp="1"/>
          </p:cNvGraphicFramePr>
          <p:nvPr>
            <p:extLst>
              <p:ext uri="{D42A27DB-BD31-4B8C-83A1-F6EECF244321}">
                <p14:modId xmlns:p14="http://schemas.microsoft.com/office/powerpoint/2010/main" val="3195843013"/>
              </p:ext>
            </p:extLst>
          </p:nvPr>
        </p:nvGraphicFramePr>
        <p:xfrm>
          <a:off x="452099" y="1175844"/>
          <a:ext cx="2426476" cy="2037132"/>
        </p:xfrm>
        <a:graphic>
          <a:graphicData uri="http://schemas.openxmlformats.org/drawingml/2006/table">
            <a:tbl>
              <a:tblPr firstRow="1" firstCol="1" bandRow="1">
                <a:tableStyleId>{5C22544A-7EE6-4342-B048-85BDC9FD1C3A}</a:tableStyleId>
              </a:tblPr>
              <a:tblGrid>
                <a:gridCol w="1324828">
                  <a:extLst>
                    <a:ext uri="{9D8B030D-6E8A-4147-A177-3AD203B41FA5}">
                      <a16:colId xmlns:a16="http://schemas.microsoft.com/office/drawing/2014/main" val="20000"/>
                    </a:ext>
                  </a:extLst>
                </a:gridCol>
                <a:gridCol w="1101648">
                  <a:extLst>
                    <a:ext uri="{9D8B030D-6E8A-4147-A177-3AD203B41FA5}">
                      <a16:colId xmlns:a16="http://schemas.microsoft.com/office/drawing/2014/main" val="20001"/>
                    </a:ext>
                  </a:extLst>
                </a:gridCol>
              </a:tblGrid>
              <a:tr h="509283">
                <a:tc>
                  <a:txBody>
                    <a:bodyPr/>
                    <a:lstStyle/>
                    <a:p>
                      <a:pPr marL="0" algn="l" defTabSz="457200" rtl="0" eaLnBrk="1" latinLnBrk="1" hangingPunct="1">
                        <a:lnSpc>
                          <a:spcPts val="1200"/>
                        </a:lnSpc>
                        <a:spcAft>
                          <a:spcPts val="0"/>
                        </a:spcAft>
                      </a:pP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Cập</a:t>
                      </a:r>
                      <a:r>
                        <a:rPr lang="en-US"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nhật</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a:t>
                      </a:r>
                      <a:endParaRPr 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MUA</a:t>
                      </a:r>
                      <a:endParaRPr lang="ko-KR"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509283">
                <a:tc>
                  <a:txBody>
                    <a:bodyPr/>
                    <a:lstStyle/>
                    <a:p>
                      <a:pPr marL="0" algn="l" defTabSz="457200" rtl="0" eaLnBrk="1" latinLnBrk="1" hangingPunct="1">
                        <a:lnSpc>
                          <a:spcPts val="1200"/>
                        </a:lnSpc>
                        <a:spcAft>
                          <a:spcPts val="0"/>
                        </a:spcAft>
                      </a:pP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mục</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1"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tiêu</a:t>
                      </a: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0" algn="l" defTabSz="457200" rtl="0" eaLnBrk="1" latinLnBrk="1" hangingPunct="1">
                        <a:lnSpc>
                          <a:spcPts val="1200"/>
                        </a:lnSpc>
                        <a:spcAft>
                          <a:spcPts val="0"/>
                        </a:spcAft>
                      </a:pPr>
                      <a:r>
                        <a:rPr lang="en-US" altLang="ko-KR" sz="900" b="1"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(VND, 12T)</a:t>
                      </a:r>
                      <a:endParaRPr lang="ko-KR" altLang="ko-KR" sz="900" b="1" kern="1200" spc="0" baseline="0" dirty="0">
                        <a:solidFill>
                          <a:schemeClr val="tx1"/>
                        </a:solidFill>
                        <a:effectLst/>
                        <a:latin typeface="Noto Sans" panose="020B0502040504020204" pitchFamily="34" charset="0"/>
                        <a:ea typeface="KoPub돋움체_Pro Bold" panose="02020603020101020101"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lvl="0" indent="0" algn="r" defTabSz="457200" rtl="0" eaLnBrk="1" fontAlgn="auto" latinLnBrk="1" hangingPunct="0">
                        <a:lnSpc>
                          <a:spcPts val="1200"/>
                        </a:lnSpc>
                        <a:spcBef>
                          <a:spcPts val="0"/>
                        </a:spcBef>
                        <a:spcAft>
                          <a:spcPts val="0"/>
                        </a:spcAft>
                        <a:buClrTx/>
                        <a:buSzTx/>
                        <a:buFontTx/>
                        <a:buNone/>
                        <a:tabLst/>
                        <a:defRPr/>
                      </a:pPr>
                      <a:r>
                        <a:rPr lang="en-US" sz="900" b="1"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87,950</a:t>
                      </a:r>
                      <a:endParaRPr lang="ko-KR" altLang="en-US" sz="900" b="1"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36000" marR="36000" marT="36000" marB="36000" anchor="ctr">
                    <a:lnL w="12700" cmpd="sng">
                      <a:noFill/>
                    </a:lnL>
                    <a:lnR w="12700" cmpd="sng">
                      <a:noFill/>
                    </a:lnR>
                    <a:lnT w="190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09283">
                <a:tc>
                  <a:txBody>
                    <a:bodyPr/>
                    <a:lstStyle/>
                    <a:p>
                      <a:pPr marL="0" algn="l" defTabSz="457200" rtl="0" eaLnBrk="1" latinLnBrk="1" hangingPunct="1">
                        <a:lnSpc>
                          <a:spcPts val="1200"/>
                        </a:lnSpc>
                        <a:spcAft>
                          <a:spcPts val="0"/>
                        </a:spcAft>
                      </a:pP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Thị</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giá</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p>
                    <a:p>
                      <a:pPr marL="0" marR="0" lvl="0" indent="0" algn="l" defTabSz="457200" rtl="0" eaLnBrk="1" fontAlgn="auto" latinLnBrk="1" hangingPunct="1">
                        <a:lnSpc>
                          <a:spcPts val="1200"/>
                        </a:lnSpc>
                        <a:spcBef>
                          <a:spcPts val="0"/>
                        </a:spcBef>
                        <a:spcAft>
                          <a:spcPts val="0"/>
                        </a:spcAft>
                        <a:buClrTx/>
                        <a:buSzTx/>
                        <a:buFontTx/>
                        <a:buNone/>
                        <a:tabLst/>
                        <a:defRPr/>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(04/08/26)</a:t>
                      </a:r>
                      <a:endParaRPr lang="ko-KR" altLang="ko-KR" sz="900" b="0" kern="1200" spc="0" baseline="0" dirty="0">
                        <a:solidFill>
                          <a:schemeClr val="tx1"/>
                        </a:solidFill>
                        <a:effectLst/>
                        <a:latin typeface="Noto Sans" panose="020B0502040504020204" pitchFamily="34" charset="0"/>
                        <a:ea typeface="KoPub돋움체_Pro Medium" panose="02020603020101020101"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71,700</a:t>
                      </a:r>
                      <a:endParaRPr lang="ko-KR"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09283">
                <a:tc>
                  <a:txBody>
                    <a:bodyPr/>
                    <a:lstStyle/>
                    <a:p>
                      <a:pPr marL="0" algn="l" defTabSz="457200" rtl="0" eaLnBrk="1" latinLnBrk="1" hangingPunct="1">
                        <a:lnSpc>
                          <a:spcPts val="1200"/>
                        </a:lnSpc>
                        <a:spcAft>
                          <a:spcPts val="0"/>
                        </a:spcAft>
                      </a:pP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Lợi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nhuận</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kỳ</a:t>
                      </a:r>
                      <a:r>
                        <a:rPr lang="en-US" altLang="ko-KR" sz="900" b="0" kern="12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a:t>
                      </a:r>
                      <a:r>
                        <a:rPr lang="en-US" altLang="ko-KR" sz="900" b="0" kern="12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vọng</a:t>
                      </a:r>
                      <a:endParaRPr lang="ko-KR" sz="900" b="0" kern="12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38100" algn="r" defTabSz="457200" rtl="0" eaLnBrk="1" latinLnBrk="1" hangingPunct="0">
                        <a:lnSpc>
                          <a:spcPts val="1200"/>
                        </a:lnSpc>
                        <a:spcAft>
                          <a:spcPts val="0"/>
                        </a:spcAft>
                      </a:pPr>
                      <a:r>
                        <a:rPr lang="en-US" altLang="ko-KR" sz="900" b="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22.7%</a:t>
                      </a:r>
                      <a:endParaRPr lang="ko-KR" altLang="en-US" sz="900" b="0" kern="100" spc="0" baseline="0" dirty="0">
                        <a:solidFill>
                          <a:schemeClr val="tx1"/>
                        </a:solidFill>
                        <a:effectLst/>
                        <a:latin typeface="Noto Sans" panose="020B0502040504020204" pitchFamily="34" charset="0"/>
                        <a:ea typeface="KoPub돋움체_Pro Medium" pitchFamily="18" charset="-127"/>
                        <a:cs typeface="Noto Sans" panose="020B0502040504020204" pitchFamily="34" charset="0"/>
                      </a:endParaRPr>
                    </a:p>
                  </a:txBody>
                  <a:tcPr marL="36000" marR="36000" marT="36000" marB="36000"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15" name="Rectangle 15">
            <a:extLst>
              <a:ext uri="{FF2B5EF4-FFF2-40B4-BE49-F238E27FC236}">
                <a16:creationId xmlns:a16="http://schemas.microsoft.com/office/drawing/2014/main" id="{6985EDC9-4B95-8C93-90E9-135FA09846C9}"/>
              </a:ext>
            </a:extLst>
          </p:cNvPr>
          <p:cNvSpPr>
            <a:spLocks noChangeArrowheads="1"/>
          </p:cNvSpPr>
          <p:nvPr/>
        </p:nvSpPr>
        <p:spPr bwMode="auto">
          <a:xfrm>
            <a:off x="3135750" y="1128058"/>
            <a:ext cx="8593283" cy="2954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0"/>
          <a:lstStyle/>
          <a:p>
            <a:pPr algn="just" fontAlgn="ctr">
              <a:lnSpc>
                <a:spcPts val="1200"/>
              </a:lnSpc>
              <a:spcBef>
                <a:spcPct val="0"/>
              </a:spcBef>
              <a:spcAft>
                <a:spcPts val="600"/>
              </a:spcAft>
              <a:buSzPct val="130000"/>
              <a:defRPr/>
            </a:pPr>
            <a:r>
              <a:rPr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Đ</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iểm</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en-US" altLang="ko-KR" sz="800" b="1"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nhấn</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đầu tư</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KQKD 1H26 vượt tiến độ kế hoạch: </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doanh thu 26,269 tỷ đồng (+12.6% CK) và LNTT 5,714 tỷ (+18.1% CK), hoàn thành 45%/49% kế hoạch năm; biên LNTT mở rộng lên 21.8%. Q2/2026 đạt doanh thu 13,789 tỷ, LNTT 2,910 tỷ và LNST-CĐTS 2,568 tỷ (+14% CK). Công nghệ đạt 23,138 tỷ (+15% CK; 88% doanh thu tập đoàn) và LNTT 3,314 tỷ (+16.9% CK), biên 14.3%; Giáo dục, đầu tư và khác giảm 2.1% về 3,131 tỷ nhưng vẫn đóng góp 42% LNTT tập đoàn.</a:t>
            </a: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Số hóa khu vực công là nền tảng của danh mục trong nước: </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CNTT trong nước tăng nhanh nhất 6T26, đạt 4,236 tỷ đồng (+22.5% CK), LNTT mảng tăng gấp đôi lên 308 tỷ nhờ trúng thầu chương trình chuyển đổi số quốc gia — nguồn việc nhiều năm, ít phụ thuộc chu kỳ CNTT toàn cầu, tuy biên 7.3% làm loãng biên chung. Doanh thu ký mới CNTT nước ngoài đạt 26,338 tỷ trong 1H26 (+32.3% CK), gồm 14 dự án trên 10 triệu USD — tỷ lệ ký mới/doanh thu 1.39 lần so với 1.07-1.22 lần giai đoạn FY21-25. Trên cơ sở đó, dự phóng CNTT nước ngoài tăng lên +16.7% FY27F và +17.7% FY28F, từ +14.7% FY26F và +13.4% của 1H26; Mỹ hạ về +5.9% do cạnh tranh giá thầu.</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p>
          <a:p>
            <a:pPr algn="just" fontAlgn="ctr">
              <a:lnSpc>
                <a:spcPts val="1200"/>
              </a:lnSpc>
              <a:spcBef>
                <a:spcPct val="0"/>
              </a:spcBef>
              <a:spcAft>
                <a:spcPts val="600"/>
              </a:spcAft>
              <a:buSzPct val="130000"/>
              <a:defRPr/>
            </a:pP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AI </a:t>
            </a: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 mở rộng nhu cầu</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doanh thu Dịch vụ AI &amp; Data Analytics đạt 1,842 tỷ đồng trong 1H26, tăng 54% CK so với +15% của mảng Công nghệ, nâng tỷ trọng lên 8.0% từ 5.9% và đóng góp một phần năm mức tăng của mảng; loại AI, Công nghệ chỉ tăng 12.5%. Hai cụm AI Factory tại Việt Nam và Nhật Bản đạt hiệu suất trên 90% và có lãi từ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2Q26</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endPar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Bef>
                <a:spcPct val="0"/>
              </a:spcBef>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Dự phóng và định giá</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LNST-CĐTS FY26F đạt 10,944 tỷ đồng (+15.6% CK), FY27F 12,674 tỷ (+15.8%) và FY28F 14,774 tỷ (+16.6%). Lợi nhuận từ công ty liên kết — FPT Telecom (45.66%, hạch toán theo phương pháp VCSH từ FY26), </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FPT Retail (46.5%) ,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Synnex</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FPT (48%)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và</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FPT Online (49.5%)</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 tăng lên 2,608 tỷ FY26F và 3,449 tỷ FY28F, đã tăng 40.8% CK trong 1H26. Phần còn lại đến từ đòn bẩy hoạt động: chi phí bán hàng và quản lý giảm từ 17.6% doanh thu xuống 16.5% vào FY28F, biên gộp giữ nguyên. ROE duy trì quanh 27% nhờ tiền ròng khoảng 60% VCSH và cổ tức 2,000 đồng/cp. </a:t>
            </a:r>
            <a:endPar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endParaRPr>
          </a:p>
          <a:p>
            <a:pPr algn="just" fontAlgn="ctr">
              <a:lnSpc>
                <a:spcPts val="1200"/>
              </a:lnSpc>
              <a:spcAft>
                <a:spcPts val="600"/>
              </a:spcAft>
              <a:buSzPct val="130000"/>
              <a:defRPr/>
            </a:pPr>
            <a:r>
              <a:rPr kumimoji="1" lang="vi-VN"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Chúng tôi nâng giá mục tiêu DCF (FCFF) lên 87,950 đồng</a:t>
            </a:r>
            <a:r>
              <a:rPr kumimoji="1" lang="en-US" altLang="ko-KR" sz="800" b="1" dirty="0">
                <a:solidFill>
                  <a:srgbClr val="000000"/>
                </a:solidFill>
                <a:latin typeface="Noto Sans" panose="020B0502040504020204" pitchFamily="34" charset="0"/>
                <a:ea typeface="Noto Sans" panose="020B0502040504020204" pitchFamily="34" charset="0"/>
                <a:cs typeface="Noto Sans" panose="020B0502040504020204" pitchFamily="34" charset="0"/>
              </a:rPr>
              <a:t>:</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tại giá mục tiêu là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mức</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P/E forward </a:t>
            </a:r>
            <a:r>
              <a:rPr kumimoji="1" lang="en-US" altLang="ko-KR" sz="800" dirty="0" err="1">
                <a:solidFill>
                  <a:srgbClr val="000000"/>
                </a:solidFill>
                <a:latin typeface="Noto Sans" panose="020B0502040504020204" pitchFamily="34" charset="0"/>
                <a:ea typeface="Noto Sans" panose="020B0502040504020204" pitchFamily="34" charset="0"/>
                <a:cs typeface="Noto Sans" panose="020B0502040504020204" pitchFamily="34" charset="0"/>
              </a:rPr>
              <a:t>là</a:t>
            </a:r>
            <a:r>
              <a:rPr kumimoji="1" lang="en-US"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 </a:t>
            </a:r>
            <a:r>
              <a:rPr kumimoji="1" lang="vi-VN" altLang="ko-KR" sz="800" dirty="0">
                <a:solidFill>
                  <a:srgbClr val="000000"/>
                </a:solidFill>
                <a:latin typeface="Noto Sans" panose="020B0502040504020204" pitchFamily="34" charset="0"/>
                <a:ea typeface="Noto Sans" panose="020B0502040504020204" pitchFamily="34" charset="0"/>
                <a:cs typeface="Noto Sans" panose="020B0502040504020204" pitchFamily="34" charset="0"/>
              </a:rPr>
              <a:t>13.7x FY26F và 11.8x FY27F. Rủi ro: (1) giảm phát giá do AI nhanh hơn giả định tăng trưởng dài hạn (2) chi tiêu CNTT tại Mỹ và toàn cầu thấp cùng hợp đồng trì hoãn do thuế quan (3) biến động tỷ giá JPY/USD.</a:t>
            </a:r>
          </a:p>
        </p:txBody>
      </p:sp>
      <p:graphicFrame>
        <p:nvGraphicFramePr>
          <p:cNvPr id="16" name="표 14">
            <a:extLst>
              <a:ext uri="{FF2B5EF4-FFF2-40B4-BE49-F238E27FC236}">
                <a16:creationId xmlns:a16="http://schemas.microsoft.com/office/drawing/2014/main" id="{F62319EB-F7B6-F39F-3DDA-57803733E99B}"/>
              </a:ext>
            </a:extLst>
          </p:cNvPr>
          <p:cNvGraphicFramePr>
            <a:graphicFrameLocks noGrp="1"/>
          </p:cNvGraphicFramePr>
          <p:nvPr>
            <p:extLst>
              <p:ext uri="{D42A27DB-BD31-4B8C-83A1-F6EECF244321}">
                <p14:modId xmlns:p14="http://schemas.microsoft.com/office/powerpoint/2010/main" val="2048679529"/>
              </p:ext>
            </p:extLst>
          </p:nvPr>
        </p:nvGraphicFramePr>
        <p:xfrm>
          <a:off x="6010273" y="4182363"/>
          <a:ext cx="5738041" cy="2258568"/>
        </p:xfrm>
        <a:graphic>
          <a:graphicData uri="http://schemas.openxmlformats.org/drawingml/2006/table">
            <a:tbl>
              <a:tblPr firstRow="1" firstCol="1" bandRow="1">
                <a:tableStyleId>{5C22544A-7EE6-4342-B048-85BDC9FD1C3A}</a:tableStyleId>
              </a:tblPr>
              <a:tblGrid>
                <a:gridCol w="1372235">
                  <a:extLst>
                    <a:ext uri="{9D8B030D-6E8A-4147-A177-3AD203B41FA5}">
                      <a16:colId xmlns:a16="http://schemas.microsoft.com/office/drawing/2014/main" val="20000"/>
                    </a:ext>
                  </a:extLst>
                </a:gridCol>
                <a:gridCol w="665796">
                  <a:extLst>
                    <a:ext uri="{9D8B030D-6E8A-4147-A177-3AD203B41FA5}">
                      <a16:colId xmlns:a16="http://schemas.microsoft.com/office/drawing/2014/main" val="20001"/>
                    </a:ext>
                  </a:extLst>
                </a:gridCol>
                <a:gridCol w="740002">
                  <a:extLst>
                    <a:ext uri="{9D8B030D-6E8A-4147-A177-3AD203B41FA5}">
                      <a16:colId xmlns:a16="http://schemas.microsoft.com/office/drawing/2014/main" val="20002"/>
                    </a:ext>
                  </a:extLst>
                </a:gridCol>
                <a:gridCol w="740002">
                  <a:extLst>
                    <a:ext uri="{9D8B030D-6E8A-4147-A177-3AD203B41FA5}">
                      <a16:colId xmlns:a16="http://schemas.microsoft.com/office/drawing/2014/main" val="20003"/>
                    </a:ext>
                  </a:extLst>
                </a:gridCol>
                <a:gridCol w="740002">
                  <a:extLst>
                    <a:ext uri="{9D8B030D-6E8A-4147-A177-3AD203B41FA5}">
                      <a16:colId xmlns:a16="http://schemas.microsoft.com/office/drawing/2014/main" val="20004"/>
                    </a:ext>
                  </a:extLst>
                </a:gridCol>
                <a:gridCol w="740002">
                  <a:extLst>
                    <a:ext uri="{9D8B030D-6E8A-4147-A177-3AD203B41FA5}">
                      <a16:colId xmlns:a16="http://schemas.microsoft.com/office/drawing/2014/main" val="20005"/>
                    </a:ext>
                  </a:extLst>
                </a:gridCol>
                <a:gridCol w="740002">
                  <a:extLst>
                    <a:ext uri="{9D8B030D-6E8A-4147-A177-3AD203B41FA5}">
                      <a16:colId xmlns:a16="http://schemas.microsoft.com/office/drawing/2014/main" val="20006"/>
                    </a:ext>
                  </a:extLst>
                </a:gridCol>
              </a:tblGrid>
              <a:tr h="173736">
                <a:tc>
                  <a:txBody>
                    <a:bodyPr/>
                    <a:lstStyle/>
                    <a:p>
                      <a:pPr marL="0" algn="l" defTabSz="457200" rtl="0" eaLnBrk="1" latinLnBrk="1" hangingPunct="0">
                        <a:lnSpc>
                          <a:spcPct val="100000"/>
                        </a:lnSpc>
                        <a:spcAft>
                          <a:spcPts val="0"/>
                        </a:spcAft>
                      </a:pPr>
                      <a:r>
                        <a:rPr lang="en-US" altLang="ko-KR" sz="800" b="1" i="0" kern="100" spc="0" baseline="0" dirty="0">
                          <a:solidFill>
                            <a:schemeClr val="tx1"/>
                          </a:solidFill>
                          <a:effectLst/>
                          <a:latin typeface="Noto Sans" panose="020B0502040504020204" pitchFamily="34" charset="0"/>
                          <a:ea typeface="Noto Sans" panose="020B0502040504020204" pitchFamily="34" charset="0"/>
                          <a:cs typeface="Noto Sans" panose="020B0502040504020204" pitchFamily="34" charset="0"/>
                        </a:rPr>
                        <a:t> FY (31/12)</a:t>
                      </a:r>
                      <a:endParaRPr lang="ko-KR" sz="800" b="1" i="0" kern="100" spc="0" baseline="0" dirty="0">
                        <a:solidFill>
                          <a:schemeClr val="tx1"/>
                        </a:solidFill>
                        <a:effectLst/>
                        <a:latin typeface="Noto Sans" panose="020B0502040504020204" pitchFamily="34" charset="0"/>
                        <a:ea typeface="KoPub돋움체_Pro Bold" pitchFamily="18" charset="-127"/>
                        <a:cs typeface="Noto Sans" panose="020B0502040504020204" pitchFamily="34" charset="0"/>
                      </a:endParaRP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FY23</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FY24</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FY25</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FY26F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FY27F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sz="800" b="1"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FY28F</a:t>
                      </a:r>
                    </a:p>
                  </a:txBody>
                  <a:tcPr marL="0" marR="0" marT="0" marB="0" anchor="ctr">
                    <a:lnL w="12700" cmpd="sng">
                      <a:noFill/>
                    </a:lnL>
                    <a:lnR w="12700" cmpd="sng">
                      <a:noFill/>
                    </a:lnR>
                    <a:lnT w="9525"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Doanh thu (tỷ đồng)</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52,618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62,849</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70,208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57,284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66,048</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76,654</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 hoạt động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8,452</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10,508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11,079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9,807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11,044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fontAlgn="ctr">
                        <a:buNone/>
                      </a:pPr>
                      <a:r>
                        <a:rPr lang="en-US" sz="800" b="0" i="0" u="none" strike="noStrike" dirty="0">
                          <a:effectLst/>
                          <a:latin typeface="Noto Sans" panose="020B0502040504020204" pitchFamily="34" charset="0"/>
                          <a:ea typeface="Noto Sans" panose="020B0502040504020204" pitchFamily="34" charset="0"/>
                          <a:cs typeface="Noto Sans" panose="020B0502040504020204" pitchFamily="34" charset="0"/>
                        </a:rPr>
                        <a:t>13,053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173736">
                <a:tc>
                  <a:txBody>
                    <a:bodyPr/>
                    <a:lstStyle/>
                    <a:p>
                      <a:pPr marL="0" marR="41910" algn="l" latinLnBrk="1" hangingPunct="0">
                        <a:lnSpc>
                          <a:spcPts val="950"/>
                        </a:lnSpc>
                        <a:spcBef>
                          <a:spcPts val="0"/>
                        </a:spcBef>
                        <a:spcAft>
                          <a:spcPts val="0"/>
                        </a:spcAft>
                      </a:pP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LNTT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9,203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11,070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13,134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13,070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15,159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17,671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173736">
                <a:tc>
                  <a:txBody>
                    <a:bodyPr/>
                    <a:lstStyle/>
                    <a:p>
                      <a:pPr marL="0" marR="4191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LNST-CĐTS (tỷ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6,465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7,857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9,464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10,944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12,674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14,774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39360553"/>
                  </a:ext>
                </a:extLst>
              </a:tr>
              <a:tr h="173736">
                <a:tc>
                  <a:txBody>
                    <a:bodyPr/>
                    <a:lstStyle/>
                    <a:p>
                      <a:pPr marL="0" marR="0" algn="l" latinLnBrk="1" hangingPunct="0">
                        <a:lnSpc>
                          <a:spcPts val="950"/>
                        </a:lnSpc>
                        <a:spcBef>
                          <a:spcPts val="0"/>
                        </a:spcBef>
                        <a:spcAft>
                          <a:spcPts val="0"/>
                        </a:spcAft>
                      </a:pPr>
                      <a:r>
                        <a:rPr lang="en-US" sz="800" b="0" kern="120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EPS (đồng)</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4,648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4,877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5,073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6,424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7,440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8,673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ROE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28.1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28.7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28.6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27.6</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27.1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26.5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P/E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18.9</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18.0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17.3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13.7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11.8</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10.1</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P/B (x)</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4.7</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4.3</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3.5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3.0</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73736">
                <a:tc>
                  <a:txBody>
                    <a:bodyPr/>
                    <a:lstStyle/>
                    <a:p>
                      <a:pPr marL="0" marR="0" algn="l" latinLnBrk="1" hangingPunct="0">
                        <a:lnSpc>
                          <a:spcPts val="950"/>
                        </a:lnSpc>
                        <a:spcBef>
                          <a:spcPts val="0"/>
                        </a:spcBef>
                        <a:spcAft>
                          <a:spcPts val="0"/>
                        </a:spcAft>
                      </a:pPr>
                      <a:r>
                        <a:rPr lang="en-US" sz="800" b="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Tổng tài sản (tỷ đồng)</a:t>
                      </a:r>
                      <a:endPar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endParaRP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60,283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72,000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88,090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91,917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102,974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115,994</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173736">
                <a:tc>
                  <a:txBody>
                    <a:bodyPr/>
                    <a:lstStyle/>
                    <a:p>
                      <a:pPr marL="0" marR="0" algn="l" latinLnBrk="1" hangingPunct="0">
                        <a:lnSpc>
                          <a:spcPts val="950"/>
                        </a:lnSpc>
                        <a:spcBef>
                          <a:spcPts val="0"/>
                        </a:spcBef>
                        <a:spcAft>
                          <a:spcPts val="0"/>
                        </a:spcAft>
                      </a:pPr>
                      <a:r>
                        <a:rPr lang="en-US" sz="800" b="0" spc="-40"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VCSH (tỷ đồng)</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29,883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35,678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43,702</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50,217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58,356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68,507</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5519379"/>
                  </a:ext>
                </a:extLst>
              </a:tr>
              <a:tr h="173736">
                <a:tc>
                  <a:txBody>
                    <a:bodyPr/>
                    <a:lstStyle/>
                    <a:p>
                      <a:pPr marL="0" marR="0" algn="l" latinLnBrk="1" hangingPunct="0">
                        <a:lnSpc>
                          <a:spcPts val="950"/>
                        </a:lnSpc>
                        <a:spcBef>
                          <a:spcPts val="0"/>
                        </a:spcBef>
                        <a:spcAft>
                          <a:spcPts val="0"/>
                        </a:spcAft>
                      </a:pPr>
                      <a:r>
                        <a:rPr lang="en-US" sz="800" b="0" kern="1200" spc="-40" dirty="0" err="1">
                          <a:solidFill>
                            <a:srgbClr val="000000"/>
                          </a:solidFill>
                          <a:effectLst/>
                          <a:latin typeface="Noto Sans" panose="020B0502040504020204" pitchFamily="34" charset="0"/>
                          <a:ea typeface="Noto Sans" panose="020B0502040504020204" pitchFamily="34" charset="0"/>
                          <a:cs typeface="Noto Sans" panose="020B0502040504020204" pitchFamily="34" charset="0"/>
                        </a:rPr>
                        <a:t>Giá trị sổ sách (đồng)</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19,665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20,253</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21,418</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25,116</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29,770</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buNone/>
                      </a:pPr>
                      <a:r>
                        <a:rPr lang="en-US" sz="800" b="0" i="0" u="none" strike="noStrike" dirty="0">
                          <a:solidFill>
                            <a:srgbClr val="000000"/>
                          </a:solidFill>
                          <a:effectLst/>
                          <a:latin typeface="Noto Sans" panose="020B0502040504020204" pitchFamily="34" charset="0"/>
                          <a:ea typeface="Noto Sans" panose="020B0502040504020204" pitchFamily="34" charset="0"/>
                          <a:cs typeface="Noto Sans" panose="020B0502040504020204" pitchFamily="34" charset="0"/>
                        </a:rPr>
                        <a:t>35,585</a:t>
                      </a:r>
                    </a:p>
                  </a:txBody>
                  <a:tcPr marL="0" marR="0" marT="0" marB="0" anchor="ct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6674412"/>
                  </a:ext>
                </a:extLst>
              </a:tr>
              <a:tr h="173736">
                <a:tc gridSpan="7">
                  <a:txBody>
                    <a:bodyPr/>
                    <a:lstStyle/>
                    <a:p>
                      <a:pPr marL="0" marR="0" lvl="0" indent="0" algn="l" defTabSz="457200" rtl="0" eaLnBrk="1" fontAlgn="auto" latinLnBrk="1" hangingPunct="0">
                        <a:lnSpc>
                          <a:spcPts val="950"/>
                        </a:lnSpc>
                        <a:spcBef>
                          <a:spcPts val="0"/>
                        </a:spcBef>
                        <a:spcAft>
                          <a:spcPts val="0"/>
                        </a:spcAft>
                        <a:buClrTx/>
                        <a:buSzTx/>
                        <a:buFontTx/>
                        <a:buNone/>
                        <a:tabLst/>
                        <a:defRPr/>
                      </a:pPr>
                      <a:r>
                        <a:rPr lang="en-US" sz="750" b="0" i="0" kern="100" spc="0" baseline="0" dirty="0" err="1">
                          <a:solidFill>
                            <a:schemeClr val="tx1"/>
                          </a:solidFill>
                          <a:effectLst/>
                          <a:latin typeface="Noto Sans" panose="020B0502040504020204" pitchFamily="34" charset="0"/>
                          <a:ea typeface="Noto Sans" panose="020B0502040504020204" pitchFamily="34" charset="0"/>
                          <a:cs typeface="Noto Sans" panose="020B0502040504020204" pitchFamily="34" charset="0"/>
                        </a:rPr>
                        <a:t>Ghi chú: FPT Telecom hợp nhất theo phương pháp VCSH từ FY26F. Nguồn: Dữ liệu công ty, Mirae Asset Vietnam Research</a:t>
                      </a:r>
                    </a:p>
                  </a:txBody>
                  <a:tcPr marL="0" marR="0" marT="0" marB="0" anchor="ct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9"/>
                  </a:ext>
                </a:extLst>
              </a:tr>
            </a:tbl>
          </a:graphicData>
        </a:graphic>
      </p:graphicFrame>
      <p:sp>
        <p:nvSpPr>
          <p:cNvPr id="4" name="모서리가 둥근 직사각형 8">
            <a:extLst>
              <a:ext uri="{FF2B5EF4-FFF2-40B4-BE49-F238E27FC236}">
                <a16:creationId xmlns:a16="http://schemas.microsoft.com/office/drawing/2014/main" id="{4C4760AF-4369-F93D-7CB6-D6E086C5AD66}"/>
              </a:ext>
            </a:extLst>
          </p:cNvPr>
          <p:cNvSpPr/>
          <p:nvPr/>
        </p:nvSpPr>
        <p:spPr>
          <a:xfrm>
            <a:off x="10644562" y="296652"/>
            <a:ext cx="1097280" cy="2520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lvl="0" algn="ctr" fontAlgn="base" latinLnBrk="1">
              <a:spcBef>
                <a:spcPct val="0"/>
              </a:spcBef>
              <a:spcAft>
                <a:spcPct val="0"/>
              </a:spcAft>
              <a:defRPr/>
            </a:pPr>
            <a:r>
              <a:rPr kumimoji="1" lang="en-US" altLang="ko-KR" sz="900" b="1" dirty="0">
                <a:solidFill>
                  <a:prstClr val="white"/>
                </a:solidFill>
                <a:latin typeface="Noto Sans" panose="020B0502040504020204" pitchFamily="34" charset="0"/>
                <a:ea typeface="Noto Sans" panose="020B0502040504020204" pitchFamily="34" charset="0"/>
                <a:cs typeface="Noto Sans" panose="020B0502040504020204" pitchFamily="34" charset="0"/>
              </a:rPr>
              <a:t>Công nghệ</a:t>
            </a:r>
            <a:endParaRPr kumimoji="1" lang="ko-KR" altLang="en-US" sz="900" b="1" dirty="0">
              <a:solidFill>
                <a:prstClr val="white"/>
              </a:solidFill>
              <a:latin typeface="Noto Sans" panose="020B0502040504020204" pitchFamily="34" charset="0"/>
              <a:ea typeface="KoPub돋움체_Pro Bold" pitchFamily="18" charset="-127"/>
              <a:cs typeface="Noto Sans" panose="020B0502040504020204" pitchFamily="34" charset="0"/>
            </a:endParaRPr>
          </a:p>
        </p:txBody>
      </p:sp>
      <p:sp>
        <p:nvSpPr>
          <p:cNvPr id="5" name="제목 44">
            <a:extLst>
              <a:ext uri="{FF2B5EF4-FFF2-40B4-BE49-F238E27FC236}">
                <a16:creationId xmlns:a16="http://schemas.microsoft.com/office/drawing/2014/main" id="{95D6092A-66F0-D1E6-1994-25C96AD9D2AB}"/>
              </a:ext>
            </a:extLst>
          </p:cNvPr>
          <p:cNvSpPr txBox="1">
            <a:spLocks/>
          </p:cNvSpPr>
          <p:nvPr/>
        </p:nvSpPr>
        <p:spPr bwMode="auto">
          <a:xfrm>
            <a:off x="448251" y="0"/>
            <a:ext cx="8497888" cy="648000"/>
          </a:xfrm>
          <a:prstGeom prst="rect">
            <a:avLst/>
          </a:prstGeom>
          <a:noFill/>
          <a:ln>
            <a:noFill/>
          </a:ln>
          <a:effectLst/>
        </p:spPr>
        <p:txBody>
          <a:bodyPr lIns="0" tIns="36000" rIns="0" bIns="72000" anchor="b" anchorCtr="0"/>
          <a:lstStyle>
            <a:defPPr>
              <a:defRPr lang="ko-KR"/>
            </a:defPPr>
            <a:lvl1pPr algn="l">
              <a:defRPr kumimoji="0" sz="2100">
                <a:solidFill>
                  <a:schemeClr val="tx1">
                    <a:lumMod val="85000"/>
                    <a:lumOff val="15000"/>
                  </a:schemeClr>
                </a:solidFill>
                <a:latin typeface="Noto Sans" panose="020B0502040504020204" pitchFamily="34" charset="0"/>
                <a:ea typeface="Noto Sans" panose="020B0502040504020204" pitchFamily="34" charset="0"/>
                <a:cs typeface="Noto Sans" panose="020B0502040504020204" pitchFamily="34" charset="0"/>
              </a:defRPr>
            </a:lvl1pPr>
            <a:lvl2pPr marL="742950" indent="-285750" algn="l">
              <a:defRPr>
                <a:latin typeface="맑은 고딕" pitchFamily="50" charset="-127"/>
                <a:ea typeface="맑은 고딕" pitchFamily="50" charset="-127"/>
              </a:defRPr>
            </a:lvl2pPr>
            <a:lvl3pPr marL="1141413" indent="-227013" algn="l">
              <a:defRPr>
                <a:latin typeface="맑은 고딕" pitchFamily="50" charset="-127"/>
                <a:ea typeface="맑은 고딕" pitchFamily="50" charset="-127"/>
              </a:defRPr>
            </a:lvl3pPr>
            <a:lvl4pPr marL="1600200" indent="-231775" algn="l">
              <a:defRPr>
                <a:latin typeface="맑은 고딕" pitchFamily="50" charset="-127"/>
                <a:ea typeface="맑은 고딕" pitchFamily="50" charset="-127"/>
              </a:defRPr>
            </a:lvl4pPr>
            <a:lvl5pPr marL="2055813" indent="-227013" algn="l">
              <a:defRPr>
                <a:latin typeface="맑은 고딕" pitchFamily="50" charset="-127"/>
                <a:ea typeface="맑은 고딕" pitchFamily="50" charset="-127"/>
              </a:defRPr>
            </a:lvl5pPr>
            <a:lvl6pPr marL="2513013" indent="-227013" fontAlgn="base">
              <a:spcBef>
                <a:spcPct val="0"/>
              </a:spcBef>
              <a:spcAft>
                <a:spcPct val="0"/>
              </a:spcAft>
              <a:defRPr>
                <a:latin typeface="맑은 고딕" pitchFamily="50" charset="-127"/>
                <a:ea typeface="맑은 고딕" pitchFamily="50" charset="-127"/>
              </a:defRPr>
            </a:lvl6pPr>
            <a:lvl7pPr marL="2970213" indent="-227013" fontAlgn="base">
              <a:spcBef>
                <a:spcPct val="0"/>
              </a:spcBef>
              <a:spcAft>
                <a:spcPct val="0"/>
              </a:spcAft>
              <a:defRPr>
                <a:latin typeface="맑은 고딕" pitchFamily="50" charset="-127"/>
                <a:ea typeface="맑은 고딕" pitchFamily="50" charset="-127"/>
              </a:defRPr>
            </a:lvl7pPr>
            <a:lvl8pPr marL="3427413" indent="-227013" fontAlgn="base">
              <a:spcBef>
                <a:spcPct val="0"/>
              </a:spcBef>
              <a:spcAft>
                <a:spcPct val="0"/>
              </a:spcAft>
              <a:defRPr>
                <a:latin typeface="맑은 고딕" pitchFamily="50" charset="-127"/>
                <a:ea typeface="맑은 고딕" pitchFamily="50" charset="-127"/>
              </a:defRPr>
            </a:lvl8pPr>
            <a:lvl9pPr marL="3884613" indent="-227013" fontAlgn="base">
              <a:spcBef>
                <a:spcPct val="0"/>
              </a:spcBef>
              <a:spcAft>
                <a:spcPct val="0"/>
              </a:spcAft>
              <a:defRPr>
                <a:latin typeface="맑은 고딕" pitchFamily="50" charset="-127"/>
                <a:ea typeface="맑은 고딕" pitchFamily="50" charset="-127"/>
              </a:defRPr>
            </a:lvl9pPr>
          </a:lstStyle>
          <a:p>
            <a:pPr>
              <a:defRPr/>
            </a:pPr>
            <a:r>
              <a:rPr lang="en-US" b="1" dirty="0"/>
              <a:t>CTCP FPT (HOSE: FPT)</a:t>
            </a:r>
          </a:p>
        </p:txBody>
      </p:sp>
      <p:sp>
        <p:nvSpPr>
          <p:cNvPr id="6" name="TextBox 5">
            <a:extLst>
              <a:ext uri="{FF2B5EF4-FFF2-40B4-BE49-F238E27FC236}">
                <a16:creationId xmlns:a16="http://schemas.microsoft.com/office/drawing/2014/main" id="{1CE97FB1-8D6A-1DB9-A6D7-647EF07613CC}"/>
              </a:ext>
            </a:extLst>
          </p:cNvPr>
          <p:cNvSpPr txBox="1"/>
          <p:nvPr/>
        </p:nvSpPr>
        <p:spPr bwMode="auto">
          <a:xfrm>
            <a:off x="447930" y="872717"/>
            <a:ext cx="2106705" cy="21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rtlCol="0">
            <a:spAutoFit/>
          </a:bodyPr>
          <a:lstStyle/>
          <a:p>
            <a:pPr marL="0" marR="0" lvl="0" indent="0" algn="l" defTabSz="898525" rtl="0" eaLnBrk="0" fontAlgn="base" latinLnBrk="0" hangingPunct="0">
              <a:lnSpc>
                <a:spcPts val="2000"/>
              </a:lnSpc>
              <a:spcBef>
                <a:spcPct val="0"/>
              </a:spcBef>
              <a:spcAft>
                <a:spcPct val="50000"/>
              </a:spcAft>
              <a:buClrTx/>
              <a:buSzTx/>
              <a:buFontTx/>
              <a:buNone/>
              <a:tabLst>
                <a:tab pos="266700" algn="l"/>
                <a:tab pos="4305300" algn="r"/>
              </a:tabLst>
              <a:defRPr/>
            </a:pP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Tôn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Đạt</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1" i="0" u="none" strike="noStrike" kern="1200" cap="none" spc="0" normalizeH="0" baseline="0" noProof="0" dirty="0" err="1">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Quân</a:t>
            </a:r>
            <a:r>
              <a:rPr kumimoji="0" lang="en-US" sz="700" b="1"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 </a:t>
            </a:r>
            <a:r>
              <a:rPr kumimoji="0" lang="en-US" sz="700" b="0" i="0" u="none" strike="noStrike" kern="1200" cap="none" spc="0" normalizeH="0" baseline="0" noProof="0" dirty="0">
                <a:ln>
                  <a:noFill/>
                </a:ln>
                <a:solidFill>
                  <a:srgbClr val="000000"/>
                </a:solidFill>
                <a:effectLst/>
                <a:uLnTx/>
                <a:uFillTx/>
                <a:latin typeface="Noto Sans" panose="020B0502040504020204" pitchFamily="34" charset="0"/>
                <a:ea typeface="Noto Sans" panose="020B0502040504020204" pitchFamily="34" charset="0"/>
                <a:cs typeface="Noto Sans" panose="020B0502040504020204" pitchFamily="34" charset="0"/>
              </a:rPr>
              <a:t>quan.td@miraeasset.com.vn</a:t>
            </a:r>
          </a:p>
        </p:txBody>
      </p:sp>
      <p:graphicFrame>
        <p:nvGraphicFramePr>
          <p:cNvPr id="3" name="Chart 2">
            <a:extLst>
              <a:ext uri="{FF2B5EF4-FFF2-40B4-BE49-F238E27FC236}">
                <a16:creationId xmlns:a16="http://schemas.microsoft.com/office/drawing/2014/main" id="{A555D845-DAB2-77BF-64D1-1730075F9853}"/>
              </a:ext>
            </a:extLst>
          </p:cNvPr>
          <p:cNvGraphicFramePr>
            <a:graphicFrameLocks/>
          </p:cNvGraphicFramePr>
          <p:nvPr>
            <p:extLst>
              <p:ext uri="{D42A27DB-BD31-4B8C-83A1-F6EECF244321}">
                <p14:modId xmlns:p14="http://schemas.microsoft.com/office/powerpoint/2010/main" val="4197266274"/>
              </p:ext>
            </p:extLst>
          </p:nvPr>
        </p:nvGraphicFramePr>
        <p:xfrm>
          <a:off x="3135749" y="4182363"/>
          <a:ext cx="2667521" cy="20184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428859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945</TotalTime>
  <Words>3087</Words>
  <Application>Microsoft Office PowerPoint</Application>
  <PresentationFormat>Widescreen</PresentationFormat>
  <Paragraphs>556</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Aptos Display</vt:lpstr>
      <vt:lpstr>Arial</vt:lpstr>
      <vt:lpstr>Noto Sans</vt:lpstr>
      <vt:lpstr>Symbol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 Ton Dat</dc:creator>
  <cp:lastModifiedBy>Quan, Ton Dat</cp:lastModifiedBy>
  <cp:revision>32</cp:revision>
  <dcterms:created xsi:type="dcterms:W3CDTF">2026-06-23T08:27:54Z</dcterms:created>
  <dcterms:modified xsi:type="dcterms:W3CDTF">2026-08-05T08:10:50Z</dcterms:modified>
</cp:coreProperties>
</file>