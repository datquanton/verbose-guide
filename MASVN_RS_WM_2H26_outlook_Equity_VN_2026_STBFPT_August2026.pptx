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90" y="-19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8/4/2026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8/4/2026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810400318"/>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6,340</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1430690055"/>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against management guidance of approximately 5.6%.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5.5%, from below 4.5%, and FY27F at 4.0% from 3.1%. Reserves reached VND27.2tn at end-2Q26 — 56.7% coverage, up from 50.0% at end-FY25 — after VND7.1tn of 1H26 charges. A further VND4.3tn charge in 2H26 funds write-offs of VND11.8tn, or 37% of the Group 5 balance, leaving coverage at 50.9%.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PBT at VND8,143bn (+6.7% YoY), marginally above the board-approved plan of VND8,100bn. The cost line does the lifting — 1H26 CIR came in at 35.6% against the 42.9% previously carried, and we now assume 40.0% (-0.7%p YoY), 38.0% in FY27F and 35.4% in FY28F — with the balance taken back in provisioning. That implies 2H26 PBT of VND4,007bn, around 13x the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NII of VND26,704bn (+0.1% YoY), NIM of 2.92% (-40bps YoY) and provisioning of VND11.4tn (+0.6% YoY); we flag 1H26 loan growth of 1.5% against the 11.7% carried for the full year. </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29,544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34,079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8,779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12,293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20,064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9,572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3,077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4,646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1,014,085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1,127,812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1,268,793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75,832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91,454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36,809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44,391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84975175"/>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6,340</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133534239"/>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5.5% (từ dưới 4.5%) và FY27F ở 4.0% (từ 3.1%). Dự phòng đạt 27.2 nghìn tỷ đồng cuối Q2/2026 — bao phủ 56.7%, tăng từ 50.0% cuối 2025 — sau khi trích 7.1 nghìn tỷ đồng trong 1H26 và trích thêm 4.3 nghìn tỷ đồng trong 2H26 đủ để xóa 11.8 nghìn tỷ đồng, tương đương 37% dư nợ nhóm 5, đưa bao phủ về 50.9%. Việc giữ bao phủ quanh 50% giới hạn mức cải thiện ở 5.5%. </a:t>
            </a:r>
            <a:r>
              <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dự phóng LNTT FY26F ở 8,143 tỷ đồng (+6.7% CK), nhỉnh hơn kế hoạch 8,100 tỷ đồng đã được ĐHĐCĐ thông qua. Chi phí hoạt động là động lực chính — CIR 1H26 chỉ 35.6% so với 42.9% dự phóng trước đây, và chúng tôi điều chỉnh về 40.0% (-0.7%p CK), 38.0% FY27F và 35.4% FY28F — phần chênh còn lại đưa vào chi phí dự phòng. Mức này hàm ý LNTT 2H26 khoảng 4,007 tỷ đồng, tương đương khoảng 13 lần nền 2H25.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NII 26,704 tỷ đồng (+0.1% CK), NIM 2.92% (-40bps CK) và chi phí dự phòng 11.4 nghìn tỷ đồng (+0.6% CK); lưu ý tăng trưởng tín dụng 1H26 chỉ 1.5% so với 11.7% dự phóng cả năm.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100671354"/>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26,704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29,544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34,079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8,779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8,143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12,293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20,064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9,572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3,077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4,646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1,014,085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1,127,812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1,268,793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75,832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91,454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36,809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44,391</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01868069"/>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gross margin unchanged.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equity risk premium stays at 9% and long-term growth decreased to 1.5% to carry the risk that AI lowers IT services pricing. At VND71,700 the stock trades at 11.2x FY26F earnings against a five-year median above 18x; at the target price, 13.7x FY26F and 11.8x FY27F, implying 23% upside (BUY). Risks: (1) AI-driven price deflation outpacing our long-term growth assumption (2) subdued US and global IT spending and tariff-related contract delays (3) JPY/USD volatility.</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402414611"/>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71,700 đồng, cổ phiếu giao dịch ở 11.2x P/E FY26F so với trung vị 5 năm trên 18x; tại giá mục tiêu là 13.7x FY26F và 11.8x FY27F, hàm ý tiềm năng tăng 23% (MUA).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647</TotalTime>
  <Words>3199</Words>
  <Application>Microsoft Office PowerPoint</Application>
  <PresentationFormat>Widescreen</PresentationFormat>
  <Paragraphs>554</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21</cp:revision>
  <dcterms:created xsi:type="dcterms:W3CDTF">2026-06-23T08:27:54Z</dcterms:created>
  <dcterms:modified xsi:type="dcterms:W3CDTF">2026-08-04T08:57:24Z</dcterms:modified>
</cp:coreProperties>
</file>