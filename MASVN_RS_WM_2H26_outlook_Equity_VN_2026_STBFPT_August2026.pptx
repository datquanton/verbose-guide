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25" d="100"/>
          <a:sy n="125" d="100"/>
        </p:scale>
        <p:origin x="-30" y="-4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C186-4C75-804F-1783DD582323}"/>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C186-4C75-804F-1783DD582323}"/>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D146-49DB-BCD5-9A50185348E0}"/>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D146-49DB-BCD5-9A50185348E0}"/>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extLst>
              <p:ext uri="{D42A27DB-BD31-4B8C-83A1-F6EECF244321}">
                <p14:modId xmlns:p14="http://schemas.microsoft.com/office/powerpoint/2010/main" val="1211671093"/>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3899654682"/>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5,839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-1.7</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16095380"/>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(Maintain</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endPar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Broad NPL at 10.2% (+7%p YoY).  Group 3-5 balances rose approximately VND7,800bn to VND47,957bn, of which about 67% (VND32,000bn) is Group 5, while Group 4 more than doubled (+156%).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NPL at 5.5%, from below 4.5%, and FY27F at 4.0% from 3.1%. Reserves reached VND27.2tn at end-2Q26 — 56.7% coverage, up from 50.0% at end-FY25 — after VND7.1tn of 1H26 charges. A further VND3.7tn charge in 2H26 funds write-offs of VND11.0tn, or 34% of the Group 5 balance, leaving coverage at 55.4%.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set at VND7,500bn on the loan growth reset: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now carry FY26F loan growth of 2.3%, against the 11.7% previously assumed and the 1.5% delivered in 1H26. That takes gross loans to VND640,643bn and NII to VND24,570bn (-7.9% YoY), and we set FY26F PBT at VND7,500bn (-1.7% YoY) — 7.4% below the board-approved plan of VND8,100bn, where we previously sat marginally above it. The implied 2H26 PBT is VND3,363bn against VND297bn in 2H25.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Other FY26F assumptions: a provisioning charge of VND10.8tn (-5.0% YoY) and non-interest income of VND5,950bn. We hold CIR at 40.0%, easing to 38.0% in FY27F and 36.0% in FY28F; on 1H26 opex of VND6,233bn that needs 2H26 costs of VND5,975bn, 4.1% below the first half — a real cost reduction, not an accrual shift.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622566320"/>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24,570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24,388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27,512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7,500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9,973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16,076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5,839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7,765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12,516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2,834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6,075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1,013,584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1,124,067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1,260,548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65,759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73,524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86,040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31,919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35,689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41,764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Treasure Commercial Joint Stock Bank</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extLst>
              <p:ext uri="{D42A27DB-BD31-4B8C-83A1-F6EECF244321}">
                <p14:modId xmlns:p14="http://schemas.microsoft.com/office/powerpoint/2010/main" val="461747777"/>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744451564"/>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5,839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-1.7</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extLst>
              <p:ext uri="{D42A27DB-BD31-4B8C-83A1-F6EECF244321}">
                <p14:modId xmlns:p14="http://schemas.microsoft.com/office/powerpoint/2010/main" val="1203979337"/>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giá</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5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lvl="0" algn="just" fontAlgn="ctr">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thấp</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hơn</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kỳ</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vọng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a:t>
            </a:r>
            <a:endPar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giả định nợ xấu FY26F ở 5.5% (từ dưới 4.5%) và FY27F ở 4.0% (từ 3.1%). Dự phòng đạt 27.2 nghìn tỷ đồng cuối Q2/2026 — bao phủ 56.7%, tăng từ 50.0% cuối 2025 — sau khi trích 7.1 nghìn tỷ đồng trong 1H26 và trích thêm 3.7 nghìn tỷ đồng trong 2H26 đủ để xóa 11.0 nghìn tỷ đồng, tương đương 34% dư nợ nhóm 5, đưa bao phủ về 55.4%. </a:t>
            </a:r>
          </a:p>
          <a:p>
            <a:pPr lvl="0" algn="just" fontAlgn="ctr">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Đặt LNTT FY26F ở 7,500 tỷ đồng sau khi điều chỉnh tăng trưởng tín dụng: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hạ giả định tăng trưởng tín dụng FY26F về 2.3%, so với 11.7% trước đây và 1.5% thực hiện trong 1H26. Dư nợ theo đó còn 640,643 tỷ đồng và NII còn 24,570 tỷ đồng (-7.9% CK), kéo LNTT FY26F xuống 7,500 tỷ đồng (-1.7% CK) — thấp hơn 7% so với kế hoạch 8,100 tỷ đồng đã được ĐHĐCĐ thông qua, trong khi bản trước còn nhỉnh hơn kế hoạch. Mức này hàm ý LNTT 2H26 khoảng 3,363 tỷ đồng so với 297 tỷ đồng của 2H25.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Các giả định FY26F khác: chi phí dự phòng 10.8 nghìn tỷ đồng (-5.0% CK) và thu nhập ngoài lãi 5,950 tỷ đồng. CIR giữ ở 40.0%, giảm về 38.0% năm FY27F và 36.0% năm FY28F; với chi phí 1H26 là 6,233 tỷ đồng, mức này đòi hỏi chi phí 2H26 chỉ 5,975 tỷ đồng, thấp hơn nửa đầu năm 4.1% — tức phải cắt giảm chi phí thực sự, không chỉ là dồn dịch hạch toán.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extLst>
              <p:ext uri="{D42A27DB-BD31-4B8C-83A1-F6EECF244321}">
                <p14:modId xmlns:p14="http://schemas.microsoft.com/office/powerpoint/2010/main" val="2746856939"/>
              </p:ext>
            </p:extLst>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24,570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24,388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27,512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ngoài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hoạt</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7,500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9,973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16,076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5,839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7,765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12,516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3,769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6,075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sản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1,013,584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1,124,067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1,260,548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65,759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73,524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86,040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trị</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sổ</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sách</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31,919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35,689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41,764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Tài </a:t>
            </a:r>
            <a:r>
              <a:rPr kumimoji="0" lang="en-US" altLang="ko-KR" sz="2100" b="1" i="0" u="none" strike="noStrike" kern="1200" cap="none" spc="0" normalizeH="0" baseline="0" noProof="0" dirty="0" err="1">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Lộc</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recovery after a two-year-low valuation</a:t>
            </a:r>
          </a:p>
        </p:txBody>
      </p:sp>
      <p:graphicFrame>
        <p:nvGraphicFramePr>
          <p:cNvPr id="11" name="표 10"/>
          <p:cNvGraphicFramePr>
            <a:graphicFrameLocks noGrp="1"/>
          </p:cNvGraphicFramePr>
          <p:nvPr>
            <p:extLst>
              <p:ext uri="{D42A27DB-BD31-4B8C-83A1-F6EECF244321}">
                <p14:modId xmlns:p14="http://schemas.microsoft.com/office/powerpoint/2010/main" val="2021883969"/>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7782780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performance: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VND26,269bn (+12.6% YoY) and PBT VND5,714bn (+18.1% YoY), 45%/49% of the FY26 plan, with the group PBT margin widening to 21.8% (1H25: 18.9%). In 2Q26: revenue VND13,789bn, PBT VND2,910bn, NPATMI VND2,568bn (+14% YoY). In 1H26, Technology revenue was VND23,138bn (+15% YoY; 88% of group) and PBT VND3,314bn (+16.9%); Education, investment and others fell 2.1% to VND3,131bn yet contributed 42% of group PBT on a ~77% margin.</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grew fastest in 6M26 at VND4,236bn (+22.5% YoY), segment PBT to VND308bn (+100.5%)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demand expansion versus compression of headcount-based pricing:</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AI and data analytics revenue reached VND1,842bn in 1H26, +54% YoY against +15% for Technology, lifting its share of the segment to 8.0% from 5.9% and contributing a fifth of Technology's growth; ex-AI the segment grew 12.5%. Both AI Factories, in Vietnam and Japan, ran above 90%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utilisation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and turned profitable in 2Q26, about a year after launch.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VND10,944bn (+15.6% YoY), FY27F VND12,674bn (+15.8%) and FY28F VND14,774bn (+16.6%). Associate income — FPT Telecom (45.66%), equity-accounted from FY26, with 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and FPT Online (49.5%) — rises to VND2,608bn in FY26F and VND3,449bn by FY28F, and grew 40.8% YoY in 1H26. Operating leverage carries the rest: SG&amp;A falls from 17.6% of sales to 16.5% by FY28F thanks to cost-savings in AI. ROE holds near 27% on net cash of around 60% of equity and a maintained DPS of VND2,000.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We raise our DCF (FCFF) target price to VND87,950;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at the target price, 13.7x FY26F and 11.8x FY27F. Risks: (1) AI-driven price deflation outpacing our long-term growth assumption (2) subdued US and global IT spending and tariff-related contract delays (3) JPY/USD volatility. </a:t>
            </a: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5" name="Chart 4">
            <a:extLst>
              <a:ext uri="{FF2B5EF4-FFF2-40B4-BE49-F238E27FC236}">
                <a16:creationId xmlns:a16="http://schemas.microsoft.com/office/drawing/2014/main" id="{8474309D-1482-FC5C-453B-E39968190997}"/>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a:t>
            </a:r>
            <a:r>
              <a:rPr lang="en-US" altLang="ko-KR" sz="1200" b="1" dirty="0" err="1">
                <a:solidFill>
                  <a:srgbClr val="F58220"/>
                </a:solidFill>
                <a:latin typeface="Noto Sans" panose="020B0502040504020204" pitchFamily="34" charset="0"/>
              </a:rPr>
              <a:t>giá</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hồi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phục</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khi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về</a:t>
            </a:r>
            <a:r>
              <a:rPr lang="en-US" altLang="ko-KR" sz="1200" b="1" dirty="0">
                <a:solidFill>
                  <a:srgbClr val="F58220"/>
                </a:solidFill>
                <a:latin typeface="Noto Sans" panose="020B0502040504020204" pitchFamily="34" charset="0"/>
              </a:rPr>
              <a:t>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extLst>
              <p:ext uri="{D42A27DB-BD31-4B8C-83A1-F6EECF244321}">
                <p14:modId xmlns:p14="http://schemas.microsoft.com/office/powerpoint/2010/main" val="21718942"/>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extLst>
              <p:ext uri="{D42A27DB-BD31-4B8C-83A1-F6EECF244321}">
                <p14:modId xmlns:p14="http://schemas.microsoft.com/office/powerpoint/2010/main" val="3195843013"/>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AI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mở rộng nhu cầu</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2Q26</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LNST-CĐTS FY26F đạt 10,944 tỷ đồng (+15.6% CK), FY27F 12,674 tỷ (+15.8%) và FY28F 14,774 tỷ (+16.6%). Lợi nhuận từ công ty liên kết — FPT Telecom (45.66%, hạch toán theo phương pháp VCSH từ FY26),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Online (49.5%)</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giá mục tiêu DCF (FCFF) lên 87,950 đồng</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tại giá mục tiêu là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P/E forward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là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13.7x FY26F và 11.8x FY27F. Rủi ro: (1) giảm phát giá do AI nhanh hơn giả định tăng trưởng dài hạn (2) chi tiêu CNTT tại Mỹ và toàn cầu thấp cùng hợp đồng trì hoãn do thuế quan (3) biến động tỷ giá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extLst>
              <p:ext uri="{D42A27DB-BD31-4B8C-83A1-F6EECF244321}">
                <p14:modId xmlns:p14="http://schemas.microsoft.com/office/powerpoint/2010/main" val="2048679529"/>
              </p:ext>
            </p:extLst>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(tỷ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75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3" name="Chart 2">
            <a:extLst>
              <a:ext uri="{FF2B5EF4-FFF2-40B4-BE49-F238E27FC236}">
                <a16:creationId xmlns:a16="http://schemas.microsoft.com/office/drawing/2014/main" id="{A555D845-DAB2-77BF-64D1-1730075F9853}"/>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945</TotalTime>
  <Words>3087</Words>
  <Application>Microsoft Office PowerPoint</Application>
  <PresentationFormat>Widescreen</PresentationFormat>
  <Paragraphs>556</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32</cp:revision>
  <dcterms:created xsi:type="dcterms:W3CDTF">2026-06-23T08:27:54Z</dcterms:created>
  <dcterms:modified xsi:type="dcterms:W3CDTF">2026-08-05T08:10:50Z</dcterms:modified>
</cp:coreProperties>
</file>