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25" d="100"/>
          <a:sy n="125" d="100"/>
        </p:scale>
        <p:origin x="-30" y="-4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C186-4C75-804F-1783DD582323}"/>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C186-4C75-804F-1783DD582323}"/>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D146-49DB-BCD5-9A50185348E0}"/>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D146-49DB-BCD5-9A50185348E0}"/>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extLst>
              <p:ext uri="{D42A27DB-BD31-4B8C-83A1-F6EECF244321}">
                <p14:modId xmlns:p14="http://schemas.microsoft.com/office/powerpoint/2010/main" val="1211671093"/>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3899654682"/>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16095380"/>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(Maintain</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endPar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Broad NPL at 10.2% (+7%p YoY).  Group 3-5 balances rose approximately VND7,800bn to VND47,957bn, of which about 67% (VND32,000bn) is Group 5, while Group 4 more than doubled (+156%).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NPL at 5.8%, from below 4.5%, and FY27F at 4.0% from 3.1%. Holding the ratio at 5.5% on the smaller loan book would have required net NPL recoveries in 2H26; 5.8% keeps the absolute balance at VND37,157bn and implied net formation just positive. Reserves reached VND27.2tn at end-2Q26 — 56.7% coverage, up from 50.0% at end-FY25 — after VND7.1tn of 1H26 charges. A further VND3.1tn charge in 2H26 funds write-offs of VND11.0tn, or 34% of the Group 5 balance, leaving coverage at 50.9%.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of VND7,461bn on the loan growth reset: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now carry FY26F loan growth of 2.3%, against the 11.7% previously assumed and the 1.5% delivered in 1H26. That takes gross loans to VND640,643bn and NII to VND24,531bn (-8.1% YoY), and FY26F PBT to VND7,461bn (-2.2% YoY) — 7.9% below the board-approved plan of VND8,100bn, where we previously sat marginally above it. The implied 2H26 PBT is VND3,324bn against VND297bn in 2H25.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Other FY26F assumptions: a provisioning charge of VND10.2tn (-10.4% YoY) and non-interest income of VND5,950bn. CIR steps down from 42.1% in FY26F to 40.0% in FY27F and 38.0% in FY28F; on 1H26 opex of VND6,233bn that puts 2H26 costs at VND6,585bn, +5.6% on the first half, so no cost reduction is assumed. FY27F and FY28F each carry VND1,000bn of specific charge above what write-offs consume, so reserve stock builds rather than merely funding disposals. FY27F NII grows 9.9% as NIM turns — NII/average loans goes from 3.87% to 3.96% — carrying FY27F PBT to VND9,872bn (+32%) and FY28F to VND16,271bn (+65%).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622566320"/>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24,531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26,954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30,600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7,461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9,872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5,809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7,686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12,668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2,820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6,149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1,125,396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1,263,423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73,415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86,084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31,905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35,636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41,785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Treasure Commercial Joint Stock Bank</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extLst>
              <p:ext uri="{D42A27DB-BD31-4B8C-83A1-F6EECF244321}">
                <p14:modId xmlns:p14="http://schemas.microsoft.com/office/powerpoint/2010/main" val="461747777"/>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744451564"/>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extLst>
              <p:ext uri="{D42A27DB-BD31-4B8C-83A1-F6EECF244321}">
                <p14:modId xmlns:p14="http://schemas.microsoft.com/office/powerpoint/2010/main" val="1203979337"/>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giá</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5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lvl="0" algn="just" fontAlgn="ctr">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thấp</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hơn</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kỳ</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vọng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a:t>
            </a:r>
            <a:endPar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giả định nợ xấu FY26F ở 5.8% (từ dưới 4.5%) và FY27F ở 4.0% (từ 3.1%). Giữ 5.5% trên nền dư nợ đã thu hẹp sẽ đòi hỏi nợ xấu phải được thu hồi ròng trong 2H26; mức 5.8% giữ số dư tuyệt đối ở 37,157 tỷ đồng và nợ xấu phát sinh mới vẫn dương. Dự phòng đạt 27.2 nghìn tỷ đồng cuối Q2/2026 — bao phủ 56.7%, tăng từ 50.0% cuối 2025 — sau khi trích 7.1 nghìn tỷ đồng trong 1H26 và trích thêm 3.1 nghìn tỷ đồng trong 2H26 đủ để xóa 11.0 nghìn tỷ đồng, tương đương 34% dư nợ nhóm 5, đưa bao phủ về 50.9%. </a:t>
            </a:r>
          </a:p>
          <a:p>
            <a:pPr lvl="0" algn="just" fontAlgn="ctr">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Đặt LNTT FY26F ở 7,500 tỷ đồng sau khi điều chỉnh tăng trưởng tín dụng: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hạ giả định tăng trưởng tín dụng FY26F về 2.3%, so với 11.7% trước đây và 1.5% thực hiện trong 1H26. Dư nợ theo đó còn 640,643 tỷ đồng và NII còn 24,531 tỷ đồng (-8.1% CK), kéo LNTT FY26F xuống 7,461 tỷ đồng (-2.2% CK) — thấp hơn 8% so với kế hoạch 8,100 tỷ đồng đã được ĐHĐCĐ thông qua, trong khi bản trước còn nhỉnh hơn kế hoạch. Mức này hàm ý LNTT 2H26 khoảng 3,324 tỷ đồng so với 297 tỷ đồng của 2H25.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Các giả định FY26F khác: chi phí dự phòng 10.2 nghìn tỷ đồng (-10.4% CK) và thu nhập ngoài lãi 5,950 tỷ đồng. CIR giảm dần từ 42.1% năm FY26F về 40.0% FY27F và 38.0% FY28F; với chi phí 1H26 là 6,233 tỷ đồng, mức này cho chi phí 2H26 ở 6,585 tỷ đồng, +5.6% so với nửa đầu năm, tức không giả định cắt giảm chi phí. FY27F và FY28F mỗi năm trích thêm 1,000 tỷ đồng ngoài phần đủ bù xóa nợ, tức bộ đệm dự phòng được bồi đắp chứ không chỉ tài trợ xử lý nợ. NII FY27F tăng 9.9% khi NIM đảo chiều — NII/dư nợ bình quân từ 3.87% lên 3.96% — đưa LNTT FY27F lên 9,872 tỷ đồng (+32%) và FY28F lên 16,271 tỷ đồng (+65%).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extLst>
              <p:ext uri="{D42A27DB-BD31-4B8C-83A1-F6EECF244321}">
                <p14:modId xmlns:p14="http://schemas.microsoft.com/office/powerpoint/2010/main" val="2746856939"/>
              </p:ext>
            </p:extLst>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26,954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30,600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ngoài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hoạt</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9,872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16,271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12,668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3,731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6,149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sản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1,125,396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1,263,423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73,415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86,084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trị</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sổ</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sách</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31,905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35,636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41,785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Tài </a:t>
            </a:r>
            <a:r>
              <a:rPr kumimoji="0" lang="en-US" altLang="ko-KR" sz="2100" b="1" i="0" u="none" strike="noStrike" kern="1200" cap="none" spc="0" normalizeH="0" baseline="0" noProof="0" dirty="0" err="1">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Lộc</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recovery after a two-year-low valuation</a:t>
            </a:r>
          </a:p>
        </p:txBody>
      </p:sp>
      <p:graphicFrame>
        <p:nvGraphicFramePr>
          <p:cNvPr id="11" name="표 10"/>
          <p:cNvGraphicFramePr>
            <a:graphicFrameLocks noGrp="1"/>
          </p:cNvGraphicFramePr>
          <p:nvPr>
            <p:extLst>
              <p:ext uri="{D42A27DB-BD31-4B8C-83A1-F6EECF244321}">
                <p14:modId xmlns:p14="http://schemas.microsoft.com/office/powerpoint/2010/main" val="2021883969"/>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7782780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performance: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VND26,269bn (+12.6% YoY) and PBT VND5,714bn (+18.1% YoY), 45%/49% of the FY26 plan, with the group PBT margin widening to 21.8% (1H25: 18.9%). In 2Q26: revenue VND13,789bn, PBT VND2,910bn, NPATMI VND2,568bn (+14% YoY). In 1H26, Technology revenue was VND23,138bn (+15% YoY; 88% of group) and PBT VND3,314bn (+16.9%); Education, investment and others fell 2.1% to VND3,131bn yet contributed 42% of group PBT on a ~77% margin.</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grew fastest in 6M26 at VND4,236bn (+22.5% YoY), segment PBT to VND308bn (+100.5%)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demand expansion versus compression of headcount-based pricing:</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AI and data analytics revenue reached VND1,842bn in 1H26, +54% YoY against +15% for Technology, lifting its share of the segment to 8.0% from 5.9% and contributing a fifth of Technology's growth; ex-AI the segment grew 12.5%. Both AI Factories, in Vietnam and Japan, ran above 90%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utilisation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and turned profitable in 2Q26, about a year after launch.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VND10,944bn (+15.6% YoY), FY27F VND12,674bn (+15.8%) and FY28F VND14,774bn (+16.6%). Associate income — FPT Telecom (45.66%), equity-accounted from FY26, with 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and FPT Online (49.5%) — rises to VND2,608bn in FY26F and VND3,449bn by FY28F, and grew 40.8% YoY in 1H26. Operating leverage carries the rest: SG&amp;A falls from 17.6% of sales to 16.5% by FY28F thanks to cost-savings in AI. ROE holds near 27% on net cash of around 60% of equity and a maintained DPS of VND2,000.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We raise our DCF (FCFF) target price to VND87,950;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at the target price, 13.7x FY26F and 11.8x FY27F. Risks: (1) AI-driven price deflation outpacing our long-term growth assumption (2) subdued US and global IT spending and tariff-related contract delays (3) JPY/USD volatility. </a:t>
            </a: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5" name="Chart 4">
            <a:extLst>
              <a:ext uri="{FF2B5EF4-FFF2-40B4-BE49-F238E27FC236}">
                <a16:creationId xmlns:a16="http://schemas.microsoft.com/office/drawing/2014/main" id="{8474309D-1482-FC5C-453B-E39968190997}"/>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a:t>
            </a:r>
            <a:r>
              <a:rPr lang="en-US" altLang="ko-KR" sz="1200" b="1" dirty="0" err="1">
                <a:solidFill>
                  <a:srgbClr val="F58220"/>
                </a:solidFill>
                <a:latin typeface="Noto Sans" panose="020B0502040504020204" pitchFamily="34" charset="0"/>
              </a:rPr>
              <a:t>giá</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hồi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phục</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khi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về</a:t>
            </a:r>
            <a:r>
              <a:rPr lang="en-US" altLang="ko-KR" sz="1200" b="1" dirty="0">
                <a:solidFill>
                  <a:srgbClr val="F58220"/>
                </a:solidFill>
                <a:latin typeface="Noto Sans" panose="020B0502040504020204" pitchFamily="34" charset="0"/>
              </a:rPr>
              <a:t>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extLst>
              <p:ext uri="{D42A27DB-BD31-4B8C-83A1-F6EECF244321}">
                <p14:modId xmlns:p14="http://schemas.microsoft.com/office/powerpoint/2010/main" val="21718942"/>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extLst>
              <p:ext uri="{D42A27DB-BD31-4B8C-83A1-F6EECF244321}">
                <p14:modId xmlns:p14="http://schemas.microsoft.com/office/powerpoint/2010/main" val="3195843013"/>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AI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mở rộng nhu cầu</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2Q26</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LNST-CĐTS FY26F đạt 10,944 tỷ đồng (+15.6% CK), FY27F 12,674 tỷ (+15.8%) và FY28F 14,774 tỷ (+16.6%). Lợi nhuận từ công ty liên kết — FPT Telecom (45.66%, hạch toán theo phương pháp VCSH từ FY26),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Online (49.5%)</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giá mục tiêu DCF (FCFF) lên 87,950 đồng</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tại giá mục tiêu là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P/E forward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là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13.7x FY26F và 11.8x FY27F. Rủi ro: (1) giảm phát giá do AI nhanh hơn giả định tăng trưởng dài hạn (2) chi tiêu CNTT tại Mỹ và toàn cầu thấp cùng hợp đồng trì hoãn do thuế quan (3) biến động tỷ giá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extLst>
              <p:ext uri="{D42A27DB-BD31-4B8C-83A1-F6EECF244321}">
                <p14:modId xmlns:p14="http://schemas.microsoft.com/office/powerpoint/2010/main" val="2048679529"/>
              </p:ext>
            </p:extLst>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(tỷ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75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3" name="Chart 2">
            <a:extLst>
              <a:ext uri="{FF2B5EF4-FFF2-40B4-BE49-F238E27FC236}">
                <a16:creationId xmlns:a16="http://schemas.microsoft.com/office/drawing/2014/main" id="{A555D845-DAB2-77BF-64D1-1730075F9853}"/>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945</TotalTime>
  <Words>3087</Words>
  <Application>Microsoft Office PowerPoint</Application>
  <PresentationFormat>Widescreen</PresentationFormat>
  <Paragraphs>556</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32</cp:revision>
  <dcterms:created xsi:type="dcterms:W3CDTF">2026-06-23T08:27:54Z</dcterms:created>
  <dcterms:modified xsi:type="dcterms:W3CDTF">2026-08-05T08:10:50Z</dcterms:modified>
</cp:coreProperties>
</file>